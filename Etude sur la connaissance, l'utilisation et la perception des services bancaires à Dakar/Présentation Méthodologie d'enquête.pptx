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x="18288000" cy="10287000"/>
  <p:notesSz cx="6858000" cy="9144000"/>
  <p:embeddedFontLst>
    <p:embeddedFont>
      <p:font typeface="Roboto Bold" charset="1" panose="02000000000000000000"/>
      <p:regular r:id="rId50"/>
    </p:embeddedFont>
    <p:embeddedFont>
      <p:font typeface="Roboto" charset="1" panose="02000000000000000000"/>
      <p:regular r:id="rId51"/>
    </p:embeddedFont>
    <p:embeddedFont>
      <p:font typeface="Almarai Bold" charset="1" panose="00000000000000000000"/>
      <p:regular r:id="rId52"/>
    </p:embeddedFont>
    <p:embeddedFont>
      <p:font typeface="Agrandir Narrow Bold" charset="1" panose="00000806000000000000"/>
      <p:regular r:id="rId53"/>
    </p:embeddedFont>
    <p:embeddedFont>
      <p:font typeface="Arimo Bold Italics" charset="1" panose="020B0704020202090204"/>
      <p:regular r:id="rId54"/>
    </p:embeddedFont>
    <p:embeddedFont>
      <p:font typeface="Museo Moderno Bold" charset="1" panose="00000000000000000000"/>
      <p:regular r:id="rId55"/>
    </p:embeddedFont>
    <p:embeddedFont>
      <p:font typeface="TT Interphases Bold" charset="1" panose="02000803060000020004"/>
      <p:regular r:id="rId56"/>
    </p:embeddedFont>
    <p:embeddedFont>
      <p:font typeface="TT Interphases" charset="1" panose="02000503020000020004"/>
      <p:regular r:id="rId57"/>
    </p:embeddedFont>
    <p:embeddedFont>
      <p:font typeface="Open Sans" charset="1" panose="020B0606030504020204"/>
      <p:regular r:id="rId58"/>
    </p:embeddedFont>
    <p:embeddedFont>
      <p:font typeface="Open Sans Bold" charset="1" panose="020B0806030504020204"/>
      <p:regular r:id="rId59"/>
    </p:embeddedFont>
    <p:embeddedFont>
      <p:font typeface="Aileron Bold" charset="1" panose="00000800000000000000"/>
      <p:regular r:id="rId6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png" Type="http://schemas.openxmlformats.org/officeDocument/2006/relationships/image"/><Relationship Id="rId11" Target="../media/image46.svg" Type="http://schemas.openxmlformats.org/officeDocument/2006/relationships/image"/><Relationship Id="rId12" Target="../media/image47.png" Type="http://schemas.openxmlformats.org/officeDocument/2006/relationships/image"/><Relationship Id="rId13" Target="../media/image48.svg" Type="http://schemas.openxmlformats.org/officeDocument/2006/relationships/image"/><Relationship Id="rId14" Target="../media/image49.png" Type="http://schemas.openxmlformats.org/officeDocument/2006/relationships/image"/><Relationship Id="rId15" Target="../media/image50.svg" Type="http://schemas.openxmlformats.org/officeDocument/2006/relationships/image"/><Relationship Id="rId16" Target="../media/image51.png" Type="http://schemas.openxmlformats.org/officeDocument/2006/relationships/image"/><Relationship Id="rId17" Target="../media/image52.svg" Type="http://schemas.openxmlformats.org/officeDocument/2006/relationships/image"/><Relationship Id="rId18" Target="../media/image53.png" Type="http://schemas.openxmlformats.org/officeDocument/2006/relationships/image"/><Relationship Id="rId19" Target="../media/image54.svg" Type="http://schemas.openxmlformats.org/officeDocument/2006/relationships/image"/><Relationship Id="rId2" Target="../media/image37.png" Type="http://schemas.openxmlformats.org/officeDocument/2006/relationships/image"/><Relationship Id="rId3" Target="../media/image38.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 Id="rId8" Target="../media/image43.png" Type="http://schemas.openxmlformats.org/officeDocument/2006/relationships/image"/><Relationship Id="rId9" Target="../media/image4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 Id="rId3" Target="../media/image56.png" Type="http://schemas.openxmlformats.org/officeDocument/2006/relationships/image"/><Relationship Id="rId4" Target="../media/image57.png" Type="http://schemas.openxmlformats.org/officeDocument/2006/relationships/image"/><Relationship Id="rId5" Target="../media/image58.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 Id="rId3" Target="../media/image56.png" Type="http://schemas.openxmlformats.org/officeDocument/2006/relationships/image"/><Relationship Id="rId4" Target="../media/image57.png" Type="http://schemas.openxmlformats.org/officeDocument/2006/relationships/image"/><Relationship Id="rId5" Target="../media/image58.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 Id="rId3" Target="../media/image56.png" Type="http://schemas.openxmlformats.org/officeDocument/2006/relationships/image"/><Relationship Id="rId4" Target="../media/image57.png" Type="http://schemas.openxmlformats.org/officeDocument/2006/relationships/image"/><Relationship Id="rId5" Target="../media/image58.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 Id="rId3" Target="../media/image56.png" Type="http://schemas.openxmlformats.org/officeDocument/2006/relationships/image"/><Relationship Id="rId4" Target="../media/image57.png" Type="http://schemas.openxmlformats.org/officeDocument/2006/relationships/image"/><Relationship Id="rId5" Target="../media/image58.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 Id="rId3" Target="../media/image56.png" Type="http://schemas.openxmlformats.org/officeDocument/2006/relationships/image"/><Relationship Id="rId4" Target="../media/image57.png" Type="http://schemas.openxmlformats.org/officeDocument/2006/relationships/image"/><Relationship Id="rId5" Target="../media/image58.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 Id="rId3" Target="../media/image56.png" Type="http://schemas.openxmlformats.org/officeDocument/2006/relationships/image"/><Relationship Id="rId4" Target="../media/image57.png" Type="http://schemas.openxmlformats.org/officeDocument/2006/relationships/image"/><Relationship Id="rId5" Target="../media/image58.svg" Type="http://schemas.openxmlformats.org/officeDocument/2006/relationships/image"/><Relationship Id="rId6" Target="../media/image59.png" Type="http://schemas.openxmlformats.org/officeDocument/2006/relationships/image"/><Relationship Id="rId7" Target="../embeddings/oleObject1.bin" Type="http://schemas.openxmlformats.org/officeDocument/2006/relationships/oleObjec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 Id="rId3" Target="../media/image56.png" Type="http://schemas.openxmlformats.org/officeDocument/2006/relationships/image"/><Relationship Id="rId4" Target="../media/image57.png" Type="http://schemas.openxmlformats.org/officeDocument/2006/relationships/image"/><Relationship Id="rId5" Target="../media/image58.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 Id="rId3" Target="../media/image56.png" Type="http://schemas.openxmlformats.org/officeDocument/2006/relationships/image"/><Relationship Id="rId4" Target="../media/image57.png" Type="http://schemas.openxmlformats.org/officeDocument/2006/relationships/image"/><Relationship Id="rId5" Target="../media/image58.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png" Type="http://schemas.openxmlformats.org/officeDocument/2006/relationships/image"/><Relationship Id="rId11" Target="../media/image46.svg" Type="http://schemas.openxmlformats.org/officeDocument/2006/relationships/image"/><Relationship Id="rId12" Target="../media/image47.png" Type="http://schemas.openxmlformats.org/officeDocument/2006/relationships/image"/><Relationship Id="rId13" Target="../media/image48.svg" Type="http://schemas.openxmlformats.org/officeDocument/2006/relationships/image"/><Relationship Id="rId14" Target="../media/image53.png" Type="http://schemas.openxmlformats.org/officeDocument/2006/relationships/image"/><Relationship Id="rId15" Target="../media/image54.svg" Type="http://schemas.openxmlformats.org/officeDocument/2006/relationships/image"/><Relationship Id="rId2" Target="../media/image37.png" Type="http://schemas.openxmlformats.org/officeDocument/2006/relationships/image"/><Relationship Id="rId3" Target="../media/image38.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 Id="rId8" Target="../media/image43.png" Type="http://schemas.openxmlformats.org/officeDocument/2006/relationships/image"/><Relationship Id="rId9" Target="../media/image44.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png" Type="http://schemas.openxmlformats.org/officeDocument/2006/relationships/image"/><Relationship Id="rId11" Target="../media/image46.svg" Type="http://schemas.openxmlformats.org/officeDocument/2006/relationships/image"/><Relationship Id="rId12" Target="../media/image47.png" Type="http://schemas.openxmlformats.org/officeDocument/2006/relationships/image"/><Relationship Id="rId13" Target="../media/image48.svg" Type="http://schemas.openxmlformats.org/officeDocument/2006/relationships/image"/><Relationship Id="rId14" Target="../media/image53.png" Type="http://schemas.openxmlformats.org/officeDocument/2006/relationships/image"/><Relationship Id="rId15" Target="../media/image54.svg" Type="http://schemas.openxmlformats.org/officeDocument/2006/relationships/image"/><Relationship Id="rId16" Target="../media/image60.png" Type="http://schemas.openxmlformats.org/officeDocument/2006/relationships/image"/><Relationship Id="rId2" Target="../media/image37.png" Type="http://schemas.openxmlformats.org/officeDocument/2006/relationships/image"/><Relationship Id="rId3" Target="../media/image38.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 Id="rId8" Target="../media/image43.png" Type="http://schemas.openxmlformats.org/officeDocument/2006/relationships/image"/><Relationship Id="rId9" Target="../media/image44.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png" Type="http://schemas.openxmlformats.org/officeDocument/2006/relationships/image"/><Relationship Id="rId11" Target="../media/image46.svg" Type="http://schemas.openxmlformats.org/officeDocument/2006/relationships/image"/><Relationship Id="rId12" Target="../media/image47.png" Type="http://schemas.openxmlformats.org/officeDocument/2006/relationships/image"/><Relationship Id="rId13" Target="../media/image48.svg" Type="http://schemas.openxmlformats.org/officeDocument/2006/relationships/image"/><Relationship Id="rId14" Target="../media/image53.png" Type="http://schemas.openxmlformats.org/officeDocument/2006/relationships/image"/><Relationship Id="rId15" Target="../media/image54.svg" Type="http://schemas.openxmlformats.org/officeDocument/2006/relationships/image"/><Relationship Id="rId16" Target="../media/image61.png" Type="http://schemas.openxmlformats.org/officeDocument/2006/relationships/image"/><Relationship Id="rId17" Target="../media/image62.png" Type="http://schemas.openxmlformats.org/officeDocument/2006/relationships/image"/><Relationship Id="rId2" Target="../media/image37.png" Type="http://schemas.openxmlformats.org/officeDocument/2006/relationships/image"/><Relationship Id="rId3" Target="../media/image38.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 Id="rId8" Target="../media/image43.png" Type="http://schemas.openxmlformats.org/officeDocument/2006/relationships/image"/><Relationship Id="rId9" Target="../media/image44.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 Id="rId3" Target="../media/image56.png" Type="http://schemas.openxmlformats.org/officeDocument/2006/relationships/image"/><Relationship Id="rId4" Target="../media/image57.png" Type="http://schemas.openxmlformats.org/officeDocument/2006/relationships/image"/><Relationship Id="rId5" Target="../media/image58.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63.png" Type="http://schemas.openxmlformats.org/officeDocument/2006/relationships/image"/><Relationship Id="rId5" Target="../media/image64.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65.png" Type="http://schemas.openxmlformats.org/officeDocument/2006/relationships/image"/><Relationship Id="rId5" Target="../media/image66.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7.png" Type="http://schemas.openxmlformats.org/officeDocument/2006/relationships/image"/><Relationship Id="rId3" Target="../media/image68.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9.png" Type="http://schemas.openxmlformats.org/officeDocument/2006/relationships/image"/><Relationship Id="rId3" Target="../embeddings/oleObject2.bin" Type="http://schemas.openxmlformats.org/officeDocument/2006/relationships/oleObject"/></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70.png" Type="http://schemas.openxmlformats.org/officeDocument/2006/relationships/image"/><Relationship Id="rId5" Target="../media/image71.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2.jpeg" Type="http://schemas.openxmlformats.org/officeDocument/2006/relationships/image"/><Relationship Id="rId3" Target="../media/image73.png" Type="http://schemas.openxmlformats.org/officeDocument/2006/relationships/image"/><Relationship Id="rId4" Target="../media/image74.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2.jpeg" Type="http://schemas.openxmlformats.org/officeDocument/2006/relationships/image"/><Relationship Id="rId3" Target="../media/image73.png" Type="http://schemas.openxmlformats.org/officeDocument/2006/relationships/image"/><Relationship Id="rId4" Target="../media/image74.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1C7A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318710" y="-326920"/>
            <a:ext cx="3366703" cy="3366703"/>
          </a:xfrm>
          <a:custGeom>
            <a:avLst/>
            <a:gdLst/>
            <a:ahLst/>
            <a:cxnLst/>
            <a:rect r="r" b="b" t="t" l="l"/>
            <a:pathLst>
              <a:path h="3366703" w="3366703">
                <a:moveTo>
                  <a:pt x="0" y="0"/>
                </a:moveTo>
                <a:lnTo>
                  <a:pt x="3366703" y="0"/>
                </a:lnTo>
                <a:lnTo>
                  <a:pt x="3366703" y="3366703"/>
                </a:lnTo>
                <a:lnTo>
                  <a:pt x="0" y="33667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3086116" y="1028700"/>
            <a:ext cx="8229633" cy="8229600"/>
            <a:chOff x="0" y="0"/>
            <a:chExt cx="6350000" cy="6349975"/>
          </a:xfrm>
        </p:grpSpPr>
        <p:sp>
          <p:nvSpPr>
            <p:cNvPr name="Freeform 4" id="4"/>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l="-25046" t="0" r="-25046" b="0"/>
              </a:stretch>
            </a:blipFill>
          </p:spPr>
        </p:sp>
      </p:grpSp>
      <p:grpSp>
        <p:nvGrpSpPr>
          <p:cNvPr name="Group 5" id="5"/>
          <p:cNvGrpSpPr/>
          <p:nvPr/>
        </p:nvGrpSpPr>
        <p:grpSpPr>
          <a:xfrm rot="0">
            <a:off x="3882428" y="2218941"/>
            <a:ext cx="1261089" cy="1261089"/>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34D24"/>
            </a:solidFill>
          </p:spPr>
        </p:sp>
      </p:grpSp>
      <p:sp>
        <p:nvSpPr>
          <p:cNvPr name="TextBox 7" id="7"/>
          <p:cNvSpPr txBox="true"/>
          <p:nvPr/>
        </p:nvSpPr>
        <p:spPr>
          <a:xfrm rot="0">
            <a:off x="3610720" y="8603298"/>
            <a:ext cx="7143444" cy="1281430"/>
          </a:xfrm>
          <a:prstGeom prst="rect">
            <a:avLst/>
          </a:prstGeom>
        </p:spPr>
        <p:txBody>
          <a:bodyPr anchor="t" rtlCol="false" tIns="0" lIns="0" bIns="0" rIns="0">
            <a:spAutoFit/>
          </a:bodyPr>
          <a:lstStyle/>
          <a:p>
            <a:pPr algn="just">
              <a:lnSpc>
                <a:spcPts val="3380"/>
              </a:lnSpc>
            </a:pPr>
            <a:r>
              <a:rPr lang="en-US" sz="2600" b="true">
                <a:solidFill>
                  <a:srgbClr val="000000"/>
                </a:solidFill>
                <a:latin typeface="Roboto Bold"/>
                <a:ea typeface="Roboto Bold"/>
                <a:cs typeface="Roboto Bold"/>
                <a:sym typeface="Roboto Bold"/>
              </a:rPr>
              <a:t>Présenté par : Prosper LAWA FOUMSOU</a:t>
            </a:r>
          </a:p>
          <a:p>
            <a:pPr algn="just">
              <a:lnSpc>
                <a:spcPts val="3380"/>
              </a:lnSpc>
            </a:pPr>
            <a:r>
              <a:rPr lang="en-US" sz="2600" b="true">
                <a:solidFill>
                  <a:srgbClr val="000000"/>
                </a:solidFill>
                <a:latin typeface="Roboto Bold"/>
                <a:ea typeface="Roboto Bold"/>
                <a:cs typeface="Roboto Bold"/>
                <a:sym typeface="Roboto Bold"/>
              </a:rPr>
              <a:t>                          Ndeye Ramatoulaye Ndoye FALL</a:t>
            </a:r>
          </a:p>
          <a:p>
            <a:pPr algn="just">
              <a:lnSpc>
                <a:spcPts val="3380"/>
              </a:lnSpc>
            </a:pPr>
            <a:r>
              <a:rPr lang="en-US" b="true" sz="2600">
                <a:solidFill>
                  <a:srgbClr val="000000"/>
                </a:solidFill>
                <a:latin typeface="Roboto Bold"/>
                <a:ea typeface="Roboto Bold"/>
                <a:cs typeface="Roboto Bold"/>
                <a:sym typeface="Roboto Bold"/>
              </a:rPr>
              <a:t>                          Ben Idriss Diloma SOMA</a:t>
            </a:r>
          </a:p>
        </p:txBody>
      </p:sp>
      <p:sp>
        <p:nvSpPr>
          <p:cNvPr name="TextBox 8" id="8"/>
          <p:cNvSpPr txBox="true"/>
          <p:nvPr/>
        </p:nvSpPr>
        <p:spPr>
          <a:xfrm rot="0">
            <a:off x="6696514" y="2418715"/>
            <a:ext cx="8342013" cy="3030474"/>
          </a:xfrm>
          <a:prstGeom prst="rect">
            <a:avLst/>
          </a:prstGeom>
        </p:spPr>
        <p:txBody>
          <a:bodyPr anchor="t" rtlCol="false" tIns="0" lIns="0" bIns="0" rIns="0">
            <a:spAutoFit/>
          </a:bodyPr>
          <a:lstStyle/>
          <a:p>
            <a:pPr algn="l">
              <a:lnSpc>
                <a:spcPts val="5927"/>
              </a:lnSpc>
            </a:pPr>
            <a:r>
              <a:rPr lang="en-US" sz="5199" b="true">
                <a:solidFill>
                  <a:srgbClr val="000000"/>
                </a:solidFill>
                <a:latin typeface="Roboto Bold"/>
                <a:ea typeface="Roboto Bold"/>
                <a:cs typeface="Roboto Bold"/>
                <a:sym typeface="Roboto Bold"/>
              </a:rPr>
              <a:t>Connaissance, utilisation et perceptions des services bancaires par les habitants de la région de Dakar </a:t>
            </a:r>
          </a:p>
        </p:txBody>
      </p:sp>
      <p:sp>
        <p:nvSpPr>
          <p:cNvPr name="TextBox 9" id="9"/>
          <p:cNvSpPr txBox="true"/>
          <p:nvPr/>
        </p:nvSpPr>
        <p:spPr>
          <a:xfrm rot="0">
            <a:off x="6696514" y="5545458"/>
            <a:ext cx="8115300" cy="421227"/>
          </a:xfrm>
          <a:prstGeom prst="rect">
            <a:avLst/>
          </a:prstGeom>
        </p:spPr>
        <p:txBody>
          <a:bodyPr anchor="t" rtlCol="false" tIns="0" lIns="0" bIns="0" rIns="0">
            <a:spAutoFit/>
          </a:bodyPr>
          <a:lstStyle/>
          <a:p>
            <a:pPr algn="l">
              <a:lnSpc>
                <a:spcPts val="3373"/>
              </a:lnSpc>
            </a:pPr>
            <a:r>
              <a:rPr lang="en-US" sz="2574">
                <a:solidFill>
                  <a:srgbClr val="000000"/>
                </a:solidFill>
                <a:latin typeface="Roboto"/>
                <a:ea typeface="Roboto"/>
                <a:cs typeface="Roboto"/>
                <a:sym typeface="Roboto"/>
              </a:rPr>
              <a:t>Projet de méthodologie d’enquête</a:t>
            </a:r>
          </a:p>
        </p:txBody>
      </p:sp>
      <p:sp>
        <p:nvSpPr>
          <p:cNvPr name="TextBox 10" id="10"/>
          <p:cNvSpPr txBox="true"/>
          <p:nvPr/>
        </p:nvSpPr>
        <p:spPr>
          <a:xfrm rot="0">
            <a:off x="12473150" y="9031923"/>
            <a:ext cx="5130754" cy="424180"/>
          </a:xfrm>
          <a:prstGeom prst="rect">
            <a:avLst/>
          </a:prstGeom>
        </p:spPr>
        <p:txBody>
          <a:bodyPr anchor="t" rtlCol="false" tIns="0" lIns="0" bIns="0" rIns="0">
            <a:spAutoFit/>
          </a:bodyPr>
          <a:lstStyle/>
          <a:p>
            <a:pPr algn="just">
              <a:lnSpc>
                <a:spcPts val="3380"/>
              </a:lnSpc>
            </a:pPr>
            <a:r>
              <a:rPr lang="en-US" b="true" sz="2600">
                <a:solidFill>
                  <a:srgbClr val="000000"/>
                </a:solidFill>
                <a:latin typeface="Roboto Bold"/>
                <a:ea typeface="Roboto Bold"/>
                <a:cs typeface="Roboto Bold"/>
                <a:sym typeface="Roboto Bold"/>
              </a:rPr>
              <a:t>Chargé du cours: M. DANSOKHO</a:t>
            </a:r>
          </a:p>
        </p:txBody>
      </p:sp>
      <p:sp>
        <p:nvSpPr>
          <p:cNvPr name="TextBox 11" id="11"/>
          <p:cNvSpPr txBox="true"/>
          <p:nvPr/>
        </p:nvSpPr>
        <p:spPr>
          <a:xfrm rot="-5400000">
            <a:off x="16459573" y="3809278"/>
            <a:ext cx="2522834" cy="603250"/>
          </a:xfrm>
          <a:prstGeom prst="rect">
            <a:avLst/>
          </a:prstGeom>
        </p:spPr>
        <p:txBody>
          <a:bodyPr anchor="t" rtlCol="false" tIns="0" lIns="0" bIns="0" rIns="0">
            <a:spAutoFit/>
          </a:bodyPr>
          <a:lstStyle/>
          <a:p>
            <a:pPr algn="l">
              <a:lnSpc>
                <a:spcPts val="4626"/>
              </a:lnSpc>
            </a:pPr>
            <a:r>
              <a:rPr lang="en-US" sz="3855" b="true">
                <a:solidFill>
                  <a:srgbClr val="C34D24"/>
                </a:solidFill>
                <a:latin typeface="Almarai Bold"/>
                <a:ea typeface="Almarai Bold"/>
                <a:cs typeface="Almarai Bold"/>
                <a:sym typeface="Almarai Bold"/>
              </a:rPr>
              <a:t>2024 - 2025</a:t>
            </a:r>
          </a:p>
        </p:txBody>
      </p:sp>
      <p:sp>
        <p:nvSpPr>
          <p:cNvPr name="AutoShape 12" id="12"/>
          <p:cNvSpPr/>
          <p:nvPr/>
        </p:nvSpPr>
        <p:spPr>
          <a:xfrm flipV="true">
            <a:off x="17725753" y="5583558"/>
            <a:ext cx="0" cy="6492240"/>
          </a:xfrm>
          <a:prstGeom prst="line">
            <a:avLst/>
          </a:prstGeom>
          <a:ln cap="flat" w="38100">
            <a:solidFill>
              <a:srgbClr val="C34D24"/>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sp>
        <p:nvSpPr>
          <p:cNvPr name="Freeform 2" id="2"/>
          <p:cNvSpPr/>
          <p:nvPr/>
        </p:nvSpPr>
        <p:spPr>
          <a:xfrm flipH="false" flipV="false" rot="0">
            <a:off x="6221368" y="3328907"/>
            <a:ext cx="5845264" cy="5816038"/>
          </a:xfrm>
          <a:custGeom>
            <a:avLst/>
            <a:gdLst/>
            <a:ahLst/>
            <a:cxnLst/>
            <a:rect r="r" b="b" t="t" l="l"/>
            <a:pathLst>
              <a:path h="5816038" w="5845264">
                <a:moveTo>
                  <a:pt x="0" y="0"/>
                </a:moveTo>
                <a:lnTo>
                  <a:pt x="5845264" y="0"/>
                </a:lnTo>
                <a:lnTo>
                  <a:pt x="5845264" y="5816038"/>
                </a:lnTo>
                <a:lnTo>
                  <a:pt x="0" y="58160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760062" y="4804410"/>
            <a:ext cx="2767876" cy="640080"/>
          </a:xfrm>
          <a:prstGeom prst="rect">
            <a:avLst/>
          </a:prstGeom>
        </p:spPr>
        <p:txBody>
          <a:bodyPr anchor="t" rtlCol="false" tIns="0" lIns="0" bIns="0" rIns="0">
            <a:spAutoFit/>
          </a:bodyPr>
          <a:lstStyle/>
          <a:p>
            <a:pPr algn="ctr" marL="0" indent="0" lvl="0">
              <a:lnSpc>
                <a:spcPts val="5159"/>
              </a:lnSpc>
              <a:spcBef>
                <a:spcPct val="0"/>
              </a:spcBef>
            </a:pPr>
            <a:r>
              <a:rPr lang="en-US" b="true" sz="3999">
                <a:solidFill>
                  <a:srgbClr val="000000"/>
                </a:solidFill>
                <a:latin typeface="Roboto Bold"/>
                <a:ea typeface="Roboto Bold"/>
                <a:cs typeface="Roboto Bold"/>
                <a:sym typeface="Roboto Bold"/>
              </a:rPr>
              <a:t>SOMMAIRE</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sp>
        <p:nvSpPr>
          <p:cNvPr name="Freeform 2" id="2"/>
          <p:cNvSpPr/>
          <p:nvPr/>
        </p:nvSpPr>
        <p:spPr>
          <a:xfrm flipH="false" flipV="false" rot="0">
            <a:off x="6221368" y="2436870"/>
            <a:ext cx="5845264" cy="5816038"/>
          </a:xfrm>
          <a:custGeom>
            <a:avLst/>
            <a:gdLst/>
            <a:ahLst/>
            <a:cxnLst/>
            <a:rect r="r" b="b" t="t" l="l"/>
            <a:pathLst>
              <a:path h="5816038" w="5845264">
                <a:moveTo>
                  <a:pt x="0" y="0"/>
                </a:moveTo>
                <a:lnTo>
                  <a:pt x="5845264" y="0"/>
                </a:lnTo>
                <a:lnTo>
                  <a:pt x="5845264" y="5816038"/>
                </a:lnTo>
                <a:lnTo>
                  <a:pt x="0" y="58160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079440" y="4280328"/>
            <a:ext cx="2129121" cy="212912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46" t="0" r="-25046" b="0"/>
              </a:stretch>
            </a:blipFill>
          </p:spPr>
        </p:sp>
      </p:grpSp>
      <p:sp>
        <p:nvSpPr>
          <p:cNvPr name="TextBox 5" id="5"/>
          <p:cNvSpPr txBox="true"/>
          <p:nvPr/>
        </p:nvSpPr>
        <p:spPr>
          <a:xfrm rot="0">
            <a:off x="7760062" y="689610"/>
            <a:ext cx="2767876" cy="640080"/>
          </a:xfrm>
          <a:prstGeom prst="rect">
            <a:avLst/>
          </a:prstGeom>
        </p:spPr>
        <p:txBody>
          <a:bodyPr anchor="t" rtlCol="false" tIns="0" lIns="0" bIns="0" rIns="0">
            <a:spAutoFit/>
          </a:bodyPr>
          <a:lstStyle/>
          <a:p>
            <a:pPr algn="ctr" marL="0" indent="0" lvl="0">
              <a:lnSpc>
                <a:spcPts val="5159"/>
              </a:lnSpc>
              <a:spcBef>
                <a:spcPct val="0"/>
              </a:spcBef>
            </a:pPr>
            <a:r>
              <a:rPr lang="en-US" b="true" sz="3999">
                <a:solidFill>
                  <a:srgbClr val="000000"/>
                </a:solidFill>
                <a:latin typeface="Roboto Bold"/>
                <a:ea typeface="Roboto Bold"/>
                <a:cs typeface="Roboto Bold"/>
                <a:sym typeface="Roboto Bold"/>
              </a:rPr>
              <a:t>SOMMAIRE</a:t>
            </a:r>
          </a:p>
        </p:txBody>
      </p:sp>
      <p:sp>
        <p:nvSpPr>
          <p:cNvPr name="TextBox 6" id="6"/>
          <p:cNvSpPr txBox="true"/>
          <p:nvPr/>
        </p:nvSpPr>
        <p:spPr>
          <a:xfrm rot="0">
            <a:off x="8584650" y="5056544"/>
            <a:ext cx="1118701" cy="471678"/>
          </a:xfrm>
          <a:prstGeom prst="rect">
            <a:avLst/>
          </a:prstGeom>
        </p:spPr>
        <p:txBody>
          <a:bodyPr anchor="t" rtlCol="false" tIns="0" lIns="0" bIns="0" rIns="0">
            <a:spAutoFit/>
          </a:bodyPr>
          <a:lstStyle/>
          <a:p>
            <a:pPr algn="ctr" marL="0" indent="0" lvl="0">
              <a:lnSpc>
                <a:spcPts val="3740"/>
              </a:lnSpc>
              <a:spcBef>
                <a:spcPct val="0"/>
              </a:spcBef>
            </a:pPr>
            <a:r>
              <a:rPr lang="en-US" b="true" sz="2899" u="none">
                <a:solidFill>
                  <a:srgbClr val="FFFFFF"/>
                </a:solidFill>
                <a:latin typeface="Roboto Bold"/>
                <a:ea typeface="Roboto Bold"/>
                <a:cs typeface="Roboto Bold"/>
                <a:sym typeface="Roboto Bold"/>
              </a:rPr>
              <a:t>01</a:t>
            </a:r>
          </a:p>
        </p:txBody>
      </p:sp>
      <p:sp>
        <p:nvSpPr>
          <p:cNvPr name="TextBox 7" id="7"/>
          <p:cNvSpPr txBox="true"/>
          <p:nvPr/>
        </p:nvSpPr>
        <p:spPr>
          <a:xfrm rot="0">
            <a:off x="1028700" y="2817985"/>
            <a:ext cx="3964234" cy="1200150"/>
          </a:xfrm>
          <a:prstGeom prst="rect">
            <a:avLst/>
          </a:prstGeom>
        </p:spPr>
        <p:txBody>
          <a:bodyPr anchor="t" rtlCol="false" tIns="0" lIns="0" bIns="0" rIns="0">
            <a:spAutoFit/>
          </a:bodyPr>
          <a:lstStyle/>
          <a:p>
            <a:pPr algn="r">
              <a:lnSpc>
                <a:spcPts val="3224"/>
              </a:lnSpc>
            </a:pPr>
            <a:r>
              <a:rPr lang="en-US" sz="2499" b="true">
                <a:solidFill>
                  <a:srgbClr val="000000"/>
                </a:solidFill>
                <a:latin typeface="Roboto Bold"/>
                <a:ea typeface="Roboto Bold"/>
                <a:cs typeface="Roboto Bold"/>
                <a:sym typeface="Roboto Bold"/>
              </a:rPr>
              <a:t>1</a:t>
            </a:r>
          </a:p>
          <a:p>
            <a:pPr algn="r" marL="0" indent="0" lvl="0">
              <a:lnSpc>
                <a:spcPts val="3224"/>
              </a:lnSpc>
              <a:spcBef>
                <a:spcPct val="0"/>
              </a:spcBef>
            </a:pPr>
            <a:r>
              <a:rPr lang="en-US" b="true" sz="2499">
                <a:solidFill>
                  <a:srgbClr val="000000"/>
                </a:solidFill>
                <a:latin typeface="Roboto Bold"/>
                <a:ea typeface="Roboto Bold"/>
                <a:cs typeface="Roboto Bold"/>
                <a:sym typeface="Roboto Bold"/>
              </a:rPr>
              <a:t>Contexte, justifications et objectifs</a:t>
            </a:r>
          </a:p>
        </p:txBody>
      </p:sp>
    </p:spTree>
  </p:cSld>
  <p:clrMapOvr>
    <a:masterClrMapping/>
  </p:clrMapOvr>
  <p:transition spd="slow">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sp>
        <p:nvSpPr>
          <p:cNvPr name="Freeform 2" id="2"/>
          <p:cNvSpPr/>
          <p:nvPr/>
        </p:nvSpPr>
        <p:spPr>
          <a:xfrm flipH="false" flipV="false" rot="0">
            <a:off x="6221368" y="2496339"/>
            <a:ext cx="5845264" cy="5816038"/>
          </a:xfrm>
          <a:custGeom>
            <a:avLst/>
            <a:gdLst/>
            <a:ahLst/>
            <a:cxnLst/>
            <a:rect r="r" b="b" t="t" l="l"/>
            <a:pathLst>
              <a:path h="5816038" w="5845264">
                <a:moveTo>
                  <a:pt x="0" y="0"/>
                </a:moveTo>
                <a:lnTo>
                  <a:pt x="5845264" y="0"/>
                </a:lnTo>
                <a:lnTo>
                  <a:pt x="5845264" y="5816038"/>
                </a:lnTo>
                <a:lnTo>
                  <a:pt x="0" y="58160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818570"/>
            <a:ext cx="3964234" cy="800100"/>
          </a:xfrm>
          <a:prstGeom prst="rect">
            <a:avLst/>
          </a:prstGeom>
        </p:spPr>
        <p:txBody>
          <a:bodyPr anchor="t" rtlCol="false" tIns="0" lIns="0" bIns="0" rIns="0">
            <a:spAutoFit/>
          </a:bodyPr>
          <a:lstStyle/>
          <a:p>
            <a:pPr algn="r">
              <a:lnSpc>
                <a:spcPts val="3224"/>
              </a:lnSpc>
            </a:pPr>
            <a:r>
              <a:rPr lang="en-US" sz="2499" b="true">
                <a:solidFill>
                  <a:srgbClr val="000000"/>
                </a:solidFill>
                <a:latin typeface="Roboto Bold"/>
                <a:ea typeface="Roboto Bold"/>
                <a:cs typeface="Roboto Bold"/>
                <a:sym typeface="Roboto Bold"/>
              </a:rPr>
              <a:t>2</a:t>
            </a:r>
          </a:p>
          <a:p>
            <a:pPr algn="r" marL="0" indent="0" lvl="0">
              <a:lnSpc>
                <a:spcPts val="3224"/>
              </a:lnSpc>
              <a:spcBef>
                <a:spcPct val="0"/>
              </a:spcBef>
            </a:pPr>
            <a:r>
              <a:rPr lang="en-US" b="true" sz="2499">
                <a:solidFill>
                  <a:srgbClr val="000000"/>
                </a:solidFill>
                <a:latin typeface="Roboto Bold"/>
                <a:ea typeface="Roboto Bold"/>
                <a:cs typeface="Roboto Bold"/>
                <a:sym typeface="Roboto Bold"/>
              </a:rPr>
              <a:t>Cadre conceptuel</a:t>
            </a:r>
          </a:p>
        </p:txBody>
      </p:sp>
      <p:sp>
        <p:nvSpPr>
          <p:cNvPr name="TextBox 4" id="4"/>
          <p:cNvSpPr txBox="true"/>
          <p:nvPr/>
        </p:nvSpPr>
        <p:spPr>
          <a:xfrm rot="0">
            <a:off x="1028700" y="2817985"/>
            <a:ext cx="3964234" cy="1200150"/>
          </a:xfrm>
          <a:prstGeom prst="rect">
            <a:avLst/>
          </a:prstGeom>
        </p:spPr>
        <p:txBody>
          <a:bodyPr anchor="t" rtlCol="false" tIns="0" lIns="0" bIns="0" rIns="0">
            <a:spAutoFit/>
          </a:bodyPr>
          <a:lstStyle/>
          <a:p>
            <a:pPr algn="r">
              <a:lnSpc>
                <a:spcPts val="3224"/>
              </a:lnSpc>
            </a:pPr>
            <a:r>
              <a:rPr lang="en-US" sz="2499" b="true">
                <a:solidFill>
                  <a:srgbClr val="000000"/>
                </a:solidFill>
                <a:latin typeface="Roboto Bold"/>
                <a:ea typeface="Roboto Bold"/>
                <a:cs typeface="Roboto Bold"/>
                <a:sym typeface="Roboto Bold"/>
              </a:rPr>
              <a:t>1</a:t>
            </a:r>
          </a:p>
          <a:p>
            <a:pPr algn="r" marL="0" indent="0" lvl="0">
              <a:lnSpc>
                <a:spcPts val="3224"/>
              </a:lnSpc>
              <a:spcBef>
                <a:spcPct val="0"/>
              </a:spcBef>
            </a:pPr>
            <a:r>
              <a:rPr lang="en-US" b="true" sz="2499">
                <a:solidFill>
                  <a:srgbClr val="000000"/>
                </a:solidFill>
                <a:latin typeface="Roboto Bold"/>
                <a:ea typeface="Roboto Bold"/>
                <a:cs typeface="Roboto Bold"/>
                <a:sym typeface="Roboto Bold"/>
              </a:rPr>
              <a:t>Contexte, justifications et objectifs</a:t>
            </a:r>
          </a:p>
        </p:txBody>
      </p:sp>
      <p:grpSp>
        <p:nvGrpSpPr>
          <p:cNvPr name="Group 5" id="5"/>
          <p:cNvGrpSpPr/>
          <p:nvPr/>
        </p:nvGrpSpPr>
        <p:grpSpPr>
          <a:xfrm rot="0">
            <a:off x="8079440" y="4339797"/>
            <a:ext cx="2129121" cy="212912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46" t="0" r="-25046" b="0"/>
              </a:stretch>
            </a:blipFill>
          </p:spPr>
        </p:sp>
      </p:grpSp>
      <p:sp>
        <p:nvSpPr>
          <p:cNvPr name="TextBox 7" id="7"/>
          <p:cNvSpPr txBox="true"/>
          <p:nvPr/>
        </p:nvSpPr>
        <p:spPr>
          <a:xfrm rot="0">
            <a:off x="8584650" y="5116013"/>
            <a:ext cx="1118701" cy="471678"/>
          </a:xfrm>
          <a:prstGeom prst="rect">
            <a:avLst/>
          </a:prstGeom>
        </p:spPr>
        <p:txBody>
          <a:bodyPr anchor="t" rtlCol="false" tIns="0" lIns="0" bIns="0" rIns="0">
            <a:spAutoFit/>
          </a:bodyPr>
          <a:lstStyle/>
          <a:p>
            <a:pPr algn="ctr" marL="0" indent="0" lvl="0">
              <a:lnSpc>
                <a:spcPts val="3740"/>
              </a:lnSpc>
              <a:spcBef>
                <a:spcPct val="0"/>
              </a:spcBef>
            </a:pPr>
            <a:r>
              <a:rPr lang="en-US" b="true" sz="2899" u="none">
                <a:solidFill>
                  <a:srgbClr val="FFFFFF"/>
                </a:solidFill>
                <a:latin typeface="Roboto Bold"/>
                <a:ea typeface="Roboto Bold"/>
                <a:cs typeface="Roboto Bold"/>
                <a:sym typeface="Roboto Bold"/>
              </a:rPr>
              <a:t>01</a:t>
            </a:r>
          </a:p>
        </p:txBody>
      </p:sp>
      <p:sp>
        <p:nvSpPr>
          <p:cNvPr name="TextBox 8" id="8"/>
          <p:cNvSpPr txBox="true"/>
          <p:nvPr/>
        </p:nvSpPr>
        <p:spPr>
          <a:xfrm rot="0">
            <a:off x="7607203" y="3302815"/>
            <a:ext cx="1118701"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FFFFFF"/>
                </a:solidFill>
                <a:latin typeface="Roboto Bold"/>
                <a:ea typeface="Roboto Bold"/>
                <a:cs typeface="Roboto Bold"/>
                <a:sym typeface="Roboto Bold"/>
              </a:rPr>
              <a:t>02</a:t>
            </a:r>
          </a:p>
        </p:txBody>
      </p:sp>
      <p:sp>
        <p:nvSpPr>
          <p:cNvPr name="TextBox 9" id="9"/>
          <p:cNvSpPr txBox="true"/>
          <p:nvPr/>
        </p:nvSpPr>
        <p:spPr>
          <a:xfrm rot="0">
            <a:off x="10059129" y="3674290"/>
            <a:ext cx="1118701"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FCF1E4"/>
                </a:solidFill>
                <a:latin typeface="Roboto Bold"/>
                <a:ea typeface="Roboto Bold"/>
                <a:cs typeface="Roboto Bold"/>
                <a:sym typeface="Roboto Bold"/>
              </a:rPr>
              <a:t>03</a:t>
            </a:r>
          </a:p>
        </p:txBody>
      </p:sp>
      <p:sp>
        <p:nvSpPr>
          <p:cNvPr name="TextBox 10" id="10"/>
          <p:cNvSpPr txBox="true"/>
          <p:nvPr/>
        </p:nvSpPr>
        <p:spPr>
          <a:xfrm rot="0">
            <a:off x="6551225" y="5375783"/>
            <a:ext cx="1118701"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FCF1E4"/>
                </a:solidFill>
                <a:latin typeface="Roboto Bold"/>
                <a:ea typeface="Roboto Bold"/>
                <a:cs typeface="Roboto Bold"/>
                <a:sym typeface="Roboto Bold"/>
              </a:rPr>
              <a:t>06</a:t>
            </a:r>
          </a:p>
        </p:txBody>
      </p:sp>
      <p:sp>
        <p:nvSpPr>
          <p:cNvPr name="TextBox 11" id="11"/>
          <p:cNvSpPr txBox="true"/>
          <p:nvPr/>
        </p:nvSpPr>
        <p:spPr>
          <a:xfrm rot="0">
            <a:off x="8166553" y="7190631"/>
            <a:ext cx="1118701"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FCF1E4"/>
                </a:solidFill>
                <a:latin typeface="Roboto Bold"/>
                <a:ea typeface="Roboto Bold"/>
                <a:cs typeface="Roboto Bold"/>
                <a:sym typeface="Roboto Bold"/>
              </a:rPr>
              <a:t>05</a:t>
            </a:r>
          </a:p>
        </p:txBody>
      </p:sp>
      <p:sp>
        <p:nvSpPr>
          <p:cNvPr name="TextBox 12" id="12"/>
          <p:cNvSpPr txBox="true"/>
          <p:nvPr/>
        </p:nvSpPr>
        <p:spPr>
          <a:xfrm rot="0">
            <a:off x="10426247" y="6028481"/>
            <a:ext cx="1118701"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FCF1E4"/>
                </a:solidFill>
                <a:latin typeface="Roboto Bold"/>
                <a:ea typeface="Roboto Bold"/>
                <a:cs typeface="Roboto Bold"/>
                <a:sym typeface="Roboto Bold"/>
              </a:rPr>
              <a:t>04</a:t>
            </a:r>
          </a:p>
        </p:txBody>
      </p:sp>
      <p:sp>
        <p:nvSpPr>
          <p:cNvPr name="TextBox 13" id="13"/>
          <p:cNvSpPr txBox="true"/>
          <p:nvPr/>
        </p:nvSpPr>
        <p:spPr>
          <a:xfrm rot="0">
            <a:off x="7760062" y="689610"/>
            <a:ext cx="2767876" cy="640080"/>
          </a:xfrm>
          <a:prstGeom prst="rect">
            <a:avLst/>
          </a:prstGeom>
        </p:spPr>
        <p:txBody>
          <a:bodyPr anchor="t" rtlCol="false" tIns="0" lIns="0" bIns="0" rIns="0">
            <a:spAutoFit/>
          </a:bodyPr>
          <a:lstStyle/>
          <a:p>
            <a:pPr algn="ctr" marL="0" indent="0" lvl="0">
              <a:lnSpc>
                <a:spcPts val="5159"/>
              </a:lnSpc>
              <a:spcBef>
                <a:spcPct val="0"/>
              </a:spcBef>
            </a:pPr>
            <a:r>
              <a:rPr lang="en-US" b="true" sz="3999">
                <a:solidFill>
                  <a:srgbClr val="000000"/>
                </a:solidFill>
                <a:latin typeface="Roboto Bold"/>
                <a:ea typeface="Roboto Bold"/>
                <a:cs typeface="Roboto Bold"/>
                <a:sym typeface="Roboto Bold"/>
              </a:rPr>
              <a:t>SOMMAIRE</a:t>
            </a:r>
          </a:p>
        </p:txBody>
      </p:sp>
    </p:spTree>
  </p:cSld>
  <p:clrMapOvr>
    <a:masterClrMapping/>
  </p:clrMapOvr>
  <p:transition spd="slow">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sp>
        <p:nvSpPr>
          <p:cNvPr name="Freeform 2" id="2"/>
          <p:cNvSpPr/>
          <p:nvPr/>
        </p:nvSpPr>
        <p:spPr>
          <a:xfrm flipH="false" flipV="false" rot="0">
            <a:off x="6221368" y="2496339"/>
            <a:ext cx="5845264" cy="5816038"/>
          </a:xfrm>
          <a:custGeom>
            <a:avLst/>
            <a:gdLst/>
            <a:ahLst/>
            <a:cxnLst/>
            <a:rect r="r" b="b" t="t" l="l"/>
            <a:pathLst>
              <a:path h="5816038" w="5845264">
                <a:moveTo>
                  <a:pt x="0" y="0"/>
                </a:moveTo>
                <a:lnTo>
                  <a:pt x="5845264" y="0"/>
                </a:lnTo>
                <a:lnTo>
                  <a:pt x="5845264" y="5816038"/>
                </a:lnTo>
                <a:lnTo>
                  <a:pt x="0" y="58160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818570"/>
            <a:ext cx="3964234" cy="800100"/>
          </a:xfrm>
          <a:prstGeom prst="rect">
            <a:avLst/>
          </a:prstGeom>
        </p:spPr>
        <p:txBody>
          <a:bodyPr anchor="t" rtlCol="false" tIns="0" lIns="0" bIns="0" rIns="0">
            <a:spAutoFit/>
          </a:bodyPr>
          <a:lstStyle/>
          <a:p>
            <a:pPr algn="r">
              <a:lnSpc>
                <a:spcPts val="3224"/>
              </a:lnSpc>
            </a:pPr>
            <a:r>
              <a:rPr lang="en-US" sz="2499" b="true">
                <a:solidFill>
                  <a:srgbClr val="000000"/>
                </a:solidFill>
                <a:latin typeface="Roboto Bold"/>
                <a:ea typeface="Roboto Bold"/>
                <a:cs typeface="Roboto Bold"/>
                <a:sym typeface="Roboto Bold"/>
              </a:rPr>
              <a:t>2</a:t>
            </a:r>
          </a:p>
          <a:p>
            <a:pPr algn="r" marL="0" indent="0" lvl="0">
              <a:lnSpc>
                <a:spcPts val="3224"/>
              </a:lnSpc>
              <a:spcBef>
                <a:spcPct val="0"/>
              </a:spcBef>
            </a:pPr>
            <a:r>
              <a:rPr lang="en-US" b="true" sz="2499">
                <a:solidFill>
                  <a:srgbClr val="000000"/>
                </a:solidFill>
                <a:latin typeface="Roboto Bold"/>
                <a:ea typeface="Roboto Bold"/>
                <a:cs typeface="Roboto Bold"/>
                <a:sym typeface="Roboto Bold"/>
              </a:rPr>
              <a:t>Cadre conceptuel</a:t>
            </a:r>
          </a:p>
        </p:txBody>
      </p:sp>
      <p:sp>
        <p:nvSpPr>
          <p:cNvPr name="TextBox 4" id="4"/>
          <p:cNvSpPr txBox="true"/>
          <p:nvPr/>
        </p:nvSpPr>
        <p:spPr>
          <a:xfrm rot="0">
            <a:off x="1028700" y="2817985"/>
            <a:ext cx="3964234" cy="1200150"/>
          </a:xfrm>
          <a:prstGeom prst="rect">
            <a:avLst/>
          </a:prstGeom>
        </p:spPr>
        <p:txBody>
          <a:bodyPr anchor="t" rtlCol="false" tIns="0" lIns="0" bIns="0" rIns="0">
            <a:spAutoFit/>
          </a:bodyPr>
          <a:lstStyle/>
          <a:p>
            <a:pPr algn="r">
              <a:lnSpc>
                <a:spcPts val="3224"/>
              </a:lnSpc>
            </a:pPr>
            <a:r>
              <a:rPr lang="en-US" sz="2499" b="true">
                <a:solidFill>
                  <a:srgbClr val="000000"/>
                </a:solidFill>
                <a:latin typeface="Roboto Bold"/>
                <a:ea typeface="Roboto Bold"/>
                <a:cs typeface="Roboto Bold"/>
                <a:sym typeface="Roboto Bold"/>
              </a:rPr>
              <a:t>1</a:t>
            </a:r>
          </a:p>
          <a:p>
            <a:pPr algn="r" marL="0" indent="0" lvl="0">
              <a:lnSpc>
                <a:spcPts val="3224"/>
              </a:lnSpc>
              <a:spcBef>
                <a:spcPct val="0"/>
              </a:spcBef>
            </a:pPr>
            <a:r>
              <a:rPr lang="en-US" b="true" sz="2499">
                <a:solidFill>
                  <a:srgbClr val="000000"/>
                </a:solidFill>
                <a:latin typeface="Roboto Bold"/>
                <a:ea typeface="Roboto Bold"/>
                <a:cs typeface="Roboto Bold"/>
                <a:sym typeface="Roboto Bold"/>
              </a:rPr>
              <a:t>Contexte, justifications et objectifs</a:t>
            </a:r>
          </a:p>
        </p:txBody>
      </p:sp>
      <p:grpSp>
        <p:nvGrpSpPr>
          <p:cNvPr name="Group 5" id="5"/>
          <p:cNvGrpSpPr/>
          <p:nvPr/>
        </p:nvGrpSpPr>
        <p:grpSpPr>
          <a:xfrm rot="0">
            <a:off x="8079440" y="4339797"/>
            <a:ext cx="2129121" cy="212912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46" t="0" r="-25046" b="0"/>
              </a:stretch>
            </a:blipFill>
          </p:spPr>
        </p:sp>
      </p:grpSp>
      <p:sp>
        <p:nvSpPr>
          <p:cNvPr name="TextBox 7" id="7"/>
          <p:cNvSpPr txBox="true"/>
          <p:nvPr/>
        </p:nvSpPr>
        <p:spPr>
          <a:xfrm rot="0">
            <a:off x="8584650" y="5116013"/>
            <a:ext cx="1118701" cy="471678"/>
          </a:xfrm>
          <a:prstGeom prst="rect">
            <a:avLst/>
          </a:prstGeom>
        </p:spPr>
        <p:txBody>
          <a:bodyPr anchor="t" rtlCol="false" tIns="0" lIns="0" bIns="0" rIns="0">
            <a:spAutoFit/>
          </a:bodyPr>
          <a:lstStyle/>
          <a:p>
            <a:pPr algn="ctr" marL="0" indent="0" lvl="0">
              <a:lnSpc>
                <a:spcPts val="3740"/>
              </a:lnSpc>
              <a:spcBef>
                <a:spcPct val="0"/>
              </a:spcBef>
            </a:pPr>
            <a:r>
              <a:rPr lang="en-US" b="true" sz="2899" u="none">
                <a:solidFill>
                  <a:srgbClr val="FFFFFF"/>
                </a:solidFill>
                <a:latin typeface="Roboto Bold"/>
                <a:ea typeface="Roboto Bold"/>
                <a:cs typeface="Roboto Bold"/>
                <a:sym typeface="Roboto Bold"/>
              </a:rPr>
              <a:t>01</a:t>
            </a:r>
          </a:p>
        </p:txBody>
      </p:sp>
      <p:sp>
        <p:nvSpPr>
          <p:cNvPr name="TextBox 8" id="8"/>
          <p:cNvSpPr txBox="true"/>
          <p:nvPr/>
        </p:nvSpPr>
        <p:spPr>
          <a:xfrm rot="0">
            <a:off x="7607203" y="3302815"/>
            <a:ext cx="1118701"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FFFFFF"/>
                </a:solidFill>
                <a:latin typeface="Roboto Bold"/>
                <a:ea typeface="Roboto Bold"/>
                <a:cs typeface="Roboto Bold"/>
                <a:sym typeface="Roboto Bold"/>
              </a:rPr>
              <a:t>02</a:t>
            </a:r>
          </a:p>
        </p:txBody>
      </p:sp>
      <p:sp>
        <p:nvSpPr>
          <p:cNvPr name="TextBox 9" id="9"/>
          <p:cNvSpPr txBox="true"/>
          <p:nvPr/>
        </p:nvSpPr>
        <p:spPr>
          <a:xfrm rot="0">
            <a:off x="10059129" y="3674290"/>
            <a:ext cx="1118701"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FFFFFF"/>
                </a:solidFill>
                <a:latin typeface="Roboto Bold"/>
                <a:ea typeface="Roboto Bold"/>
                <a:cs typeface="Roboto Bold"/>
                <a:sym typeface="Roboto Bold"/>
              </a:rPr>
              <a:t>03</a:t>
            </a:r>
          </a:p>
        </p:txBody>
      </p:sp>
      <p:sp>
        <p:nvSpPr>
          <p:cNvPr name="TextBox 10" id="10"/>
          <p:cNvSpPr txBox="true"/>
          <p:nvPr/>
        </p:nvSpPr>
        <p:spPr>
          <a:xfrm rot="0">
            <a:off x="7760062" y="689610"/>
            <a:ext cx="2767876" cy="640080"/>
          </a:xfrm>
          <a:prstGeom prst="rect">
            <a:avLst/>
          </a:prstGeom>
        </p:spPr>
        <p:txBody>
          <a:bodyPr anchor="t" rtlCol="false" tIns="0" lIns="0" bIns="0" rIns="0">
            <a:spAutoFit/>
          </a:bodyPr>
          <a:lstStyle/>
          <a:p>
            <a:pPr algn="ctr" marL="0" indent="0" lvl="0">
              <a:lnSpc>
                <a:spcPts val="5159"/>
              </a:lnSpc>
              <a:spcBef>
                <a:spcPct val="0"/>
              </a:spcBef>
            </a:pPr>
            <a:r>
              <a:rPr lang="en-US" b="true" sz="3999">
                <a:solidFill>
                  <a:srgbClr val="000000"/>
                </a:solidFill>
                <a:latin typeface="Roboto Bold"/>
                <a:ea typeface="Roboto Bold"/>
                <a:cs typeface="Roboto Bold"/>
                <a:sym typeface="Roboto Bold"/>
              </a:rPr>
              <a:t>SOMMAIRE</a:t>
            </a:r>
          </a:p>
        </p:txBody>
      </p:sp>
      <p:sp>
        <p:nvSpPr>
          <p:cNvPr name="TextBox 11" id="11"/>
          <p:cNvSpPr txBox="true"/>
          <p:nvPr/>
        </p:nvSpPr>
        <p:spPr>
          <a:xfrm rot="0">
            <a:off x="1028700" y="6819156"/>
            <a:ext cx="3964234" cy="800100"/>
          </a:xfrm>
          <a:prstGeom prst="rect">
            <a:avLst/>
          </a:prstGeom>
        </p:spPr>
        <p:txBody>
          <a:bodyPr anchor="t" rtlCol="false" tIns="0" lIns="0" bIns="0" rIns="0">
            <a:spAutoFit/>
          </a:bodyPr>
          <a:lstStyle/>
          <a:p>
            <a:pPr algn="r">
              <a:lnSpc>
                <a:spcPts val="3224"/>
              </a:lnSpc>
            </a:pPr>
            <a:r>
              <a:rPr lang="en-US" sz="2499" b="true">
                <a:solidFill>
                  <a:srgbClr val="000000"/>
                </a:solidFill>
                <a:latin typeface="Roboto Bold"/>
                <a:ea typeface="Roboto Bold"/>
                <a:cs typeface="Roboto Bold"/>
                <a:sym typeface="Roboto Bold"/>
              </a:rPr>
              <a:t>3</a:t>
            </a:r>
          </a:p>
          <a:p>
            <a:pPr algn="r" marL="0" indent="0" lvl="0">
              <a:lnSpc>
                <a:spcPts val="3224"/>
              </a:lnSpc>
              <a:spcBef>
                <a:spcPct val="0"/>
              </a:spcBef>
            </a:pPr>
            <a:r>
              <a:rPr lang="en-US" b="true" sz="2499">
                <a:solidFill>
                  <a:srgbClr val="000000"/>
                </a:solidFill>
                <a:latin typeface="Roboto Bold"/>
                <a:ea typeface="Roboto Bold"/>
                <a:cs typeface="Roboto Bold"/>
                <a:sym typeface="Roboto Bold"/>
              </a:rPr>
              <a:t>Méthodologie</a:t>
            </a:r>
          </a:p>
        </p:txBody>
      </p:sp>
    </p:spTree>
  </p:cSld>
  <p:clrMapOvr>
    <a:masterClrMapping/>
  </p:clrMapOvr>
  <p:transition spd="slow">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sp>
        <p:nvSpPr>
          <p:cNvPr name="Freeform 2" id="2"/>
          <p:cNvSpPr/>
          <p:nvPr/>
        </p:nvSpPr>
        <p:spPr>
          <a:xfrm flipH="false" flipV="false" rot="0">
            <a:off x="6221368" y="2496339"/>
            <a:ext cx="5845264" cy="5816038"/>
          </a:xfrm>
          <a:custGeom>
            <a:avLst/>
            <a:gdLst/>
            <a:ahLst/>
            <a:cxnLst/>
            <a:rect r="r" b="b" t="t" l="l"/>
            <a:pathLst>
              <a:path h="5816038" w="5845264">
                <a:moveTo>
                  <a:pt x="0" y="0"/>
                </a:moveTo>
                <a:lnTo>
                  <a:pt x="5845264" y="0"/>
                </a:lnTo>
                <a:lnTo>
                  <a:pt x="5845264" y="5816038"/>
                </a:lnTo>
                <a:lnTo>
                  <a:pt x="0" y="58160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295066" y="2955979"/>
            <a:ext cx="3964234" cy="800100"/>
          </a:xfrm>
          <a:prstGeom prst="rect">
            <a:avLst/>
          </a:prstGeom>
        </p:spPr>
        <p:txBody>
          <a:bodyPr anchor="t" rtlCol="false" tIns="0" lIns="0" bIns="0" rIns="0">
            <a:spAutoFit/>
          </a:bodyPr>
          <a:lstStyle/>
          <a:p>
            <a:pPr algn="l">
              <a:lnSpc>
                <a:spcPts val="3224"/>
              </a:lnSpc>
            </a:pPr>
            <a:r>
              <a:rPr lang="en-US" sz="2499" b="true">
                <a:solidFill>
                  <a:srgbClr val="000000"/>
                </a:solidFill>
                <a:latin typeface="Roboto Bold"/>
                <a:ea typeface="Roboto Bold"/>
                <a:cs typeface="Roboto Bold"/>
                <a:sym typeface="Roboto Bold"/>
              </a:rPr>
              <a:t>4</a:t>
            </a:r>
          </a:p>
          <a:p>
            <a:pPr algn="l" marL="0" indent="0" lvl="0">
              <a:lnSpc>
                <a:spcPts val="3224"/>
              </a:lnSpc>
              <a:spcBef>
                <a:spcPct val="0"/>
              </a:spcBef>
            </a:pPr>
            <a:r>
              <a:rPr lang="en-US" b="true" sz="2499">
                <a:solidFill>
                  <a:srgbClr val="000000"/>
                </a:solidFill>
                <a:latin typeface="Roboto Bold"/>
                <a:ea typeface="Roboto Bold"/>
                <a:cs typeface="Roboto Bold"/>
                <a:sym typeface="Roboto Bold"/>
              </a:rPr>
              <a:t>Plan d’analyse</a:t>
            </a:r>
          </a:p>
        </p:txBody>
      </p:sp>
      <p:sp>
        <p:nvSpPr>
          <p:cNvPr name="TextBox 4" id="4"/>
          <p:cNvSpPr txBox="true"/>
          <p:nvPr/>
        </p:nvSpPr>
        <p:spPr>
          <a:xfrm rot="0">
            <a:off x="1028700" y="6819156"/>
            <a:ext cx="3964234" cy="800100"/>
          </a:xfrm>
          <a:prstGeom prst="rect">
            <a:avLst/>
          </a:prstGeom>
        </p:spPr>
        <p:txBody>
          <a:bodyPr anchor="t" rtlCol="false" tIns="0" lIns="0" bIns="0" rIns="0">
            <a:spAutoFit/>
          </a:bodyPr>
          <a:lstStyle/>
          <a:p>
            <a:pPr algn="r">
              <a:lnSpc>
                <a:spcPts val="3224"/>
              </a:lnSpc>
            </a:pPr>
            <a:r>
              <a:rPr lang="en-US" sz="2499" b="true">
                <a:solidFill>
                  <a:srgbClr val="000000"/>
                </a:solidFill>
                <a:latin typeface="Roboto Bold"/>
                <a:ea typeface="Roboto Bold"/>
                <a:cs typeface="Roboto Bold"/>
                <a:sym typeface="Roboto Bold"/>
              </a:rPr>
              <a:t>3</a:t>
            </a:r>
          </a:p>
          <a:p>
            <a:pPr algn="r" marL="0" indent="0" lvl="0">
              <a:lnSpc>
                <a:spcPts val="3224"/>
              </a:lnSpc>
              <a:spcBef>
                <a:spcPct val="0"/>
              </a:spcBef>
            </a:pPr>
            <a:r>
              <a:rPr lang="en-US" b="true" sz="2499">
                <a:solidFill>
                  <a:srgbClr val="000000"/>
                </a:solidFill>
                <a:latin typeface="Roboto Bold"/>
                <a:ea typeface="Roboto Bold"/>
                <a:cs typeface="Roboto Bold"/>
                <a:sym typeface="Roboto Bold"/>
              </a:rPr>
              <a:t>Méthodologie</a:t>
            </a:r>
          </a:p>
        </p:txBody>
      </p:sp>
      <p:sp>
        <p:nvSpPr>
          <p:cNvPr name="TextBox 5" id="5"/>
          <p:cNvSpPr txBox="true"/>
          <p:nvPr/>
        </p:nvSpPr>
        <p:spPr>
          <a:xfrm rot="0">
            <a:off x="1028700" y="4818570"/>
            <a:ext cx="3964234" cy="800100"/>
          </a:xfrm>
          <a:prstGeom prst="rect">
            <a:avLst/>
          </a:prstGeom>
        </p:spPr>
        <p:txBody>
          <a:bodyPr anchor="t" rtlCol="false" tIns="0" lIns="0" bIns="0" rIns="0">
            <a:spAutoFit/>
          </a:bodyPr>
          <a:lstStyle/>
          <a:p>
            <a:pPr algn="r">
              <a:lnSpc>
                <a:spcPts val="3224"/>
              </a:lnSpc>
            </a:pPr>
            <a:r>
              <a:rPr lang="en-US" sz="2499" b="true">
                <a:solidFill>
                  <a:srgbClr val="000000"/>
                </a:solidFill>
                <a:latin typeface="Roboto Bold"/>
                <a:ea typeface="Roboto Bold"/>
                <a:cs typeface="Roboto Bold"/>
                <a:sym typeface="Roboto Bold"/>
              </a:rPr>
              <a:t>2</a:t>
            </a:r>
          </a:p>
          <a:p>
            <a:pPr algn="r" marL="0" indent="0" lvl="0">
              <a:lnSpc>
                <a:spcPts val="3224"/>
              </a:lnSpc>
              <a:spcBef>
                <a:spcPct val="0"/>
              </a:spcBef>
            </a:pPr>
            <a:r>
              <a:rPr lang="en-US" b="true" sz="2499">
                <a:solidFill>
                  <a:srgbClr val="000000"/>
                </a:solidFill>
                <a:latin typeface="Roboto Bold"/>
                <a:ea typeface="Roboto Bold"/>
                <a:cs typeface="Roboto Bold"/>
                <a:sym typeface="Roboto Bold"/>
              </a:rPr>
              <a:t>Cadre conceptuel</a:t>
            </a:r>
          </a:p>
        </p:txBody>
      </p:sp>
      <p:sp>
        <p:nvSpPr>
          <p:cNvPr name="TextBox 6" id="6"/>
          <p:cNvSpPr txBox="true"/>
          <p:nvPr/>
        </p:nvSpPr>
        <p:spPr>
          <a:xfrm rot="0">
            <a:off x="1028700" y="2817985"/>
            <a:ext cx="3964234" cy="1200150"/>
          </a:xfrm>
          <a:prstGeom prst="rect">
            <a:avLst/>
          </a:prstGeom>
        </p:spPr>
        <p:txBody>
          <a:bodyPr anchor="t" rtlCol="false" tIns="0" lIns="0" bIns="0" rIns="0">
            <a:spAutoFit/>
          </a:bodyPr>
          <a:lstStyle/>
          <a:p>
            <a:pPr algn="r">
              <a:lnSpc>
                <a:spcPts val="3224"/>
              </a:lnSpc>
            </a:pPr>
            <a:r>
              <a:rPr lang="en-US" sz="2499" b="true">
                <a:solidFill>
                  <a:srgbClr val="000000"/>
                </a:solidFill>
                <a:latin typeface="Roboto Bold"/>
                <a:ea typeface="Roboto Bold"/>
                <a:cs typeface="Roboto Bold"/>
                <a:sym typeface="Roboto Bold"/>
              </a:rPr>
              <a:t>1</a:t>
            </a:r>
          </a:p>
          <a:p>
            <a:pPr algn="r" marL="0" indent="0" lvl="0">
              <a:lnSpc>
                <a:spcPts val="3224"/>
              </a:lnSpc>
              <a:spcBef>
                <a:spcPct val="0"/>
              </a:spcBef>
            </a:pPr>
            <a:r>
              <a:rPr lang="en-US" b="true" sz="2499">
                <a:solidFill>
                  <a:srgbClr val="000000"/>
                </a:solidFill>
                <a:latin typeface="Roboto Bold"/>
                <a:ea typeface="Roboto Bold"/>
                <a:cs typeface="Roboto Bold"/>
                <a:sym typeface="Roboto Bold"/>
              </a:rPr>
              <a:t>Contexte, justifications et objectifs</a:t>
            </a:r>
          </a:p>
        </p:txBody>
      </p:sp>
      <p:grpSp>
        <p:nvGrpSpPr>
          <p:cNvPr name="Group 7" id="7"/>
          <p:cNvGrpSpPr/>
          <p:nvPr/>
        </p:nvGrpSpPr>
        <p:grpSpPr>
          <a:xfrm rot="0">
            <a:off x="8079440" y="4339797"/>
            <a:ext cx="2129121" cy="212912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46" t="0" r="-25046" b="0"/>
              </a:stretch>
            </a:blipFill>
          </p:spPr>
        </p:sp>
      </p:grpSp>
      <p:sp>
        <p:nvSpPr>
          <p:cNvPr name="TextBox 9" id="9"/>
          <p:cNvSpPr txBox="true"/>
          <p:nvPr/>
        </p:nvSpPr>
        <p:spPr>
          <a:xfrm rot="0">
            <a:off x="8584650" y="5116013"/>
            <a:ext cx="1118701" cy="471678"/>
          </a:xfrm>
          <a:prstGeom prst="rect">
            <a:avLst/>
          </a:prstGeom>
        </p:spPr>
        <p:txBody>
          <a:bodyPr anchor="t" rtlCol="false" tIns="0" lIns="0" bIns="0" rIns="0">
            <a:spAutoFit/>
          </a:bodyPr>
          <a:lstStyle/>
          <a:p>
            <a:pPr algn="ctr" marL="0" indent="0" lvl="0">
              <a:lnSpc>
                <a:spcPts val="3740"/>
              </a:lnSpc>
              <a:spcBef>
                <a:spcPct val="0"/>
              </a:spcBef>
            </a:pPr>
            <a:r>
              <a:rPr lang="en-US" b="true" sz="2899" u="none">
                <a:solidFill>
                  <a:srgbClr val="FFFFFF"/>
                </a:solidFill>
                <a:latin typeface="Roboto Bold"/>
                <a:ea typeface="Roboto Bold"/>
                <a:cs typeface="Roboto Bold"/>
                <a:sym typeface="Roboto Bold"/>
              </a:rPr>
              <a:t>01</a:t>
            </a:r>
          </a:p>
        </p:txBody>
      </p:sp>
      <p:sp>
        <p:nvSpPr>
          <p:cNvPr name="TextBox 10" id="10"/>
          <p:cNvSpPr txBox="true"/>
          <p:nvPr/>
        </p:nvSpPr>
        <p:spPr>
          <a:xfrm rot="0">
            <a:off x="7607203" y="3302815"/>
            <a:ext cx="1118701"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FFFFFF"/>
                </a:solidFill>
                <a:latin typeface="Roboto Bold"/>
                <a:ea typeface="Roboto Bold"/>
                <a:cs typeface="Roboto Bold"/>
                <a:sym typeface="Roboto Bold"/>
              </a:rPr>
              <a:t>02</a:t>
            </a:r>
          </a:p>
        </p:txBody>
      </p:sp>
      <p:sp>
        <p:nvSpPr>
          <p:cNvPr name="TextBox 11" id="11"/>
          <p:cNvSpPr txBox="true"/>
          <p:nvPr/>
        </p:nvSpPr>
        <p:spPr>
          <a:xfrm rot="0">
            <a:off x="10059129" y="3674290"/>
            <a:ext cx="1118701"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FFFFFF"/>
                </a:solidFill>
                <a:latin typeface="Roboto Bold"/>
                <a:ea typeface="Roboto Bold"/>
                <a:cs typeface="Roboto Bold"/>
                <a:sym typeface="Roboto Bold"/>
              </a:rPr>
              <a:t>03</a:t>
            </a:r>
          </a:p>
        </p:txBody>
      </p:sp>
      <p:sp>
        <p:nvSpPr>
          <p:cNvPr name="TextBox 12" id="12"/>
          <p:cNvSpPr txBox="true"/>
          <p:nvPr/>
        </p:nvSpPr>
        <p:spPr>
          <a:xfrm rot="0">
            <a:off x="10426247" y="6028481"/>
            <a:ext cx="1118701"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FFFFFF"/>
                </a:solidFill>
                <a:latin typeface="Roboto Bold"/>
                <a:ea typeface="Roboto Bold"/>
                <a:cs typeface="Roboto Bold"/>
                <a:sym typeface="Roboto Bold"/>
              </a:rPr>
              <a:t>04</a:t>
            </a:r>
          </a:p>
        </p:txBody>
      </p:sp>
      <p:sp>
        <p:nvSpPr>
          <p:cNvPr name="TextBox 13" id="13"/>
          <p:cNvSpPr txBox="true"/>
          <p:nvPr/>
        </p:nvSpPr>
        <p:spPr>
          <a:xfrm rot="0">
            <a:off x="7760062" y="689610"/>
            <a:ext cx="2767876" cy="640080"/>
          </a:xfrm>
          <a:prstGeom prst="rect">
            <a:avLst/>
          </a:prstGeom>
        </p:spPr>
        <p:txBody>
          <a:bodyPr anchor="t" rtlCol="false" tIns="0" lIns="0" bIns="0" rIns="0">
            <a:spAutoFit/>
          </a:bodyPr>
          <a:lstStyle/>
          <a:p>
            <a:pPr algn="ctr" marL="0" indent="0" lvl="0">
              <a:lnSpc>
                <a:spcPts val="5159"/>
              </a:lnSpc>
              <a:spcBef>
                <a:spcPct val="0"/>
              </a:spcBef>
            </a:pPr>
            <a:r>
              <a:rPr lang="en-US" b="true" sz="3999">
                <a:solidFill>
                  <a:srgbClr val="000000"/>
                </a:solidFill>
                <a:latin typeface="Roboto Bold"/>
                <a:ea typeface="Roboto Bold"/>
                <a:cs typeface="Roboto Bold"/>
                <a:sym typeface="Roboto Bold"/>
              </a:rPr>
              <a:t>SOMMAIRE</a:t>
            </a:r>
          </a:p>
        </p:txBody>
      </p:sp>
    </p:spTree>
  </p:cSld>
  <p:clrMapOvr>
    <a:masterClrMapping/>
  </p:clrMapOvr>
  <p:transition spd="slow">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sp>
        <p:nvSpPr>
          <p:cNvPr name="Freeform 2" id="2"/>
          <p:cNvSpPr/>
          <p:nvPr/>
        </p:nvSpPr>
        <p:spPr>
          <a:xfrm flipH="false" flipV="false" rot="0">
            <a:off x="6221368" y="2496339"/>
            <a:ext cx="5845264" cy="5816038"/>
          </a:xfrm>
          <a:custGeom>
            <a:avLst/>
            <a:gdLst/>
            <a:ahLst/>
            <a:cxnLst/>
            <a:rect r="r" b="b" t="t" l="l"/>
            <a:pathLst>
              <a:path h="5816038" w="5845264">
                <a:moveTo>
                  <a:pt x="0" y="0"/>
                </a:moveTo>
                <a:lnTo>
                  <a:pt x="5845264" y="0"/>
                </a:lnTo>
                <a:lnTo>
                  <a:pt x="5845264" y="5816038"/>
                </a:lnTo>
                <a:lnTo>
                  <a:pt x="0" y="58160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295066" y="4956565"/>
            <a:ext cx="3964234" cy="800100"/>
          </a:xfrm>
          <a:prstGeom prst="rect">
            <a:avLst/>
          </a:prstGeom>
        </p:spPr>
        <p:txBody>
          <a:bodyPr anchor="t" rtlCol="false" tIns="0" lIns="0" bIns="0" rIns="0">
            <a:spAutoFit/>
          </a:bodyPr>
          <a:lstStyle/>
          <a:p>
            <a:pPr algn="l">
              <a:lnSpc>
                <a:spcPts val="3224"/>
              </a:lnSpc>
            </a:pPr>
            <a:r>
              <a:rPr lang="en-US" sz="2499" b="true">
                <a:solidFill>
                  <a:srgbClr val="000000"/>
                </a:solidFill>
                <a:latin typeface="Roboto Bold"/>
                <a:ea typeface="Roboto Bold"/>
                <a:cs typeface="Roboto Bold"/>
                <a:sym typeface="Roboto Bold"/>
              </a:rPr>
              <a:t>5</a:t>
            </a:r>
          </a:p>
          <a:p>
            <a:pPr algn="l" marL="0" indent="0" lvl="0">
              <a:lnSpc>
                <a:spcPts val="3224"/>
              </a:lnSpc>
              <a:spcBef>
                <a:spcPct val="0"/>
              </a:spcBef>
            </a:pPr>
            <a:r>
              <a:rPr lang="en-US" b="true" sz="2499">
                <a:solidFill>
                  <a:srgbClr val="000000"/>
                </a:solidFill>
                <a:latin typeface="Roboto Bold"/>
                <a:ea typeface="Roboto Bold"/>
                <a:cs typeface="Roboto Bold"/>
                <a:sym typeface="Roboto Bold"/>
              </a:rPr>
              <a:t>Budget et calendrier</a:t>
            </a:r>
          </a:p>
        </p:txBody>
      </p:sp>
      <p:sp>
        <p:nvSpPr>
          <p:cNvPr name="TextBox 4" id="4"/>
          <p:cNvSpPr txBox="true"/>
          <p:nvPr/>
        </p:nvSpPr>
        <p:spPr>
          <a:xfrm rot="0">
            <a:off x="13295066" y="2955979"/>
            <a:ext cx="3964234" cy="800100"/>
          </a:xfrm>
          <a:prstGeom prst="rect">
            <a:avLst/>
          </a:prstGeom>
        </p:spPr>
        <p:txBody>
          <a:bodyPr anchor="t" rtlCol="false" tIns="0" lIns="0" bIns="0" rIns="0">
            <a:spAutoFit/>
          </a:bodyPr>
          <a:lstStyle/>
          <a:p>
            <a:pPr algn="l">
              <a:lnSpc>
                <a:spcPts val="3224"/>
              </a:lnSpc>
            </a:pPr>
            <a:r>
              <a:rPr lang="en-US" sz="2499" b="true">
                <a:solidFill>
                  <a:srgbClr val="000000"/>
                </a:solidFill>
                <a:latin typeface="Roboto Bold"/>
                <a:ea typeface="Roboto Bold"/>
                <a:cs typeface="Roboto Bold"/>
                <a:sym typeface="Roboto Bold"/>
              </a:rPr>
              <a:t>4</a:t>
            </a:r>
          </a:p>
          <a:p>
            <a:pPr algn="l" marL="0" indent="0" lvl="0">
              <a:lnSpc>
                <a:spcPts val="3224"/>
              </a:lnSpc>
              <a:spcBef>
                <a:spcPct val="0"/>
              </a:spcBef>
            </a:pPr>
            <a:r>
              <a:rPr lang="en-US" b="true" sz="2499">
                <a:solidFill>
                  <a:srgbClr val="000000"/>
                </a:solidFill>
                <a:latin typeface="Roboto Bold"/>
                <a:ea typeface="Roboto Bold"/>
                <a:cs typeface="Roboto Bold"/>
                <a:sym typeface="Roboto Bold"/>
              </a:rPr>
              <a:t>Plan d’analyse</a:t>
            </a:r>
          </a:p>
        </p:txBody>
      </p:sp>
      <p:sp>
        <p:nvSpPr>
          <p:cNvPr name="TextBox 5" id="5"/>
          <p:cNvSpPr txBox="true"/>
          <p:nvPr/>
        </p:nvSpPr>
        <p:spPr>
          <a:xfrm rot="0">
            <a:off x="1028700" y="6819156"/>
            <a:ext cx="3964234" cy="800100"/>
          </a:xfrm>
          <a:prstGeom prst="rect">
            <a:avLst/>
          </a:prstGeom>
        </p:spPr>
        <p:txBody>
          <a:bodyPr anchor="t" rtlCol="false" tIns="0" lIns="0" bIns="0" rIns="0">
            <a:spAutoFit/>
          </a:bodyPr>
          <a:lstStyle/>
          <a:p>
            <a:pPr algn="r">
              <a:lnSpc>
                <a:spcPts val="3224"/>
              </a:lnSpc>
            </a:pPr>
            <a:r>
              <a:rPr lang="en-US" sz="2499" b="true">
                <a:solidFill>
                  <a:srgbClr val="000000"/>
                </a:solidFill>
                <a:latin typeface="Roboto Bold"/>
                <a:ea typeface="Roboto Bold"/>
                <a:cs typeface="Roboto Bold"/>
                <a:sym typeface="Roboto Bold"/>
              </a:rPr>
              <a:t>3</a:t>
            </a:r>
          </a:p>
          <a:p>
            <a:pPr algn="r" marL="0" indent="0" lvl="0">
              <a:lnSpc>
                <a:spcPts val="3224"/>
              </a:lnSpc>
              <a:spcBef>
                <a:spcPct val="0"/>
              </a:spcBef>
            </a:pPr>
            <a:r>
              <a:rPr lang="en-US" b="true" sz="2499">
                <a:solidFill>
                  <a:srgbClr val="000000"/>
                </a:solidFill>
                <a:latin typeface="Roboto Bold"/>
                <a:ea typeface="Roboto Bold"/>
                <a:cs typeface="Roboto Bold"/>
                <a:sym typeface="Roboto Bold"/>
              </a:rPr>
              <a:t>Méthodologie</a:t>
            </a:r>
          </a:p>
        </p:txBody>
      </p:sp>
      <p:sp>
        <p:nvSpPr>
          <p:cNvPr name="TextBox 6" id="6"/>
          <p:cNvSpPr txBox="true"/>
          <p:nvPr/>
        </p:nvSpPr>
        <p:spPr>
          <a:xfrm rot="0">
            <a:off x="1028700" y="4818570"/>
            <a:ext cx="3964234" cy="800100"/>
          </a:xfrm>
          <a:prstGeom prst="rect">
            <a:avLst/>
          </a:prstGeom>
        </p:spPr>
        <p:txBody>
          <a:bodyPr anchor="t" rtlCol="false" tIns="0" lIns="0" bIns="0" rIns="0">
            <a:spAutoFit/>
          </a:bodyPr>
          <a:lstStyle/>
          <a:p>
            <a:pPr algn="r">
              <a:lnSpc>
                <a:spcPts val="3224"/>
              </a:lnSpc>
            </a:pPr>
            <a:r>
              <a:rPr lang="en-US" sz="2499" b="true">
                <a:solidFill>
                  <a:srgbClr val="000000"/>
                </a:solidFill>
                <a:latin typeface="Roboto Bold"/>
                <a:ea typeface="Roboto Bold"/>
                <a:cs typeface="Roboto Bold"/>
                <a:sym typeface="Roboto Bold"/>
              </a:rPr>
              <a:t>2</a:t>
            </a:r>
          </a:p>
          <a:p>
            <a:pPr algn="r" marL="0" indent="0" lvl="0">
              <a:lnSpc>
                <a:spcPts val="3224"/>
              </a:lnSpc>
              <a:spcBef>
                <a:spcPct val="0"/>
              </a:spcBef>
            </a:pPr>
            <a:r>
              <a:rPr lang="en-US" b="true" sz="2499">
                <a:solidFill>
                  <a:srgbClr val="000000"/>
                </a:solidFill>
                <a:latin typeface="Roboto Bold"/>
                <a:ea typeface="Roboto Bold"/>
                <a:cs typeface="Roboto Bold"/>
                <a:sym typeface="Roboto Bold"/>
              </a:rPr>
              <a:t>Cadre conceptuel</a:t>
            </a:r>
          </a:p>
        </p:txBody>
      </p:sp>
      <p:sp>
        <p:nvSpPr>
          <p:cNvPr name="TextBox 7" id="7"/>
          <p:cNvSpPr txBox="true"/>
          <p:nvPr/>
        </p:nvSpPr>
        <p:spPr>
          <a:xfrm rot="0">
            <a:off x="1028700" y="2817985"/>
            <a:ext cx="3964234" cy="1200150"/>
          </a:xfrm>
          <a:prstGeom prst="rect">
            <a:avLst/>
          </a:prstGeom>
        </p:spPr>
        <p:txBody>
          <a:bodyPr anchor="t" rtlCol="false" tIns="0" lIns="0" bIns="0" rIns="0">
            <a:spAutoFit/>
          </a:bodyPr>
          <a:lstStyle/>
          <a:p>
            <a:pPr algn="r">
              <a:lnSpc>
                <a:spcPts val="3224"/>
              </a:lnSpc>
            </a:pPr>
            <a:r>
              <a:rPr lang="en-US" sz="2499" b="true">
                <a:solidFill>
                  <a:srgbClr val="000000"/>
                </a:solidFill>
                <a:latin typeface="Roboto Bold"/>
                <a:ea typeface="Roboto Bold"/>
                <a:cs typeface="Roboto Bold"/>
                <a:sym typeface="Roboto Bold"/>
              </a:rPr>
              <a:t>1</a:t>
            </a:r>
          </a:p>
          <a:p>
            <a:pPr algn="r" marL="0" indent="0" lvl="0">
              <a:lnSpc>
                <a:spcPts val="3224"/>
              </a:lnSpc>
              <a:spcBef>
                <a:spcPct val="0"/>
              </a:spcBef>
            </a:pPr>
            <a:r>
              <a:rPr lang="en-US" b="true" sz="2499">
                <a:solidFill>
                  <a:srgbClr val="000000"/>
                </a:solidFill>
                <a:latin typeface="Roboto Bold"/>
                <a:ea typeface="Roboto Bold"/>
                <a:cs typeface="Roboto Bold"/>
                <a:sym typeface="Roboto Bold"/>
              </a:rPr>
              <a:t>Contexte, justifications et objectifs</a:t>
            </a:r>
          </a:p>
        </p:txBody>
      </p:sp>
      <p:grpSp>
        <p:nvGrpSpPr>
          <p:cNvPr name="Group 8" id="8"/>
          <p:cNvGrpSpPr/>
          <p:nvPr/>
        </p:nvGrpSpPr>
        <p:grpSpPr>
          <a:xfrm rot="0">
            <a:off x="8079440" y="4339797"/>
            <a:ext cx="2129121" cy="212912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46" t="0" r="-25046" b="0"/>
              </a:stretch>
            </a:blipFill>
          </p:spPr>
        </p:sp>
      </p:grpSp>
      <p:sp>
        <p:nvSpPr>
          <p:cNvPr name="TextBox 10" id="10"/>
          <p:cNvSpPr txBox="true"/>
          <p:nvPr/>
        </p:nvSpPr>
        <p:spPr>
          <a:xfrm rot="0">
            <a:off x="8584650" y="5116013"/>
            <a:ext cx="1118701" cy="471678"/>
          </a:xfrm>
          <a:prstGeom prst="rect">
            <a:avLst/>
          </a:prstGeom>
        </p:spPr>
        <p:txBody>
          <a:bodyPr anchor="t" rtlCol="false" tIns="0" lIns="0" bIns="0" rIns="0">
            <a:spAutoFit/>
          </a:bodyPr>
          <a:lstStyle/>
          <a:p>
            <a:pPr algn="ctr" marL="0" indent="0" lvl="0">
              <a:lnSpc>
                <a:spcPts val="3740"/>
              </a:lnSpc>
              <a:spcBef>
                <a:spcPct val="0"/>
              </a:spcBef>
            </a:pPr>
            <a:r>
              <a:rPr lang="en-US" b="true" sz="2899" u="none">
                <a:solidFill>
                  <a:srgbClr val="FFFFFF"/>
                </a:solidFill>
                <a:latin typeface="Roboto Bold"/>
                <a:ea typeface="Roboto Bold"/>
                <a:cs typeface="Roboto Bold"/>
                <a:sym typeface="Roboto Bold"/>
              </a:rPr>
              <a:t>01</a:t>
            </a:r>
          </a:p>
        </p:txBody>
      </p:sp>
      <p:sp>
        <p:nvSpPr>
          <p:cNvPr name="TextBox 11" id="11"/>
          <p:cNvSpPr txBox="true"/>
          <p:nvPr/>
        </p:nvSpPr>
        <p:spPr>
          <a:xfrm rot="0">
            <a:off x="7607203" y="3302815"/>
            <a:ext cx="1118701"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FFFFFF"/>
                </a:solidFill>
                <a:latin typeface="Roboto Bold"/>
                <a:ea typeface="Roboto Bold"/>
                <a:cs typeface="Roboto Bold"/>
                <a:sym typeface="Roboto Bold"/>
              </a:rPr>
              <a:t>02</a:t>
            </a:r>
          </a:p>
        </p:txBody>
      </p:sp>
      <p:sp>
        <p:nvSpPr>
          <p:cNvPr name="TextBox 12" id="12"/>
          <p:cNvSpPr txBox="true"/>
          <p:nvPr/>
        </p:nvSpPr>
        <p:spPr>
          <a:xfrm rot="0">
            <a:off x="10059129" y="3674290"/>
            <a:ext cx="1118701"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FFFFFF"/>
                </a:solidFill>
                <a:latin typeface="Roboto Bold"/>
                <a:ea typeface="Roboto Bold"/>
                <a:cs typeface="Roboto Bold"/>
                <a:sym typeface="Roboto Bold"/>
              </a:rPr>
              <a:t>03</a:t>
            </a:r>
          </a:p>
        </p:txBody>
      </p:sp>
      <p:sp>
        <p:nvSpPr>
          <p:cNvPr name="TextBox 13" id="13"/>
          <p:cNvSpPr txBox="true"/>
          <p:nvPr/>
        </p:nvSpPr>
        <p:spPr>
          <a:xfrm rot="0">
            <a:off x="8166553" y="7190631"/>
            <a:ext cx="1118701"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FFFFFF"/>
                </a:solidFill>
                <a:latin typeface="Roboto Bold"/>
                <a:ea typeface="Roboto Bold"/>
                <a:cs typeface="Roboto Bold"/>
                <a:sym typeface="Roboto Bold"/>
              </a:rPr>
              <a:t>05</a:t>
            </a:r>
          </a:p>
        </p:txBody>
      </p:sp>
      <p:sp>
        <p:nvSpPr>
          <p:cNvPr name="TextBox 14" id="14"/>
          <p:cNvSpPr txBox="true"/>
          <p:nvPr/>
        </p:nvSpPr>
        <p:spPr>
          <a:xfrm rot="0">
            <a:off x="10426247" y="6028481"/>
            <a:ext cx="1118701"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FFFFFF"/>
                </a:solidFill>
                <a:latin typeface="Roboto Bold"/>
                <a:ea typeface="Roboto Bold"/>
                <a:cs typeface="Roboto Bold"/>
                <a:sym typeface="Roboto Bold"/>
              </a:rPr>
              <a:t>04</a:t>
            </a:r>
          </a:p>
        </p:txBody>
      </p:sp>
      <p:sp>
        <p:nvSpPr>
          <p:cNvPr name="TextBox 15" id="15"/>
          <p:cNvSpPr txBox="true"/>
          <p:nvPr/>
        </p:nvSpPr>
        <p:spPr>
          <a:xfrm rot="0">
            <a:off x="7760062" y="689610"/>
            <a:ext cx="2767876" cy="640080"/>
          </a:xfrm>
          <a:prstGeom prst="rect">
            <a:avLst/>
          </a:prstGeom>
        </p:spPr>
        <p:txBody>
          <a:bodyPr anchor="t" rtlCol="false" tIns="0" lIns="0" bIns="0" rIns="0">
            <a:spAutoFit/>
          </a:bodyPr>
          <a:lstStyle/>
          <a:p>
            <a:pPr algn="ctr" marL="0" indent="0" lvl="0">
              <a:lnSpc>
                <a:spcPts val="5159"/>
              </a:lnSpc>
              <a:spcBef>
                <a:spcPct val="0"/>
              </a:spcBef>
            </a:pPr>
            <a:r>
              <a:rPr lang="en-US" b="true" sz="3999">
                <a:solidFill>
                  <a:srgbClr val="000000"/>
                </a:solidFill>
                <a:latin typeface="Roboto Bold"/>
                <a:ea typeface="Roboto Bold"/>
                <a:cs typeface="Roboto Bold"/>
                <a:sym typeface="Roboto Bold"/>
              </a:rPr>
              <a:t>SOMMAIRE</a:t>
            </a:r>
          </a:p>
        </p:txBody>
      </p:sp>
    </p:spTree>
  </p:cSld>
  <p:clrMapOvr>
    <a:masterClrMapping/>
  </p:clrMapOvr>
  <p:transition spd="slow">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sp>
        <p:nvSpPr>
          <p:cNvPr name="Freeform 2" id="2"/>
          <p:cNvSpPr/>
          <p:nvPr/>
        </p:nvSpPr>
        <p:spPr>
          <a:xfrm flipH="false" flipV="false" rot="0">
            <a:off x="6221368" y="2496339"/>
            <a:ext cx="5845264" cy="5816038"/>
          </a:xfrm>
          <a:custGeom>
            <a:avLst/>
            <a:gdLst/>
            <a:ahLst/>
            <a:cxnLst/>
            <a:rect r="r" b="b" t="t" l="l"/>
            <a:pathLst>
              <a:path h="5816038" w="5845264">
                <a:moveTo>
                  <a:pt x="0" y="0"/>
                </a:moveTo>
                <a:lnTo>
                  <a:pt x="5845264" y="0"/>
                </a:lnTo>
                <a:lnTo>
                  <a:pt x="5845264" y="5816038"/>
                </a:lnTo>
                <a:lnTo>
                  <a:pt x="0" y="58160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295066" y="6957151"/>
            <a:ext cx="3964234" cy="800100"/>
          </a:xfrm>
          <a:prstGeom prst="rect">
            <a:avLst/>
          </a:prstGeom>
        </p:spPr>
        <p:txBody>
          <a:bodyPr anchor="t" rtlCol="false" tIns="0" lIns="0" bIns="0" rIns="0">
            <a:spAutoFit/>
          </a:bodyPr>
          <a:lstStyle/>
          <a:p>
            <a:pPr algn="l">
              <a:lnSpc>
                <a:spcPts val="3224"/>
              </a:lnSpc>
            </a:pPr>
            <a:r>
              <a:rPr lang="en-US" sz="2499" b="true">
                <a:solidFill>
                  <a:srgbClr val="000000"/>
                </a:solidFill>
                <a:latin typeface="Roboto Bold"/>
                <a:ea typeface="Roboto Bold"/>
                <a:cs typeface="Roboto Bold"/>
                <a:sym typeface="Roboto Bold"/>
              </a:rPr>
              <a:t>6</a:t>
            </a:r>
          </a:p>
          <a:p>
            <a:pPr algn="l" marL="0" indent="0" lvl="0">
              <a:lnSpc>
                <a:spcPts val="3224"/>
              </a:lnSpc>
              <a:spcBef>
                <a:spcPct val="0"/>
              </a:spcBef>
            </a:pPr>
            <a:r>
              <a:rPr lang="en-US" b="true" sz="2499">
                <a:solidFill>
                  <a:srgbClr val="000000"/>
                </a:solidFill>
                <a:latin typeface="Roboto Bold"/>
                <a:ea typeface="Roboto Bold"/>
                <a:cs typeface="Roboto Bold"/>
                <a:sym typeface="Roboto Bold"/>
              </a:rPr>
              <a:t>Questionnaire</a:t>
            </a:r>
          </a:p>
        </p:txBody>
      </p:sp>
      <p:sp>
        <p:nvSpPr>
          <p:cNvPr name="TextBox 4" id="4"/>
          <p:cNvSpPr txBox="true"/>
          <p:nvPr/>
        </p:nvSpPr>
        <p:spPr>
          <a:xfrm rot="0">
            <a:off x="13295066" y="4956565"/>
            <a:ext cx="3964234" cy="800100"/>
          </a:xfrm>
          <a:prstGeom prst="rect">
            <a:avLst/>
          </a:prstGeom>
        </p:spPr>
        <p:txBody>
          <a:bodyPr anchor="t" rtlCol="false" tIns="0" lIns="0" bIns="0" rIns="0">
            <a:spAutoFit/>
          </a:bodyPr>
          <a:lstStyle/>
          <a:p>
            <a:pPr algn="l">
              <a:lnSpc>
                <a:spcPts val="3224"/>
              </a:lnSpc>
            </a:pPr>
            <a:r>
              <a:rPr lang="en-US" sz="2499" b="true">
                <a:solidFill>
                  <a:srgbClr val="000000"/>
                </a:solidFill>
                <a:latin typeface="Roboto Bold"/>
                <a:ea typeface="Roboto Bold"/>
                <a:cs typeface="Roboto Bold"/>
                <a:sym typeface="Roboto Bold"/>
              </a:rPr>
              <a:t>5</a:t>
            </a:r>
          </a:p>
          <a:p>
            <a:pPr algn="l" marL="0" indent="0" lvl="0">
              <a:lnSpc>
                <a:spcPts val="3224"/>
              </a:lnSpc>
              <a:spcBef>
                <a:spcPct val="0"/>
              </a:spcBef>
            </a:pPr>
            <a:r>
              <a:rPr lang="en-US" b="true" sz="2499">
                <a:solidFill>
                  <a:srgbClr val="000000"/>
                </a:solidFill>
                <a:latin typeface="Roboto Bold"/>
                <a:ea typeface="Roboto Bold"/>
                <a:cs typeface="Roboto Bold"/>
                <a:sym typeface="Roboto Bold"/>
              </a:rPr>
              <a:t>Budget et calendrier</a:t>
            </a:r>
          </a:p>
        </p:txBody>
      </p:sp>
      <p:sp>
        <p:nvSpPr>
          <p:cNvPr name="TextBox 5" id="5"/>
          <p:cNvSpPr txBox="true"/>
          <p:nvPr/>
        </p:nvSpPr>
        <p:spPr>
          <a:xfrm rot="0">
            <a:off x="13295066" y="2955979"/>
            <a:ext cx="3964234" cy="800100"/>
          </a:xfrm>
          <a:prstGeom prst="rect">
            <a:avLst/>
          </a:prstGeom>
        </p:spPr>
        <p:txBody>
          <a:bodyPr anchor="t" rtlCol="false" tIns="0" lIns="0" bIns="0" rIns="0">
            <a:spAutoFit/>
          </a:bodyPr>
          <a:lstStyle/>
          <a:p>
            <a:pPr algn="l">
              <a:lnSpc>
                <a:spcPts val="3224"/>
              </a:lnSpc>
            </a:pPr>
            <a:r>
              <a:rPr lang="en-US" sz="2499" b="true">
                <a:solidFill>
                  <a:srgbClr val="000000"/>
                </a:solidFill>
                <a:latin typeface="Roboto Bold"/>
                <a:ea typeface="Roboto Bold"/>
                <a:cs typeface="Roboto Bold"/>
                <a:sym typeface="Roboto Bold"/>
              </a:rPr>
              <a:t>4</a:t>
            </a:r>
          </a:p>
          <a:p>
            <a:pPr algn="l" marL="0" indent="0" lvl="0">
              <a:lnSpc>
                <a:spcPts val="3224"/>
              </a:lnSpc>
              <a:spcBef>
                <a:spcPct val="0"/>
              </a:spcBef>
            </a:pPr>
            <a:r>
              <a:rPr lang="en-US" b="true" sz="2499">
                <a:solidFill>
                  <a:srgbClr val="000000"/>
                </a:solidFill>
                <a:latin typeface="Roboto Bold"/>
                <a:ea typeface="Roboto Bold"/>
                <a:cs typeface="Roboto Bold"/>
                <a:sym typeface="Roboto Bold"/>
              </a:rPr>
              <a:t>Plan d’analyse</a:t>
            </a:r>
          </a:p>
        </p:txBody>
      </p:sp>
      <p:sp>
        <p:nvSpPr>
          <p:cNvPr name="TextBox 6" id="6"/>
          <p:cNvSpPr txBox="true"/>
          <p:nvPr/>
        </p:nvSpPr>
        <p:spPr>
          <a:xfrm rot="0">
            <a:off x="1028700" y="6819156"/>
            <a:ext cx="3964234" cy="800100"/>
          </a:xfrm>
          <a:prstGeom prst="rect">
            <a:avLst/>
          </a:prstGeom>
        </p:spPr>
        <p:txBody>
          <a:bodyPr anchor="t" rtlCol="false" tIns="0" lIns="0" bIns="0" rIns="0">
            <a:spAutoFit/>
          </a:bodyPr>
          <a:lstStyle/>
          <a:p>
            <a:pPr algn="r">
              <a:lnSpc>
                <a:spcPts val="3224"/>
              </a:lnSpc>
            </a:pPr>
            <a:r>
              <a:rPr lang="en-US" sz="2499" b="true">
                <a:solidFill>
                  <a:srgbClr val="000000"/>
                </a:solidFill>
                <a:latin typeface="Roboto Bold"/>
                <a:ea typeface="Roboto Bold"/>
                <a:cs typeface="Roboto Bold"/>
                <a:sym typeface="Roboto Bold"/>
              </a:rPr>
              <a:t>3</a:t>
            </a:r>
          </a:p>
          <a:p>
            <a:pPr algn="r" marL="0" indent="0" lvl="0">
              <a:lnSpc>
                <a:spcPts val="3224"/>
              </a:lnSpc>
              <a:spcBef>
                <a:spcPct val="0"/>
              </a:spcBef>
            </a:pPr>
            <a:r>
              <a:rPr lang="en-US" b="true" sz="2499">
                <a:solidFill>
                  <a:srgbClr val="000000"/>
                </a:solidFill>
                <a:latin typeface="Roboto Bold"/>
                <a:ea typeface="Roboto Bold"/>
                <a:cs typeface="Roboto Bold"/>
                <a:sym typeface="Roboto Bold"/>
              </a:rPr>
              <a:t>Méthodologie</a:t>
            </a:r>
          </a:p>
        </p:txBody>
      </p:sp>
      <p:sp>
        <p:nvSpPr>
          <p:cNvPr name="TextBox 7" id="7"/>
          <p:cNvSpPr txBox="true"/>
          <p:nvPr/>
        </p:nvSpPr>
        <p:spPr>
          <a:xfrm rot="0">
            <a:off x="1028700" y="4818570"/>
            <a:ext cx="3964234" cy="800100"/>
          </a:xfrm>
          <a:prstGeom prst="rect">
            <a:avLst/>
          </a:prstGeom>
        </p:spPr>
        <p:txBody>
          <a:bodyPr anchor="t" rtlCol="false" tIns="0" lIns="0" bIns="0" rIns="0">
            <a:spAutoFit/>
          </a:bodyPr>
          <a:lstStyle/>
          <a:p>
            <a:pPr algn="r">
              <a:lnSpc>
                <a:spcPts val="3224"/>
              </a:lnSpc>
            </a:pPr>
            <a:r>
              <a:rPr lang="en-US" sz="2499" b="true">
                <a:solidFill>
                  <a:srgbClr val="000000"/>
                </a:solidFill>
                <a:latin typeface="Roboto Bold"/>
                <a:ea typeface="Roboto Bold"/>
                <a:cs typeface="Roboto Bold"/>
                <a:sym typeface="Roboto Bold"/>
              </a:rPr>
              <a:t>2</a:t>
            </a:r>
          </a:p>
          <a:p>
            <a:pPr algn="r" marL="0" indent="0" lvl="0">
              <a:lnSpc>
                <a:spcPts val="3224"/>
              </a:lnSpc>
              <a:spcBef>
                <a:spcPct val="0"/>
              </a:spcBef>
            </a:pPr>
            <a:r>
              <a:rPr lang="en-US" b="true" sz="2499">
                <a:solidFill>
                  <a:srgbClr val="000000"/>
                </a:solidFill>
                <a:latin typeface="Roboto Bold"/>
                <a:ea typeface="Roboto Bold"/>
                <a:cs typeface="Roboto Bold"/>
                <a:sym typeface="Roboto Bold"/>
              </a:rPr>
              <a:t>Cadre conceptuel</a:t>
            </a:r>
          </a:p>
        </p:txBody>
      </p:sp>
      <p:sp>
        <p:nvSpPr>
          <p:cNvPr name="TextBox 8" id="8"/>
          <p:cNvSpPr txBox="true"/>
          <p:nvPr/>
        </p:nvSpPr>
        <p:spPr>
          <a:xfrm rot="0">
            <a:off x="1028700" y="2817985"/>
            <a:ext cx="3964234" cy="1200150"/>
          </a:xfrm>
          <a:prstGeom prst="rect">
            <a:avLst/>
          </a:prstGeom>
        </p:spPr>
        <p:txBody>
          <a:bodyPr anchor="t" rtlCol="false" tIns="0" lIns="0" bIns="0" rIns="0">
            <a:spAutoFit/>
          </a:bodyPr>
          <a:lstStyle/>
          <a:p>
            <a:pPr algn="r">
              <a:lnSpc>
                <a:spcPts val="3224"/>
              </a:lnSpc>
            </a:pPr>
            <a:r>
              <a:rPr lang="en-US" sz="2499" b="true">
                <a:solidFill>
                  <a:srgbClr val="000000"/>
                </a:solidFill>
                <a:latin typeface="Roboto Bold"/>
                <a:ea typeface="Roboto Bold"/>
                <a:cs typeface="Roboto Bold"/>
                <a:sym typeface="Roboto Bold"/>
              </a:rPr>
              <a:t>1</a:t>
            </a:r>
          </a:p>
          <a:p>
            <a:pPr algn="r" marL="0" indent="0" lvl="0">
              <a:lnSpc>
                <a:spcPts val="3224"/>
              </a:lnSpc>
              <a:spcBef>
                <a:spcPct val="0"/>
              </a:spcBef>
            </a:pPr>
            <a:r>
              <a:rPr lang="en-US" b="true" sz="2499">
                <a:solidFill>
                  <a:srgbClr val="000000"/>
                </a:solidFill>
                <a:latin typeface="Roboto Bold"/>
                <a:ea typeface="Roboto Bold"/>
                <a:cs typeface="Roboto Bold"/>
                <a:sym typeface="Roboto Bold"/>
              </a:rPr>
              <a:t>Contexte, justifications et objectifs</a:t>
            </a:r>
          </a:p>
        </p:txBody>
      </p:sp>
      <p:grpSp>
        <p:nvGrpSpPr>
          <p:cNvPr name="Group 9" id="9"/>
          <p:cNvGrpSpPr/>
          <p:nvPr/>
        </p:nvGrpSpPr>
        <p:grpSpPr>
          <a:xfrm rot="0">
            <a:off x="8079440" y="4339797"/>
            <a:ext cx="2129121" cy="212912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46" t="0" r="-25046" b="0"/>
              </a:stretch>
            </a:blipFill>
          </p:spPr>
        </p:sp>
      </p:grpSp>
      <p:sp>
        <p:nvSpPr>
          <p:cNvPr name="TextBox 11" id="11"/>
          <p:cNvSpPr txBox="true"/>
          <p:nvPr/>
        </p:nvSpPr>
        <p:spPr>
          <a:xfrm rot="0">
            <a:off x="8584650" y="5116013"/>
            <a:ext cx="1118701" cy="471678"/>
          </a:xfrm>
          <a:prstGeom prst="rect">
            <a:avLst/>
          </a:prstGeom>
        </p:spPr>
        <p:txBody>
          <a:bodyPr anchor="t" rtlCol="false" tIns="0" lIns="0" bIns="0" rIns="0">
            <a:spAutoFit/>
          </a:bodyPr>
          <a:lstStyle/>
          <a:p>
            <a:pPr algn="ctr" marL="0" indent="0" lvl="0">
              <a:lnSpc>
                <a:spcPts val="3740"/>
              </a:lnSpc>
              <a:spcBef>
                <a:spcPct val="0"/>
              </a:spcBef>
            </a:pPr>
            <a:r>
              <a:rPr lang="en-US" b="true" sz="2899" u="none">
                <a:solidFill>
                  <a:srgbClr val="FFFFFF"/>
                </a:solidFill>
                <a:latin typeface="Roboto Bold"/>
                <a:ea typeface="Roboto Bold"/>
                <a:cs typeface="Roboto Bold"/>
                <a:sym typeface="Roboto Bold"/>
              </a:rPr>
              <a:t>01</a:t>
            </a:r>
          </a:p>
        </p:txBody>
      </p:sp>
      <p:sp>
        <p:nvSpPr>
          <p:cNvPr name="TextBox 12" id="12"/>
          <p:cNvSpPr txBox="true"/>
          <p:nvPr/>
        </p:nvSpPr>
        <p:spPr>
          <a:xfrm rot="0">
            <a:off x="7607203" y="3302815"/>
            <a:ext cx="1118701"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FFFFFF"/>
                </a:solidFill>
                <a:latin typeface="Roboto Bold"/>
                <a:ea typeface="Roboto Bold"/>
                <a:cs typeface="Roboto Bold"/>
                <a:sym typeface="Roboto Bold"/>
              </a:rPr>
              <a:t>02</a:t>
            </a:r>
          </a:p>
        </p:txBody>
      </p:sp>
      <p:sp>
        <p:nvSpPr>
          <p:cNvPr name="TextBox 13" id="13"/>
          <p:cNvSpPr txBox="true"/>
          <p:nvPr/>
        </p:nvSpPr>
        <p:spPr>
          <a:xfrm rot="0">
            <a:off x="10059129" y="3674290"/>
            <a:ext cx="1118701"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FFFFFF"/>
                </a:solidFill>
                <a:latin typeface="Roboto Bold"/>
                <a:ea typeface="Roboto Bold"/>
                <a:cs typeface="Roboto Bold"/>
                <a:sym typeface="Roboto Bold"/>
              </a:rPr>
              <a:t>03</a:t>
            </a:r>
          </a:p>
        </p:txBody>
      </p:sp>
      <p:sp>
        <p:nvSpPr>
          <p:cNvPr name="TextBox 14" id="14"/>
          <p:cNvSpPr txBox="true"/>
          <p:nvPr/>
        </p:nvSpPr>
        <p:spPr>
          <a:xfrm rot="0">
            <a:off x="6551225" y="5375783"/>
            <a:ext cx="1118701"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FFFFFF"/>
                </a:solidFill>
                <a:latin typeface="Roboto Bold"/>
                <a:ea typeface="Roboto Bold"/>
                <a:cs typeface="Roboto Bold"/>
                <a:sym typeface="Roboto Bold"/>
              </a:rPr>
              <a:t>06</a:t>
            </a:r>
          </a:p>
        </p:txBody>
      </p:sp>
      <p:sp>
        <p:nvSpPr>
          <p:cNvPr name="TextBox 15" id="15"/>
          <p:cNvSpPr txBox="true"/>
          <p:nvPr/>
        </p:nvSpPr>
        <p:spPr>
          <a:xfrm rot="0">
            <a:off x="8166553" y="7190631"/>
            <a:ext cx="1118701"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FFFFFF"/>
                </a:solidFill>
                <a:latin typeface="Roboto Bold"/>
                <a:ea typeface="Roboto Bold"/>
                <a:cs typeface="Roboto Bold"/>
                <a:sym typeface="Roboto Bold"/>
              </a:rPr>
              <a:t>05</a:t>
            </a:r>
          </a:p>
        </p:txBody>
      </p:sp>
      <p:sp>
        <p:nvSpPr>
          <p:cNvPr name="TextBox 16" id="16"/>
          <p:cNvSpPr txBox="true"/>
          <p:nvPr/>
        </p:nvSpPr>
        <p:spPr>
          <a:xfrm rot="0">
            <a:off x="10426247" y="6028481"/>
            <a:ext cx="1118701"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FFFFFF"/>
                </a:solidFill>
                <a:latin typeface="Roboto Bold"/>
                <a:ea typeface="Roboto Bold"/>
                <a:cs typeface="Roboto Bold"/>
                <a:sym typeface="Roboto Bold"/>
              </a:rPr>
              <a:t>04</a:t>
            </a:r>
          </a:p>
        </p:txBody>
      </p:sp>
      <p:sp>
        <p:nvSpPr>
          <p:cNvPr name="TextBox 17" id="17"/>
          <p:cNvSpPr txBox="true"/>
          <p:nvPr/>
        </p:nvSpPr>
        <p:spPr>
          <a:xfrm rot="0">
            <a:off x="7760062" y="689610"/>
            <a:ext cx="2767876" cy="640080"/>
          </a:xfrm>
          <a:prstGeom prst="rect">
            <a:avLst/>
          </a:prstGeom>
        </p:spPr>
        <p:txBody>
          <a:bodyPr anchor="t" rtlCol="false" tIns="0" lIns="0" bIns="0" rIns="0">
            <a:spAutoFit/>
          </a:bodyPr>
          <a:lstStyle/>
          <a:p>
            <a:pPr algn="ctr" marL="0" indent="0" lvl="0">
              <a:lnSpc>
                <a:spcPts val="5159"/>
              </a:lnSpc>
              <a:spcBef>
                <a:spcPct val="0"/>
              </a:spcBef>
            </a:pPr>
            <a:r>
              <a:rPr lang="en-US" b="true" sz="3999">
                <a:solidFill>
                  <a:srgbClr val="000000"/>
                </a:solidFill>
                <a:latin typeface="Roboto Bold"/>
                <a:ea typeface="Roboto Bold"/>
                <a:cs typeface="Roboto Bold"/>
                <a:sym typeface="Roboto Bold"/>
              </a:rPr>
              <a:t>SOMMAIRE</a:t>
            </a:r>
          </a:p>
        </p:txBody>
      </p:sp>
    </p:spTree>
  </p:cSld>
  <p:clrMapOvr>
    <a:masterClrMapping/>
  </p:clrMapOvr>
  <p:transition spd="slow">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8535"/>
        </a:solidFill>
      </p:bgPr>
    </p:bg>
    <p:spTree>
      <p:nvGrpSpPr>
        <p:cNvPr id="1" name=""/>
        <p:cNvGrpSpPr/>
        <p:nvPr/>
      </p:nvGrpSpPr>
      <p:grpSpPr>
        <a:xfrm>
          <a:off x="0" y="0"/>
          <a:ext cx="0" cy="0"/>
          <a:chOff x="0" y="0"/>
          <a:chExt cx="0" cy="0"/>
        </a:xfrm>
      </p:grpSpPr>
      <p:grpSp>
        <p:nvGrpSpPr>
          <p:cNvPr name="Group 2" id="2"/>
          <p:cNvGrpSpPr/>
          <p:nvPr/>
        </p:nvGrpSpPr>
        <p:grpSpPr>
          <a:xfrm rot="0">
            <a:off x="10401430" y="-642826"/>
            <a:ext cx="5809027" cy="9901126"/>
            <a:chOff x="0" y="0"/>
            <a:chExt cx="660400" cy="1125611"/>
          </a:xfrm>
        </p:grpSpPr>
        <p:sp>
          <p:nvSpPr>
            <p:cNvPr name="Freeform 3" id="3"/>
            <p:cNvSpPr/>
            <p:nvPr/>
          </p:nvSpPr>
          <p:spPr>
            <a:xfrm flipH="false" flipV="false" rot="0">
              <a:off x="0" y="0"/>
              <a:ext cx="660400" cy="1125611"/>
            </a:xfrm>
            <a:custGeom>
              <a:avLst/>
              <a:gdLst/>
              <a:ahLst/>
              <a:cxnLst/>
              <a:rect r="r" b="b" t="t" l="l"/>
              <a:pathLst>
                <a:path h="1125611" w="660400">
                  <a:moveTo>
                    <a:pt x="220252" y="1106542"/>
                  </a:moveTo>
                  <a:cubicBezTo>
                    <a:pt x="254109" y="1118056"/>
                    <a:pt x="292600" y="1125611"/>
                    <a:pt x="330378" y="1125611"/>
                  </a:cubicBezTo>
                  <a:cubicBezTo>
                    <a:pt x="368157" y="1125611"/>
                    <a:pt x="404509" y="1119134"/>
                    <a:pt x="438009" y="1107620"/>
                  </a:cubicBezTo>
                  <a:cubicBezTo>
                    <a:pt x="438723" y="1107261"/>
                    <a:pt x="439435" y="1107261"/>
                    <a:pt x="440148" y="1106901"/>
                  </a:cubicBezTo>
                  <a:cubicBezTo>
                    <a:pt x="565955" y="1060846"/>
                    <a:pt x="658618" y="939232"/>
                    <a:pt x="660400" y="790160"/>
                  </a:cubicBezTo>
                  <a:lnTo>
                    <a:pt x="660400" y="0"/>
                  </a:lnTo>
                  <a:lnTo>
                    <a:pt x="0" y="0"/>
                  </a:lnTo>
                  <a:lnTo>
                    <a:pt x="0" y="789574"/>
                  </a:lnTo>
                  <a:cubicBezTo>
                    <a:pt x="1782" y="939951"/>
                    <a:pt x="93019" y="1061566"/>
                    <a:pt x="220252" y="1106542"/>
                  </a:cubicBezTo>
                  <a:close/>
                </a:path>
              </a:pathLst>
            </a:custGeom>
            <a:solidFill>
              <a:srgbClr val="763C00"/>
            </a:solidFill>
            <a:ln cap="sq">
              <a:noFill/>
              <a:prstDash val="solid"/>
              <a:miter/>
            </a:ln>
          </p:spPr>
        </p:sp>
        <p:sp>
          <p:nvSpPr>
            <p:cNvPr name="TextBox 4" id="4"/>
            <p:cNvSpPr txBox="true"/>
            <p:nvPr/>
          </p:nvSpPr>
          <p:spPr>
            <a:xfrm>
              <a:off x="0" y="-38100"/>
              <a:ext cx="660400" cy="103671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95778" y="6270394"/>
            <a:ext cx="6770715" cy="277115"/>
            <a:chOff x="0" y="0"/>
            <a:chExt cx="1783234" cy="72985"/>
          </a:xfrm>
        </p:grpSpPr>
        <p:sp>
          <p:nvSpPr>
            <p:cNvPr name="Freeform 6" id="6"/>
            <p:cNvSpPr/>
            <p:nvPr/>
          </p:nvSpPr>
          <p:spPr>
            <a:xfrm flipH="false" flipV="false" rot="0">
              <a:off x="0" y="0"/>
              <a:ext cx="1783234" cy="72985"/>
            </a:xfrm>
            <a:custGeom>
              <a:avLst/>
              <a:gdLst/>
              <a:ahLst/>
              <a:cxnLst/>
              <a:rect r="r" b="b" t="t" l="l"/>
              <a:pathLst>
                <a:path h="72985" w="1783234">
                  <a:moveTo>
                    <a:pt x="0" y="0"/>
                  </a:moveTo>
                  <a:lnTo>
                    <a:pt x="1783234" y="0"/>
                  </a:lnTo>
                  <a:lnTo>
                    <a:pt x="1783234" y="72985"/>
                  </a:lnTo>
                  <a:lnTo>
                    <a:pt x="0" y="72985"/>
                  </a:lnTo>
                  <a:close/>
                </a:path>
              </a:pathLst>
            </a:custGeom>
            <a:solidFill>
              <a:srgbClr val="F9F7DC"/>
            </a:solidFill>
          </p:spPr>
        </p:sp>
        <p:sp>
          <p:nvSpPr>
            <p:cNvPr name="TextBox 7" id="7"/>
            <p:cNvSpPr txBox="true"/>
            <p:nvPr/>
          </p:nvSpPr>
          <p:spPr>
            <a:xfrm>
              <a:off x="0" y="-38100"/>
              <a:ext cx="1783234" cy="111085"/>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8766493" y="6119771"/>
            <a:ext cx="1079400" cy="1028392"/>
          </a:xfrm>
          <a:custGeom>
            <a:avLst/>
            <a:gdLst/>
            <a:ahLst/>
            <a:cxnLst/>
            <a:rect r="r" b="b" t="t" l="l"/>
            <a:pathLst>
              <a:path h="1028392" w="1079400">
                <a:moveTo>
                  <a:pt x="0" y="0"/>
                </a:moveTo>
                <a:lnTo>
                  <a:pt x="1079400" y="0"/>
                </a:lnTo>
                <a:lnTo>
                  <a:pt x="1079400" y="1028392"/>
                </a:lnTo>
                <a:lnTo>
                  <a:pt x="0" y="10283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1271788" y="4307737"/>
            <a:ext cx="4068310" cy="406831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46" t="0" r="-25046" b="0"/>
              </a:stretch>
            </a:blipFill>
            <a:ln w="57150" cap="sq">
              <a:solidFill>
                <a:srgbClr val="FFFFFF"/>
              </a:solidFill>
              <a:prstDash val="solid"/>
              <a:miter/>
            </a:ln>
          </p:spPr>
        </p:sp>
      </p:grpSp>
      <p:sp>
        <p:nvSpPr>
          <p:cNvPr name="TextBox 11" id="11"/>
          <p:cNvSpPr txBox="true"/>
          <p:nvPr/>
        </p:nvSpPr>
        <p:spPr>
          <a:xfrm rot="0">
            <a:off x="2376227" y="3301175"/>
            <a:ext cx="7469666" cy="3107777"/>
          </a:xfrm>
          <a:prstGeom prst="rect">
            <a:avLst/>
          </a:prstGeom>
        </p:spPr>
        <p:txBody>
          <a:bodyPr anchor="t" rtlCol="false" tIns="0" lIns="0" bIns="0" rIns="0">
            <a:spAutoFit/>
          </a:bodyPr>
          <a:lstStyle/>
          <a:p>
            <a:pPr algn="l">
              <a:lnSpc>
                <a:spcPts val="7488"/>
              </a:lnSpc>
            </a:pPr>
            <a:r>
              <a:rPr lang="en-US" b="true" sz="7882" spc="-39">
                <a:solidFill>
                  <a:srgbClr val="F9F7DC"/>
                </a:solidFill>
                <a:latin typeface="Agrandir Narrow Bold"/>
                <a:ea typeface="Agrandir Narrow Bold"/>
                <a:cs typeface="Agrandir Narrow Bold"/>
                <a:sym typeface="Agrandir Narrow Bold"/>
              </a:rPr>
              <a:t>Contexte, justifications et objectifs</a:t>
            </a:r>
          </a:p>
        </p:txBody>
      </p:sp>
      <p:sp>
        <p:nvSpPr>
          <p:cNvPr name="TextBox 12" id="12"/>
          <p:cNvSpPr txBox="true"/>
          <p:nvPr/>
        </p:nvSpPr>
        <p:spPr>
          <a:xfrm rot="0">
            <a:off x="2376227" y="6269588"/>
            <a:ext cx="4961516" cy="326351"/>
          </a:xfrm>
          <a:prstGeom prst="rect">
            <a:avLst/>
          </a:prstGeom>
        </p:spPr>
        <p:txBody>
          <a:bodyPr anchor="t" rtlCol="false" tIns="0" lIns="0" bIns="0" rIns="0">
            <a:spAutoFit/>
          </a:bodyPr>
          <a:lstStyle/>
          <a:p>
            <a:pPr algn="l">
              <a:lnSpc>
                <a:spcPts val="2354"/>
              </a:lnSpc>
            </a:pPr>
            <a:r>
              <a:rPr lang="en-US" b="true" sz="2478" i="true" spc="-39">
                <a:solidFill>
                  <a:srgbClr val="763C00"/>
                </a:solidFill>
                <a:latin typeface="Arimo Bold Italics"/>
                <a:ea typeface="Arimo Bold Italics"/>
                <a:cs typeface="Arimo Bold Italics"/>
                <a:sym typeface="Arimo Bold Italics"/>
              </a:rPr>
              <a:t>problématique, intérêt de l’étude</a:t>
            </a:r>
          </a:p>
        </p:txBody>
      </p:sp>
      <p:sp>
        <p:nvSpPr>
          <p:cNvPr name="TextBox 13" id="13"/>
          <p:cNvSpPr txBox="true"/>
          <p:nvPr/>
        </p:nvSpPr>
        <p:spPr>
          <a:xfrm rot="0">
            <a:off x="12617956" y="1322665"/>
            <a:ext cx="1375975" cy="2559051"/>
          </a:xfrm>
          <a:prstGeom prst="rect">
            <a:avLst/>
          </a:prstGeom>
        </p:spPr>
        <p:txBody>
          <a:bodyPr anchor="t" rtlCol="false" tIns="0" lIns="0" bIns="0" rIns="0">
            <a:spAutoFit/>
          </a:bodyPr>
          <a:lstStyle/>
          <a:p>
            <a:pPr algn="just" marL="0" indent="0" lvl="0">
              <a:lnSpc>
                <a:spcPts val="19000"/>
              </a:lnSpc>
              <a:spcBef>
                <a:spcPct val="0"/>
              </a:spcBef>
            </a:pPr>
            <a:r>
              <a:rPr lang="en-US" b="true" sz="20000" spc="-100">
                <a:solidFill>
                  <a:srgbClr val="F9F7DC"/>
                </a:solidFill>
                <a:latin typeface="Museo Moderno Bold"/>
                <a:ea typeface="Museo Moderno Bold"/>
                <a:cs typeface="Museo Moderno Bold"/>
                <a:sym typeface="Museo Moderno Bold"/>
              </a:rPr>
              <a:t>1</a:t>
            </a:r>
          </a:p>
        </p:txBody>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9F7DC"/>
        </a:solidFill>
      </p:bgPr>
    </p:bg>
    <p:spTree>
      <p:nvGrpSpPr>
        <p:cNvPr id="1" name=""/>
        <p:cNvGrpSpPr/>
        <p:nvPr/>
      </p:nvGrpSpPr>
      <p:grpSpPr>
        <a:xfrm>
          <a:off x="0" y="0"/>
          <a:ext cx="0" cy="0"/>
          <a:chOff x="0" y="0"/>
          <a:chExt cx="0" cy="0"/>
        </a:xfrm>
      </p:grpSpPr>
      <p:grpSp>
        <p:nvGrpSpPr>
          <p:cNvPr name="Group 2" id="2"/>
          <p:cNvGrpSpPr/>
          <p:nvPr/>
        </p:nvGrpSpPr>
        <p:grpSpPr>
          <a:xfrm rot="0">
            <a:off x="8598901" y="1921209"/>
            <a:ext cx="1223547" cy="248043"/>
            <a:chOff x="0" y="0"/>
            <a:chExt cx="1631396" cy="330724"/>
          </a:xfrm>
        </p:grpSpPr>
        <p:grpSp>
          <p:nvGrpSpPr>
            <p:cNvPr name="Group 3" id="3"/>
            <p:cNvGrpSpPr/>
            <p:nvPr/>
          </p:nvGrpSpPr>
          <p:grpSpPr>
            <a:xfrm rot="0">
              <a:off x="651264" y="0"/>
              <a:ext cx="330724" cy="33072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300672" y="0"/>
              <a:ext cx="330724" cy="33072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0"/>
              <a:ext cx="330724" cy="33072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sp>
        <p:nvSpPr>
          <p:cNvPr name="Freeform 12" id="12"/>
          <p:cNvSpPr/>
          <p:nvPr/>
        </p:nvSpPr>
        <p:spPr>
          <a:xfrm flipH="false" flipV="false" rot="0">
            <a:off x="514350" y="2169252"/>
            <a:ext cx="5874139" cy="5948495"/>
          </a:xfrm>
          <a:custGeom>
            <a:avLst/>
            <a:gdLst/>
            <a:ahLst/>
            <a:cxnLst/>
            <a:rect r="r" b="b" t="t" l="l"/>
            <a:pathLst>
              <a:path h="5948495" w="5874139">
                <a:moveTo>
                  <a:pt x="0" y="0"/>
                </a:moveTo>
                <a:lnTo>
                  <a:pt x="5874139" y="0"/>
                </a:lnTo>
                <a:lnTo>
                  <a:pt x="5874139" y="5948496"/>
                </a:lnTo>
                <a:lnTo>
                  <a:pt x="0" y="5948496"/>
                </a:lnTo>
                <a:lnTo>
                  <a:pt x="0" y="0"/>
                </a:lnTo>
                <a:close/>
              </a:path>
            </a:pathLst>
          </a:custGeom>
          <a:blipFill>
            <a:blip r:embed="rId2"/>
            <a:stretch>
              <a:fillRect l="0" t="0" r="0" b="0"/>
            </a:stretch>
          </a:blipFill>
        </p:spPr>
      </p:sp>
      <p:pic>
        <p:nvPicPr>
          <p:cNvPr name="Picture 13" id="13"/>
          <p:cNvPicPr>
            <a:picLocks noChangeAspect="true"/>
          </p:cNvPicPr>
          <p:nvPr/>
        </p:nvPicPr>
        <p:blipFill>
          <a:blip r:embed="rId3"/>
          <a:stretch>
            <a:fillRect/>
          </a:stretch>
        </p:blipFill>
        <p:spPr>
          <a:xfrm rot="0">
            <a:off x="1970633" y="2904523"/>
            <a:ext cx="2961572" cy="2961572"/>
          </a:xfrm>
          <a:prstGeom prst="rect">
            <a:avLst/>
          </a:prstGeom>
        </p:spPr>
      </p:pic>
      <p:sp>
        <p:nvSpPr>
          <p:cNvPr name="TextBox 14" id="14"/>
          <p:cNvSpPr txBox="true"/>
          <p:nvPr/>
        </p:nvSpPr>
        <p:spPr>
          <a:xfrm rot="0">
            <a:off x="2115370" y="3773350"/>
            <a:ext cx="2672099" cy="1090571"/>
          </a:xfrm>
          <a:prstGeom prst="rect">
            <a:avLst/>
          </a:prstGeom>
        </p:spPr>
        <p:txBody>
          <a:bodyPr anchor="t" rtlCol="false" tIns="0" lIns="0" bIns="0" rIns="0">
            <a:spAutoFit/>
          </a:bodyPr>
          <a:lstStyle/>
          <a:p>
            <a:pPr algn="ctr">
              <a:lnSpc>
                <a:spcPts val="8817"/>
              </a:lnSpc>
            </a:pPr>
            <a:r>
              <a:rPr lang="en-US" sz="6298" b="true">
                <a:solidFill>
                  <a:srgbClr val="323840"/>
                </a:solidFill>
                <a:latin typeface="TT Interphases Bold"/>
                <a:ea typeface="TT Interphases Bold"/>
                <a:cs typeface="TT Interphases Bold"/>
                <a:sym typeface="TT Interphases Bold"/>
              </a:rPr>
              <a:t>46%</a:t>
            </a:r>
          </a:p>
        </p:txBody>
      </p:sp>
      <p:sp>
        <p:nvSpPr>
          <p:cNvPr name="TextBox 15" id="15"/>
          <p:cNvSpPr txBox="true"/>
          <p:nvPr/>
        </p:nvSpPr>
        <p:spPr>
          <a:xfrm rot="0">
            <a:off x="7230755" y="4153015"/>
            <a:ext cx="8179393" cy="2028595"/>
          </a:xfrm>
          <a:prstGeom prst="rect">
            <a:avLst/>
          </a:prstGeom>
        </p:spPr>
        <p:txBody>
          <a:bodyPr anchor="t" rtlCol="false" tIns="0" lIns="0" bIns="0" rIns="0">
            <a:spAutoFit/>
          </a:bodyPr>
          <a:lstStyle/>
          <a:p>
            <a:pPr algn="l" marL="806369" indent="-403184" lvl="1">
              <a:lnSpc>
                <a:spcPts val="4033"/>
              </a:lnSpc>
              <a:buFont typeface="Arial"/>
              <a:buChar char="•"/>
            </a:pPr>
            <a:r>
              <a:rPr lang="en-US" sz="3734">
                <a:solidFill>
                  <a:srgbClr val="323840"/>
                </a:solidFill>
                <a:latin typeface="TT Interphases"/>
                <a:ea typeface="TT Interphases"/>
                <a:cs typeface="TT Interphases"/>
                <a:sym typeface="TT Interphases"/>
              </a:rPr>
              <a:t>Cœur administratif, commercial et démographique du Sénégal</a:t>
            </a:r>
          </a:p>
          <a:p>
            <a:pPr algn="l" marL="806369" indent="-403184" lvl="1">
              <a:lnSpc>
                <a:spcPts val="4033"/>
              </a:lnSpc>
              <a:buFont typeface="Arial"/>
              <a:buChar char="•"/>
            </a:pPr>
            <a:r>
              <a:rPr lang="en-US" sz="3734">
                <a:solidFill>
                  <a:srgbClr val="323840"/>
                </a:solidFill>
                <a:latin typeface="TT Interphases"/>
                <a:ea typeface="TT Interphases"/>
                <a:cs typeface="TT Interphases"/>
                <a:sym typeface="TT Interphases"/>
              </a:rPr>
              <a:t>Terrain privilégié pour observer l’inclusion financière</a:t>
            </a:r>
          </a:p>
        </p:txBody>
      </p:sp>
      <p:sp>
        <p:nvSpPr>
          <p:cNvPr name="TextBox 16" id="16"/>
          <p:cNvSpPr txBox="true"/>
          <p:nvPr/>
        </p:nvSpPr>
        <p:spPr>
          <a:xfrm rot="0">
            <a:off x="1373689" y="6256977"/>
            <a:ext cx="4155460" cy="1161843"/>
          </a:xfrm>
          <a:prstGeom prst="rect">
            <a:avLst/>
          </a:prstGeom>
        </p:spPr>
        <p:txBody>
          <a:bodyPr anchor="t" rtlCol="false" tIns="0" lIns="0" bIns="0" rIns="0">
            <a:spAutoFit/>
          </a:bodyPr>
          <a:lstStyle/>
          <a:p>
            <a:pPr algn="ctr">
              <a:lnSpc>
                <a:spcPts val="4493"/>
              </a:lnSpc>
            </a:pPr>
            <a:r>
              <a:rPr lang="en-US" sz="4680" b="true">
                <a:solidFill>
                  <a:srgbClr val="323840"/>
                </a:solidFill>
                <a:latin typeface="TT Interphases Bold"/>
                <a:ea typeface="TT Interphases Bold"/>
                <a:cs typeface="TT Interphases Bold"/>
                <a:sym typeface="TT Interphases Bold"/>
              </a:rPr>
              <a:t>Dakar - PIB national</a:t>
            </a:r>
          </a:p>
        </p:txBody>
      </p:sp>
      <p:sp>
        <p:nvSpPr>
          <p:cNvPr name="TextBox 17" id="17"/>
          <p:cNvSpPr txBox="true"/>
          <p:nvPr/>
        </p:nvSpPr>
        <p:spPr>
          <a:xfrm rot="0">
            <a:off x="6684291" y="752475"/>
            <a:ext cx="5052769" cy="657225"/>
          </a:xfrm>
          <a:prstGeom prst="rect">
            <a:avLst/>
          </a:prstGeom>
        </p:spPr>
        <p:txBody>
          <a:bodyPr anchor="t" rtlCol="false" tIns="0" lIns="0" bIns="0" rIns="0">
            <a:spAutoFit/>
          </a:bodyPr>
          <a:lstStyle/>
          <a:p>
            <a:pPr algn="ctr">
              <a:lnSpc>
                <a:spcPts val="4800"/>
              </a:lnSpc>
            </a:pPr>
            <a:r>
              <a:rPr lang="en-US" sz="5000" b="true">
                <a:solidFill>
                  <a:srgbClr val="323840"/>
                </a:solidFill>
                <a:latin typeface="TT Interphases Bold"/>
                <a:ea typeface="TT Interphases Bold"/>
                <a:cs typeface="TT Interphases Bold"/>
                <a:sym typeface="TT Interphases Bold"/>
              </a:rPr>
              <a:t>Région de Dakar</a:t>
            </a: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9F7DC"/>
        </a:solidFill>
      </p:bgPr>
    </p:bg>
    <p:spTree>
      <p:nvGrpSpPr>
        <p:cNvPr id="1" name=""/>
        <p:cNvGrpSpPr/>
        <p:nvPr/>
      </p:nvGrpSpPr>
      <p:grpSpPr>
        <a:xfrm>
          <a:off x="0" y="0"/>
          <a:ext cx="0" cy="0"/>
          <a:chOff x="0" y="0"/>
          <a:chExt cx="0" cy="0"/>
        </a:xfrm>
      </p:grpSpPr>
      <p:grpSp>
        <p:nvGrpSpPr>
          <p:cNvPr name="Group 2" id="2"/>
          <p:cNvGrpSpPr/>
          <p:nvPr/>
        </p:nvGrpSpPr>
        <p:grpSpPr>
          <a:xfrm rot="0">
            <a:off x="8598901" y="1921209"/>
            <a:ext cx="1223547" cy="248043"/>
            <a:chOff x="0" y="0"/>
            <a:chExt cx="1631396" cy="330724"/>
          </a:xfrm>
        </p:grpSpPr>
        <p:grpSp>
          <p:nvGrpSpPr>
            <p:cNvPr name="Group 3" id="3"/>
            <p:cNvGrpSpPr/>
            <p:nvPr/>
          </p:nvGrpSpPr>
          <p:grpSpPr>
            <a:xfrm rot="0">
              <a:off x="651264" y="0"/>
              <a:ext cx="330724" cy="33072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300672" y="0"/>
              <a:ext cx="330724" cy="33072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0"/>
              <a:ext cx="330724" cy="33072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sp>
        <p:nvSpPr>
          <p:cNvPr name="Freeform 12" id="12"/>
          <p:cNvSpPr/>
          <p:nvPr/>
        </p:nvSpPr>
        <p:spPr>
          <a:xfrm flipH="false" flipV="false" rot="0">
            <a:off x="11899511" y="2169252"/>
            <a:ext cx="5874139" cy="5948495"/>
          </a:xfrm>
          <a:custGeom>
            <a:avLst/>
            <a:gdLst/>
            <a:ahLst/>
            <a:cxnLst/>
            <a:rect r="r" b="b" t="t" l="l"/>
            <a:pathLst>
              <a:path h="5948495" w="5874139">
                <a:moveTo>
                  <a:pt x="0" y="0"/>
                </a:moveTo>
                <a:lnTo>
                  <a:pt x="5874139" y="0"/>
                </a:lnTo>
                <a:lnTo>
                  <a:pt x="5874139" y="5948496"/>
                </a:lnTo>
                <a:lnTo>
                  <a:pt x="0" y="5948496"/>
                </a:lnTo>
                <a:lnTo>
                  <a:pt x="0" y="0"/>
                </a:lnTo>
                <a:close/>
              </a:path>
            </a:pathLst>
          </a:custGeom>
          <a:blipFill>
            <a:blip r:embed="rId2"/>
            <a:stretch>
              <a:fillRect l="0" t="0" r="0" b="0"/>
            </a:stretch>
          </a:blipFill>
        </p:spPr>
      </p:sp>
      <p:sp>
        <p:nvSpPr>
          <p:cNvPr name="Freeform 13" id="13"/>
          <p:cNvSpPr/>
          <p:nvPr/>
        </p:nvSpPr>
        <p:spPr>
          <a:xfrm flipH="false" flipV="false" rot="0">
            <a:off x="6176182" y="2169252"/>
            <a:ext cx="5874139" cy="5948495"/>
          </a:xfrm>
          <a:custGeom>
            <a:avLst/>
            <a:gdLst/>
            <a:ahLst/>
            <a:cxnLst/>
            <a:rect r="r" b="b" t="t" l="l"/>
            <a:pathLst>
              <a:path h="5948495" w="5874139">
                <a:moveTo>
                  <a:pt x="0" y="0"/>
                </a:moveTo>
                <a:lnTo>
                  <a:pt x="5874139" y="0"/>
                </a:lnTo>
                <a:lnTo>
                  <a:pt x="5874139" y="5948496"/>
                </a:lnTo>
                <a:lnTo>
                  <a:pt x="0" y="5948496"/>
                </a:lnTo>
                <a:lnTo>
                  <a:pt x="0" y="0"/>
                </a:lnTo>
                <a:close/>
              </a:path>
            </a:pathLst>
          </a:custGeom>
          <a:blipFill>
            <a:blip r:embed="rId2"/>
            <a:stretch>
              <a:fillRect l="0" t="0" r="0" b="0"/>
            </a:stretch>
          </a:blipFill>
        </p:spPr>
      </p:sp>
      <p:sp>
        <p:nvSpPr>
          <p:cNvPr name="Freeform 14" id="14"/>
          <p:cNvSpPr/>
          <p:nvPr/>
        </p:nvSpPr>
        <p:spPr>
          <a:xfrm flipH="false" flipV="false" rot="0">
            <a:off x="514350" y="2169252"/>
            <a:ext cx="5874139" cy="5948495"/>
          </a:xfrm>
          <a:custGeom>
            <a:avLst/>
            <a:gdLst/>
            <a:ahLst/>
            <a:cxnLst/>
            <a:rect r="r" b="b" t="t" l="l"/>
            <a:pathLst>
              <a:path h="5948495" w="5874139">
                <a:moveTo>
                  <a:pt x="0" y="0"/>
                </a:moveTo>
                <a:lnTo>
                  <a:pt x="5874139" y="0"/>
                </a:lnTo>
                <a:lnTo>
                  <a:pt x="5874139" y="5948496"/>
                </a:lnTo>
                <a:lnTo>
                  <a:pt x="0" y="5948496"/>
                </a:lnTo>
                <a:lnTo>
                  <a:pt x="0" y="0"/>
                </a:lnTo>
                <a:close/>
              </a:path>
            </a:pathLst>
          </a:custGeom>
          <a:blipFill>
            <a:blip r:embed="rId2"/>
            <a:stretch>
              <a:fillRect l="0" t="0" r="0" b="0"/>
            </a:stretch>
          </a:blipFill>
        </p:spPr>
      </p:sp>
      <p:pic>
        <p:nvPicPr>
          <p:cNvPr name="Picture 15" id="15"/>
          <p:cNvPicPr>
            <a:picLocks noChangeAspect="true"/>
          </p:cNvPicPr>
          <p:nvPr/>
        </p:nvPicPr>
        <p:blipFill>
          <a:blip r:embed="rId3"/>
          <a:stretch>
            <a:fillRect/>
          </a:stretch>
        </p:blipFill>
        <p:spPr>
          <a:xfrm rot="0">
            <a:off x="1970633" y="2904523"/>
            <a:ext cx="2961572" cy="2961572"/>
          </a:xfrm>
          <a:prstGeom prst="rect">
            <a:avLst/>
          </a:prstGeom>
        </p:spPr>
      </p:pic>
      <p:pic>
        <p:nvPicPr>
          <p:cNvPr name="Picture 16" id="16"/>
          <p:cNvPicPr>
            <a:picLocks noChangeAspect="true"/>
          </p:cNvPicPr>
          <p:nvPr/>
        </p:nvPicPr>
        <p:blipFill>
          <a:blip r:embed="rId4"/>
          <a:stretch>
            <a:fillRect/>
          </a:stretch>
        </p:blipFill>
        <p:spPr>
          <a:xfrm rot="0">
            <a:off x="7632465" y="2904523"/>
            <a:ext cx="2961572" cy="2961572"/>
          </a:xfrm>
          <a:prstGeom prst="rect">
            <a:avLst/>
          </a:prstGeom>
        </p:spPr>
      </p:pic>
      <p:pic>
        <p:nvPicPr>
          <p:cNvPr name="Picture 17" id="17"/>
          <p:cNvPicPr>
            <a:picLocks noChangeAspect="true"/>
          </p:cNvPicPr>
          <p:nvPr/>
        </p:nvPicPr>
        <p:blipFill>
          <a:blip r:embed="rId5"/>
          <a:stretch>
            <a:fillRect/>
          </a:stretch>
        </p:blipFill>
        <p:spPr>
          <a:xfrm rot="0">
            <a:off x="13355794" y="2904523"/>
            <a:ext cx="2961572" cy="2961572"/>
          </a:xfrm>
          <a:prstGeom prst="rect">
            <a:avLst/>
          </a:prstGeom>
        </p:spPr>
      </p:pic>
      <p:sp>
        <p:nvSpPr>
          <p:cNvPr name="TextBox 18" id="18"/>
          <p:cNvSpPr txBox="true"/>
          <p:nvPr/>
        </p:nvSpPr>
        <p:spPr>
          <a:xfrm rot="0">
            <a:off x="2115370" y="3773350"/>
            <a:ext cx="2672099" cy="1090571"/>
          </a:xfrm>
          <a:prstGeom prst="rect">
            <a:avLst/>
          </a:prstGeom>
        </p:spPr>
        <p:txBody>
          <a:bodyPr anchor="t" rtlCol="false" tIns="0" lIns="0" bIns="0" rIns="0">
            <a:spAutoFit/>
          </a:bodyPr>
          <a:lstStyle/>
          <a:p>
            <a:pPr algn="ctr">
              <a:lnSpc>
                <a:spcPts val="8817"/>
              </a:lnSpc>
            </a:pPr>
            <a:r>
              <a:rPr lang="en-US" sz="6298" b="true">
                <a:solidFill>
                  <a:srgbClr val="323840"/>
                </a:solidFill>
                <a:latin typeface="TT Interphases Bold"/>
                <a:ea typeface="TT Interphases Bold"/>
                <a:cs typeface="TT Interphases Bold"/>
                <a:sym typeface="TT Interphases Bold"/>
              </a:rPr>
              <a:t>46%</a:t>
            </a:r>
          </a:p>
        </p:txBody>
      </p:sp>
      <p:sp>
        <p:nvSpPr>
          <p:cNvPr name="TextBox 19" id="19"/>
          <p:cNvSpPr txBox="true"/>
          <p:nvPr/>
        </p:nvSpPr>
        <p:spPr>
          <a:xfrm rot="0">
            <a:off x="7874626" y="3773350"/>
            <a:ext cx="2672099" cy="1090571"/>
          </a:xfrm>
          <a:prstGeom prst="rect">
            <a:avLst/>
          </a:prstGeom>
        </p:spPr>
        <p:txBody>
          <a:bodyPr anchor="t" rtlCol="false" tIns="0" lIns="0" bIns="0" rIns="0">
            <a:spAutoFit/>
          </a:bodyPr>
          <a:lstStyle/>
          <a:p>
            <a:pPr algn="ctr">
              <a:lnSpc>
                <a:spcPts val="8817"/>
              </a:lnSpc>
            </a:pPr>
            <a:r>
              <a:rPr lang="en-US" sz="6298" b="true">
                <a:solidFill>
                  <a:srgbClr val="323840"/>
                </a:solidFill>
                <a:latin typeface="TT Interphases Bold"/>
                <a:ea typeface="TT Interphases Bold"/>
                <a:cs typeface="TT Interphases Bold"/>
                <a:sym typeface="TT Interphases Bold"/>
              </a:rPr>
              <a:t>22%</a:t>
            </a:r>
          </a:p>
        </p:txBody>
      </p:sp>
      <p:sp>
        <p:nvSpPr>
          <p:cNvPr name="TextBox 20" id="20"/>
          <p:cNvSpPr txBox="true"/>
          <p:nvPr/>
        </p:nvSpPr>
        <p:spPr>
          <a:xfrm rot="0">
            <a:off x="13500531" y="3773350"/>
            <a:ext cx="2672099" cy="1090571"/>
          </a:xfrm>
          <a:prstGeom prst="rect">
            <a:avLst/>
          </a:prstGeom>
        </p:spPr>
        <p:txBody>
          <a:bodyPr anchor="t" rtlCol="false" tIns="0" lIns="0" bIns="0" rIns="0">
            <a:spAutoFit/>
          </a:bodyPr>
          <a:lstStyle/>
          <a:p>
            <a:pPr algn="ctr">
              <a:lnSpc>
                <a:spcPts val="8817"/>
              </a:lnSpc>
            </a:pPr>
            <a:r>
              <a:rPr lang="en-US" sz="6298" b="true">
                <a:solidFill>
                  <a:srgbClr val="323840"/>
                </a:solidFill>
                <a:latin typeface="TT Interphases Bold"/>
                <a:ea typeface="TT Interphases Bold"/>
                <a:cs typeface="TT Interphases Bold"/>
                <a:sym typeface="TT Interphases Bold"/>
              </a:rPr>
              <a:t>65%</a:t>
            </a:r>
          </a:p>
        </p:txBody>
      </p:sp>
      <p:sp>
        <p:nvSpPr>
          <p:cNvPr name="TextBox 21" id="21"/>
          <p:cNvSpPr txBox="true"/>
          <p:nvPr/>
        </p:nvSpPr>
        <p:spPr>
          <a:xfrm rot="0">
            <a:off x="1373689" y="6256977"/>
            <a:ext cx="4155460" cy="1161843"/>
          </a:xfrm>
          <a:prstGeom prst="rect">
            <a:avLst/>
          </a:prstGeom>
        </p:spPr>
        <p:txBody>
          <a:bodyPr anchor="t" rtlCol="false" tIns="0" lIns="0" bIns="0" rIns="0">
            <a:spAutoFit/>
          </a:bodyPr>
          <a:lstStyle/>
          <a:p>
            <a:pPr algn="ctr">
              <a:lnSpc>
                <a:spcPts val="4493"/>
              </a:lnSpc>
            </a:pPr>
            <a:r>
              <a:rPr lang="en-US" sz="4680" b="true">
                <a:solidFill>
                  <a:srgbClr val="323840"/>
                </a:solidFill>
                <a:latin typeface="TT Interphases Bold"/>
                <a:ea typeface="TT Interphases Bold"/>
                <a:cs typeface="TT Interphases Bold"/>
                <a:sym typeface="TT Interphases Bold"/>
              </a:rPr>
              <a:t>Dakar - PIB national</a:t>
            </a:r>
          </a:p>
        </p:txBody>
      </p:sp>
      <p:sp>
        <p:nvSpPr>
          <p:cNvPr name="TextBox 22" id="22"/>
          <p:cNvSpPr txBox="true"/>
          <p:nvPr/>
        </p:nvSpPr>
        <p:spPr>
          <a:xfrm rot="0">
            <a:off x="7035521" y="6256977"/>
            <a:ext cx="4155460" cy="599868"/>
          </a:xfrm>
          <a:prstGeom prst="rect">
            <a:avLst/>
          </a:prstGeom>
        </p:spPr>
        <p:txBody>
          <a:bodyPr anchor="t" rtlCol="false" tIns="0" lIns="0" bIns="0" rIns="0">
            <a:spAutoFit/>
          </a:bodyPr>
          <a:lstStyle/>
          <a:p>
            <a:pPr algn="ctr">
              <a:lnSpc>
                <a:spcPts val="4493"/>
              </a:lnSpc>
            </a:pPr>
            <a:r>
              <a:rPr lang="en-US" sz="4680" b="true">
                <a:solidFill>
                  <a:srgbClr val="323840"/>
                </a:solidFill>
                <a:latin typeface="TT Interphases Bold"/>
                <a:ea typeface="TT Interphases Bold"/>
                <a:cs typeface="TT Interphases Bold"/>
                <a:sym typeface="TT Interphases Bold"/>
              </a:rPr>
              <a:t>Bancarisation</a:t>
            </a:r>
          </a:p>
        </p:txBody>
      </p:sp>
      <p:sp>
        <p:nvSpPr>
          <p:cNvPr name="TextBox 23" id="23"/>
          <p:cNvSpPr txBox="true"/>
          <p:nvPr/>
        </p:nvSpPr>
        <p:spPr>
          <a:xfrm rot="0">
            <a:off x="12758850" y="6256977"/>
            <a:ext cx="4155460" cy="599868"/>
          </a:xfrm>
          <a:prstGeom prst="rect">
            <a:avLst/>
          </a:prstGeom>
        </p:spPr>
        <p:txBody>
          <a:bodyPr anchor="t" rtlCol="false" tIns="0" lIns="0" bIns="0" rIns="0">
            <a:spAutoFit/>
          </a:bodyPr>
          <a:lstStyle/>
          <a:p>
            <a:pPr algn="ctr">
              <a:lnSpc>
                <a:spcPts val="4493"/>
              </a:lnSpc>
            </a:pPr>
            <a:r>
              <a:rPr lang="en-US" sz="4680" b="true">
                <a:solidFill>
                  <a:srgbClr val="323840"/>
                </a:solidFill>
                <a:latin typeface="TT Interphases Bold"/>
                <a:ea typeface="TT Interphases Bold"/>
                <a:cs typeface="TT Interphases Bold"/>
                <a:sym typeface="TT Interphases Bold"/>
              </a:rPr>
              <a:t>Objectif SNIF</a:t>
            </a:r>
          </a:p>
        </p:txBody>
      </p:sp>
      <p:sp>
        <p:nvSpPr>
          <p:cNvPr name="TextBox 24" id="24"/>
          <p:cNvSpPr txBox="true"/>
          <p:nvPr/>
        </p:nvSpPr>
        <p:spPr>
          <a:xfrm rot="0">
            <a:off x="7035521" y="781153"/>
            <a:ext cx="4155460" cy="657225"/>
          </a:xfrm>
          <a:prstGeom prst="rect">
            <a:avLst/>
          </a:prstGeom>
        </p:spPr>
        <p:txBody>
          <a:bodyPr anchor="t" rtlCol="false" tIns="0" lIns="0" bIns="0" rIns="0">
            <a:spAutoFit/>
          </a:bodyPr>
          <a:lstStyle/>
          <a:p>
            <a:pPr algn="ctr">
              <a:lnSpc>
                <a:spcPts val="4800"/>
              </a:lnSpc>
            </a:pPr>
            <a:r>
              <a:rPr lang="en-US" sz="5000" b="true">
                <a:solidFill>
                  <a:srgbClr val="323840"/>
                </a:solidFill>
                <a:latin typeface="TT Interphases Bold"/>
                <a:ea typeface="TT Interphases Bold"/>
                <a:cs typeface="TT Interphases Bold"/>
                <a:sym typeface="TT Interphases Bold"/>
              </a:rPr>
              <a:t>Contexte</a:t>
            </a:r>
          </a:p>
        </p:txBody>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9F7DC"/>
        </a:solidFill>
      </p:bgPr>
    </p:bg>
    <p:spTree>
      <p:nvGrpSpPr>
        <p:cNvPr id="1" name=""/>
        <p:cNvGrpSpPr/>
        <p:nvPr/>
      </p:nvGrpSpPr>
      <p:grpSpPr>
        <a:xfrm>
          <a:off x="0" y="0"/>
          <a:ext cx="0" cy="0"/>
          <a:chOff x="0" y="0"/>
          <a:chExt cx="0" cy="0"/>
        </a:xfrm>
      </p:grpSpPr>
      <p:grpSp>
        <p:nvGrpSpPr>
          <p:cNvPr name="Group 2" id="2"/>
          <p:cNvGrpSpPr/>
          <p:nvPr/>
        </p:nvGrpSpPr>
        <p:grpSpPr>
          <a:xfrm rot="0">
            <a:off x="5691297" y="1921209"/>
            <a:ext cx="5970279" cy="6196539"/>
            <a:chOff x="0" y="0"/>
            <a:chExt cx="7960372" cy="8262051"/>
          </a:xfrm>
        </p:grpSpPr>
        <p:grpSp>
          <p:nvGrpSpPr>
            <p:cNvPr name="Group 3" id="3"/>
            <p:cNvGrpSpPr/>
            <p:nvPr/>
          </p:nvGrpSpPr>
          <p:grpSpPr>
            <a:xfrm rot="0">
              <a:off x="4246889" y="0"/>
              <a:ext cx="330724" cy="33072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4896297" y="0"/>
              <a:ext cx="330724" cy="33072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3595625" y="0"/>
              <a:ext cx="330724" cy="33072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0" y="330724"/>
              <a:ext cx="7960372" cy="7931327"/>
            </a:xfrm>
            <a:custGeom>
              <a:avLst/>
              <a:gdLst/>
              <a:ahLst/>
              <a:cxnLst/>
              <a:rect r="r" b="b" t="t" l="l"/>
              <a:pathLst>
                <a:path h="7931327" w="7960372">
                  <a:moveTo>
                    <a:pt x="0" y="0"/>
                  </a:moveTo>
                  <a:lnTo>
                    <a:pt x="7960372" y="0"/>
                  </a:lnTo>
                  <a:lnTo>
                    <a:pt x="7960372" y="7931327"/>
                  </a:lnTo>
                  <a:lnTo>
                    <a:pt x="0" y="7931327"/>
                  </a:lnTo>
                  <a:lnTo>
                    <a:pt x="0" y="0"/>
                  </a:lnTo>
                  <a:close/>
                </a:path>
              </a:pathLst>
            </a:custGeom>
            <a:blipFill>
              <a:blip r:embed="rId2"/>
              <a:stretch>
                <a:fillRect l="0" t="-2538" r="-3384" b="-2538"/>
              </a:stretch>
            </a:blipFill>
          </p:spPr>
        </p:sp>
        <p:grpSp>
          <p:nvGrpSpPr>
            <p:cNvPr name="Group 13" id="13"/>
            <p:cNvGrpSpPr/>
            <p:nvPr/>
          </p:nvGrpSpPr>
          <p:grpSpPr>
            <a:xfrm rot="0">
              <a:off x="1516861" y="1275169"/>
              <a:ext cx="5682286" cy="6165698"/>
              <a:chOff x="0" y="0"/>
              <a:chExt cx="1122427" cy="1217916"/>
            </a:xfrm>
          </p:grpSpPr>
          <p:sp>
            <p:nvSpPr>
              <p:cNvPr name="Freeform 14" id="14"/>
              <p:cNvSpPr/>
              <p:nvPr/>
            </p:nvSpPr>
            <p:spPr>
              <a:xfrm flipH="false" flipV="false" rot="0">
                <a:off x="0" y="0"/>
                <a:ext cx="1122427" cy="1217916"/>
              </a:xfrm>
              <a:custGeom>
                <a:avLst/>
                <a:gdLst/>
                <a:ahLst/>
                <a:cxnLst/>
                <a:rect r="r" b="b" t="t" l="l"/>
                <a:pathLst>
                  <a:path h="1217916" w="1122427">
                    <a:moveTo>
                      <a:pt x="106289" y="0"/>
                    </a:moveTo>
                    <a:lnTo>
                      <a:pt x="1016138" y="0"/>
                    </a:lnTo>
                    <a:cubicBezTo>
                      <a:pt x="1044327" y="0"/>
                      <a:pt x="1071362" y="11198"/>
                      <a:pt x="1091296" y="31131"/>
                    </a:cubicBezTo>
                    <a:cubicBezTo>
                      <a:pt x="1111229" y="51065"/>
                      <a:pt x="1122427" y="78100"/>
                      <a:pt x="1122427" y="106289"/>
                    </a:cubicBezTo>
                    <a:lnTo>
                      <a:pt x="1122427" y="1111626"/>
                    </a:lnTo>
                    <a:cubicBezTo>
                      <a:pt x="1122427" y="1139816"/>
                      <a:pt x="1111229" y="1166851"/>
                      <a:pt x="1091296" y="1186784"/>
                    </a:cubicBezTo>
                    <a:cubicBezTo>
                      <a:pt x="1071362" y="1206717"/>
                      <a:pt x="1044327" y="1217916"/>
                      <a:pt x="1016138" y="1217916"/>
                    </a:cubicBezTo>
                    <a:lnTo>
                      <a:pt x="106289" y="1217916"/>
                    </a:lnTo>
                    <a:cubicBezTo>
                      <a:pt x="78100" y="1217916"/>
                      <a:pt x="51065" y="1206717"/>
                      <a:pt x="31131" y="1186784"/>
                    </a:cubicBezTo>
                    <a:cubicBezTo>
                      <a:pt x="11198" y="1166851"/>
                      <a:pt x="0" y="1139816"/>
                      <a:pt x="0" y="1111626"/>
                    </a:cubicBezTo>
                    <a:lnTo>
                      <a:pt x="0" y="106289"/>
                    </a:lnTo>
                    <a:cubicBezTo>
                      <a:pt x="0" y="78100"/>
                      <a:pt x="11198" y="51065"/>
                      <a:pt x="31131" y="31131"/>
                    </a:cubicBezTo>
                    <a:cubicBezTo>
                      <a:pt x="51065" y="11198"/>
                      <a:pt x="78100" y="0"/>
                      <a:pt x="106289" y="0"/>
                    </a:cubicBezTo>
                    <a:close/>
                  </a:path>
                </a:pathLst>
              </a:custGeom>
              <a:solidFill>
                <a:srgbClr val="F9F7DC"/>
              </a:solidFill>
              <a:ln w="180975" cap="rnd">
                <a:solidFill>
                  <a:srgbClr val="FF3131"/>
                </a:solidFill>
                <a:prstDash val="solid"/>
                <a:round/>
              </a:ln>
            </p:spPr>
          </p:sp>
          <p:sp>
            <p:nvSpPr>
              <p:cNvPr name="TextBox 15" id="15"/>
              <p:cNvSpPr txBox="true"/>
              <p:nvPr/>
            </p:nvSpPr>
            <p:spPr>
              <a:xfrm>
                <a:off x="0" y="-28575"/>
                <a:ext cx="1122427" cy="1246491"/>
              </a:xfrm>
              <a:prstGeom prst="rect">
                <a:avLst/>
              </a:prstGeom>
            </p:spPr>
            <p:txBody>
              <a:bodyPr anchor="ctr" rtlCol="false" tIns="44280" lIns="44280" bIns="44280" rIns="44280"/>
              <a:lstStyle/>
              <a:p>
                <a:pPr algn="ctr">
                  <a:lnSpc>
                    <a:spcPts val="3225"/>
                  </a:lnSpc>
                </a:pPr>
              </a:p>
            </p:txBody>
          </p:sp>
        </p:grpSp>
        <p:sp>
          <p:nvSpPr>
            <p:cNvPr name="TextBox 16" id="16"/>
            <p:cNvSpPr txBox="true"/>
            <p:nvPr/>
          </p:nvSpPr>
          <p:spPr>
            <a:xfrm rot="0">
              <a:off x="1516861" y="2440987"/>
              <a:ext cx="5682286" cy="3900170"/>
            </a:xfrm>
            <a:prstGeom prst="rect">
              <a:avLst/>
            </a:prstGeom>
          </p:spPr>
          <p:txBody>
            <a:bodyPr anchor="t" rtlCol="false" tIns="0" lIns="0" bIns="0" rIns="0">
              <a:spAutoFit/>
            </a:bodyPr>
            <a:lstStyle/>
            <a:p>
              <a:pPr algn="ctr">
                <a:lnSpc>
                  <a:spcPts val="5804"/>
                </a:lnSpc>
                <a:spcBef>
                  <a:spcPct val="0"/>
                </a:spcBef>
              </a:pPr>
              <a:r>
                <a:rPr lang="en-US" b="true" sz="4499">
                  <a:solidFill>
                    <a:srgbClr val="B31E1E"/>
                  </a:solidFill>
                  <a:latin typeface="Roboto Bold"/>
                  <a:ea typeface="Roboto Bold"/>
                  <a:cs typeface="Roboto Bold"/>
                  <a:sym typeface="Roboto Bold"/>
                </a:rPr>
                <a:t>Méconnais-sance des services disponibles</a:t>
              </a:r>
            </a:p>
          </p:txBody>
        </p:sp>
      </p:grpSp>
      <p:sp>
        <p:nvSpPr>
          <p:cNvPr name="TextBox 17" id="17"/>
          <p:cNvSpPr txBox="true"/>
          <p:nvPr/>
        </p:nvSpPr>
        <p:spPr>
          <a:xfrm rot="0">
            <a:off x="1028700" y="8321911"/>
            <a:ext cx="16230600" cy="1018945"/>
          </a:xfrm>
          <a:prstGeom prst="rect">
            <a:avLst/>
          </a:prstGeom>
        </p:spPr>
        <p:txBody>
          <a:bodyPr anchor="t" rtlCol="false" tIns="0" lIns="0" bIns="0" rIns="0">
            <a:spAutoFit/>
          </a:bodyPr>
          <a:lstStyle/>
          <a:p>
            <a:pPr algn="ctr">
              <a:lnSpc>
                <a:spcPts val="4033"/>
              </a:lnSpc>
            </a:pPr>
            <a:r>
              <a:rPr lang="en-US" sz="3734">
                <a:solidFill>
                  <a:srgbClr val="323840"/>
                </a:solidFill>
                <a:latin typeface="TT Interphases"/>
                <a:ea typeface="TT Interphases"/>
                <a:cs typeface="TT Interphases"/>
                <a:sym typeface="TT Interphases"/>
              </a:rPr>
              <a:t>Pour atteindre l’objectif visé, l’enjeu est de renforcer la littératie et l’inclusion financière. Il faut examiner les pratiques et perceptions des Dakarois</a:t>
            </a:r>
          </a:p>
        </p:txBody>
      </p:sp>
      <p:sp>
        <p:nvSpPr>
          <p:cNvPr name="TextBox 18" id="18"/>
          <p:cNvSpPr txBox="true"/>
          <p:nvPr/>
        </p:nvSpPr>
        <p:spPr>
          <a:xfrm rot="0">
            <a:off x="6729779" y="752475"/>
            <a:ext cx="4540021" cy="657225"/>
          </a:xfrm>
          <a:prstGeom prst="rect">
            <a:avLst/>
          </a:prstGeom>
        </p:spPr>
        <p:txBody>
          <a:bodyPr anchor="t" rtlCol="false" tIns="0" lIns="0" bIns="0" rIns="0">
            <a:spAutoFit/>
          </a:bodyPr>
          <a:lstStyle/>
          <a:p>
            <a:pPr algn="ctr">
              <a:lnSpc>
                <a:spcPts val="4800"/>
              </a:lnSpc>
            </a:pPr>
            <a:r>
              <a:rPr lang="en-US" sz="5000" b="true">
                <a:solidFill>
                  <a:srgbClr val="323840"/>
                </a:solidFill>
                <a:latin typeface="TT Interphases Bold"/>
                <a:ea typeface="TT Interphases Bold"/>
                <a:cs typeface="TT Interphases Bold"/>
                <a:sym typeface="TT Interphases Bold"/>
              </a:rPr>
              <a:t>Problématique</a:t>
            </a:r>
          </a:p>
        </p:txBody>
      </p:sp>
      <p:grpSp>
        <p:nvGrpSpPr>
          <p:cNvPr name="Group 19" id="19"/>
          <p:cNvGrpSpPr/>
          <p:nvPr/>
        </p:nvGrpSpPr>
        <p:grpSpPr>
          <a:xfrm rot="0">
            <a:off x="-278982" y="2215475"/>
            <a:ext cx="5970279" cy="5948495"/>
            <a:chOff x="0" y="0"/>
            <a:chExt cx="7960372" cy="7931327"/>
          </a:xfrm>
        </p:grpSpPr>
        <p:sp>
          <p:nvSpPr>
            <p:cNvPr name="Freeform 20" id="20"/>
            <p:cNvSpPr/>
            <p:nvPr/>
          </p:nvSpPr>
          <p:spPr>
            <a:xfrm flipH="false" flipV="false" rot="0">
              <a:off x="0" y="0"/>
              <a:ext cx="7960372" cy="7931327"/>
            </a:xfrm>
            <a:custGeom>
              <a:avLst/>
              <a:gdLst/>
              <a:ahLst/>
              <a:cxnLst/>
              <a:rect r="r" b="b" t="t" l="l"/>
              <a:pathLst>
                <a:path h="7931327" w="7960372">
                  <a:moveTo>
                    <a:pt x="0" y="0"/>
                  </a:moveTo>
                  <a:lnTo>
                    <a:pt x="7960372" y="0"/>
                  </a:lnTo>
                  <a:lnTo>
                    <a:pt x="7960372" y="7931327"/>
                  </a:lnTo>
                  <a:lnTo>
                    <a:pt x="0" y="7931327"/>
                  </a:lnTo>
                  <a:lnTo>
                    <a:pt x="0" y="0"/>
                  </a:lnTo>
                  <a:close/>
                </a:path>
              </a:pathLst>
            </a:custGeom>
            <a:blipFill>
              <a:blip r:embed="rId2"/>
              <a:stretch>
                <a:fillRect l="0" t="-2538" r="-3384" b="-2538"/>
              </a:stretch>
            </a:blipFill>
          </p:spPr>
        </p:sp>
        <p:grpSp>
          <p:nvGrpSpPr>
            <p:cNvPr name="Group 21" id="21"/>
            <p:cNvGrpSpPr/>
            <p:nvPr/>
          </p:nvGrpSpPr>
          <p:grpSpPr>
            <a:xfrm rot="0">
              <a:off x="1516861" y="944444"/>
              <a:ext cx="5682286" cy="6165698"/>
              <a:chOff x="0" y="0"/>
              <a:chExt cx="1122427" cy="1217916"/>
            </a:xfrm>
          </p:grpSpPr>
          <p:sp>
            <p:nvSpPr>
              <p:cNvPr name="Freeform 22" id="22"/>
              <p:cNvSpPr/>
              <p:nvPr/>
            </p:nvSpPr>
            <p:spPr>
              <a:xfrm flipH="false" flipV="false" rot="0">
                <a:off x="0" y="0"/>
                <a:ext cx="1122427" cy="1217916"/>
              </a:xfrm>
              <a:custGeom>
                <a:avLst/>
                <a:gdLst/>
                <a:ahLst/>
                <a:cxnLst/>
                <a:rect r="r" b="b" t="t" l="l"/>
                <a:pathLst>
                  <a:path h="1217916" w="1122427">
                    <a:moveTo>
                      <a:pt x="92648" y="0"/>
                    </a:moveTo>
                    <a:lnTo>
                      <a:pt x="1029779" y="0"/>
                    </a:lnTo>
                    <a:cubicBezTo>
                      <a:pt x="1054351" y="0"/>
                      <a:pt x="1077916" y="9761"/>
                      <a:pt x="1095291" y="27136"/>
                    </a:cubicBezTo>
                    <a:cubicBezTo>
                      <a:pt x="1112666" y="44511"/>
                      <a:pt x="1122427" y="68076"/>
                      <a:pt x="1122427" y="92648"/>
                    </a:cubicBezTo>
                    <a:lnTo>
                      <a:pt x="1122427" y="1125268"/>
                    </a:lnTo>
                    <a:cubicBezTo>
                      <a:pt x="1122427" y="1149840"/>
                      <a:pt x="1112666" y="1173405"/>
                      <a:pt x="1095291" y="1190780"/>
                    </a:cubicBezTo>
                    <a:cubicBezTo>
                      <a:pt x="1077916" y="1208155"/>
                      <a:pt x="1054351" y="1217916"/>
                      <a:pt x="1029779" y="1217916"/>
                    </a:cubicBezTo>
                    <a:lnTo>
                      <a:pt x="92648" y="1217916"/>
                    </a:lnTo>
                    <a:cubicBezTo>
                      <a:pt x="68076" y="1217916"/>
                      <a:pt x="44511" y="1208155"/>
                      <a:pt x="27136" y="1190780"/>
                    </a:cubicBezTo>
                    <a:cubicBezTo>
                      <a:pt x="9761" y="1173405"/>
                      <a:pt x="0" y="1149840"/>
                      <a:pt x="0" y="1125268"/>
                    </a:cubicBezTo>
                    <a:lnTo>
                      <a:pt x="0" y="92648"/>
                    </a:lnTo>
                    <a:cubicBezTo>
                      <a:pt x="0" y="68076"/>
                      <a:pt x="9761" y="44511"/>
                      <a:pt x="27136" y="27136"/>
                    </a:cubicBezTo>
                    <a:cubicBezTo>
                      <a:pt x="44511" y="9761"/>
                      <a:pt x="68076" y="0"/>
                      <a:pt x="92648" y="0"/>
                    </a:cubicBezTo>
                    <a:close/>
                  </a:path>
                </a:pathLst>
              </a:custGeom>
              <a:solidFill>
                <a:srgbClr val="F9F7DC"/>
              </a:solidFill>
              <a:ln w="180975" cap="rnd">
                <a:solidFill>
                  <a:srgbClr val="FF3131"/>
                </a:solidFill>
                <a:prstDash val="solid"/>
                <a:round/>
              </a:ln>
            </p:spPr>
          </p:sp>
          <p:sp>
            <p:nvSpPr>
              <p:cNvPr name="TextBox 23" id="23"/>
              <p:cNvSpPr txBox="true"/>
              <p:nvPr/>
            </p:nvSpPr>
            <p:spPr>
              <a:xfrm>
                <a:off x="0" y="-28575"/>
                <a:ext cx="1122427" cy="1246491"/>
              </a:xfrm>
              <a:prstGeom prst="rect">
                <a:avLst/>
              </a:prstGeom>
            </p:spPr>
            <p:txBody>
              <a:bodyPr anchor="ctr" rtlCol="false" tIns="50800" lIns="50800" bIns="50800" rIns="50800"/>
              <a:lstStyle/>
              <a:p>
                <a:pPr algn="ctr">
                  <a:lnSpc>
                    <a:spcPts val="3224"/>
                  </a:lnSpc>
                </a:pPr>
              </a:p>
            </p:txBody>
          </p:sp>
        </p:grpSp>
        <p:sp>
          <p:nvSpPr>
            <p:cNvPr name="TextBox 24" id="24"/>
            <p:cNvSpPr txBox="true"/>
            <p:nvPr/>
          </p:nvSpPr>
          <p:spPr>
            <a:xfrm rot="0">
              <a:off x="1516861" y="1559683"/>
              <a:ext cx="5682286" cy="4878070"/>
            </a:xfrm>
            <a:prstGeom prst="rect">
              <a:avLst/>
            </a:prstGeom>
          </p:spPr>
          <p:txBody>
            <a:bodyPr anchor="t" rtlCol="false" tIns="0" lIns="0" bIns="0" rIns="0">
              <a:spAutoFit/>
            </a:bodyPr>
            <a:lstStyle/>
            <a:p>
              <a:pPr algn="ctr">
                <a:lnSpc>
                  <a:spcPts val="5805"/>
                </a:lnSpc>
                <a:spcBef>
                  <a:spcPct val="0"/>
                </a:spcBef>
              </a:pPr>
              <a:r>
                <a:rPr lang="en-US" b="true" sz="4500">
                  <a:solidFill>
                    <a:srgbClr val="B31E1E"/>
                  </a:solidFill>
                  <a:latin typeface="Roboto Bold"/>
                  <a:ea typeface="Roboto Bold"/>
                  <a:cs typeface="Roboto Bold"/>
                  <a:sym typeface="Roboto Bold"/>
                </a:rPr>
                <a:t> Persistance </a:t>
              </a:r>
            </a:p>
            <a:p>
              <a:pPr algn="ctr">
                <a:lnSpc>
                  <a:spcPts val="5805"/>
                </a:lnSpc>
                <a:spcBef>
                  <a:spcPct val="0"/>
                </a:spcBef>
              </a:pPr>
              <a:r>
                <a:rPr lang="en-US" b="true" sz="4500">
                  <a:solidFill>
                    <a:srgbClr val="B31E1E"/>
                  </a:solidFill>
                  <a:latin typeface="Roboto Bold"/>
                  <a:ea typeface="Roboto Bold"/>
                  <a:cs typeface="Roboto Bold"/>
                  <a:sym typeface="Roboto Bold"/>
                </a:rPr>
                <a:t>des circuits informels (tontines, thésaurisation)</a:t>
              </a:r>
            </a:p>
          </p:txBody>
        </p:sp>
      </p:grpSp>
      <p:grpSp>
        <p:nvGrpSpPr>
          <p:cNvPr name="Group 25" id="25"/>
          <p:cNvGrpSpPr/>
          <p:nvPr/>
        </p:nvGrpSpPr>
        <p:grpSpPr>
          <a:xfrm rot="0">
            <a:off x="11661576" y="2169252"/>
            <a:ext cx="5970279" cy="5948495"/>
            <a:chOff x="0" y="0"/>
            <a:chExt cx="7960372" cy="7931327"/>
          </a:xfrm>
        </p:grpSpPr>
        <p:sp>
          <p:nvSpPr>
            <p:cNvPr name="Freeform 26" id="26"/>
            <p:cNvSpPr/>
            <p:nvPr/>
          </p:nvSpPr>
          <p:spPr>
            <a:xfrm flipH="false" flipV="false" rot="0">
              <a:off x="0" y="0"/>
              <a:ext cx="7960372" cy="7931327"/>
            </a:xfrm>
            <a:custGeom>
              <a:avLst/>
              <a:gdLst/>
              <a:ahLst/>
              <a:cxnLst/>
              <a:rect r="r" b="b" t="t" l="l"/>
              <a:pathLst>
                <a:path h="7931327" w="7960372">
                  <a:moveTo>
                    <a:pt x="0" y="0"/>
                  </a:moveTo>
                  <a:lnTo>
                    <a:pt x="7960372" y="0"/>
                  </a:lnTo>
                  <a:lnTo>
                    <a:pt x="7960372" y="7931327"/>
                  </a:lnTo>
                  <a:lnTo>
                    <a:pt x="0" y="7931327"/>
                  </a:lnTo>
                  <a:lnTo>
                    <a:pt x="0" y="0"/>
                  </a:lnTo>
                  <a:close/>
                </a:path>
              </a:pathLst>
            </a:custGeom>
            <a:blipFill>
              <a:blip r:embed="rId2"/>
              <a:stretch>
                <a:fillRect l="0" t="-2538" r="-3384" b="-2538"/>
              </a:stretch>
            </a:blipFill>
          </p:spPr>
        </p:sp>
        <p:grpSp>
          <p:nvGrpSpPr>
            <p:cNvPr name="Group 27" id="27"/>
            <p:cNvGrpSpPr/>
            <p:nvPr/>
          </p:nvGrpSpPr>
          <p:grpSpPr>
            <a:xfrm rot="0">
              <a:off x="1516861" y="944444"/>
              <a:ext cx="5682286" cy="6165698"/>
              <a:chOff x="0" y="0"/>
              <a:chExt cx="1122427" cy="1217916"/>
            </a:xfrm>
          </p:grpSpPr>
          <p:sp>
            <p:nvSpPr>
              <p:cNvPr name="Freeform 28" id="28"/>
              <p:cNvSpPr/>
              <p:nvPr/>
            </p:nvSpPr>
            <p:spPr>
              <a:xfrm flipH="false" flipV="false" rot="0">
                <a:off x="0" y="0"/>
                <a:ext cx="1122427" cy="1217916"/>
              </a:xfrm>
              <a:custGeom>
                <a:avLst/>
                <a:gdLst/>
                <a:ahLst/>
                <a:cxnLst/>
                <a:rect r="r" b="b" t="t" l="l"/>
                <a:pathLst>
                  <a:path h="1217916" w="1122427">
                    <a:moveTo>
                      <a:pt x="92648" y="0"/>
                    </a:moveTo>
                    <a:lnTo>
                      <a:pt x="1029779" y="0"/>
                    </a:lnTo>
                    <a:cubicBezTo>
                      <a:pt x="1054351" y="0"/>
                      <a:pt x="1077916" y="9761"/>
                      <a:pt x="1095291" y="27136"/>
                    </a:cubicBezTo>
                    <a:cubicBezTo>
                      <a:pt x="1112666" y="44511"/>
                      <a:pt x="1122427" y="68076"/>
                      <a:pt x="1122427" y="92648"/>
                    </a:cubicBezTo>
                    <a:lnTo>
                      <a:pt x="1122427" y="1125268"/>
                    </a:lnTo>
                    <a:cubicBezTo>
                      <a:pt x="1122427" y="1149840"/>
                      <a:pt x="1112666" y="1173405"/>
                      <a:pt x="1095291" y="1190780"/>
                    </a:cubicBezTo>
                    <a:cubicBezTo>
                      <a:pt x="1077916" y="1208155"/>
                      <a:pt x="1054351" y="1217916"/>
                      <a:pt x="1029779" y="1217916"/>
                    </a:cubicBezTo>
                    <a:lnTo>
                      <a:pt x="92648" y="1217916"/>
                    </a:lnTo>
                    <a:cubicBezTo>
                      <a:pt x="68076" y="1217916"/>
                      <a:pt x="44511" y="1208155"/>
                      <a:pt x="27136" y="1190780"/>
                    </a:cubicBezTo>
                    <a:cubicBezTo>
                      <a:pt x="9761" y="1173405"/>
                      <a:pt x="0" y="1149840"/>
                      <a:pt x="0" y="1125268"/>
                    </a:cubicBezTo>
                    <a:lnTo>
                      <a:pt x="0" y="92648"/>
                    </a:lnTo>
                    <a:cubicBezTo>
                      <a:pt x="0" y="68076"/>
                      <a:pt x="9761" y="44511"/>
                      <a:pt x="27136" y="27136"/>
                    </a:cubicBezTo>
                    <a:cubicBezTo>
                      <a:pt x="44511" y="9761"/>
                      <a:pt x="68076" y="0"/>
                      <a:pt x="92648" y="0"/>
                    </a:cubicBezTo>
                    <a:close/>
                  </a:path>
                </a:pathLst>
              </a:custGeom>
              <a:solidFill>
                <a:srgbClr val="F9F7DC"/>
              </a:solidFill>
              <a:ln w="180975" cap="rnd">
                <a:solidFill>
                  <a:srgbClr val="FF3131"/>
                </a:solidFill>
                <a:prstDash val="solid"/>
                <a:round/>
              </a:ln>
            </p:spPr>
          </p:sp>
          <p:sp>
            <p:nvSpPr>
              <p:cNvPr name="TextBox 29" id="29"/>
              <p:cNvSpPr txBox="true"/>
              <p:nvPr/>
            </p:nvSpPr>
            <p:spPr>
              <a:xfrm>
                <a:off x="0" y="-28575"/>
                <a:ext cx="1122427" cy="1246491"/>
              </a:xfrm>
              <a:prstGeom prst="rect">
                <a:avLst/>
              </a:prstGeom>
            </p:spPr>
            <p:txBody>
              <a:bodyPr anchor="ctr" rtlCol="false" tIns="50800" lIns="50800" bIns="50800" rIns="50800"/>
              <a:lstStyle/>
              <a:p>
                <a:pPr algn="ctr">
                  <a:lnSpc>
                    <a:spcPts val="3224"/>
                  </a:lnSpc>
                </a:pPr>
              </a:p>
            </p:txBody>
          </p:sp>
        </p:grpSp>
        <p:sp>
          <p:nvSpPr>
            <p:cNvPr name="TextBox 30" id="30"/>
            <p:cNvSpPr txBox="true"/>
            <p:nvPr/>
          </p:nvSpPr>
          <p:spPr>
            <a:xfrm rot="0">
              <a:off x="1516861" y="2110263"/>
              <a:ext cx="5682286" cy="3900170"/>
            </a:xfrm>
            <a:prstGeom prst="rect">
              <a:avLst/>
            </a:prstGeom>
          </p:spPr>
          <p:txBody>
            <a:bodyPr anchor="t" rtlCol="false" tIns="0" lIns="0" bIns="0" rIns="0">
              <a:spAutoFit/>
            </a:bodyPr>
            <a:lstStyle/>
            <a:p>
              <a:pPr algn="ctr">
                <a:lnSpc>
                  <a:spcPts val="5805"/>
                </a:lnSpc>
                <a:spcBef>
                  <a:spcPct val="0"/>
                </a:spcBef>
              </a:pPr>
              <a:r>
                <a:rPr lang="en-US" b="true" sz="4500">
                  <a:solidFill>
                    <a:srgbClr val="B31E1E"/>
                  </a:solidFill>
                  <a:latin typeface="Roboto Bold"/>
                  <a:ea typeface="Roboto Bold"/>
                  <a:cs typeface="Roboto Bold"/>
                  <a:sym typeface="Roboto Bold"/>
                </a:rPr>
                <a:t>Méfiance envers les institutions financières</a:t>
              </a:r>
            </a:p>
          </p:txBody>
        </p:sp>
      </p:gr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9F7DC"/>
        </a:solidFill>
      </p:bgPr>
    </p:bg>
    <p:spTree>
      <p:nvGrpSpPr>
        <p:cNvPr id="1" name=""/>
        <p:cNvGrpSpPr/>
        <p:nvPr/>
      </p:nvGrpSpPr>
      <p:grpSpPr>
        <a:xfrm>
          <a:off x="0" y="0"/>
          <a:ext cx="0" cy="0"/>
          <a:chOff x="0" y="0"/>
          <a:chExt cx="0" cy="0"/>
        </a:xfrm>
      </p:grpSpPr>
      <p:sp>
        <p:nvSpPr>
          <p:cNvPr name="TextBox 2" id="2"/>
          <p:cNvSpPr txBox="true"/>
          <p:nvPr/>
        </p:nvSpPr>
        <p:spPr>
          <a:xfrm rot="0">
            <a:off x="6437724" y="2935288"/>
            <a:ext cx="10136238" cy="3921123"/>
          </a:xfrm>
          <a:prstGeom prst="rect">
            <a:avLst/>
          </a:prstGeom>
        </p:spPr>
        <p:txBody>
          <a:bodyPr anchor="t" rtlCol="false" tIns="0" lIns="0" bIns="0" rIns="0">
            <a:spAutoFit/>
          </a:bodyPr>
          <a:lstStyle/>
          <a:p>
            <a:pPr algn="l">
              <a:lnSpc>
                <a:spcPts val="7840"/>
              </a:lnSpc>
            </a:pPr>
            <a:r>
              <a:rPr lang="en-US" sz="3200" spc="-64" b="true">
                <a:solidFill>
                  <a:srgbClr val="022E69"/>
                </a:solidFill>
                <a:latin typeface="Agrandir Narrow Bold"/>
                <a:ea typeface="Agrandir Narrow Bold"/>
                <a:cs typeface="Agrandir Narrow Bold"/>
                <a:sym typeface="Agrandir Narrow Bold"/>
              </a:rPr>
              <a:t>Quel est le niveau réel de connaissance des populations</a:t>
            </a:r>
          </a:p>
          <a:p>
            <a:pPr algn="l">
              <a:lnSpc>
                <a:spcPts val="7840"/>
              </a:lnSpc>
            </a:pPr>
            <a:r>
              <a:rPr lang="en-US" sz="3200" spc="-64" b="true">
                <a:solidFill>
                  <a:srgbClr val="022E69"/>
                </a:solidFill>
                <a:latin typeface="Agrandir Narrow Bold"/>
                <a:ea typeface="Agrandir Narrow Bold"/>
                <a:cs typeface="Agrandir Narrow Bold"/>
                <a:sym typeface="Agrandir Narrow Bold"/>
              </a:rPr>
              <a:t>Quelles sont leurs perceptions et réticences</a:t>
            </a:r>
            <a:r>
              <a:rPr lang="en-US" sz="3200" spc="-64" b="true">
                <a:solidFill>
                  <a:srgbClr val="022E69"/>
                </a:solidFill>
                <a:latin typeface="Agrandir Narrow Bold"/>
                <a:ea typeface="Agrandir Narrow Bold"/>
                <a:cs typeface="Agrandir Narrow Bold"/>
                <a:sym typeface="Agrandir Narrow Bold"/>
              </a:rPr>
              <a:t> ?</a:t>
            </a:r>
          </a:p>
          <a:p>
            <a:pPr algn="l">
              <a:lnSpc>
                <a:spcPts val="7840"/>
              </a:lnSpc>
            </a:pPr>
            <a:r>
              <a:rPr lang="en-US" sz="3200" spc="-64" b="true">
                <a:solidFill>
                  <a:srgbClr val="022E69"/>
                </a:solidFill>
                <a:latin typeface="Agrandir Narrow Bold"/>
                <a:ea typeface="Agrandir Narrow Bold"/>
                <a:cs typeface="Agrandir Narrow Bold"/>
                <a:sym typeface="Agrandir Narrow Bold"/>
              </a:rPr>
              <a:t>Comment améliorer l’accès aux services financiers formels?</a:t>
            </a:r>
          </a:p>
        </p:txBody>
      </p:sp>
      <p:sp>
        <p:nvSpPr>
          <p:cNvPr name="TextBox 3" id="3"/>
          <p:cNvSpPr txBox="true"/>
          <p:nvPr/>
        </p:nvSpPr>
        <p:spPr>
          <a:xfrm rot="0">
            <a:off x="16573962" y="3024813"/>
            <a:ext cx="776617" cy="2930523"/>
          </a:xfrm>
          <a:prstGeom prst="rect">
            <a:avLst/>
          </a:prstGeom>
        </p:spPr>
        <p:txBody>
          <a:bodyPr anchor="t" rtlCol="false" tIns="0" lIns="0" bIns="0" rIns="0">
            <a:spAutoFit/>
          </a:bodyPr>
          <a:lstStyle/>
          <a:p>
            <a:pPr algn="r">
              <a:lnSpc>
                <a:spcPts val="7840"/>
              </a:lnSpc>
            </a:pPr>
            <a:r>
              <a:rPr lang="en-US" b="true" sz="3200" spc="-64">
                <a:solidFill>
                  <a:srgbClr val="022E69"/>
                </a:solidFill>
                <a:latin typeface="Agrandir Narrow Bold"/>
                <a:ea typeface="Agrandir Narrow Bold"/>
                <a:cs typeface="Agrandir Narrow Bold"/>
                <a:sym typeface="Agrandir Narrow Bold"/>
              </a:rPr>
              <a:t>1</a:t>
            </a:r>
          </a:p>
          <a:p>
            <a:pPr algn="r">
              <a:lnSpc>
                <a:spcPts val="7840"/>
              </a:lnSpc>
            </a:pPr>
            <a:r>
              <a:rPr lang="en-US" b="true" sz="3200" spc="-64">
                <a:solidFill>
                  <a:srgbClr val="022E69"/>
                </a:solidFill>
                <a:latin typeface="Agrandir Narrow Bold"/>
                <a:ea typeface="Agrandir Narrow Bold"/>
                <a:cs typeface="Agrandir Narrow Bold"/>
                <a:sym typeface="Agrandir Narrow Bold"/>
              </a:rPr>
              <a:t>2</a:t>
            </a:r>
          </a:p>
          <a:p>
            <a:pPr algn="r">
              <a:lnSpc>
                <a:spcPts val="7840"/>
              </a:lnSpc>
            </a:pPr>
            <a:r>
              <a:rPr lang="en-US" b="true" sz="3200" spc="-64">
                <a:solidFill>
                  <a:srgbClr val="022E69"/>
                </a:solidFill>
                <a:latin typeface="Agrandir Narrow Bold"/>
                <a:ea typeface="Agrandir Narrow Bold"/>
                <a:cs typeface="Agrandir Narrow Bold"/>
                <a:sym typeface="Agrandir Narrow Bold"/>
              </a:rPr>
              <a:t>3</a:t>
            </a:r>
          </a:p>
        </p:txBody>
      </p:sp>
      <p:sp>
        <p:nvSpPr>
          <p:cNvPr name="AutoShape 4" id="4"/>
          <p:cNvSpPr/>
          <p:nvPr/>
        </p:nvSpPr>
        <p:spPr>
          <a:xfrm>
            <a:off x="6437724" y="4108034"/>
            <a:ext cx="10821576" cy="0"/>
          </a:xfrm>
          <a:prstGeom prst="line">
            <a:avLst/>
          </a:prstGeom>
          <a:ln cap="flat" w="28575">
            <a:solidFill>
              <a:srgbClr val="022E69"/>
            </a:solidFill>
            <a:prstDash val="solid"/>
            <a:headEnd type="none" len="sm" w="sm"/>
            <a:tailEnd type="none" len="sm" w="sm"/>
          </a:ln>
        </p:spPr>
      </p:sp>
      <p:sp>
        <p:nvSpPr>
          <p:cNvPr name="AutoShape 5" id="5"/>
          <p:cNvSpPr/>
          <p:nvPr/>
        </p:nvSpPr>
        <p:spPr>
          <a:xfrm>
            <a:off x="6437724" y="5129212"/>
            <a:ext cx="10821576" cy="0"/>
          </a:xfrm>
          <a:prstGeom prst="line">
            <a:avLst/>
          </a:prstGeom>
          <a:ln cap="flat" w="28575">
            <a:solidFill>
              <a:srgbClr val="022E69"/>
            </a:solidFill>
            <a:prstDash val="solid"/>
            <a:headEnd type="none" len="sm" w="sm"/>
            <a:tailEnd type="none" len="sm" w="sm"/>
          </a:ln>
        </p:spPr>
      </p:sp>
      <p:grpSp>
        <p:nvGrpSpPr>
          <p:cNvPr name="Group 6" id="6"/>
          <p:cNvGrpSpPr/>
          <p:nvPr/>
        </p:nvGrpSpPr>
        <p:grpSpPr>
          <a:xfrm rot="0">
            <a:off x="1062945" y="-731573"/>
            <a:ext cx="5007859" cy="9834454"/>
            <a:chOff x="0" y="0"/>
            <a:chExt cx="6677145" cy="13112605"/>
          </a:xfrm>
        </p:grpSpPr>
        <p:grpSp>
          <p:nvGrpSpPr>
            <p:cNvPr name="Group 7" id="7"/>
            <p:cNvGrpSpPr/>
            <p:nvPr/>
          </p:nvGrpSpPr>
          <p:grpSpPr>
            <a:xfrm rot="0">
              <a:off x="0" y="0"/>
              <a:ext cx="6677145" cy="13112605"/>
              <a:chOff x="0" y="0"/>
              <a:chExt cx="569319" cy="1118031"/>
            </a:xfrm>
          </p:grpSpPr>
          <p:sp>
            <p:nvSpPr>
              <p:cNvPr name="Freeform 8" id="8"/>
              <p:cNvSpPr/>
              <p:nvPr/>
            </p:nvSpPr>
            <p:spPr>
              <a:xfrm flipH="false" flipV="false" rot="0">
                <a:off x="0" y="0"/>
                <a:ext cx="569319" cy="1118031"/>
              </a:xfrm>
              <a:custGeom>
                <a:avLst/>
                <a:gdLst/>
                <a:ahLst/>
                <a:cxnLst/>
                <a:rect r="r" b="b" t="t" l="l"/>
                <a:pathLst>
                  <a:path h="1118031" w="569319">
                    <a:moveTo>
                      <a:pt x="189876" y="1098962"/>
                    </a:moveTo>
                    <a:cubicBezTo>
                      <a:pt x="219063" y="1110476"/>
                      <a:pt x="252246" y="1118031"/>
                      <a:pt x="284813" y="1118031"/>
                    </a:cubicBezTo>
                    <a:cubicBezTo>
                      <a:pt x="317381" y="1118031"/>
                      <a:pt x="348720" y="1111554"/>
                      <a:pt x="377600" y="1100040"/>
                    </a:cubicBezTo>
                    <a:cubicBezTo>
                      <a:pt x="378215" y="1099681"/>
                      <a:pt x="378829" y="1099681"/>
                      <a:pt x="379444" y="1099321"/>
                    </a:cubicBezTo>
                    <a:cubicBezTo>
                      <a:pt x="487900" y="1053266"/>
                      <a:pt x="567783" y="931652"/>
                      <a:pt x="569319" y="782749"/>
                    </a:cubicBezTo>
                    <a:lnTo>
                      <a:pt x="569319" y="0"/>
                    </a:lnTo>
                    <a:lnTo>
                      <a:pt x="0" y="0"/>
                    </a:lnTo>
                    <a:lnTo>
                      <a:pt x="0" y="782168"/>
                    </a:lnTo>
                    <a:cubicBezTo>
                      <a:pt x="1536" y="932371"/>
                      <a:pt x="80190" y="1053986"/>
                      <a:pt x="189876" y="1098962"/>
                    </a:cubicBezTo>
                    <a:close/>
                  </a:path>
                </a:pathLst>
              </a:custGeom>
              <a:solidFill>
                <a:srgbClr val="C34D24"/>
              </a:solidFill>
              <a:ln w="38100" cap="sq">
                <a:solidFill>
                  <a:srgbClr val="FFFFFF"/>
                </a:solidFill>
                <a:prstDash val="solid"/>
                <a:miter/>
              </a:ln>
            </p:spPr>
          </p:sp>
          <p:sp>
            <p:nvSpPr>
              <p:cNvPr name="TextBox 9" id="9"/>
              <p:cNvSpPr txBox="true"/>
              <p:nvPr/>
            </p:nvSpPr>
            <p:spPr>
              <a:xfrm>
                <a:off x="0" y="-38100"/>
                <a:ext cx="569319" cy="1029131"/>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391688" y="2560629"/>
              <a:ext cx="5893768" cy="2807030"/>
            </a:xfrm>
            <a:prstGeom prst="rect">
              <a:avLst/>
            </a:prstGeom>
          </p:spPr>
          <p:txBody>
            <a:bodyPr anchor="t" rtlCol="false" tIns="0" lIns="0" bIns="0" rIns="0">
              <a:spAutoFit/>
            </a:bodyPr>
            <a:lstStyle/>
            <a:p>
              <a:pPr algn="ctr" marL="0" indent="0" lvl="0">
                <a:lnSpc>
                  <a:spcPts val="7203"/>
                </a:lnSpc>
                <a:spcBef>
                  <a:spcPct val="0"/>
                </a:spcBef>
              </a:pPr>
              <a:r>
                <a:rPr lang="en-US" b="true" sz="7582" spc="-37">
                  <a:solidFill>
                    <a:srgbClr val="F8F9F9"/>
                  </a:solidFill>
                  <a:latin typeface="Agrandir Narrow Bold"/>
                  <a:ea typeface="Agrandir Narrow Bold"/>
                  <a:cs typeface="Agrandir Narrow Bold"/>
                  <a:sym typeface="Agrandir Narrow Bold"/>
                </a:rPr>
                <a:t>Questions centrales</a:t>
              </a:r>
            </a:p>
          </p:txBody>
        </p:sp>
        <p:grpSp>
          <p:nvGrpSpPr>
            <p:cNvPr name="Group 11" id="11"/>
            <p:cNvGrpSpPr/>
            <p:nvPr/>
          </p:nvGrpSpPr>
          <p:grpSpPr>
            <a:xfrm rot="0">
              <a:off x="1000427" y="6699660"/>
              <a:ext cx="4676290" cy="5424414"/>
              <a:chOff x="0" y="0"/>
              <a:chExt cx="700700" cy="812800"/>
            </a:xfrm>
          </p:grpSpPr>
          <p:sp>
            <p:nvSpPr>
              <p:cNvPr name="Freeform 12" id="12"/>
              <p:cNvSpPr/>
              <p:nvPr/>
            </p:nvSpPr>
            <p:spPr>
              <a:xfrm flipH="false" flipV="false" rot="0">
                <a:off x="0" y="0"/>
                <a:ext cx="700700" cy="812800"/>
              </a:xfrm>
              <a:custGeom>
                <a:avLst/>
                <a:gdLst/>
                <a:ahLst/>
                <a:cxnLst/>
                <a:rect r="r" b="b" t="t" l="l"/>
                <a:pathLst>
                  <a:path h="812800" w="700700">
                    <a:moveTo>
                      <a:pt x="350350" y="0"/>
                    </a:moveTo>
                    <a:cubicBezTo>
                      <a:pt x="156857" y="0"/>
                      <a:pt x="0" y="181951"/>
                      <a:pt x="0" y="406400"/>
                    </a:cubicBezTo>
                    <a:cubicBezTo>
                      <a:pt x="0" y="630849"/>
                      <a:pt x="156857" y="812800"/>
                      <a:pt x="350350" y="812800"/>
                    </a:cubicBezTo>
                    <a:cubicBezTo>
                      <a:pt x="543843" y="812800"/>
                      <a:pt x="700700" y="630849"/>
                      <a:pt x="700700" y="406400"/>
                    </a:cubicBezTo>
                    <a:cubicBezTo>
                      <a:pt x="700700" y="181951"/>
                      <a:pt x="543843" y="0"/>
                      <a:pt x="350350" y="0"/>
                    </a:cubicBezTo>
                    <a:close/>
                  </a:path>
                </a:pathLst>
              </a:custGeom>
              <a:blipFill>
                <a:blip r:embed="rId2"/>
                <a:stretch>
                  <a:fillRect l="-53109" t="0" r="-53109" b="0"/>
                </a:stretch>
              </a:blipFill>
              <a:ln w="57150" cap="sq">
                <a:solidFill>
                  <a:srgbClr val="FFFFFF"/>
                </a:solidFill>
                <a:prstDash val="solid"/>
                <a:miter/>
              </a:ln>
            </p:spPr>
          </p:sp>
        </p:grpSp>
      </p:grpSp>
    </p:spTree>
  </p:cSld>
  <p:clrMapOvr>
    <a:masterClrMapping/>
  </p:clrMapOvr>
  <p:transition spd="slow">
    <p:push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9F7DC"/>
        </a:solidFill>
      </p:bgPr>
    </p:bg>
    <p:spTree>
      <p:nvGrpSpPr>
        <p:cNvPr id="1" name=""/>
        <p:cNvGrpSpPr/>
        <p:nvPr/>
      </p:nvGrpSpPr>
      <p:grpSpPr>
        <a:xfrm>
          <a:off x="0" y="0"/>
          <a:ext cx="0" cy="0"/>
          <a:chOff x="0" y="0"/>
          <a:chExt cx="0" cy="0"/>
        </a:xfrm>
      </p:grpSpPr>
      <p:grpSp>
        <p:nvGrpSpPr>
          <p:cNvPr name="Group 2" id="2"/>
          <p:cNvGrpSpPr/>
          <p:nvPr/>
        </p:nvGrpSpPr>
        <p:grpSpPr>
          <a:xfrm rot="0">
            <a:off x="12251441" y="-282919"/>
            <a:ext cx="5007859" cy="9834454"/>
            <a:chOff x="0" y="0"/>
            <a:chExt cx="6677145" cy="13112605"/>
          </a:xfrm>
        </p:grpSpPr>
        <p:grpSp>
          <p:nvGrpSpPr>
            <p:cNvPr name="Group 3" id="3"/>
            <p:cNvGrpSpPr/>
            <p:nvPr/>
          </p:nvGrpSpPr>
          <p:grpSpPr>
            <a:xfrm rot="0">
              <a:off x="0" y="0"/>
              <a:ext cx="6677145" cy="13112605"/>
              <a:chOff x="0" y="0"/>
              <a:chExt cx="569319" cy="1118031"/>
            </a:xfrm>
          </p:grpSpPr>
          <p:sp>
            <p:nvSpPr>
              <p:cNvPr name="Freeform 4" id="4"/>
              <p:cNvSpPr/>
              <p:nvPr/>
            </p:nvSpPr>
            <p:spPr>
              <a:xfrm flipH="false" flipV="false" rot="0">
                <a:off x="0" y="0"/>
                <a:ext cx="569319" cy="1118031"/>
              </a:xfrm>
              <a:custGeom>
                <a:avLst/>
                <a:gdLst/>
                <a:ahLst/>
                <a:cxnLst/>
                <a:rect r="r" b="b" t="t" l="l"/>
                <a:pathLst>
                  <a:path h="1118031" w="569319">
                    <a:moveTo>
                      <a:pt x="189876" y="1098962"/>
                    </a:moveTo>
                    <a:cubicBezTo>
                      <a:pt x="219063" y="1110476"/>
                      <a:pt x="252246" y="1118031"/>
                      <a:pt x="284813" y="1118031"/>
                    </a:cubicBezTo>
                    <a:cubicBezTo>
                      <a:pt x="317381" y="1118031"/>
                      <a:pt x="348720" y="1111554"/>
                      <a:pt x="377600" y="1100040"/>
                    </a:cubicBezTo>
                    <a:cubicBezTo>
                      <a:pt x="378215" y="1099681"/>
                      <a:pt x="378829" y="1099681"/>
                      <a:pt x="379444" y="1099321"/>
                    </a:cubicBezTo>
                    <a:cubicBezTo>
                      <a:pt x="487900" y="1053266"/>
                      <a:pt x="567783" y="931652"/>
                      <a:pt x="569319" y="782749"/>
                    </a:cubicBezTo>
                    <a:lnTo>
                      <a:pt x="569319" y="0"/>
                    </a:lnTo>
                    <a:lnTo>
                      <a:pt x="0" y="0"/>
                    </a:lnTo>
                    <a:lnTo>
                      <a:pt x="0" y="782168"/>
                    </a:lnTo>
                    <a:cubicBezTo>
                      <a:pt x="1536" y="932371"/>
                      <a:pt x="80190" y="1053986"/>
                      <a:pt x="189876" y="1098962"/>
                    </a:cubicBezTo>
                    <a:close/>
                  </a:path>
                </a:pathLst>
              </a:custGeom>
              <a:solidFill>
                <a:srgbClr val="C34D24"/>
              </a:solidFill>
              <a:ln w="38100" cap="sq">
                <a:solidFill>
                  <a:srgbClr val="FFFFFF"/>
                </a:solidFill>
                <a:prstDash val="solid"/>
                <a:miter/>
              </a:ln>
            </p:spPr>
          </p:sp>
          <p:sp>
            <p:nvSpPr>
              <p:cNvPr name="TextBox 5" id="5"/>
              <p:cNvSpPr txBox="true"/>
              <p:nvPr/>
            </p:nvSpPr>
            <p:spPr>
              <a:xfrm>
                <a:off x="0" y="-38100"/>
                <a:ext cx="569319" cy="1029131"/>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91688" y="2560629"/>
              <a:ext cx="5893768" cy="2807030"/>
            </a:xfrm>
            <a:prstGeom prst="rect">
              <a:avLst/>
            </a:prstGeom>
          </p:spPr>
          <p:txBody>
            <a:bodyPr anchor="t" rtlCol="false" tIns="0" lIns="0" bIns="0" rIns="0">
              <a:spAutoFit/>
            </a:bodyPr>
            <a:lstStyle/>
            <a:p>
              <a:pPr algn="ctr" marL="0" indent="0" lvl="0">
                <a:lnSpc>
                  <a:spcPts val="7203"/>
                </a:lnSpc>
                <a:spcBef>
                  <a:spcPct val="0"/>
                </a:spcBef>
              </a:pPr>
              <a:r>
                <a:rPr lang="en-US" b="true" sz="7582" spc="-37">
                  <a:solidFill>
                    <a:srgbClr val="F8F9F9"/>
                  </a:solidFill>
                  <a:latin typeface="Agrandir Narrow Bold"/>
                  <a:ea typeface="Agrandir Narrow Bold"/>
                  <a:cs typeface="Agrandir Narrow Bold"/>
                  <a:sym typeface="Agrandir Narrow Bold"/>
                </a:rPr>
                <a:t>Intérêt de l’étude</a:t>
              </a:r>
            </a:p>
          </p:txBody>
        </p:sp>
      </p:grpSp>
      <p:sp>
        <p:nvSpPr>
          <p:cNvPr name="TextBox 7" id="7"/>
          <p:cNvSpPr txBox="true"/>
          <p:nvPr/>
        </p:nvSpPr>
        <p:spPr>
          <a:xfrm rot="0">
            <a:off x="1028700" y="2935684"/>
            <a:ext cx="10136238" cy="2930523"/>
          </a:xfrm>
          <a:prstGeom prst="rect">
            <a:avLst/>
          </a:prstGeom>
        </p:spPr>
        <p:txBody>
          <a:bodyPr anchor="t" rtlCol="false" tIns="0" lIns="0" bIns="0" rIns="0">
            <a:spAutoFit/>
          </a:bodyPr>
          <a:lstStyle/>
          <a:p>
            <a:pPr algn="l" marL="690882" indent="-345441" lvl="1">
              <a:lnSpc>
                <a:spcPts val="7840"/>
              </a:lnSpc>
              <a:buFont typeface="Arial"/>
              <a:buChar char="•"/>
            </a:pPr>
            <a:r>
              <a:rPr lang="en-US" b="true" sz="3200" spc="-64">
                <a:solidFill>
                  <a:srgbClr val="022E69"/>
                </a:solidFill>
                <a:latin typeface="Agrandir Narrow Bold"/>
                <a:ea typeface="Agrandir Narrow Bold"/>
                <a:cs typeface="Agrandir Narrow Bold"/>
                <a:sym typeface="Agrandir Narrow Bold"/>
              </a:rPr>
              <a:t>Guider les politiques d’inclusion financière</a:t>
            </a:r>
          </a:p>
          <a:p>
            <a:pPr algn="l" marL="690882" indent="-345441" lvl="1">
              <a:lnSpc>
                <a:spcPts val="7840"/>
              </a:lnSpc>
              <a:buFont typeface="Arial"/>
              <a:buChar char="•"/>
            </a:pPr>
            <a:r>
              <a:rPr lang="en-US" b="true" sz="3200" spc="-64">
                <a:solidFill>
                  <a:srgbClr val="022E69"/>
                </a:solidFill>
                <a:latin typeface="Agrandir Narrow Bold"/>
                <a:ea typeface="Agrandir Narrow Bold"/>
                <a:cs typeface="Agrandir Narrow Bold"/>
                <a:sym typeface="Agrandir Narrow Bold"/>
              </a:rPr>
              <a:t>Adapter les offres bancaires aux besoins locaux</a:t>
            </a:r>
          </a:p>
          <a:p>
            <a:pPr algn="l" marL="690882" indent="-345441" lvl="1">
              <a:lnSpc>
                <a:spcPts val="7840"/>
              </a:lnSpc>
              <a:buFont typeface="Arial"/>
              <a:buChar char="•"/>
            </a:pPr>
            <a:r>
              <a:rPr lang="en-US" b="true" sz="3200" spc="-64">
                <a:solidFill>
                  <a:srgbClr val="022E69"/>
                </a:solidFill>
                <a:latin typeface="Agrandir Narrow Bold"/>
                <a:ea typeface="Agrandir Narrow Bold"/>
                <a:cs typeface="Agrandir Narrow Bold"/>
                <a:sym typeface="Agrandir Narrow Bold"/>
              </a:rPr>
              <a:t>Sensibiliser les Dakarois aux services financiers</a:t>
            </a:r>
          </a:p>
        </p:txBody>
      </p:sp>
      <p:sp>
        <p:nvSpPr>
          <p:cNvPr name="AutoShape 8" id="8"/>
          <p:cNvSpPr/>
          <p:nvPr/>
        </p:nvSpPr>
        <p:spPr>
          <a:xfrm>
            <a:off x="1028700" y="4122321"/>
            <a:ext cx="10821576" cy="0"/>
          </a:xfrm>
          <a:prstGeom prst="line">
            <a:avLst/>
          </a:prstGeom>
          <a:ln cap="flat" w="28575">
            <a:solidFill>
              <a:srgbClr val="022E69"/>
            </a:solidFill>
            <a:prstDash val="solid"/>
            <a:headEnd type="none" len="sm" w="sm"/>
            <a:tailEnd type="none" len="sm" w="sm"/>
          </a:ln>
        </p:spPr>
      </p:sp>
      <p:sp>
        <p:nvSpPr>
          <p:cNvPr name="AutoShape 9" id="9"/>
          <p:cNvSpPr/>
          <p:nvPr/>
        </p:nvSpPr>
        <p:spPr>
          <a:xfrm>
            <a:off x="1028700" y="5143500"/>
            <a:ext cx="10821576" cy="0"/>
          </a:xfrm>
          <a:prstGeom prst="line">
            <a:avLst/>
          </a:prstGeom>
          <a:ln cap="flat" w="28575">
            <a:solidFill>
              <a:srgbClr val="022E69"/>
            </a:solidFill>
            <a:prstDash val="solid"/>
            <a:headEnd type="none" len="sm" w="sm"/>
            <a:tailEnd type="none" len="sm" w="sm"/>
          </a:ln>
        </p:spPr>
      </p:sp>
      <p:sp>
        <p:nvSpPr>
          <p:cNvPr name="Freeform 10" id="10"/>
          <p:cNvSpPr/>
          <p:nvPr/>
        </p:nvSpPr>
        <p:spPr>
          <a:xfrm flipH="false" flipV="false" rot="0">
            <a:off x="12888280" y="4400016"/>
            <a:ext cx="3734181" cy="4114800"/>
          </a:xfrm>
          <a:custGeom>
            <a:avLst/>
            <a:gdLst/>
            <a:ahLst/>
            <a:cxnLst/>
            <a:rect r="r" b="b" t="t" l="l"/>
            <a:pathLst>
              <a:path h="4114800" w="3734181">
                <a:moveTo>
                  <a:pt x="0" y="0"/>
                </a:moveTo>
                <a:lnTo>
                  <a:pt x="3734181" y="0"/>
                </a:lnTo>
                <a:lnTo>
                  <a:pt x="373418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push dir="r"/>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9F7DC"/>
        </a:solidFill>
      </p:bgPr>
    </p:bg>
    <p:spTree>
      <p:nvGrpSpPr>
        <p:cNvPr id="1" name=""/>
        <p:cNvGrpSpPr/>
        <p:nvPr/>
      </p:nvGrpSpPr>
      <p:grpSpPr>
        <a:xfrm>
          <a:off x="0" y="0"/>
          <a:ext cx="0" cy="0"/>
          <a:chOff x="0" y="0"/>
          <a:chExt cx="0" cy="0"/>
        </a:xfrm>
      </p:grpSpPr>
      <p:sp>
        <p:nvSpPr>
          <p:cNvPr name="TextBox 2" id="2"/>
          <p:cNvSpPr txBox="true"/>
          <p:nvPr/>
        </p:nvSpPr>
        <p:spPr>
          <a:xfrm rot="0">
            <a:off x="7123062" y="3247366"/>
            <a:ext cx="10136238" cy="6677021"/>
          </a:xfrm>
          <a:prstGeom prst="rect">
            <a:avLst/>
          </a:prstGeom>
        </p:spPr>
        <p:txBody>
          <a:bodyPr anchor="t" rtlCol="false" tIns="0" lIns="0" bIns="0" rIns="0">
            <a:spAutoFit/>
          </a:bodyPr>
          <a:lstStyle/>
          <a:p>
            <a:pPr algn="l">
              <a:lnSpc>
                <a:spcPts val="6615"/>
              </a:lnSpc>
            </a:pPr>
            <a:r>
              <a:rPr lang="en-US" sz="2700" spc="-54" b="true">
                <a:solidFill>
                  <a:srgbClr val="022E69"/>
                </a:solidFill>
                <a:latin typeface="Agrandir Narrow Bold"/>
                <a:ea typeface="Agrandir Narrow Bold"/>
                <a:cs typeface="Agrandir Narrow Bold"/>
                <a:sym typeface="Agrandir Narrow Bold"/>
              </a:rPr>
              <a:t> Dresser le profil des enquêtés </a:t>
            </a:r>
          </a:p>
          <a:p>
            <a:pPr algn="l">
              <a:lnSpc>
                <a:spcPts val="6615"/>
              </a:lnSpc>
            </a:pPr>
            <a:r>
              <a:rPr lang="en-US" sz="2700" spc="-54" b="true">
                <a:solidFill>
                  <a:srgbClr val="022E69"/>
                </a:solidFill>
                <a:latin typeface="Agrandir Narrow Bold"/>
                <a:ea typeface="Agrandir Narrow Bold"/>
                <a:cs typeface="Agrandir Narrow Bold"/>
                <a:sym typeface="Agrandir Narrow Bold"/>
              </a:rPr>
              <a:t>Évaluer le niveau de connaissance et d’accessibilité </a:t>
            </a:r>
          </a:p>
          <a:p>
            <a:pPr algn="l">
              <a:lnSpc>
                <a:spcPts val="6615"/>
              </a:lnSpc>
            </a:pPr>
            <a:r>
              <a:rPr lang="en-US" sz="2700" spc="-54" b="true">
                <a:solidFill>
                  <a:srgbClr val="022E69"/>
                </a:solidFill>
                <a:latin typeface="Agrandir Narrow Bold"/>
                <a:ea typeface="Agrandir Narrow Bold"/>
                <a:cs typeface="Agrandir Narrow Bold"/>
                <a:sym typeface="Agrandir Narrow Bold"/>
              </a:rPr>
              <a:t>Mesurer le degré d’utilisation des services bancaires </a:t>
            </a:r>
          </a:p>
          <a:p>
            <a:pPr algn="l">
              <a:lnSpc>
                <a:spcPts val="6615"/>
              </a:lnSpc>
            </a:pPr>
            <a:r>
              <a:rPr lang="en-US" sz="2700" spc="-54" b="true">
                <a:solidFill>
                  <a:srgbClr val="022E69"/>
                </a:solidFill>
                <a:latin typeface="Agrandir Narrow Bold"/>
                <a:ea typeface="Agrandir Narrow Bold"/>
                <a:cs typeface="Agrandir Narrow Bold"/>
                <a:sym typeface="Agrandir Narrow Bold"/>
              </a:rPr>
              <a:t>Évaluer les perceptions vis-à-vis des services bancaires </a:t>
            </a:r>
          </a:p>
          <a:p>
            <a:pPr algn="l">
              <a:lnSpc>
                <a:spcPts val="6615"/>
              </a:lnSpc>
            </a:pPr>
            <a:r>
              <a:rPr lang="en-US" sz="2700" spc="-54" b="true">
                <a:solidFill>
                  <a:srgbClr val="022E69"/>
                </a:solidFill>
                <a:latin typeface="Agrandir Narrow Bold"/>
                <a:ea typeface="Agrandir Narrow Bold"/>
                <a:cs typeface="Agrandir Narrow Bold"/>
                <a:sym typeface="Agrandir Narrow Bold"/>
              </a:rPr>
              <a:t>Identifier les méthodes alternatives de gestion financière Déterminer les critères de choix d’une institution bancaire </a:t>
            </a:r>
          </a:p>
          <a:p>
            <a:pPr algn="l">
              <a:lnSpc>
                <a:spcPts val="6615"/>
              </a:lnSpc>
            </a:pPr>
            <a:r>
              <a:rPr lang="en-US" sz="2700" spc="-54" b="true">
                <a:solidFill>
                  <a:srgbClr val="022E69"/>
                </a:solidFill>
                <a:latin typeface="Agrandir Narrow Bold"/>
                <a:ea typeface="Agrandir Narrow Bold"/>
                <a:cs typeface="Agrandir Narrow Bold"/>
                <a:sym typeface="Agrandir Narrow Bold"/>
              </a:rPr>
              <a:t>Identifier les entraves à la bancarisation </a:t>
            </a:r>
          </a:p>
          <a:p>
            <a:pPr algn="l">
              <a:lnSpc>
                <a:spcPts val="6615"/>
              </a:lnSpc>
            </a:pPr>
            <a:r>
              <a:rPr lang="en-US" sz="2700" spc="-54" b="true">
                <a:solidFill>
                  <a:srgbClr val="022E69"/>
                </a:solidFill>
                <a:latin typeface="Agrandir Narrow Bold"/>
                <a:ea typeface="Agrandir Narrow Bold"/>
                <a:cs typeface="Agrandir Narrow Bold"/>
                <a:sym typeface="Agrandir Narrow Bold"/>
              </a:rPr>
              <a:t>Formuler des recommandations stratégiques</a:t>
            </a:r>
          </a:p>
        </p:txBody>
      </p:sp>
      <p:sp>
        <p:nvSpPr>
          <p:cNvPr name="TextBox 3" id="3"/>
          <p:cNvSpPr txBox="true"/>
          <p:nvPr/>
        </p:nvSpPr>
        <p:spPr>
          <a:xfrm rot="0">
            <a:off x="6049416" y="3247366"/>
            <a:ext cx="776617" cy="6677021"/>
          </a:xfrm>
          <a:prstGeom prst="rect">
            <a:avLst/>
          </a:prstGeom>
        </p:spPr>
        <p:txBody>
          <a:bodyPr anchor="t" rtlCol="false" tIns="0" lIns="0" bIns="0" rIns="0">
            <a:spAutoFit/>
          </a:bodyPr>
          <a:lstStyle/>
          <a:p>
            <a:pPr algn="r">
              <a:lnSpc>
                <a:spcPts val="6615"/>
              </a:lnSpc>
            </a:pPr>
            <a:r>
              <a:rPr lang="en-US" b="true" sz="2700" spc="-54">
                <a:solidFill>
                  <a:srgbClr val="022E69"/>
                </a:solidFill>
                <a:latin typeface="Agrandir Narrow Bold"/>
                <a:ea typeface="Agrandir Narrow Bold"/>
                <a:cs typeface="Agrandir Narrow Bold"/>
                <a:sym typeface="Agrandir Narrow Bold"/>
              </a:rPr>
              <a:t>1</a:t>
            </a:r>
          </a:p>
          <a:p>
            <a:pPr algn="r">
              <a:lnSpc>
                <a:spcPts val="6615"/>
              </a:lnSpc>
            </a:pPr>
            <a:r>
              <a:rPr lang="en-US" b="true" sz="2700" spc="-54">
                <a:solidFill>
                  <a:srgbClr val="022E69"/>
                </a:solidFill>
                <a:latin typeface="Agrandir Narrow Bold"/>
                <a:ea typeface="Agrandir Narrow Bold"/>
                <a:cs typeface="Agrandir Narrow Bold"/>
                <a:sym typeface="Agrandir Narrow Bold"/>
              </a:rPr>
              <a:t>2</a:t>
            </a:r>
          </a:p>
          <a:p>
            <a:pPr algn="r">
              <a:lnSpc>
                <a:spcPts val="6615"/>
              </a:lnSpc>
            </a:pPr>
            <a:r>
              <a:rPr lang="en-US" b="true" sz="2700" spc="-54">
                <a:solidFill>
                  <a:srgbClr val="022E69"/>
                </a:solidFill>
                <a:latin typeface="Agrandir Narrow Bold"/>
                <a:ea typeface="Agrandir Narrow Bold"/>
                <a:cs typeface="Agrandir Narrow Bold"/>
                <a:sym typeface="Agrandir Narrow Bold"/>
              </a:rPr>
              <a:t>3</a:t>
            </a:r>
          </a:p>
          <a:p>
            <a:pPr algn="r">
              <a:lnSpc>
                <a:spcPts val="6615"/>
              </a:lnSpc>
            </a:pPr>
            <a:r>
              <a:rPr lang="en-US" b="true" sz="2700" spc="-54">
                <a:solidFill>
                  <a:srgbClr val="022E69"/>
                </a:solidFill>
                <a:latin typeface="Agrandir Narrow Bold"/>
                <a:ea typeface="Agrandir Narrow Bold"/>
                <a:cs typeface="Agrandir Narrow Bold"/>
                <a:sym typeface="Agrandir Narrow Bold"/>
              </a:rPr>
              <a:t>4</a:t>
            </a:r>
          </a:p>
          <a:p>
            <a:pPr algn="r">
              <a:lnSpc>
                <a:spcPts val="6615"/>
              </a:lnSpc>
            </a:pPr>
            <a:r>
              <a:rPr lang="en-US" b="true" sz="2700" spc="-54">
                <a:solidFill>
                  <a:srgbClr val="022E69"/>
                </a:solidFill>
                <a:latin typeface="Agrandir Narrow Bold"/>
                <a:ea typeface="Agrandir Narrow Bold"/>
                <a:cs typeface="Agrandir Narrow Bold"/>
                <a:sym typeface="Agrandir Narrow Bold"/>
              </a:rPr>
              <a:t>5</a:t>
            </a:r>
          </a:p>
          <a:p>
            <a:pPr algn="r">
              <a:lnSpc>
                <a:spcPts val="6615"/>
              </a:lnSpc>
            </a:pPr>
            <a:r>
              <a:rPr lang="en-US" b="true" sz="2700" spc="-54">
                <a:solidFill>
                  <a:srgbClr val="022E69"/>
                </a:solidFill>
                <a:latin typeface="Agrandir Narrow Bold"/>
                <a:ea typeface="Agrandir Narrow Bold"/>
                <a:cs typeface="Agrandir Narrow Bold"/>
                <a:sym typeface="Agrandir Narrow Bold"/>
              </a:rPr>
              <a:t>6</a:t>
            </a:r>
          </a:p>
          <a:p>
            <a:pPr algn="r">
              <a:lnSpc>
                <a:spcPts val="6615"/>
              </a:lnSpc>
            </a:pPr>
            <a:r>
              <a:rPr lang="en-US" b="true" sz="2700" spc="-54">
                <a:solidFill>
                  <a:srgbClr val="022E69"/>
                </a:solidFill>
                <a:latin typeface="Agrandir Narrow Bold"/>
                <a:ea typeface="Agrandir Narrow Bold"/>
                <a:cs typeface="Agrandir Narrow Bold"/>
                <a:sym typeface="Agrandir Narrow Bold"/>
              </a:rPr>
              <a:t>7</a:t>
            </a:r>
          </a:p>
          <a:p>
            <a:pPr algn="r">
              <a:lnSpc>
                <a:spcPts val="6615"/>
              </a:lnSpc>
            </a:pPr>
            <a:r>
              <a:rPr lang="en-US" b="true" sz="2700" spc="-54">
                <a:solidFill>
                  <a:srgbClr val="022E69"/>
                </a:solidFill>
                <a:latin typeface="Agrandir Narrow Bold"/>
                <a:ea typeface="Agrandir Narrow Bold"/>
                <a:cs typeface="Agrandir Narrow Bold"/>
                <a:sym typeface="Agrandir Narrow Bold"/>
              </a:rPr>
              <a:t>8</a:t>
            </a:r>
          </a:p>
        </p:txBody>
      </p:sp>
      <p:sp>
        <p:nvSpPr>
          <p:cNvPr name="AutoShape 4" id="4"/>
          <p:cNvSpPr/>
          <p:nvPr/>
        </p:nvSpPr>
        <p:spPr>
          <a:xfrm>
            <a:off x="7226536" y="4273335"/>
            <a:ext cx="10821576" cy="0"/>
          </a:xfrm>
          <a:prstGeom prst="line">
            <a:avLst/>
          </a:prstGeom>
          <a:ln cap="flat" w="28575">
            <a:solidFill>
              <a:srgbClr val="022E69"/>
            </a:solidFill>
            <a:prstDash val="solid"/>
            <a:headEnd type="none" len="sm" w="sm"/>
            <a:tailEnd type="none" len="sm" w="sm"/>
          </a:ln>
        </p:spPr>
      </p:sp>
      <p:sp>
        <p:nvSpPr>
          <p:cNvPr name="AutoShape 5" id="5"/>
          <p:cNvSpPr/>
          <p:nvPr/>
        </p:nvSpPr>
        <p:spPr>
          <a:xfrm>
            <a:off x="7226536" y="5107468"/>
            <a:ext cx="10821576" cy="0"/>
          </a:xfrm>
          <a:prstGeom prst="line">
            <a:avLst/>
          </a:prstGeom>
          <a:ln cap="flat" w="28575">
            <a:solidFill>
              <a:srgbClr val="022E69"/>
            </a:solidFill>
            <a:prstDash val="solid"/>
            <a:headEnd type="none" len="sm" w="sm"/>
            <a:tailEnd type="none" len="sm" w="sm"/>
          </a:ln>
        </p:spPr>
      </p:sp>
      <p:grpSp>
        <p:nvGrpSpPr>
          <p:cNvPr name="Group 6" id="6"/>
          <p:cNvGrpSpPr/>
          <p:nvPr/>
        </p:nvGrpSpPr>
        <p:grpSpPr>
          <a:xfrm rot="0">
            <a:off x="1062945" y="-274373"/>
            <a:ext cx="5007859" cy="8920054"/>
            <a:chOff x="0" y="0"/>
            <a:chExt cx="6677145" cy="11893405"/>
          </a:xfrm>
        </p:grpSpPr>
        <p:grpSp>
          <p:nvGrpSpPr>
            <p:cNvPr name="Group 7" id="7"/>
            <p:cNvGrpSpPr/>
            <p:nvPr/>
          </p:nvGrpSpPr>
          <p:grpSpPr>
            <a:xfrm rot="0">
              <a:off x="0" y="0"/>
              <a:ext cx="6677145" cy="11893405"/>
              <a:chOff x="0" y="0"/>
              <a:chExt cx="569319" cy="1014077"/>
            </a:xfrm>
          </p:grpSpPr>
          <p:sp>
            <p:nvSpPr>
              <p:cNvPr name="Freeform 8" id="8"/>
              <p:cNvSpPr/>
              <p:nvPr/>
            </p:nvSpPr>
            <p:spPr>
              <a:xfrm flipH="false" flipV="false" rot="0">
                <a:off x="0" y="0"/>
                <a:ext cx="569319" cy="1014077"/>
              </a:xfrm>
              <a:custGeom>
                <a:avLst/>
                <a:gdLst/>
                <a:ahLst/>
                <a:cxnLst/>
                <a:rect r="r" b="b" t="t" l="l"/>
                <a:pathLst>
                  <a:path h="1014077" w="569319">
                    <a:moveTo>
                      <a:pt x="189876" y="995008"/>
                    </a:moveTo>
                    <a:cubicBezTo>
                      <a:pt x="219063" y="1006522"/>
                      <a:pt x="252246" y="1014077"/>
                      <a:pt x="284813" y="1014077"/>
                    </a:cubicBezTo>
                    <a:cubicBezTo>
                      <a:pt x="317381" y="1014077"/>
                      <a:pt x="348720" y="1007600"/>
                      <a:pt x="377600" y="996087"/>
                    </a:cubicBezTo>
                    <a:cubicBezTo>
                      <a:pt x="378215" y="995727"/>
                      <a:pt x="378829" y="995727"/>
                      <a:pt x="379444" y="995368"/>
                    </a:cubicBezTo>
                    <a:cubicBezTo>
                      <a:pt x="487900" y="949313"/>
                      <a:pt x="567783" y="827699"/>
                      <a:pt x="569319" y="681105"/>
                    </a:cubicBezTo>
                    <a:lnTo>
                      <a:pt x="569319" y="0"/>
                    </a:lnTo>
                    <a:lnTo>
                      <a:pt x="0" y="0"/>
                    </a:lnTo>
                    <a:lnTo>
                      <a:pt x="0" y="680599"/>
                    </a:lnTo>
                    <a:cubicBezTo>
                      <a:pt x="1536" y="828417"/>
                      <a:pt x="80190" y="950033"/>
                      <a:pt x="189876" y="995008"/>
                    </a:cubicBezTo>
                    <a:close/>
                  </a:path>
                </a:pathLst>
              </a:custGeom>
              <a:solidFill>
                <a:srgbClr val="C34D24"/>
              </a:solidFill>
              <a:ln w="38100" cap="sq">
                <a:solidFill>
                  <a:srgbClr val="FFFFFF"/>
                </a:solidFill>
                <a:prstDash val="solid"/>
                <a:miter/>
              </a:ln>
            </p:spPr>
          </p:sp>
          <p:sp>
            <p:nvSpPr>
              <p:cNvPr name="TextBox 9" id="9"/>
              <p:cNvSpPr txBox="true"/>
              <p:nvPr/>
            </p:nvSpPr>
            <p:spPr>
              <a:xfrm>
                <a:off x="0" y="-38100"/>
                <a:ext cx="569319" cy="925177"/>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391688" y="2560629"/>
              <a:ext cx="5893768" cy="1587830"/>
            </a:xfrm>
            <a:prstGeom prst="rect">
              <a:avLst/>
            </a:prstGeom>
          </p:spPr>
          <p:txBody>
            <a:bodyPr anchor="t" rtlCol="false" tIns="0" lIns="0" bIns="0" rIns="0">
              <a:spAutoFit/>
            </a:bodyPr>
            <a:lstStyle/>
            <a:p>
              <a:pPr algn="ctr" marL="0" indent="0" lvl="0">
                <a:lnSpc>
                  <a:spcPts val="7203"/>
                </a:lnSpc>
                <a:spcBef>
                  <a:spcPct val="0"/>
                </a:spcBef>
              </a:pPr>
              <a:r>
                <a:rPr lang="en-US" b="true" sz="7582" spc="-37">
                  <a:solidFill>
                    <a:srgbClr val="F8F9F9"/>
                  </a:solidFill>
                  <a:latin typeface="Agrandir Narrow Bold"/>
                  <a:ea typeface="Agrandir Narrow Bold"/>
                  <a:cs typeface="Agrandir Narrow Bold"/>
                  <a:sym typeface="Agrandir Narrow Bold"/>
                </a:rPr>
                <a:t>Objectifs</a:t>
              </a:r>
            </a:p>
          </p:txBody>
        </p:sp>
      </p:grpSp>
      <p:sp>
        <p:nvSpPr>
          <p:cNvPr name="AutoShape 11" id="11"/>
          <p:cNvSpPr/>
          <p:nvPr/>
        </p:nvSpPr>
        <p:spPr>
          <a:xfrm>
            <a:off x="7226536" y="5985800"/>
            <a:ext cx="10821576" cy="0"/>
          </a:xfrm>
          <a:prstGeom prst="line">
            <a:avLst/>
          </a:prstGeom>
          <a:ln cap="flat" w="28575">
            <a:solidFill>
              <a:srgbClr val="022E69"/>
            </a:solidFill>
            <a:prstDash val="solid"/>
            <a:headEnd type="none" len="sm" w="sm"/>
            <a:tailEnd type="none" len="sm" w="sm"/>
          </a:ln>
        </p:spPr>
      </p:sp>
      <p:sp>
        <p:nvSpPr>
          <p:cNvPr name="AutoShape 12" id="12"/>
          <p:cNvSpPr/>
          <p:nvPr/>
        </p:nvSpPr>
        <p:spPr>
          <a:xfrm>
            <a:off x="7226536" y="6819932"/>
            <a:ext cx="10821576" cy="0"/>
          </a:xfrm>
          <a:prstGeom prst="line">
            <a:avLst/>
          </a:prstGeom>
          <a:ln cap="flat" w="28575">
            <a:solidFill>
              <a:srgbClr val="022E69"/>
            </a:solidFill>
            <a:prstDash val="solid"/>
            <a:headEnd type="none" len="sm" w="sm"/>
            <a:tailEnd type="none" len="sm" w="sm"/>
          </a:ln>
        </p:spPr>
      </p:sp>
      <p:sp>
        <p:nvSpPr>
          <p:cNvPr name="AutoShape 13" id="13"/>
          <p:cNvSpPr/>
          <p:nvPr/>
        </p:nvSpPr>
        <p:spPr>
          <a:xfrm>
            <a:off x="7226536" y="7658132"/>
            <a:ext cx="10821576" cy="0"/>
          </a:xfrm>
          <a:prstGeom prst="line">
            <a:avLst/>
          </a:prstGeom>
          <a:ln cap="flat" w="28575">
            <a:solidFill>
              <a:srgbClr val="022E69"/>
            </a:solidFill>
            <a:prstDash val="solid"/>
            <a:headEnd type="none" len="sm" w="sm"/>
            <a:tailEnd type="none" len="sm" w="sm"/>
          </a:ln>
        </p:spPr>
      </p:sp>
      <p:sp>
        <p:nvSpPr>
          <p:cNvPr name="AutoShape 14" id="14"/>
          <p:cNvSpPr/>
          <p:nvPr/>
        </p:nvSpPr>
        <p:spPr>
          <a:xfrm>
            <a:off x="7226536" y="8492264"/>
            <a:ext cx="10821576" cy="0"/>
          </a:xfrm>
          <a:prstGeom prst="line">
            <a:avLst/>
          </a:prstGeom>
          <a:ln cap="flat" w="28575">
            <a:solidFill>
              <a:srgbClr val="022E69"/>
            </a:solidFill>
            <a:prstDash val="solid"/>
            <a:headEnd type="none" len="sm" w="sm"/>
            <a:tailEnd type="none" len="sm" w="sm"/>
          </a:ln>
        </p:spPr>
      </p:sp>
      <p:sp>
        <p:nvSpPr>
          <p:cNvPr name="AutoShape 15" id="15"/>
          <p:cNvSpPr/>
          <p:nvPr/>
        </p:nvSpPr>
        <p:spPr>
          <a:xfrm>
            <a:off x="7226536" y="9272587"/>
            <a:ext cx="10821576" cy="0"/>
          </a:xfrm>
          <a:prstGeom prst="line">
            <a:avLst/>
          </a:prstGeom>
          <a:ln cap="flat" w="28575">
            <a:solidFill>
              <a:srgbClr val="022E69"/>
            </a:solidFill>
            <a:prstDash val="solid"/>
            <a:headEnd type="none" len="sm" w="sm"/>
            <a:tailEnd type="none" len="sm" w="sm"/>
          </a:ln>
        </p:spPr>
      </p:sp>
      <p:sp>
        <p:nvSpPr>
          <p:cNvPr name="Freeform 16" id="16"/>
          <p:cNvSpPr/>
          <p:nvPr/>
        </p:nvSpPr>
        <p:spPr>
          <a:xfrm flipH="false" flipV="false" rot="0">
            <a:off x="1629028" y="3928400"/>
            <a:ext cx="4125113" cy="4114800"/>
          </a:xfrm>
          <a:custGeom>
            <a:avLst/>
            <a:gdLst/>
            <a:ahLst/>
            <a:cxnLst/>
            <a:rect r="r" b="b" t="t" l="l"/>
            <a:pathLst>
              <a:path h="4114800" w="4125113">
                <a:moveTo>
                  <a:pt x="0" y="0"/>
                </a:moveTo>
                <a:lnTo>
                  <a:pt x="4125113" y="0"/>
                </a:lnTo>
                <a:lnTo>
                  <a:pt x="412511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6437724" y="506730"/>
            <a:ext cx="3995227" cy="521970"/>
          </a:xfrm>
          <a:prstGeom prst="rect">
            <a:avLst/>
          </a:prstGeom>
        </p:spPr>
        <p:txBody>
          <a:bodyPr anchor="t" rtlCol="false" tIns="0" lIns="0" bIns="0" rIns="0">
            <a:spAutoFit/>
          </a:bodyPr>
          <a:lstStyle/>
          <a:p>
            <a:pPr algn="l">
              <a:lnSpc>
                <a:spcPts val="3839"/>
              </a:lnSpc>
            </a:pPr>
            <a:r>
              <a:rPr lang="en-US" sz="3999" b="true">
                <a:solidFill>
                  <a:srgbClr val="C34D24"/>
                </a:solidFill>
                <a:latin typeface="TT Interphases Bold"/>
                <a:ea typeface="TT Interphases Bold"/>
                <a:cs typeface="TT Interphases Bold"/>
                <a:sym typeface="TT Interphases Bold"/>
              </a:rPr>
              <a:t>Objectif général</a:t>
            </a:r>
          </a:p>
        </p:txBody>
      </p:sp>
      <p:sp>
        <p:nvSpPr>
          <p:cNvPr name="TextBox 18" id="18"/>
          <p:cNvSpPr txBox="true"/>
          <p:nvPr/>
        </p:nvSpPr>
        <p:spPr>
          <a:xfrm rot="0">
            <a:off x="6457382" y="2734921"/>
            <a:ext cx="5373236" cy="521970"/>
          </a:xfrm>
          <a:prstGeom prst="rect">
            <a:avLst/>
          </a:prstGeom>
        </p:spPr>
        <p:txBody>
          <a:bodyPr anchor="t" rtlCol="false" tIns="0" lIns="0" bIns="0" rIns="0">
            <a:spAutoFit/>
          </a:bodyPr>
          <a:lstStyle/>
          <a:p>
            <a:pPr algn="l">
              <a:lnSpc>
                <a:spcPts val="3839"/>
              </a:lnSpc>
            </a:pPr>
            <a:r>
              <a:rPr lang="en-US" sz="3999" b="true">
                <a:solidFill>
                  <a:srgbClr val="C34D24"/>
                </a:solidFill>
                <a:latin typeface="TT Interphases Bold"/>
                <a:ea typeface="TT Interphases Bold"/>
                <a:cs typeface="TT Interphases Bold"/>
                <a:sym typeface="TT Interphases Bold"/>
              </a:rPr>
              <a:t>Objectifs spécifiques</a:t>
            </a:r>
          </a:p>
        </p:txBody>
      </p:sp>
      <p:sp>
        <p:nvSpPr>
          <p:cNvPr name="TextBox 19" id="19"/>
          <p:cNvSpPr txBox="true"/>
          <p:nvPr/>
        </p:nvSpPr>
        <p:spPr>
          <a:xfrm rot="0">
            <a:off x="6437724" y="1220788"/>
            <a:ext cx="11610387" cy="1190625"/>
          </a:xfrm>
          <a:prstGeom prst="rect">
            <a:avLst/>
          </a:prstGeom>
        </p:spPr>
        <p:txBody>
          <a:bodyPr anchor="t" rtlCol="false" tIns="0" lIns="0" bIns="0" rIns="0">
            <a:spAutoFit/>
          </a:bodyPr>
          <a:lstStyle/>
          <a:p>
            <a:pPr algn="l">
              <a:lnSpc>
                <a:spcPts val="4590"/>
              </a:lnSpc>
            </a:pPr>
            <a:r>
              <a:rPr lang="en-US" sz="2700" spc="-54" b="true">
                <a:solidFill>
                  <a:srgbClr val="022E69"/>
                </a:solidFill>
                <a:latin typeface="Agrandir Narrow Bold"/>
                <a:ea typeface="Agrandir Narrow Bold"/>
                <a:cs typeface="Agrandir Narrow Bold"/>
                <a:sym typeface="Agrandir Narrow Bold"/>
              </a:rPr>
              <a:t>Évaluer la connaissance, l’utilisation et la perception des services bancaires par les Dakarois</a:t>
            </a:r>
          </a:p>
        </p:txBody>
      </p:sp>
    </p:spTree>
  </p:cSld>
  <p:clrMapOvr>
    <a:masterClrMapping/>
  </p:clrMapOvr>
  <p:transition spd="slow">
    <p:push dir="l"/>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F8535"/>
        </a:solidFill>
      </p:bgPr>
    </p:bg>
    <p:spTree>
      <p:nvGrpSpPr>
        <p:cNvPr id="1" name=""/>
        <p:cNvGrpSpPr/>
        <p:nvPr/>
      </p:nvGrpSpPr>
      <p:grpSpPr>
        <a:xfrm>
          <a:off x="0" y="0"/>
          <a:ext cx="0" cy="0"/>
          <a:chOff x="0" y="0"/>
          <a:chExt cx="0" cy="0"/>
        </a:xfrm>
      </p:grpSpPr>
      <p:grpSp>
        <p:nvGrpSpPr>
          <p:cNvPr name="Group 2" id="2"/>
          <p:cNvGrpSpPr/>
          <p:nvPr/>
        </p:nvGrpSpPr>
        <p:grpSpPr>
          <a:xfrm rot="0">
            <a:off x="10401430" y="-642826"/>
            <a:ext cx="5809027" cy="9901126"/>
            <a:chOff x="0" y="0"/>
            <a:chExt cx="660400" cy="1125611"/>
          </a:xfrm>
        </p:grpSpPr>
        <p:sp>
          <p:nvSpPr>
            <p:cNvPr name="Freeform 3" id="3"/>
            <p:cNvSpPr/>
            <p:nvPr/>
          </p:nvSpPr>
          <p:spPr>
            <a:xfrm flipH="false" flipV="false" rot="0">
              <a:off x="0" y="0"/>
              <a:ext cx="660400" cy="1125611"/>
            </a:xfrm>
            <a:custGeom>
              <a:avLst/>
              <a:gdLst/>
              <a:ahLst/>
              <a:cxnLst/>
              <a:rect r="r" b="b" t="t" l="l"/>
              <a:pathLst>
                <a:path h="1125611" w="660400">
                  <a:moveTo>
                    <a:pt x="220252" y="1106542"/>
                  </a:moveTo>
                  <a:cubicBezTo>
                    <a:pt x="254109" y="1118056"/>
                    <a:pt x="292600" y="1125611"/>
                    <a:pt x="330378" y="1125611"/>
                  </a:cubicBezTo>
                  <a:cubicBezTo>
                    <a:pt x="368157" y="1125611"/>
                    <a:pt x="404509" y="1119134"/>
                    <a:pt x="438009" y="1107620"/>
                  </a:cubicBezTo>
                  <a:cubicBezTo>
                    <a:pt x="438723" y="1107261"/>
                    <a:pt x="439435" y="1107261"/>
                    <a:pt x="440148" y="1106901"/>
                  </a:cubicBezTo>
                  <a:cubicBezTo>
                    <a:pt x="565955" y="1060846"/>
                    <a:pt x="658618" y="939232"/>
                    <a:pt x="660400" y="790160"/>
                  </a:cubicBezTo>
                  <a:lnTo>
                    <a:pt x="660400" y="0"/>
                  </a:lnTo>
                  <a:lnTo>
                    <a:pt x="0" y="0"/>
                  </a:lnTo>
                  <a:lnTo>
                    <a:pt x="0" y="789574"/>
                  </a:lnTo>
                  <a:cubicBezTo>
                    <a:pt x="1782" y="939951"/>
                    <a:pt x="93019" y="1061566"/>
                    <a:pt x="220252" y="1106542"/>
                  </a:cubicBezTo>
                  <a:close/>
                </a:path>
              </a:pathLst>
            </a:custGeom>
            <a:solidFill>
              <a:srgbClr val="763C00"/>
            </a:solidFill>
            <a:ln cap="sq">
              <a:noFill/>
              <a:prstDash val="solid"/>
              <a:miter/>
            </a:ln>
          </p:spPr>
        </p:sp>
        <p:sp>
          <p:nvSpPr>
            <p:cNvPr name="TextBox 4" id="4"/>
            <p:cNvSpPr txBox="true"/>
            <p:nvPr/>
          </p:nvSpPr>
          <p:spPr>
            <a:xfrm>
              <a:off x="0" y="-38100"/>
              <a:ext cx="660400" cy="103671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95778" y="6270394"/>
            <a:ext cx="6770715" cy="277115"/>
            <a:chOff x="0" y="0"/>
            <a:chExt cx="1783234" cy="72985"/>
          </a:xfrm>
        </p:grpSpPr>
        <p:sp>
          <p:nvSpPr>
            <p:cNvPr name="Freeform 6" id="6"/>
            <p:cNvSpPr/>
            <p:nvPr/>
          </p:nvSpPr>
          <p:spPr>
            <a:xfrm flipH="false" flipV="false" rot="0">
              <a:off x="0" y="0"/>
              <a:ext cx="1783234" cy="72985"/>
            </a:xfrm>
            <a:custGeom>
              <a:avLst/>
              <a:gdLst/>
              <a:ahLst/>
              <a:cxnLst/>
              <a:rect r="r" b="b" t="t" l="l"/>
              <a:pathLst>
                <a:path h="72985" w="1783234">
                  <a:moveTo>
                    <a:pt x="0" y="0"/>
                  </a:moveTo>
                  <a:lnTo>
                    <a:pt x="1783234" y="0"/>
                  </a:lnTo>
                  <a:lnTo>
                    <a:pt x="1783234" y="72985"/>
                  </a:lnTo>
                  <a:lnTo>
                    <a:pt x="0" y="72985"/>
                  </a:lnTo>
                  <a:close/>
                </a:path>
              </a:pathLst>
            </a:custGeom>
            <a:solidFill>
              <a:srgbClr val="F9F7DC"/>
            </a:solidFill>
          </p:spPr>
        </p:sp>
        <p:sp>
          <p:nvSpPr>
            <p:cNvPr name="TextBox 7" id="7"/>
            <p:cNvSpPr txBox="true"/>
            <p:nvPr/>
          </p:nvSpPr>
          <p:spPr>
            <a:xfrm>
              <a:off x="0" y="-38100"/>
              <a:ext cx="1783234" cy="111085"/>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8766493" y="6119771"/>
            <a:ext cx="1079400" cy="1028392"/>
          </a:xfrm>
          <a:custGeom>
            <a:avLst/>
            <a:gdLst/>
            <a:ahLst/>
            <a:cxnLst/>
            <a:rect r="r" b="b" t="t" l="l"/>
            <a:pathLst>
              <a:path h="1028392" w="1079400">
                <a:moveTo>
                  <a:pt x="0" y="0"/>
                </a:moveTo>
                <a:lnTo>
                  <a:pt x="1079400" y="0"/>
                </a:lnTo>
                <a:lnTo>
                  <a:pt x="1079400" y="1028392"/>
                </a:lnTo>
                <a:lnTo>
                  <a:pt x="0" y="10283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464570" y="4490109"/>
            <a:ext cx="3682746" cy="4114800"/>
          </a:xfrm>
          <a:custGeom>
            <a:avLst/>
            <a:gdLst/>
            <a:ahLst/>
            <a:cxnLst/>
            <a:rect r="r" b="b" t="t" l="l"/>
            <a:pathLst>
              <a:path h="4114800" w="3682746">
                <a:moveTo>
                  <a:pt x="0" y="0"/>
                </a:moveTo>
                <a:lnTo>
                  <a:pt x="3682746" y="0"/>
                </a:lnTo>
                <a:lnTo>
                  <a:pt x="368274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995778" y="4057162"/>
            <a:ext cx="5386629" cy="2164802"/>
          </a:xfrm>
          <a:prstGeom prst="rect">
            <a:avLst/>
          </a:prstGeom>
        </p:spPr>
        <p:txBody>
          <a:bodyPr anchor="t" rtlCol="false" tIns="0" lIns="0" bIns="0" rIns="0">
            <a:spAutoFit/>
          </a:bodyPr>
          <a:lstStyle/>
          <a:p>
            <a:pPr algn="l">
              <a:lnSpc>
                <a:spcPts val="7488"/>
              </a:lnSpc>
            </a:pPr>
            <a:r>
              <a:rPr lang="en-US" b="true" sz="7882" spc="-39">
                <a:solidFill>
                  <a:srgbClr val="F9F7DC"/>
                </a:solidFill>
                <a:latin typeface="Agrandir Narrow Bold"/>
                <a:ea typeface="Agrandir Narrow Bold"/>
                <a:cs typeface="Agrandir Narrow Bold"/>
                <a:sym typeface="Agrandir Narrow Bold"/>
              </a:rPr>
              <a:t>Cadre conceptuel</a:t>
            </a:r>
          </a:p>
        </p:txBody>
      </p:sp>
      <p:sp>
        <p:nvSpPr>
          <p:cNvPr name="TextBox 11" id="11"/>
          <p:cNvSpPr txBox="true"/>
          <p:nvPr/>
        </p:nvSpPr>
        <p:spPr>
          <a:xfrm rot="0">
            <a:off x="2376227" y="6269588"/>
            <a:ext cx="4961516" cy="326351"/>
          </a:xfrm>
          <a:prstGeom prst="rect">
            <a:avLst/>
          </a:prstGeom>
        </p:spPr>
        <p:txBody>
          <a:bodyPr anchor="t" rtlCol="false" tIns="0" lIns="0" bIns="0" rIns="0">
            <a:spAutoFit/>
          </a:bodyPr>
          <a:lstStyle/>
          <a:p>
            <a:pPr algn="l">
              <a:lnSpc>
                <a:spcPts val="2354"/>
              </a:lnSpc>
            </a:pPr>
            <a:r>
              <a:rPr lang="en-US" b="true" sz="2478" i="true" spc="-39">
                <a:solidFill>
                  <a:srgbClr val="763C00"/>
                </a:solidFill>
                <a:latin typeface="Arimo Bold Italics"/>
                <a:ea typeface="Arimo Bold Italics"/>
                <a:cs typeface="Arimo Bold Italics"/>
                <a:sym typeface="Arimo Bold Italics"/>
              </a:rPr>
              <a:t>Définitions de concepts-clés</a:t>
            </a:r>
          </a:p>
        </p:txBody>
      </p:sp>
      <p:sp>
        <p:nvSpPr>
          <p:cNvPr name="TextBox 12" id="12"/>
          <p:cNvSpPr txBox="true"/>
          <p:nvPr/>
        </p:nvSpPr>
        <p:spPr>
          <a:xfrm rot="0">
            <a:off x="12617956" y="1322665"/>
            <a:ext cx="1375975" cy="2559051"/>
          </a:xfrm>
          <a:prstGeom prst="rect">
            <a:avLst/>
          </a:prstGeom>
        </p:spPr>
        <p:txBody>
          <a:bodyPr anchor="t" rtlCol="false" tIns="0" lIns="0" bIns="0" rIns="0">
            <a:spAutoFit/>
          </a:bodyPr>
          <a:lstStyle/>
          <a:p>
            <a:pPr algn="just" marL="0" indent="0" lvl="0">
              <a:lnSpc>
                <a:spcPts val="19000"/>
              </a:lnSpc>
              <a:spcBef>
                <a:spcPct val="0"/>
              </a:spcBef>
            </a:pPr>
            <a:r>
              <a:rPr lang="en-US" b="true" sz="20000" spc="-100">
                <a:solidFill>
                  <a:srgbClr val="F9F7DC"/>
                </a:solidFill>
                <a:latin typeface="Museo Moderno Bold"/>
                <a:ea typeface="Museo Moderno Bold"/>
                <a:cs typeface="Museo Moderno Bold"/>
                <a:sym typeface="Museo Moderno Bold"/>
              </a:rPr>
              <a:t>2</a:t>
            </a:r>
          </a:p>
        </p:txBody>
      </p:sp>
    </p:spTree>
  </p:cSld>
  <p:clrMapOvr>
    <a:masterClrMapping/>
  </p:clrMapOvr>
  <p:transition spd="slow">
    <p:push dir="l"/>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148010" y="-215395"/>
            <a:ext cx="3366703" cy="3366703"/>
          </a:xfrm>
          <a:custGeom>
            <a:avLst/>
            <a:gdLst/>
            <a:ahLst/>
            <a:cxnLst/>
            <a:rect r="r" b="b" t="t" l="l"/>
            <a:pathLst>
              <a:path h="3366703" w="3366703">
                <a:moveTo>
                  <a:pt x="0" y="0"/>
                </a:moveTo>
                <a:lnTo>
                  <a:pt x="3366703" y="0"/>
                </a:lnTo>
                <a:lnTo>
                  <a:pt x="3366703" y="3366703"/>
                </a:lnTo>
                <a:lnTo>
                  <a:pt x="0" y="33667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018198" y="490384"/>
            <a:ext cx="4619381" cy="883349"/>
          </a:xfrm>
          <a:prstGeom prst="rect">
            <a:avLst/>
          </a:prstGeom>
        </p:spPr>
        <p:txBody>
          <a:bodyPr anchor="t" rtlCol="false" tIns="0" lIns="0" bIns="0" rIns="0">
            <a:spAutoFit/>
          </a:bodyPr>
          <a:lstStyle/>
          <a:p>
            <a:pPr algn="r">
              <a:lnSpc>
                <a:spcPts val="6949"/>
              </a:lnSpc>
            </a:pPr>
            <a:r>
              <a:rPr lang="en-US" b="true" sz="5649">
                <a:solidFill>
                  <a:srgbClr val="323840"/>
                </a:solidFill>
                <a:latin typeface="Roboto Bold"/>
                <a:ea typeface="Roboto Bold"/>
                <a:cs typeface="Roboto Bold"/>
                <a:sym typeface="Roboto Bold"/>
              </a:rPr>
              <a:t>Concepts clés</a:t>
            </a:r>
          </a:p>
        </p:txBody>
      </p:sp>
      <p:grpSp>
        <p:nvGrpSpPr>
          <p:cNvPr name="Group 4" id="4"/>
          <p:cNvGrpSpPr/>
          <p:nvPr/>
        </p:nvGrpSpPr>
        <p:grpSpPr>
          <a:xfrm rot="0">
            <a:off x="1028700" y="1044804"/>
            <a:ext cx="1261089" cy="1261089"/>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34D24"/>
            </a:solidFill>
          </p:spPr>
        </p:sp>
      </p:grpSp>
      <p:sp>
        <p:nvSpPr>
          <p:cNvPr name="TextBox 6" id="6"/>
          <p:cNvSpPr txBox="true"/>
          <p:nvPr/>
        </p:nvSpPr>
        <p:spPr>
          <a:xfrm rot="0">
            <a:off x="2985180" y="1572479"/>
            <a:ext cx="13202440" cy="1434466"/>
          </a:xfrm>
          <a:prstGeom prst="rect">
            <a:avLst/>
          </a:prstGeom>
        </p:spPr>
        <p:txBody>
          <a:bodyPr anchor="t" rtlCol="false" tIns="0" lIns="0" bIns="0" rIns="0">
            <a:spAutoFit/>
          </a:bodyPr>
          <a:lstStyle/>
          <a:p>
            <a:pPr algn="l">
              <a:lnSpc>
                <a:spcPts val="3899"/>
              </a:lnSpc>
            </a:pPr>
            <a:r>
              <a:rPr lang="en-US" sz="2599">
                <a:solidFill>
                  <a:srgbClr val="000000"/>
                </a:solidFill>
                <a:latin typeface="Roboto"/>
                <a:ea typeface="Roboto"/>
                <a:cs typeface="Roboto"/>
                <a:sym typeface="Roboto"/>
              </a:rPr>
              <a:t>Ensemble des prestations offertes par les institutions financières : Ouverture et gestion de comptes, Dépôts et retraits d’argent, Octroi de crédits, Moyens de paiement (chèques, cartes, virements), Services en ligne ou mobiles, Conseils en épargne et investissement</a:t>
            </a:r>
          </a:p>
        </p:txBody>
      </p:sp>
      <p:sp>
        <p:nvSpPr>
          <p:cNvPr name="TextBox 7" id="7"/>
          <p:cNvSpPr txBox="true"/>
          <p:nvPr/>
        </p:nvSpPr>
        <p:spPr>
          <a:xfrm rot="0">
            <a:off x="2985180" y="1117282"/>
            <a:ext cx="9004318" cy="533781"/>
          </a:xfrm>
          <a:prstGeom prst="rect">
            <a:avLst/>
          </a:prstGeom>
        </p:spPr>
        <p:txBody>
          <a:bodyPr anchor="t" rtlCol="false" tIns="0" lIns="0" bIns="0" rIns="0">
            <a:spAutoFit/>
          </a:bodyPr>
          <a:lstStyle/>
          <a:p>
            <a:pPr algn="l" marL="0" indent="0" lvl="0">
              <a:lnSpc>
                <a:spcPts val="4256"/>
              </a:lnSpc>
              <a:spcBef>
                <a:spcPct val="0"/>
              </a:spcBef>
            </a:pPr>
            <a:r>
              <a:rPr lang="en-US" b="true" sz="3299">
                <a:solidFill>
                  <a:srgbClr val="000000"/>
                </a:solidFill>
                <a:latin typeface="Roboto Bold"/>
                <a:ea typeface="Roboto Bold"/>
                <a:cs typeface="Roboto Bold"/>
                <a:sym typeface="Roboto Bold"/>
              </a:rPr>
              <a:t>Services bancaires</a:t>
            </a:r>
          </a:p>
        </p:txBody>
      </p:sp>
      <p:sp>
        <p:nvSpPr>
          <p:cNvPr name="Freeform 8" id="8"/>
          <p:cNvSpPr/>
          <p:nvPr/>
        </p:nvSpPr>
        <p:spPr>
          <a:xfrm flipH="false" flipV="false" rot="0">
            <a:off x="1357628" y="1373732"/>
            <a:ext cx="603233" cy="603233"/>
          </a:xfrm>
          <a:custGeom>
            <a:avLst/>
            <a:gdLst/>
            <a:ahLst/>
            <a:cxnLst/>
            <a:rect r="r" b="b" t="t" l="l"/>
            <a:pathLst>
              <a:path h="603233" w="603233">
                <a:moveTo>
                  <a:pt x="0" y="0"/>
                </a:moveTo>
                <a:lnTo>
                  <a:pt x="603233" y="0"/>
                </a:lnTo>
                <a:lnTo>
                  <a:pt x="603233" y="603233"/>
                </a:lnTo>
                <a:lnTo>
                  <a:pt x="0" y="6032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1028700" y="3356905"/>
            <a:ext cx="1261089" cy="1261089"/>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34D24"/>
            </a:solidFill>
          </p:spPr>
        </p:sp>
      </p:grpSp>
      <p:sp>
        <p:nvSpPr>
          <p:cNvPr name="Freeform 11" id="11"/>
          <p:cNvSpPr/>
          <p:nvPr/>
        </p:nvSpPr>
        <p:spPr>
          <a:xfrm flipH="false" flipV="false" rot="0">
            <a:off x="1357628" y="3685833"/>
            <a:ext cx="603233" cy="603233"/>
          </a:xfrm>
          <a:custGeom>
            <a:avLst/>
            <a:gdLst/>
            <a:ahLst/>
            <a:cxnLst/>
            <a:rect r="r" b="b" t="t" l="l"/>
            <a:pathLst>
              <a:path h="603233" w="603233">
                <a:moveTo>
                  <a:pt x="0" y="0"/>
                </a:moveTo>
                <a:lnTo>
                  <a:pt x="603233" y="0"/>
                </a:lnTo>
                <a:lnTo>
                  <a:pt x="603233" y="603233"/>
                </a:lnTo>
                <a:lnTo>
                  <a:pt x="0" y="6032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1028700" y="5669006"/>
            <a:ext cx="1261089" cy="1261089"/>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34D24"/>
            </a:solidFill>
          </p:spPr>
        </p:sp>
      </p:grpSp>
      <p:sp>
        <p:nvSpPr>
          <p:cNvPr name="Freeform 14" id="14"/>
          <p:cNvSpPr/>
          <p:nvPr/>
        </p:nvSpPr>
        <p:spPr>
          <a:xfrm flipH="false" flipV="false" rot="0">
            <a:off x="1357628" y="5997934"/>
            <a:ext cx="603233" cy="603233"/>
          </a:xfrm>
          <a:custGeom>
            <a:avLst/>
            <a:gdLst/>
            <a:ahLst/>
            <a:cxnLst/>
            <a:rect r="r" b="b" t="t" l="l"/>
            <a:pathLst>
              <a:path h="603233" w="603233">
                <a:moveTo>
                  <a:pt x="0" y="0"/>
                </a:moveTo>
                <a:lnTo>
                  <a:pt x="603233" y="0"/>
                </a:lnTo>
                <a:lnTo>
                  <a:pt x="603233" y="603233"/>
                </a:lnTo>
                <a:lnTo>
                  <a:pt x="0" y="6032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0">
            <a:off x="1028700" y="7981107"/>
            <a:ext cx="1261089" cy="1261089"/>
            <a:chOff x="0" y="0"/>
            <a:chExt cx="6350000" cy="6350000"/>
          </a:xfrm>
        </p:grpSpPr>
        <p:sp>
          <p:nvSpPr>
            <p:cNvPr name="Freeform 16" id="1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34D24"/>
            </a:solidFill>
          </p:spPr>
        </p:sp>
      </p:grpSp>
      <p:sp>
        <p:nvSpPr>
          <p:cNvPr name="Freeform 17" id="17"/>
          <p:cNvSpPr/>
          <p:nvPr/>
        </p:nvSpPr>
        <p:spPr>
          <a:xfrm flipH="false" flipV="false" rot="0">
            <a:off x="1357628" y="8310035"/>
            <a:ext cx="603233" cy="603233"/>
          </a:xfrm>
          <a:custGeom>
            <a:avLst/>
            <a:gdLst/>
            <a:ahLst/>
            <a:cxnLst/>
            <a:rect r="r" b="b" t="t" l="l"/>
            <a:pathLst>
              <a:path h="603233" w="603233">
                <a:moveTo>
                  <a:pt x="0" y="0"/>
                </a:moveTo>
                <a:lnTo>
                  <a:pt x="603233" y="0"/>
                </a:lnTo>
                <a:lnTo>
                  <a:pt x="603233" y="603233"/>
                </a:lnTo>
                <a:lnTo>
                  <a:pt x="0" y="6032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8" id="18"/>
          <p:cNvSpPr txBox="true"/>
          <p:nvPr/>
        </p:nvSpPr>
        <p:spPr>
          <a:xfrm rot="0">
            <a:off x="2985180" y="4016889"/>
            <a:ext cx="12946066" cy="948691"/>
          </a:xfrm>
          <a:prstGeom prst="rect">
            <a:avLst/>
          </a:prstGeom>
        </p:spPr>
        <p:txBody>
          <a:bodyPr anchor="t" rtlCol="false" tIns="0" lIns="0" bIns="0" rIns="0">
            <a:spAutoFit/>
          </a:bodyPr>
          <a:lstStyle/>
          <a:p>
            <a:pPr algn="l">
              <a:lnSpc>
                <a:spcPts val="3899"/>
              </a:lnSpc>
            </a:pPr>
            <a:r>
              <a:rPr lang="en-US" sz="2599">
                <a:solidFill>
                  <a:srgbClr val="000000"/>
                </a:solidFill>
                <a:latin typeface="Roboto"/>
                <a:ea typeface="Roboto"/>
                <a:cs typeface="Roboto"/>
                <a:sym typeface="Roboto"/>
              </a:rPr>
              <a:t>Intégration des individus dans le système bancaire formel par l’ouverture d’un compte bancaire et l’utilisation régulière des services financiers</a:t>
            </a:r>
          </a:p>
        </p:txBody>
      </p:sp>
      <p:sp>
        <p:nvSpPr>
          <p:cNvPr name="TextBox 19" id="19"/>
          <p:cNvSpPr txBox="true"/>
          <p:nvPr/>
        </p:nvSpPr>
        <p:spPr>
          <a:xfrm rot="0">
            <a:off x="2985180" y="3318805"/>
            <a:ext cx="9004318" cy="533781"/>
          </a:xfrm>
          <a:prstGeom prst="rect">
            <a:avLst/>
          </a:prstGeom>
        </p:spPr>
        <p:txBody>
          <a:bodyPr anchor="t" rtlCol="false" tIns="0" lIns="0" bIns="0" rIns="0">
            <a:spAutoFit/>
          </a:bodyPr>
          <a:lstStyle/>
          <a:p>
            <a:pPr algn="l" marL="0" indent="0" lvl="0">
              <a:lnSpc>
                <a:spcPts val="4256"/>
              </a:lnSpc>
              <a:spcBef>
                <a:spcPct val="0"/>
              </a:spcBef>
            </a:pPr>
            <a:r>
              <a:rPr lang="en-US" b="true" sz="3299">
                <a:solidFill>
                  <a:srgbClr val="000000"/>
                </a:solidFill>
                <a:latin typeface="Roboto Bold"/>
                <a:ea typeface="Roboto Bold"/>
                <a:cs typeface="Roboto Bold"/>
                <a:sym typeface="Roboto Bold"/>
              </a:rPr>
              <a:t>Bancarisation</a:t>
            </a:r>
          </a:p>
        </p:txBody>
      </p:sp>
      <p:sp>
        <p:nvSpPr>
          <p:cNvPr name="TextBox 20" id="20"/>
          <p:cNvSpPr txBox="true"/>
          <p:nvPr/>
        </p:nvSpPr>
        <p:spPr>
          <a:xfrm rot="0">
            <a:off x="2985180" y="6086102"/>
            <a:ext cx="12946066" cy="1434466"/>
          </a:xfrm>
          <a:prstGeom prst="rect">
            <a:avLst/>
          </a:prstGeom>
        </p:spPr>
        <p:txBody>
          <a:bodyPr anchor="t" rtlCol="false" tIns="0" lIns="0" bIns="0" rIns="0">
            <a:spAutoFit/>
          </a:bodyPr>
          <a:lstStyle/>
          <a:p>
            <a:pPr algn="l">
              <a:lnSpc>
                <a:spcPts val="3899"/>
              </a:lnSpc>
            </a:pPr>
            <a:r>
              <a:rPr lang="en-US" sz="2599">
                <a:solidFill>
                  <a:srgbClr val="000000"/>
                </a:solidFill>
                <a:latin typeface="Roboto"/>
                <a:ea typeface="Roboto"/>
                <a:cs typeface="Roboto"/>
                <a:sym typeface="Roboto"/>
              </a:rPr>
              <a:t>Capacité d’un individu à comprendre et utiliser efficacement les concepts et produits financiers : Connaissance du budget, de l’épargne, de l’endettement, Compréhension des taux d’intérêt, Capacité à prendre des décisions financières éclairées</a:t>
            </a:r>
          </a:p>
        </p:txBody>
      </p:sp>
      <p:sp>
        <p:nvSpPr>
          <p:cNvPr name="TextBox 21" id="21"/>
          <p:cNvSpPr txBox="true"/>
          <p:nvPr/>
        </p:nvSpPr>
        <p:spPr>
          <a:xfrm rot="0">
            <a:off x="2985180" y="5630906"/>
            <a:ext cx="9004318" cy="533781"/>
          </a:xfrm>
          <a:prstGeom prst="rect">
            <a:avLst/>
          </a:prstGeom>
        </p:spPr>
        <p:txBody>
          <a:bodyPr anchor="t" rtlCol="false" tIns="0" lIns="0" bIns="0" rIns="0">
            <a:spAutoFit/>
          </a:bodyPr>
          <a:lstStyle/>
          <a:p>
            <a:pPr algn="l" marL="0" indent="0" lvl="0">
              <a:lnSpc>
                <a:spcPts val="4256"/>
              </a:lnSpc>
              <a:spcBef>
                <a:spcPct val="0"/>
              </a:spcBef>
            </a:pPr>
            <a:r>
              <a:rPr lang="en-US" b="true" sz="3299">
                <a:solidFill>
                  <a:srgbClr val="000000"/>
                </a:solidFill>
                <a:latin typeface="Roboto Bold"/>
                <a:ea typeface="Roboto Bold"/>
                <a:cs typeface="Roboto Bold"/>
                <a:sym typeface="Roboto Bold"/>
              </a:rPr>
              <a:t>Littératie financière</a:t>
            </a:r>
          </a:p>
        </p:txBody>
      </p:sp>
      <p:sp>
        <p:nvSpPr>
          <p:cNvPr name="TextBox 22" id="22"/>
          <p:cNvSpPr txBox="true"/>
          <p:nvPr/>
        </p:nvSpPr>
        <p:spPr>
          <a:xfrm rot="0">
            <a:off x="2985180" y="8102966"/>
            <a:ext cx="12946066" cy="1434466"/>
          </a:xfrm>
          <a:prstGeom prst="rect">
            <a:avLst/>
          </a:prstGeom>
        </p:spPr>
        <p:txBody>
          <a:bodyPr anchor="t" rtlCol="false" tIns="0" lIns="0" bIns="0" rIns="0">
            <a:spAutoFit/>
          </a:bodyPr>
          <a:lstStyle/>
          <a:p>
            <a:pPr algn="l">
              <a:lnSpc>
                <a:spcPts val="3899"/>
              </a:lnSpc>
            </a:pPr>
            <a:r>
              <a:rPr lang="en-US" sz="2599">
                <a:solidFill>
                  <a:srgbClr val="000000"/>
                </a:solidFill>
                <a:latin typeface="Roboto"/>
                <a:ea typeface="Roboto"/>
                <a:cs typeface="Roboto"/>
                <a:sym typeface="Roboto"/>
              </a:rPr>
              <a:t> Pratique consistant à conserver son argent en dehors du système bancaire : Conservation d’espèces à domicile, Préférence pour la liquidité, Méfiance potentielle envers les institutions financières</a:t>
            </a:r>
          </a:p>
        </p:txBody>
      </p:sp>
      <p:sp>
        <p:nvSpPr>
          <p:cNvPr name="TextBox 23" id="23"/>
          <p:cNvSpPr txBox="true"/>
          <p:nvPr/>
        </p:nvSpPr>
        <p:spPr>
          <a:xfrm rot="0">
            <a:off x="2985180" y="7647770"/>
            <a:ext cx="9004318" cy="533781"/>
          </a:xfrm>
          <a:prstGeom prst="rect">
            <a:avLst/>
          </a:prstGeom>
        </p:spPr>
        <p:txBody>
          <a:bodyPr anchor="t" rtlCol="false" tIns="0" lIns="0" bIns="0" rIns="0">
            <a:spAutoFit/>
          </a:bodyPr>
          <a:lstStyle/>
          <a:p>
            <a:pPr algn="l" marL="0" indent="0" lvl="0">
              <a:lnSpc>
                <a:spcPts val="4256"/>
              </a:lnSpc>
              <a:spcBef>
                <a:spcPct val="0"/>
              </a:spcBef>
            </a:pPr>
            <a:r>
              <a:rPr lang="en-US" b="true" sz="3299">
                <a:solidFill>
                  <a:srgbClr val="000000"/>
                </a:solidFill>
                <a:latin typeface="Roboto Bold"/>
                <a:ea typeface="Roboto Bold"/>
                <a:cs typeface="Roboto Bold"/>
                <a:sym typeface="Roboto Bold"/>
              </a:rPr>
              <a:t>Thésaurisation</a:t>
            </a:r>
          </a:p>
        </p:txBody>
      </p:sp>
    </p:spTree>
  </p:cSld>
  <p:clrMapOvr>
    <a:masterClrMapping/>
  </p:clrMapOvr>
  <p:transition spd="slow">
    <p:push dir="l"/>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F8535"/>
        </a:solidFill>
      </p:bgPr>
    </p:bg>
    <p:spTree>
      <p:nvGrpSpPr>
        <p:cNvPr id="1" name=""/>
        <p:cNvGrpSpPr/>
        <p:nvPr/>
      </p:nvGrpSpPr>
      <p:grpSpPr>
        <a:xfrm>
          <a:off x="0" y="0"/>
          <a:ext cx="0" cy="0"/>
          <a:chOff x="0" y="0"/>
          <a:chExt cx="0" cy="0"/>
        </a:xfrm>
      </p:grpSpPr>
      <p:grpSp>
        <p:nvGrpSpPr>
          <p:cNvPr name="Group 2" id="2"/>
          <p:cNvGrpSpPr/>
          <p:nvPr/>
        </p:nvGrpSpPr>
        <p:grpSpPr>
          <a:xfrm rot="0">
            <a:off x="10401430" y="-642826"/>
            <a:ext cx="5809027" cy="9901126"/>
            <a:chOff x="0" y="0"/>
            <a:chExt cx="660400" cy="1125611"/>
          </a:xfrm>
        </p:grpSpPr>
        <p:sp>
          <p:nvSpPr>
            <p:cNvPr name="Freeform 3" id="3"/>
            <p:cNvSpPr/>
            <p:nvPr/>
          </p:nvSpPr>
          <p:spPr>
            <a:xfrm flipH="false" flipV="false" rot="0">
              <a:off x="0" y="0"/>
              <a:ext cx="660400" cy="1125611"/>
            </a:xfrm>
            <a:custGeom>
              <a:avLst/>
              <a:gdLst/>
              <a:ahLst/>
              <a:cxnLst/>
              <a:rect r="r" b="b" t="t" l="l"/>
              <a:pathLst>
                <a:path h="1125611" w="660400">
                  <a:moveTo>
                    <a:pt x="220252" y="1106542"/>
                  </a:moveTo>
                  <a:cubicBezTo>
                    <a:pt x="254109" y="1118056"/>
                    <a:pt x="292600" y="1125611"/>
                    <a:pt x="330378" y="1125611"/>
                  </a:cubicBezTo>
                  <a:cubicBezTo>
                    <a:pt x="368157" y="1125611"/>
                    <a:pt x="404509" y="1119134"/>
                    <a:pt x="438009" y="1107620"/>
                  </a:cubicBezTo>
                  <a:cubicBezTo>
                    <a:pt x="438723" y="1107261"/>
                    <a:pt x="439435" y="1107261"/>
                    <a:pt x="440148" y="1106901"/>
                  </a:cubicBezTo>
                  <a:cubicBezTo>
                    <a:pt x="565955" y="1060846"/>
                    <a:pt x="658618" y="939232"/>
                    <a:pt x="660400" y="790160"/>
                  </a:cubicBezTo>
                  <a:lnTo>
                    <a:pt x="660400" y="0"/>
                  </a:lnTo>
                  <a:lnTo>
                    <a:pt x="0" y="0"/>
                  </a:lnTo>
                  <a:lnTo>
                    <a:pt x="0" y="789574"/>
                  </a:lnTo>
                  <a:cubicBezTo>
                    <a:pt x="1782" y="939951"/>
                    <a:pt x="93019" y="1061566"/>
                    <a:pt x="220252" y="1106542"/>
                  </a:cubicBezTo>
                  <a:close/>
                </a:path>
              </a:pathLst>
            </a:custGeom>
            <a:solidFill>
              <a:srgbClr val="763C00"/>
            </a:solidFill>
            <a:ln cap="sq">
              <a:noFill/>
              <a:prstDash val="solid"/>
              <a:miter/>
            </a:ln>
          </p:spPr>
        </p:sp>
        <p:sp>
          <p:nvSpPr>
            <p:cNvPr name="TextBox 4" id="4"/>
            <p:cNvSpPr txBox="true"/>
            <p:nvPr/>
          </p:nvSpPr>
          <p:spPr>
            <a:xfrm>
              <a:off x="0" y="-38100"/>
              <a:ext cx="660400" cy="103671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899637" y="5231963"/>
            <a:ext cx="6770715" cy="277115"/>
            <a:chOff x="0" y="0"/>
            <a:chExt cx="1783234" cy="72985"/>
          </a:xfrm>
        </p:grpSpPr>
        <p:sp>
          <p:nvSpPr>
            <p:cNvPr name="Freeform 6" id="6"/>
            <p:cNvSpPr/>
            <p:nvPr/>
          </p:nvSpPr>
          <p:spPr>
            <a:xfrm flipH="false" flipV="false" rot="0">
              <a:off x="0" y="0"/>
              <a:ext cx="1783234" cy="72985"/>
            </a:xfrm>
            <a:custGeom>
              <a:avLst/>
              <a:gdLst/>
              <a:ahLst/>
              <a:cxnLst/>
              <a:rect r="r" b="b" t="t" l="l"/>
              <a:pathLst>
                <a:path h="72985" w="1783234">
                  <a:moveTo>
                    <a:pt x="0" y="0"/>
                  </a:moveTo>
                  <a:lnTo>
                    <a:pt x="1783234" y="0"/>
                  </a:lnTo>
                  <a:lnTo>
                    <a:pt x="1783234" y="72985"/>
                  </a:lnTo>
                  <a:lnTo>
                    <a:pt x="0" y="72985"/>
                  </a:lnTo>
                  <a:close/>
                </a:path>
              </a:pathLst>
            </a:custGeom>
            <a:solidFill>
              <a:srgbClr val="F9F7DC"/>
            </a:solidFill>
          </p:spPr>
        </p:sp>
        <p:sp>
          <p:nvSpPr>
            <p:cNvPr name="TextBox 7" id="7"/>
            <p:cNvSpPr txBox="true"/>
            <p:nvPr/>
          </p:nvSpPr>
          <p:spPr>
            <a:xfrm>
              <a:off x="0" y="-38100"/>
              <a:ext cx="1783234" cy="111085"/>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8670353" y="5081340"/>
            <a:ext cx="1079400" cy="1028392"/>
          </a:xfrm>
          <a:custGeom>
            <a:avLst/>
            <a:gdLst/>
            <a:ahLst/>
            <a:cxnLst/>
            <a:rect r="r" b="b" t="t" l="l"/>
            <a:pathLst>
              <a:path h="1028392" w="1079400">
                <a:moveTo>
                  <a:pt x="0" y="0"/>
                </a:moveTo>
                <a:lnTo>
                  <a:pt x="1079400" y="0"/>
                </a:lnTo>
                <a:lnTo>
                  <a:pt x="1079400" y="1028392"/>
                </a:lnTo>
                <a:lnTo>
                  <a:pt x="0" y="10283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248543" y="4307737"/>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899637" y="4148693"/>
            <a:ext cx="6767773" cy="1221827"/>
          </a:xfrm>
          <a:prstGeom prst="rect">
            <a:avLst/>
          </a:prstGeom>
        </p:spPr>
        <p:txBody>
          <a:bodyPr anchor="t" rtlCol="false" tIns="0" lIns="0" bIns="0" rIns="0">
            <a:spAutoFit/>
          </a:bodyPr>
          <a:lstStyle/>
          <a:p>
            <a:pPr algn="l">
              <a:lnSpc>
                <a:spcPts val="7488"/>
              </a:lnSpc>
            </a:pPr>
            <a:r>
              <a:rPr lang="en-US" b="true" sz="7882" spc="-39">
                <a:solidFill>
                  <a:srgbClr val="F9F7DC"/>
                </a:solidFill>
                <a:latin typeface="Agrandir Narrow Bold"/>
                <a:ea typeface="Agrandir Narrow Bold"/>
                <a:cs typeface="Agrandir Narrow Bold"/>
                <a:sym typeface="Agrandir Narrow Bold"/>
              </a:rPr>
              <a:t>Méthodologie</a:t>
            </a:r>
          </a:p>
        </p:txBody>
      </p:sp>
      <p:sp>
        <p:nvSpPr>
          <p:cNvPr name="TextBox 11" id="11"/>
          <p:cNvSpPr txBox="true"/>
          <p:nvPr/>
        </p:nvSpPr>
        <p:spPr>
          <a:xfrm rot="0">
            <a:off x="2280087" y="5231157"/>
            <a:ext cx="4961516" cy="326351"/>
          </a:xfrm>
          <a:prstGeom prst="rect">
            <a:avLst/>
          </a:prstGeom>
        </p:spPr>
        <p:txBody>
          <a:bodyPr anchor="t" rtlCol="false" tIns="0" lIns="0" bIns="0" rIns="0">
            <a:spAutoFit/>
          </a:bodyPr>
          <a:lstStyle/>
          <a:p>
            <a:pPr algn="l">
              <a:lnSpc>
                <a:spcPts val="2354"/>
              </a:lnSpc>
            </a:pPr>
            <a:r>
              <a:rPr lang="en-US" b="true" sz="2478" i="true" spc="-39">
                <a:solidFill>
                  <a:srgbClr val="763C00"/>
                </a:solidFill>
                <a:latin typeface="Arimo Bold Italics"/>
                <a:ea typeface="Arimo Bold Italics"/>
                <a:cs typeface="Arimo Bold Italics"/>
                <a:sym typeface="Arimo Bold Italics"/>
              </a:rPr>
              <a:t>problématique, intérêt de l’étude</a:t>
            </a:r>
          </a:p>
        </p:txBody>
      </p:sp>
      <p:sp>
        <p:nvSpPr>
          <p:cNvPr name="TextBox 12" id="12"/>
          <p:cNvSpPr txBox="true"/>
          <p:nvPr/>
        </p:nvSpPr>
        <p:spPr>
          <a:xfrm rot="0">
            <a:off x="12617956" y="1322665"/>
            <a:ext cx="1375975" cy="2559051"/>
          </a:xfrm>
          <a:prstGeom prst="rect">
            <a:avLst/>
          </a:prstGeom>
        </p:spPr>
        <p:txBody>
          <a:bodyPr anchor="t" rtlCol="false" tIns="0" lIns="0" bIns="0" rIns="0">
            <a:spAutoFit/>
          </a:bodyPr>
          <a:lstStyle/>
          <a:p>
            <a:pPr algn="just" marL="0" indent="0" lvl="0">
              <a:lnSpc>
                <a:spcPts val="19000"/>
              </a:lnSpc>
              <a:spcBef>
                <a:spcPct val="0"/>
              </a:spcBef>
            </a:pPr>
            <a:r>
              <a:rPr lang="en-US" b="true" sz="20000" spc="-100">
                <a:solidFill>
                  <a:srgbClr val="F9F7DC"/>
                </a:solidFill>
                <a:latin typeface="Museo Moderno Bold"/>
                <a:ea typeface="Museo Moderno Bold"/>
                <a:cs typeface="Museo Moderno Bold"/>
                <a:sym typeface="Museo Moderno Bold"/>
              </a:rPr>
              <a:t>3</a:t>
            </a:r>
          </a:p>
        </p:txBody>
      </p:sp>
    </p:spTree>
  </p:cSld>
  <p:clrMapOvr>
    <a:masterClrMapping/>
  </p:clrMapOvr>
  <p:transition spd="slow">
    <p:push dir="l"/>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sp>
        <p:nvSpPr>
          <p:cNvPr name="Freeform 2" id="2"/>
          <p:cNvSpPr/>
          <p:nvPr/>
        </p:nvSpPr>
        <p:spPr>
          <a:xfrm flipH="false" flipV="false" rot="0">
            <a:off x="2086732" y="4825855"/>
            <a:ext cx="2453911" cy="1226955"/>
          </a:xfrm>
          <a:custGeom>
            <a:avLst/>
            <a:gdLst/>
            <a:ahLst/>
            <a:cxnLst/>
            <a:rect r="r" b="b" t="t" l="l"/>
            <a:pathLst>
              <a:path h="1226955" w="2453911">
                <a:moveTo>
                  <a:pt x="0" y="0"/>
                </a:moveTo>
                <a:lnTo>
                  <a:pt x="2453911" y="0"/>
                </a:lnTo>
                <a:lnTo>
                  <a:pt x="2453911" y="1226955"/>
                </a:lnTo>
                <a:lnTo>
                  <a:pt x="0" y="12269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4434180" y="6042961"/>
            <a:ext cx="2453911" cy="1226955"/>
          </a:xfrm>
          <a:custGeom>
            <a:avLst/>
            <a:gdLst/>
            <a:ahLst/>
            <a:cxnLst/>
            <a:rect r="r" b="b" t="t" l="l"/>
            <a:pathLst>
              <a:path h="1226955" w="2453911">
                <a:moveTo>
                  <a:pt x="0" y="0"/>
                </a:moveTo>
                <a:lnTo>
                  <a:pt x="2453910" y="0"/>
                </a:lnTo>
                <a:lnTo>
                  <a:pt x="2453910" y="1226955"/>
                </a:lnTo>
                <a:lnTo>
                  <a:pt x="0" y="1226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526071" y="5255344"/>
            <a:ext cx="1575233" cy="1575233"/>
          </a:xfrm>
          <a:custGeom>
            <a:avLst/>
            <a:gdLst/>
            <a:ahLst/>
            <a:cxnLst/>
            <a:rect r="r" b="b" t="t" l="l"/>
            <a:pathLst>
              <a:path h="1575233" w="1575233">
                <a:moveTo>
                  <a:pt x="0" y="0"/>
                </a:moveTo>
                <a:lnTo>
                  <a:pt x="1575233" y="0"/>
                </a:lnTo>
                <a:lnTo>
                  <a:pt x="1575233" y="1575234"/>
                </a:lnTo>
                <a:lnTo>
                  <a:pt x="0" y="15752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4877398" y="5255344"/>
            <a:ext cx="1575233" cy="1575233"/>
          </a:xfrm>
          <a:custGeom>
            <a:avLst/>
            <a:gdLst/>
            <a:ahLst/>
            <a:cxnLst/>
            <a:rect r="r" b="b" t="t" l="l"/>
            <a:pathLst>
              <a:path h="1575233" w="1575233">
                <a:moveTo>
                  <a:pt x="0" y="0"/>
                </a:moveTo>
                <a:lnTo>
                  <a:pt x="1575233" y="0"/>
                </a:lnTo>
                <a:lnTo>
                  <a:pt x="1575233" y="1575234"/>
                </a:lnTo>
                <a:lnTo>
                  <a:pt x="0" y="15752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6753836" y="4825855"/>
            <a:ext cx="2463760" cy="1231880"/>
          </a:xfrm>
          <a:custGeom>
            <a:avLst/>
            <a:gdLst/>
            <a:ahLst/>
            <a:cxnLst/>
            <a:rect r="r" b="b" t="t" l="l"/>
            <a:pathLst>
              <a:path h="1231880" w="2463760">
                <a:moveTo>
                  <a:pt x="0" y="0"/>
                </a:moveTo>
                <a:lnTo>
                  <a:pt x="2463760" y="0"/>
                </a:lnTo>
                <a:lnTo>
                  <a:pt x="2463760" y="1231880"/>
                </a:lnTo>
                <a:lnTo>
                  <a:pt x="0" y="12318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10800000">
            <a:off x="9092646" y="6047886"/>
            <a:ext cx="2453911" cy="1226955"/>
          </a:xfrm>
          <a:custGeom>
            <a:avLst/>
            <a:gdLst/>
            <a:ahLst/>
            <a:cxnLst/>
            <a:rect r="r" b="b" t="t" l="l"/>
            <a:pathLst>
              <a:path h="1226955" w="2453911">
                <a:moveTo>
                  <a:pt x="0" y="0"/>
                </a:moveTo>
                <a:lnTo>
                  <a:pt x="2453911" y="0"/>
                </a:lnTo>
                <a:lnTo>
                  <a:pt x="2453911" y="1226955"/>
                </a:lnTo>
                <a:lnTo>
                  <a:pt x="0" y="12269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7197054" y="5260269"/>
            <a:ext cx="1575233" cy="1575233"/>
          </a:xfrm>
          <a:custGeom>
            <a:avLst/>
            <a:gdLst/>
            <a:ahLst/>
            <a:cxnLst/>
            <a:rect r="r" b="b" t="t" l="l"/>
            <a:pathLst>
              <a:path h="1575233" w="1575233">
                <a:moveTo>
                  <a:pt x="0" y="0"/>
                </a:moveTo>
                <a:lnTo>
                  <a:pt x="1575233" y="0"/>
                </a:lnTo>
                <a:lnTo>
                  <a:pt x="1575233" y="1575233"/>
                </a:lnTo>
                <a:lnTo>
                  <a:pt x="0" y="157523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9524226" y="5260269"/>
            <a:ext cx="1575233" cy="1575233"/>
          </a:xfrm>
          <a:custGeom>
            <a:avLst/>
            <a:gdLst/>
            <a:ahLst/>
            <a:cxnLst/>
            <a:rect r="r" b="b" t="t" l="l"/>
            <a:pathLst>
              <a:path h="1575233" w="1575233">
                <a:moveTo>
                  <a:pt x="0" y="0"/>
                </a:moveTo>
                <a:lnTo>
                  <a:pt x="1575234" y="0"/>
                </a:lnTo>
                <a:lnTo>
                  <a:pt x="1575234" y="1575233"/>
                </a:lnTo>
                <a:lnTo>
                  <a:pt x="0" y="15752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1413234" y="4830780"/>
            <a:ext cx="2453911" cy="1226955"/>
          </a:xfrm>
          <a:custGeom>
            <a:avLst/>
            <a:gdLst/>
            <a:ahLst/>
            <a:cxnLst/>
            <a:rect r="r" b="b" t="t" l="l"/>
            <a:pathLst>
              <a:path h="1226955" w="2453911">
                <a:moveTo>
                  <a:pt x="0" y="0"/>
                </a:moveTo>
                <a:lnTo>
                  <a:pt x="2453911" y="0"/>
                </a:lnTo>
                <a:lnTo>
                  <a:pt x="2453911" y="1226955"/>
                </a:lnTo>
                <a:lnTo>
                  <a:pt x="0" y="12269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1837055" y="5260269"/>
            <a:ext cx="1575233" cy="1575233"/>
          </a:xfrm>
          <a:custGeom>
            <a:avLst/>
            <a:gdLst/>
            <a:ahLst/>
            <a:cxnLst/>
            <a:rect r="r" b="b" t="t" l="l"/>
            <a:pathLst>
              <a:path h="1575233" w="1575233">
                <a:moveTo>
                  <a:pt x="0" y="0"/>
                </a:moveTo>
                <a:lnTo>
                  <a:pt x="1575234" y="0"/>
                </a:lnTo>
                <a:lnTo>
                  <a:pt x="1575234" y="1575233"/>
                </a:lnTo>
                <a:lnTo>
                  <a:pt x="0" y="157523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10800000">
            <a:off x="13747357" y="6047886"/>
            <a:ext cx="2453911" cy="1226955"/>
          </a:xfrm>
          <a:custGeom>
            <a:avLst/>
            <a:gdLst/>
            <a:ahLst/>
            <a:cxnLst/>
            <a:rect r="r" b="b" t="t" l="l"/>
            <a:pathLst>
              <a:path h="1226955" w="2453911">
                <a:moveTo>
                  <a:pt x="0" y="0"/>
                </a:moveTo>
                <a:lnTo>
                  <a:pt x="2453911" y="0"/>
                </a:lnTo>
                <a:lnTo>
                  <a:pt x="2453911" y="1226955"/>
                </a:lnTo>
                <a:lnTo>
                  <a:pt x="0" y="122695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4178937" y="5260269"/>
            <a:ext cx="1575233" cy="1575233"/>
          </a:xfrm>
          <a:custGeom>
            <a:avLst/>
            <a:gdLst/>
            <a:ahLst/>
            <a:cxnLst/>
            <a:rect r="r" b="b" t="t" l="l"/>
            <a:pathLst>
              <a:path h="1575233" w="1575233">
                <a:moveTo>
                  <a:pt x="0" y="0"/>
                </a:moveTo>
                <a:lnTo>
                  <a:pt x="1575233" y="0"/>
                </a:lnTo>
                <a:lnTo>
                  <a:pt x="1575233" y="1575233"/>
                </a:lnTo>
                <a:lnTo>
                  <a:pt x="0" y="157523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2849578" y="5578852"/>
            <a:ext cx="928219" cy="928219"/>
          </a:xfrm>
          <a:custGeom>
            <a:avLst/>
            <a:gdLst/>
            <a:ahLst/>
            <a:cxnLst/>
            <a:rect r="r" b="b" t="t" l="l"/>
            <a:pathLst>
              <a:path h="928219" w="928219">
                <a:moveTo>
                  <a:pt x="0" y="0"/>
                </a:moveTo>
                <a:lnTo>
                  <a:pt x="928219" y="0"/>
                </a:lnTo>
                <a:lnTo>
                  <a:pt x="928219" y="928219"/>
                </a:lnTo>
                <a:lnTo>
                  <a:pt x="0" y="92821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5" id="15"/>
          <p:cNvSpPr txBox="true"/>
          <p:nvPr/>
        </p:nvSpPr>
        <p:spPr>
          <a:xfrm rot="0">
            <a:off x="3009389" y="5828649"/>
            <a:ext cx="608597"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000000"/>
                </a:solidFill>
                <a:latin typeface="Roboto Bold"/>
                <a:ea typeface="Roboto Bold"/>
                <a:cs typeface="Roboto Bold"/>
                <a:sym typeface="Roboto Bold"/>
              </a:rPr>
              <a:t>01</a:t>
            </a:r>
          </a:p>
        </p:txBody>
      </p:sp>
      <p:sp>
        <p:nvSpPr>
          <p:cNvPr name="Freeform 16" id="16"/>
          <p:cNvSpPr/>
          <p:nvPr/>
        </p:nvSpPr>
        <p:spPr>
          <a:xfrm flipH="false" flipV="false" rot="0">
            <a:off x="5200905" y="5593625"/>
            <a:ext cx="928219" cy="928219"/>
          </a:xfrm>
          <a:custGeom>
            <a:avLst/>
            <a:gdLst/>
            <a:ahLst/>
            <a:cxnLst/>
            <a:rect r="r" b="b" t="t" l="l"/>
            <a:pathLst>
              <a:path h="928219" w="928219">
                <a:moveTo>
                  <a:pt x="0" y="0"/>
                </a:moveTo>
                <a:lnTo>
                  <a:pt x="928219" y="0"/>
                </a:lnTo>
                <a:lnTo>
                  <a:pt x="928219" y="928219"/>
                </a:lnTo>
                <a:lnTo>
                  <a:pt x="0" y="92821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7" id="17"/>
          <p:cNvSpPr txBox="true"/>
          <p:nvPr/>
        </p:nvSpPr>
        <p:spPr>
          <a:xfrm rot="0">
            <a:off x="5360716" y="5843422"/>
            <a:ext cx="608597"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000000"/>
                </a:solidFill>
                <a:latin typeface="Roboto Bold"/>
                <a:ea typeface="Roboto Bold"/>
                <a:cs typeface="Roboto Bold"/>
                <a:sym typeface="Roboto Bold"/>
              </a:rPr>
              <a:t>02</a:t>
            </a:r>
          </a:p>
        </p:txBody>
      </p:sp>
      <p:sp>
        <p:nvSpPr>
          <p:cNvPr name="Freeform 18" id="18"/>
          <p:cNvSpPr/>
          <p:nvPr/>
        </p:nvSpPr>
        <p:spPr>
          <a:xfrm flipH="false" flipV="false" rot="0">
            <a:off x="7521607" y="5593625"/>
            <a:ext cx="928219" cy="928219"/>
          </a:xfrm>
          <a:custGeom>
            <a:avLst/>
            <a:gdLst/>
            <a:ahLst/>
            <a:cxnLst/>
            <a:rect r="r" b="b" t="t" l="l"/>
            <a:pathLst>
              <a:path h="928219" w="928219">
                <a:moveTo>
                  <a:pt x="0" y="0"/>
                </a:moveTo>
                <a:lnTo>
                  <a:pt x="928218" y="0"/>
                </a:lnTo>
                <a:lnTo>
                  <a:pt x="928218" y="928219"/>
                </a:lnTo>
                <a:lnTo>
                  <a:pt x="0" y="92821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9" id="19"/>
          <p:cNvSpPr txBox="true"/>
          <p:nvPr/>
        </p:nvSpPr>
        <p:spPr>
          <a:xfrm rot="0">
            <a:off x="7681417" y="5843422"/>
            <a:ext cx="608597"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000000"/>
                </a:solidFill>
                <a:latin typeface="Roboto Bold"/>
                <a:ea typeface="Roboto Bold"/>
                <a:cs typeface="Roboto Bold"/>
                <a:sym typeface="Roboto Bold"/>
              </a:rPr>
              <a:t>03</a:t>
            </a:r>
          </a:p>
        </p:txBody>
      </p:sp>
      <p:sp>
        <p:nvSpPr>
          <p:cNvPr name="Freeform 20" id="20"/>
          <p:cNvSpPr/>
          <p:nvPr/>
        </p:nvSpPr>
        <p:spPr>
          <a:xfrm flipH="false" flipV="false" rot="0">
            <a:off x="9847734" y="5578852"/>
            <a:ext cx="928219" cy="928219"/>
          </a:xfrm>
          <a:custGeom>
            <a:avLst/>
            <a:gdLst/>
            <a:ahLst/>
            <a:cxnLst/>
            <a:rect r="r" b="b" t="t" l="l"/>
            <a:pathLst>
              <a:path h="928219" w="928219">
                <a:moveTo>
                  <a:pt x="0" y="0"/>
                </a:moveTo>
                <a:lnTo>
                  <a:pt x="928218" y="0"/>
                </a:lnTo>
                <a:lnTo>
                  <a:pt x="928218" y="928219"/>
                </a:lnTo>
                <a:lnTo>
                  <a:pt x="0" y="92821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21" id="21"/>
          <p:cNvSpPr txBox="true"/>
          <p:nvPr/>
        </p:nvSpPr>
        <p:spPr>
          <a:xfrm rot="0">
            <a:off x="10007544" y="5828649"/>
            <a:ext cx="608597"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000000"/>
                </a:solidFill>
                <a:latin typeface="Roboto Bold"/>
                <a:ea typeface="Roboto Bold"/>
                <a:cs typeface="Roboto Bold"/>
                <a:sym typeface="Roboto Bold"/>
              </a:rPr>
              <a:t>04</a:t>
            </a:r>
          </a:p>
        </p:txBody>
      </p:sp>
      <p:sp>
        <p:nvSpPr>
          <p:cNvPr name="Freeform 22" id="22"/>
          <p:cNvSpPr/>
          <p:nvPr/>
        </p:nvSpPr>
        <p:spPr>
          <a:xfrm flipH="false" flipV="false" rot="0">
            <a:off x="12160563" y="5593625"/>
            <a:ext cx="928219" cy="928219"/>
          </a:xfrm>
          <a:custGeom>
            <a:avLst/>
            <a:gdLst/>
            <a:ahLst/>
            <a:cxnLst/>
            <a:rect r="r" b="b" t="t" l="l"/>
            <a:pathLst>
              <a:path h="928219" w="928219">
                <a:moveTo>
                  <a:pt x="0" y="0"/>
                </a:moveTo>
                <a:lnTo>
                  <a:pt x="928219" y="0"/>
                </a:lnTo>
                <a:lnTo>
                  <a:pt x="928219" y="928219"/>
                </a:lnTo>
                <a:lnTo>
                  <a:pt x="0" y="92821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23" id="23"/>
          <p:cNvSpPr txBox="true"/>
          <p:nvPr/>
        </p:nvSpPr>
        <p:spPr>
          <a:xfrm rot="0">
            <a:off x="12320373" y="5843422"/>
            <a:ext cx="608597"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000000"/>
                </a:solidFill>
                <a:latin typeface="Roboto Bold"/>
                <a:ea typeface="Roboto Bold"/>
                <a:cs typeface="Roboto Bold"/>
                <a:sym typeface="Roboto Bold"/>
              </a:rPr>
              <a:t>05</a:t>
            </a:r>
          </a:p>
        </p:txBody>
      </p:sp>
      <p:sp>
        <p:nvSpPr>
          <p:cNvPr name="Freeform 24" id="24"/>
          <p:cNvSpPr/>
          <p:nvPr/>
        </p:nvSpPr>
        <p:spPr>
          <a:xfrm flipH="false" flipV="false" rot="0">
            <a:off x="14502444" y="5593625"/>
            <a:ext cx="928219" cy="928219"/>
          </a:xfrm>
          <a:custGeom>
            <a:avLst/>
            <a:gdLst/>
            <a:ahLst/>
            <a:cxnLst/>
            <a:rect r="r" b="b" t="t" l="l"/>
            <a:pathLst>
              <a:path h="928219" w="928219">
                <a:moveTo>
                  <a:pt x="0" y="0"/>
                </a:moveTo>
                <a:lnTo>
                  <a:pt x="928219" y="0"/>
                </a:lnTo>
                <a:lnTo>
                  <a:pt x="928219" y="928219"/>
                </a:lnTo>
                <a:lnTo>
                  <a:pt x="0" y="92821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25" id="25"/>
          <p:cNvSpPr txBox="true"/>
          <p:nvPr/>
        </p:nvSpPr>
        <p:spPr>
          <a:xfrm rot="0">
            <a:off x="14662255" y="5843422"/>
            <a:ext cx="608597" cy="400050"/>
          </a:xfrm>
          <a:prstGeom prst="rect">
            <a:avLst/>
          </a:prstGeom>
        </p:spPr>
        <p:txBody>
          <a:bodyPr anchor="t" rtlCol="false" tIns="0" lIns="0" bIns="0" rIns="0">
            <a:spAutoFit/>
          </a:bodyPr>
          <a:lstStyle/>
          <a:p>
            <a:pPr algn="ctr" marL="0" indent="0" lvl="0">
              <a:lnSpc>
                <a:spcPts val="3224"/>
              </a:lnSpc>
              <a:spcBef>
                <a:spcPct val="0"/>
              </a:spcBef>
            </a:pPr>
            <a:r>
              <a:rPr lang="en-US" b="true" sz="2499" u="none">
                <a:solidFill>
                  <a:srgbClr val="000000"/>
                </a:solidFill>
                <a:latin typeface="Roboto Bold"/>
                <a:ea typeface="Roboto Bold"/>
                <a:cs typeface="Roboto Bold"/>
                <a:sym typeface="Roboto Bold"/>
              </a:rPr>
              <a:t>06</a:t>
            </a:r>
          </a:p>
        </p:txBody>
      </p:sp>
      <p:sp>
        <p:nvSpPr>
          <p:cNvPr name="TextBox 26" id="26"/>
          <p:cNvSpPr txBox="true"/>
          <p:nvPr/>
        </p:nvSpPr>
        <p:spPr>
          <a:xfrm rot="0">
            <a:off x="2189570" y="7295149"/>
            <a:ext cx="2244610" cy="1312164"/>
          </a:xfrm>
          <a:prstGeom prst="rect">
            <a:avLst/>
          </a:prstGeom>
        </p:spPr>
        <p:txBody>
          <a:bodyPr anchor="t" rtlCol="false" tIns="0" lIns="0" bIns="0" rIns="0">
            <a:spAutoFit/>
          </a:bodyPr>
          <a:lstStyle/>
          <a:p>
            <a:pPr algn="ctr" marL="0" indent="0" lvl="0">
              <a:lnSpc>
                <a:spcPts val="3482"/>
              </a:lnSpc>
              <a:spcBef>
                <a:spcPct val="0"/>
              </a:spcBef>
            </a:pPr>
            <a:r>
              <a:rPr lang="en-US" b="true" sz="2699">
                <a:solidFill>
                  <a:srgbClr val="000000"/>
                </a:solidFill>
                <a:latin typeface="Roboto Bold"/>
                <a:ea typeface="Roboto Bold"/>
                <a:cs typeface="Roboto Bold"/>
                <a:sym typeface="Roboto Bold"/>
              </a:rPr>
              <a:t>Champ géographique de l’enquête</a:t>
            </a:r>
          </a:p>
        </p:txBody>
      </p:sp>
      <p:sp>
        <p:nvSpPr>
          <p:cNvPr name="TextBox 27" id="27"/>
          <p:cNvSpPr txBox="true"/>
          <p:nvPr/>
        </p:nvSpPr>
        <p:spPr>
          <a:xfrm rot="0">
            <a:off x="6656331" y="7529654"/>
            <a:ext cx="2658769" cy="435864"/>
          </a:xfrm>
          <a:prstGeom prst="rect">
            <a:avLst/>
          </a:prstGeom>
        </p:spPr>
        <p:txBody>
          <a:bodyPr anchor="t" rtlCol="false" tIns="0" lIns="0" bIns="0" rIns="0">
            <a:spAutoFit/>
          </a:bodyPr>
          <a:lstStyle/>
          <a:p>
            <a:pPr algn="ctr" marL="0" indent="0" lvl="0">
              <a:lnSpc>
                <a:spcPts val="3482"/>
              </a:lnSpc>
              <a:spcBef>
                <a:spcPct val="0"/>
              </a:spcBef>
            </a:pPr>
            <a:r>
              <a:rPr lang="en-US" b="true" sz="2699">
                <a:solidFill>
                  <a:srgbClr val="000000"/>
                </a:solidFill>
                <a:latin typeface="Roboto Bold"/>
                <a:ea typeface="Roboto Bold"/>
                <a:cs typeface="Roboto Bold"/>
                <a:sym typeface="Roboto Bold"/>
              </a:rPr>
              <a:t>Base de sondage</a:t>
            </a:r>
          </a:p>
        </p:txBody>
      </p:sp>
      <p:sp>
        <p:nvSpPr>
          <p:cNvPr name="TextBox 28" id="28"/>
          <p:cNvSpPr txBox="true"/>
          <p:nvPr/>
        </p:nvSpPr>
        <p:spPr>
          <a:xfrm rot="0">
            <a:off x="11712047" y="7310579"/>
            <a:ext cx="2035310" cy="874014"/>
          </a:xfrm>
          <a:prstGeom prst="rect">
            <a:avLst/>
          </a:prstGeom>
        </p:spPr>
        <p:txBody>
          <a:bodyPr anchor="t" rtlCol="false" tIns="0" lIns="0" bIns="0" rIns="0">
            <a:spAutoFit/>
          </a:bodyPr>
          <a:lstStyle/>
          <a:p>
            <a:pPr algn="ctr" marL="0" indent="0" lvl="0">
              <a:lnSpc>
                <a:spcPts val="3482"/>
              </a:lnSpc>
              <a:spcBef>
                <a:spcPct val="0"/>
              </a:spcBef>
            </a:pPr>
            <a:r>
              <a:rPr lang="en-US" b="true" sz="2699">
                <a:solidFill>
                  <a:srgbClr val="000000"/>
                </a:solidFill>
                <a:latin typeface="Roboto Bold"/>
                <a:ea typeface="Roboto Bold"/>
                <a:cs typeface="Roboto Bold"/>
                <a:sym typeface="Roboto Bold"/>
              </a:rPr>
              <a:t>Méthode de collecte</a:t>
            </a:r>
          </a:p>
        </p:txBody>
      </p:sp>
      <p:sp>
        <p:nvSpPr>
          <p:cNvPr name="TextBox 29" id="29"/>
          <p:cNvSpPr txBox="true"/>
          <p:nvPr/>
        </p:nvSpPr>
        <p:spPr>
          <a:xfrm rot="0">
            <a:off x="4540643" y="3951841"/>
            <a:ext cx="2347448" cy="874014"/>
          </a:xfrm>
          <a:prstGeom prst="rect">
            <a:avLst/>
          </a:prstGeom>
        </p:spPr>
        <p:txBody>
          <a:bodyPr anchor="t" rtlCol="false" tIns="0" lIns="0" bIns="0" rIns="0">
            <a:spAutoFit/>
          </a:bodyPr>
          <a:lstStyle/>
          <a:p>
            <a:pPr algn="ctr" marL="0" indent="0" lvl="0">
              <a:lnSpc>
                <a:spcPts val="3482"/>
              </a:lnSpc>
              <a:spcBef>
                <a:spcPct val="0"/>
              </a:spcBef>
            </a:pPr>
            <a:r>
              <a:rPr lang="en-US" b="true" sz="2699">
                <a:solidFill>
                  <a:srgbClr val="000000"/>
                </a:solidFill>
                <a:latin typeface="Roboto Bold"/>
                <a:ea typeface="Roboto Bold"/>
                <a:cs typeface="Roboto Bold"/>
                <a:sym typeface="Roboto Bold"/>
              </a:rPr>
              <a:t>Population cible</a:t>
            </a:r>
          </a:p>
        </p:txBody>
      </p:sp>
      <p:sp>
        <p:nvSpPr>
          <p:cNvPr name="TextBox 30" id="30"/>
          <p:cNvSpPr txBox="true"/>
          <p:nvPr/>
        </p:nvSpPr>
        <p:spPr>
          <a:xfrm rot="0">
            <a:off x="8894895" y="3951841"/>
            <a:ext cx="2942160" cy="874014"/>
          </a:xfrm>
          <a:prstGeom prst="rect">
            <a:avLst/>
          </a:prstGeom>
        </p:spPr>
        <p:txBody>
          <a:bodyPr anchor="t" rtlCol="false" tIns="0" lIns="0" bIns="0" rIns="0">
            <a:spAutoFit/>
          </a:bodyPr>
          <a:lstStyle/>
          <a:p>
            <a:pPr algn="ctr" marL="0" indent="0" lvl="0">
              <a:lnSpc>
                <a:spcPts val="3482"/>
              </a:lnSpc>
              <a:spcBef>
                <a:spcPct val="0"/>
              </a:spcBef>
            </a:pPr>
            <a:r>
              <a:rPr lang="en-US" b="true" sz="2699">
                <a:solidFill>
                  <a:srgbClr val="000000"/>
                </a:solidFill>
                <a:latin typeface="Roboto Bold"/>
                <a:ea typeface="Roboto Bold"/>
                <a:cs typeface="Roboto Bold"/>
                <a:sym typeface="Roboto Bold"/>
              </a:rPr>
              <a:t>Taille de l’échantillon</a:t>
            </a:r>
          </a:p>
        </p:txBody>
      </p:sp>
      <p:sp>
        <p:nvSpPr>
          <p:cNvPr name="TextBox 31" id="31"/>
          <p:cNvSpPr txBox="true"/>
          <p:nvPr/>
        </p:nvSpPr>
        <p:spPr>
          <a:xfrm rot="0">
            <a:off x="13956657" y="3951841"/>
            <a:ext cx="2035310" cy="874014"/>
          </a:xfrm>
          <a:prstGeom prst="rect">
            <a:avLst/>
          </a:prstGeom>
        </p:spPr>
        <p:txBody>
          <a:bodyPr anchor="t" rtlCol="false" tIns="0" lIns="0" bIns="0" rIns="0">
            <a:spAutoFit/>
          </a:bodyPr>
          <a:lstStyle/>
          <a:p>
            <a:pPr algn="ctr" marL="0" indent="0" lvl="0">
              <a:lnSpc>
                <a:spcPts val="3482"/>
              </a:lnSpc>
              <a:spcBef>
                <a:spcPct val="0"/>
              </a:spcBef>
            </a:pPr>
            <a:r>
              <a:rPr lang="en-US" b="true" sz="2699">
                <a:solidFill>
                  <a:srgbClr val="000000"/>
                </a:solidFill>
                <a:latin typeface="Roboto Bold"/>
                <a:ea typeface="Roboto Bold"/>
                <a:cs typeface="Roboto Bold"/>
                <a:sym typeface="Roboto Bold"/>
              </a:rPr>
              <a:t>Tirage de l’échantillon</a:t>
            </a:r>
          </a:p>
        </p:txBody>
      </p:sp>
      <p:sp>
        <p:nvSpPr>
          <p:cNvPr name="TextBox 32" id="32"/>
          <p:cNvSpPr txBox="true"/>
          <p:nvPr/>
        </p:nvSpPr>
        <p:spPr>
          <a:xfrm rot="0">
            <a:off x="7335370" y="752475"/>
            <a:ext cx="4377713" cy="657225"/>
          </a:xfrm>
          <a:prstGeom prst="rect">
            <a:avLst/>
          </a:prstGeom>
        </p:spPr>
        <p:txBody>
          <a:bodyPr anchor="t" rtlCol="false" tIns="0" lIns="0" bIns="0" rIns="0">
            <a:spAutoFit/>
          </a:bodyPr>
          <a:lstStyle/>
          <a:p>
            <a:pPr algn="ctr">
              <a:lnSpc>
                <a:spcPts val="4800"/>
              </a:lnSpc>
            </a:pPr>
            <a:r>
              <a:rPr lang="en-US" sz="5000" b="true">
                <a:solidFill>
                  <a:srgbClr val="323840"/>
                </a:solidFill>
                <a:latin typeface="TT Interphases Bold"/>
                <a:ea typeface="TT Interphases Bold"/>
                <a:cs typeface="TT Interphases Bold"/>
                <a:sym typeface="TT Interphases Bold"/>
              </a:rPr>
              <a:t>Méthodologie</a:t>
            </a:r>
          </a:p>
        </p:txBody>
      </p:sp>
    </p:spTree>
  </p:cSld>
  <p:clrMapOvr>
    <a:masterClrMapping/>
  </p:clrMapOvr>
  <p:transition spd="slow">
    <p:push dir="l"/>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grpSp>
        <p:nvGrpSpPr>
          <p:cNvPr name="Group 2" id="2"/>
          <p:cNvGrpSpPr/>
          <p:nvPr/>
        </p:nvGrpSpPr>
        <p:grpSpPr>
          <a:xfrm rot="0">
            <a:off x="7440013" y="1014121"/>
            <a:ext cx="1223547" cy="248043"/>
            <a:chOff x="0" y="0"/>
            <a:chExt cx="1631396" cy="330724"/>
          </a:xfrm>
        </p:grpSpPr>
        <p:grpSp>
          <p:nvGrpSpPr>
            <p:cNvPr name="Group 3" id="3"/>
            <p:cNvGrpSpPr/>
            <p:nvPr/>
          </p:nvGrpSpPr>
          <p:grpSpPr>
            <a:xfrm rot="0">
              <a:off x="651264" y="0"/>
              <a:ext cx="330724" cy="33072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300672" y="0"/>
              <a:ext cx="330724" cy="33072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0"/>
              <a:ext cx="330724" cy="33072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sp>
        <p:nvSpPr>
          <p:cNvPr name="TextBox 12" id="12"/>
          <p:cNvSpPr txBox="true"/>
          <p:nvPr/>
        </p:nvSpPr>
        <p:spPr>
          <a:xfrm rot="0">
            <a:off x="1028700" y="846689"/>
            <a:ext cx="6110174" cy="1370236"/>
          </a:xfrm>
          <a:prstGeom prst="rect">
            <a:avLst/>
          </a:prstGeom>
        </p:spPr>
        <p:txBody>
          <a:bodyPr anchor="t" rtlCol="false" tIns="0" lIns="0" bIns="0" rIns="0">
            <a:spAutoFit/>
          </a:bodyPr>
          <a:lstStyle/>
          <a:p>
            <a:pPr algn="l">
              <a:lnSpc>
                <a:spcPts val="5261"/>
              </a:lnSpc>
            </a:pPr>
            <a:r>
              <a:rPr lang="en-US" sz="5480" b="true">
                <a:solidFill>
                  <a:srgbClr val="323840"/>
                </a:solidFill>
                <a:latin typeface="TT Interphases Bold"/>
                <a:ea typeface="TT Interphases Bold"/>
                <a:cs typeface="TT Interphases Bold"/>
                <a:sym typeface="TT Interphases Bold"/>
              </a:rPr>
              <a:t>Champ géographique</a:t>
            </a:r>
          </a:p>
        </p:txBody>
      </p:sp>
      <p:sp>
        <p:nvSpPr>
          <p:cNvPr name="Freeform 13" id="13"/>
          <p:cNvSpPr/>
          <p:nvPr/>
        </p:nvSpPr>
        <p:spPr>
          <a:xfrm flipH="false" flipV="false" rot="2127493">
            <a:off x="9955172" y="-714632"/>
            <a:ext cx="12746347" cy="12746347"/>
          </a:xfrm>
          <a:custGeom>
            <a:avLst/>
            <a:gdLst/>
            <a:ahLst/>
            <a:cxnLst/>
            <a:rect r="r" b="b" t="t" l="l"/>
            <a:pathLst>
              <a:path h="12746347" w="12746347">
                <a:moveTo>
                  <a:pt x="0" y="0"/>
                </a:moveTo>
                <a:lnTo>
                  <a:pt x="12746348" y="0"/>
                </a:lnTo>
                <a:lnTo>
                  <a:pt x="12746348" y="12746348"/>
                </a:lnTo>
                <a:lnTo>
                  <a:pt x="0" y="12746348"/>
                </a:lnTo>
                <a:lnTo>
                  <a:pt x="0" y="0"/>
                </a:lnTo>
                <a:close/>
              </a:path>
            </a:pathLst>
          </a:custGeom>
          <a:blipFill>
            <a:blip r:embed="rId2">
              <a:alphaModFix amt="18000"/>
            </a:blip>
            <a:stretch>
              <a:fillRect l="0" t="0" r="0" b="0"/>
            </a:stretch>
          </a:blipFill>
        </p:spPr>
      </p:sp>
      <p:sp>
        <p:nvSpPr>
          <p:cNvPr name="TextBox 14" id="14"/>
          <p:cNvSpPr txBox="true"/>
          <p:nvPr/>
        </p:nvSpPr>
        <p:spPr>
          <a:xfrm rot="0">
            <a:off x="1028700" y="4149846"/>
            <a:ext cx="8488664" cy="2034933"/>
          </a:xfrm>
          <a:prstGeom prst="rect">
            <a:avLst/>
          </a:prstGeom>
        </p:spPr>
        <p:txBody>
          <a:bodyPr anchor="t" rtlCol="false" tIns="0" lIns="0" bIns="0" rIns="0">
            <a:spAutoFit/>
          </a:bodyPr>
          <a:lstStyle/>
          <a:p>
            <a:pPr algn="l">
              <a:lnSpc>
                <a:spcPts val="4033"/>
              </a:lnSpc>
            </a:pPr>
            <a:r>
              <a:rPr lang="en-US" sz="3734">
                <a:solidFill>
                  <a:srgbClr val="323840"/>
                </a:solidFill>
                <a:latin typeface="TT Interphases"/>
                <a:ea typeface="TT Interphases"/>
                <a:cs typeface="TT Interphases"/>
                <a:sym typeface="TT Interphases"/>
              </a:rPr>
              <a:t>L’étude couvre toute la région de Dakar parcellisée en 05 départements (Dakar, Pikine, Guédiawaye, Rufisque et Keur Massar) et 10 arrondissements</a:t>
            </a:r>
          </a:p>
        </p:txBody>
      </p:sp>
      <p:sp>
        <p:nvSpPr>
          <p:cNvPr name="Freeform 15" id="15"/>
          <p:cNvSpPr/>
          <p:nvPr/>
        </p:nvSpPr>
        <p:spPr>
          <a:xfrm flipH="false" flipV="false" rot="0">
            <a:off x="10165064" y="-564524"/>
            <a:ext cx="12326565" cy="12482597"/>
          </a:xfrm>
          <a:custGeom>
            <a:avLst/>
            <a:gdLst/>
            <a:ahLst/>
            <a:cxnLst/>
            <a:rect r="r" b="b" t="t" l="l"/>
            <a:pathLst>
              <a:path h="12482597" w="12326565">
                <a:moveTo>
                  <a:pt x="0" y="0"/>
                </a:moveTo>
                <a:lnTo>
                  <a:pt x="12326564" y="0"/>
                </a:lnTo>
                <a:lnTo>
                  <a:pt x="12326564" y="12482598"/>
                </a:lnTo>
                <a:lnTo>
                  <a:pt x="0" y="12482598"/>
                </a:lnTo>
                <a:lnTo>
                  <a:pt x="0" y="0"/>
                </a:lnTo>
                <a:close/>
              </a:path>
            </a:pathLst>
          </a:custGeom>
          <a:blipFill>
            <a:blip r:embed="rId3"/>
            <a:stretch>
              <a:fillRect l="0" t="0" r="0" b="0"/>
            </a:stretch>
          </a:blipFill>
        </p:spPr>
      </p:sp>
      <p:sp>
        <p:nvSpPr>
          <p:cNvPr name="Freeform 16" id="16"/>
          <p:cNvSpPr/>
          <p:nvPr/>
        </p:nvSpPr>
        <p:spPr>
          <a:xfrm flipH="false" flipV="false" rot="0">
            <a:off x="11645065" y="1803140"/>
            <a:ext cx="1340634" cy="1357604"/>
          </a:xfrm>
          <a:custGeom>
            <a:avLst/>
            <a:gdLst/>
            <a:ahLst/>
            <a:cxnLst/>
            <a:rect r="r" b="b" t="t" l="l"/>
            <a:pathLst>
              <a:path h="1357604" w="1340634">
                <a:moveTo>
                  <a:pt x="0" y="0"/>
                </a:moveTo>
                <a:lnTo>
                  <a:pt x="1340635" y="0"/>
                </a:lnTo>
                <a:lnTo>
                  <a:pt x="1340635" y="1357604"/>
                </a:lnTo>
                <a:lnTo>
                  <a:pt x="0" y="1357604"/>
                </a:lnTo>
                <a:lnTo>
                  <a:pt x="0" y="0"/>
                </a:lnTo>
                <a:close/>
              </a:path>
            </a:pathLst>
          </a:custGeom>
          <a:blipFill>
            <a:blip r:embed="rId3"/>
            <a:stretch>
              <a:fillRect l="0" t="0" r="0" b="0"/>
            </a:stretch>
          </a:blipFill>
        </p:spPr>
      </p:sp>
      <p:grpSp>
        <p:nvGrpSpPr>
          <p:cNvPr name="Group 17" id="17"/>
          <p:cNvGrpSpPr/>
          <p:nvPr/>
        </p:nvGrpSpPr>
        <p:grpSpPr>
          <a:xfrm rot="0">
            <a:off x="11726978" y="1893537"/>
            <a:ext cx="1164366" cy="116436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sp>
        <p:sp>
          <p:nvSpPr>
            <p:cNvPr name="TextBox 19" id="19"/>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TextBox 20" id="20"/>
          <p:cNvSpPr txBox="true"/>
          <p:nvPr/>
        </p:nvSpPr>
        <p:spPr>
          <a:xfrm rot="0">
            <a:off x="13314054" y="1996282"/>
            <a:ext cx="4973946"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Champ géographique</a:t>
            </a:r>
          </a:p>
        </p:txBody>
      </p:sp>
      <p:sp>
        <p:nvSpPr>
          <p:cNvPr name="Freeform 21" id="21"/>
          <p:cNvSpPr/>
          <p:nvPr/>
        </p:nvSpPr>
        <p:spPr>
          <a:xfrm flipH="false" flipV="false" rot="0">
            <a:off x="12058525" y="2282557"/>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slow">
    <p:push dir="l"/>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grpSp>
        <p:nvGrpSpPr>
          <p:cNvPr name="Group 2" id="2"/>
          <p:cNvGrpSpPr/>
          <p:nvPr/>
        </p:nvGrpSpPr>
        <p:grpSpPr>
          <a:xfrm rot="0">
            <a:off x="7440013" y="1014121"/>
            <a:ext cx="1223547" cy="248043"/>
            <a:chOff x="0" y="0"/>
            <a:chExt cx="1631396" cy="330724"/>
          </a:xfrm>
        </p:grpSpPr>
        <p:grpSp>
          <p:nvGrpSpPr>
            <p:cNvPr name="Group 3" id="3"/>
            <p:cNvGrpSpPr/>
            <p:nvPr/>
          </p:nvGrpSpPr>
          <p:grpSpPr>
            <a:xfrm rot="0">
              <a:off x="651264" y="0"/>
              <a:ext cx="330724" cy="33072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300672" y="0"/>
              <a:ext cx="330724" cy="33072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0"/>
              <a:ext cx="330724" cy="33072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sp>
        <p:nvSpPr>
          <p:cNvPr name="TextBox 12" id="12"/>
          <p:cNvSpPr txBox="true"/>
          <p:nvPr/>
        </p:nvSpPr>
        <p:spPr>
          <a:xfrm rot="0">
            <a:off x="1028700" y="846689"/>
            <a:ext cx="6110174" cy="706731"/>
          </a:xfrm>
          <a:prstGeom prst="rect">
            <a:avLst/>
          </a:prstGeom>
        </p:spPr>
        <p:txBody>
          <a:bodyPr anchor="t" rtlCol="false" tIns="0" lIns="0" bIns="0" rIns="0">
            <a:spAutoFit/>
          </a:bodyPr>
          <a:lstStyle/>
          <a:p>
            <a:pPr algn="l">
              <a:lnSpc>
                <a:spcPts val="5261"/>
              </a:lnSpc>
            </a:pPr>
            <a:r>
              <a:rPr lang="en-US" sz="5480" b="true">
                <a:solidFill>
                  <a:srgbClr val="323840"/>
                </a:solidFill>
                <a:latin typeface="TT Interphases Bold"/>
                <a:ea typeface="TT Interphases Bold"/>
                <a:cs typeface="TT Interphases Bold"/>
                <a:sym typeface="TT Interphases Bold"/>
              </a:rPr>
              <a:t>Population cible</a:t>
            </a:r>
          </a:p>
        </p:txBody>
      </p:sp>
      <p:sp>
        <p:nvSpPr>
          <p:cNvPr name="Freeform 13" id="13"/>
          <p:cNvSpPr/>
          <p:nvPr/>
        </p:nvSpPr>
        <p:spPr>
          <a:xfrm flipH="false" flipV="false" rot="2127493">
            <a:off x="9955172" y="-714632"/>
            <a:ext cx="12746347" cy="12746347"/>
          </a:xfrm>
          <a:custGeom>
            <a:avLst/>
            <a:gdLst/>
            <a:ahLst/>
            <a:cxnLst/>
            <a:rect r="r" b="b" t="t" l="l"/>
            <a:pathLst>
              <a:path h="12746347" w="12746347">
                <a:moveTo>
                  <a:pt x="0" y="0"/>
                </a:moveTo>
                <a:lnTo>
                  <a:pt x="12746348" y="0"/>
                </a:lnTo>
                <a:lnTo>
                  <a:pt x="12746348" y="12746348"/>
                </a:lnTo>
                <a:lnTo>
                  <a:pt x="0" y="12746348"/>
                </a:lnTo>
                <a:lnTo>
                  <a:pt x="0" y="0"/>
                </a:lnTo>
                <a:close/>
              </a:path>
            </a:pathLst>
          </a:custGeom>
          <a:blipFill>
            <a:blip r:embed="rId2">
              <a:alphaModFix amt="18000"/>
            </a:blip>
            <a:stretch>
              <a:fillRect l="0" t="0" r="0" b="0"/>
            </a:stretch>
          </a:blipFill>
        </p:spPr>
      </p:sp>
      <p:sp>
        <p:nvSpPr>
          <p:cNvPr name="TextBox 14" id="14"/>
          <p:cNvSpPr txBox="true"/>
          <p:nvPr/>
        </p:nvSpPr>
        <p:spPr>
          <a:xfrm rot="0">
            <a:off x="1028700" y="3555868"/>
            <a:ext cx="8488664" cy="4060572"/>
          </a:xfrm>
          <a:prstGeom prst="rect">
            <a:avLst/>
          </a:prstGeom>
        </p:spPr>
        <p:txBody>
          <a:bodyPr anchor="t" rtlCol="false" tIns="0" lIns="0" bIns="0" rIns="0">
            <a:spAutoFit/>
          </a:bodyPr>
          <a:lstStyle/>
          <a:p>
            <a:pPr algn="l">
              <a:lnSpc>
                <a:spcPts val="4033"/>
              </a:lnSpc>
            </a:pPr>
            <a:r>
              <a:rPr lang="en-US" sz="3734">
                <a:solidFill>
                  <a:srgbClr val="323840"/>
                </a:solidFill>
                <a:latin typeface="TT Interphases"/>
                <a:ea typeface="TT Interphases"/>
                <a:cs typeface="TT Interphases"/>
                <a:sym typeface="TT Interphases"/>
              </a:rPr>
              <a:t>Ensemble des individus âgés de plus de 18 ans au sein des ménages de la région de Dakar. Nous estimons qu’à cet âge, il est possible d’ouvrir un compte sans une quelconque intervention extérieure (tuteur, parent, etc.). Quant à l’aptitude à répondre aux questions de l’enquête, elle est largement justifiée. </a:t>
            </a:r>
          </a:p>
        </p:txBody>
      </p:sp>
      <p:sp>
        <p:nvSpPr>
          <p:cNvPr name="Freeform 15" id="15"/>
          <p:cNvSpPr/>
          <p:nvPr/>
        </p:nvSpPr>
        <p:spPr>
          <a:xfrm flipH="false" flipV="false" rot="0">
            <a:off x="10165064" y="-564524"/>
            <a:ext cx="12326565" cy="12482597"/>
          </a:xfrm>
          <a:custGeom>
            <a:avLst/>
            <a:gdLst/>
            <a:ahLst/>
            <a:cxnLst/>
            <a:rect r="r" b="b" t="t" l="l"/>
            <a:pathLst>
              <a:path h="12482597" w="12326565">
                <a:moveTo>
                  <a:pt x="0" y="0"/>
                </a:moveTo>
                <a:lnTo>
                  <a:pt x="12326564" y="0"/>
                </a:lnTo>
                <a:lnTo>
                  <a:pt x="12326564" y="12482598"/>
                </a:lnTo>
                <a:lnTo>
                  <a:pt x="0" y="12482598"/>
                </a:lnTo>
                <a:lnTo>
                  <a:pt x="0" y="0"/>
                </a:lnTo>
                <a:close/>
              </a:path>
            </a:pathLst>
          </a:custGeom>
          <a:blipFill>
            <a:blip r:embed="rId3"/>
            <a:stretch>
              <a:fillRect l="0" t="0" r="0" b="0"/>
            </a:stretch>
          </a:blipFill>
        </p:spPr>
      </p:sp>
      <p:sp>
        <p:nvSpPr>
          <p:cNvPr name="Freeform 16" id="16"/>
          <p:cNvSpPr/>
          <p:nvPr/>
        </p:nvSpPr>
        <p:spPr>
          <a:xfrm flipH="false" flipV="false" rot="0">
            <a:off x="10544764" y="4780354"/>
            <a:ext cx="1340634" cy="1357604"/>
          </a:xfrm>
          <a:custGeom>
            <a:avLst/>
            <a:gdLst/>
            <a:ahLst/>
            <a:cxnLst/>
            <a:rect r="r" b="b" t="t" l="l"/>
            <a:pathLst>
              <a:path h="1357604" w="1340634">
                <a:moveTo>
                  <a:pt x="0" y="0"/>
                </a:moveTo>
                <a:lnTo>
                  <a:pt x="1340634" y="0"/>
                </a:lnTo>
                <a:lnTo>
                  <a:pt x="1340634" y="1357605"/>
                </a:lnTo>
                <a:lnTo>
                  <a:pt x="0" y="1357605"/>
                </a:lnTo>
                <a:lnTo>
                  <a:pt x="0" y="0"/>
                </a:lnTo>
                <a:close/>
              </a:path>
            </a:pathLst>
          </a:custGeom>
          <a:blipFill>
            <a:blip r:embed="rId3"/>
            <a:stretch>
              <a:fillRect l="0" t="0" r="0" b="0"/>
            </a:stretch>
          </a:blipFill>
        </p:spPr>
      </p:sp>
      <p:grpSp>
        <p:nvGrpSpPr>
          <p:cNvPr name="Group 17" id="17"/>
          <p:cNvGrpSpPr/>
          <p:nvPr/>
        </p:nvGrpSpPr>
        <p:grpSpPr>
          <a:xfrm rot="0">
            <a:off x="10632898" y="4876974"/>
            <a:ext cx="1164366" cy="116436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19" id="19"/>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TextBox 20" id="20"/>
          <p:cNvSpPr txBox="true"/>
          <p:nvPr/>
        </p:nvSpPr>
        <p:spPr>
          <a:xfrm rot="0">
            <a:off x="12119104" y="5048222"/>
            <a:ext cx="4825393"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Population cible</a:t>
            </a:r>
          </a:p>
        </p:txBody>
      </p:sp>
      <p:sp>
        <p:nvSpPr>
          <p:cNvPr name="Freeform 21" id="21"/>
          <p:cNvSpPr/>
          <p:nvPr/>
        </p:nvSpPr>
        <p:spPr>
          <a:xfrm flipH="false" flipV="false" rot="0">
            <a:off x="10958223" y="5259771"/>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0">
            <a:off x="11645065" y="1803140"/>
            <a:ext cx="1340634" cy="1357604"/>
          </a:xfrm>
          <a:custGeom>
            <a:avLst/>
            <a:gdLst/>
            <a:ahLst/>
            <a:cxnLst/>
            <a:rect r="r" b="b" t="t" l="l"/>
            <a:pathLst>
              <a:path h="1357604" w="1340634">
                <a:moveTo>
                  <a:pt x="0" y="0"/>
                </a:moveTo>
                <a:lnTo>
                  <a:pt x="1340635" y="0"/>
                </a:lnTo>
                <a:lnTo>
                  <a:pt x="1340635" y="1357604"/>
                </a:lnTo>
                <a:lnTo>
                  <a:pt x="0" y="1357604"/>
                </a:lnTo>
                <a:lnTo>
                  <a:pt x="0" y="0"/>
                </a:lnTo>
                <a:close/>
              </a:path>
            </a:pathLst>
          </a:custGeom>
          <a:blipFill>
            <a:blip r:embed="rId3"/>
            <a:stretch>
              <a:fillRect l="0" t="0" r="0" b="0"/>
            </a:stretch>
          </a:blipFill>
        </p:spPr>
      </p:sp>
      <p:grpSp>
        <p:nvGrpSpPr>
          <p:cNvPr name="Group 23" id="23"/>
          <p:cNvGrpSpPr/>
          <p:nvPr/>
        </p:nvGrpSpPr>
        <p:grpSpPr>
          <a:xfrm rot="0">
            <a:off x="11726978" y="1893537"/>
            <a:ext cx="1164366" cy="1164366"/>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sp>
        <p:sp>
          <p:nvSpPr>
            <p:cNvPr name="TextBox 25" id="25"/>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TextBox 26" id="26"/>
          <p:cNvSpPr txBox="true"/>
          <p:nvPr/>
        </p:nvSpPr>
        <p:spPr>
          <a:xfrm rot="0">
            <a:off x="13314054" y="1996282"/>
            <a:ext cx="4973946"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Champ géographique</a:t>
            </a:r>
          </a:p>
        </p:txBody>
      </p:sp>
      <p:sp>
        <p:nvSpPr>
          <p:cNvPr name="Freeform 27" id="27"/>
          <p:cNvSpPr/>
          <p:nvPr/>
        </p:nvSpPr>
        <p:spPr>
          <a:xfrm flipH="false" flipV="false" rot="0">
            <a:off x="12058525" y="2282557"/>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slow">
    <p:push dir="l"/>
  </p:transition>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grpSp>
        <p:nvGrpSpPr>
          <p:cNvPr name="Group 2" id="2"/>
          <p:cNvGrpSpPr/>
          <p:nvPr/>
        </p:nvGrpSpPr>
        <p:grpSpPr>
          <a:xfrm rot="0">
            <a:off x="7440013" y="1014121"/>
            <a:ext cx="1223547" cy="248043"/>
            <a:chOff x="0" y="0"/>
            <a:chExt cx="1631396" cy="330724"/>
          </a:xfrm>
        </p:grpSpPr>
        <p:grpSp>
          <p:nvGrpSpPr>
            <p:cNvPr name="Group 3" id="3"/>
            <p:cNvGrpSpPr/>
            <p:nvPr/>
          </p:nvGrpSpPr>
          <p:grpSpPr>
            <a:xfrm rot="0">
              <a:off x="651264" y="0"/>
              <a:ext cx="330724" cy="33072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300672" y="0"/>
              <a:ext cx="330724" cy="33072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0"/>
              <a:ext cx="330724" cy="33072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sp>
        <p:nvSpPr>
          <p:cNvPr name="TextBox 12" id="12"/>
          <p:cNvSpPr txBox="true"/>
          <p:nvPr/>
        </p:nvSpPr>
        <p:spPr>
          <a:xfrm rot="0">
            <a:off x="1028700" y="846689"/>
            <a:ext cx="6110174" cy="706731"/>
          </a:xfrm>
          <a:prstGeom prst="rect">
            <a:avLst/>
          </a:prstGeom>
        </p:spPr>
        <p:txBody>
          <a:bodyPr anchor="t" rtlCol="false" tIns="0" lIns="0" bIns="0" rIns="0">
            <a:spAutoFit/>
          </a:bodyPr>
          <a:lstStyle/>
          <a:p>
            <a:pPr algn="l">
              <a:lnSpc>
                <a:spcPts val="5261"/>
              </a:lnSpc>
            </a:pPr>
            <a:r>
              <a:rPr lang="en-US" sz="5480" b="true">
                <a:solidFill>
                  <a:srgbClr val="323840"/>
                </a:solidFill>
                <a:latin typeface="TT Interphases Bold"/>
                <a:ea typeface="TT Interphases Bold"/>
                <a:cs typeface="TT Interphases Bold"/>
                <a:sym typeface="TT Interphases Bold"/>
              </a:rPr>
              <a:t>Base de sondage</a:t>
            </a:r>
          </a:p>
        </p:txBody>
      </p:sp>
      <p:sp>
        <p:nvSpPr>
          <p:cNvPr name="Freeform 13" id="13"/>
          <p:cNvSpPr/>
          <p:nvPr/>
        </p:nvSpPr>
        <p:spPr>
          <a:xfrm flipH="false" flipV="false" rot="2127493">
            <a:off x="9955172" y="-714632"/>
            <a:ext cx="12746347" cy="12746347"/>
          </a:xfrm>
          <a:custGeom>
            <a:avLst/>
            <a:gdLst/>
            <a:ahLst/>
            <a:cxnLst/>
            <a:rect r="r" b="b" t="t" l="l"/>
            <a:pathLst>
              <a:path h="12746347" w="12746347">
                <a:moveTo>
                  <a:pt x="0" y="0"/>
                </a:moveTo>
                <a:lnTo>
                  <a:pt x="12746348" y="0"/>
                </a:lnTo>
                <a:lnTo>
                  <a:pt x="12746348" y="12746348"/>
                </a:lnTo>
                <a:lnTo>
                  <a:pt x="0" y="12746348"/>
                </a:lnTo>
                <a:lnTo>
                  <a:pt x="0" y="0"/>
                </a:lnTo>
                <a:close/>
              </a:path>
            </a:pathLst>
          </a:custGeom>
          <a:blipFill>
            <a:blip r:embed="rId2">
              <a:alphaModFix amt="18000"/>
            </a:blip>
            <a:stretch>
              <a:fillRect l="0" t="0" r="0" b="0"/>
            </a:stretch>
          </a:blipFill>
        </p:spPr>
      </p:sp>
      <p:sp>
        <p:nvSpPr>
          <p:cNvPr name="TextBox 14" id="14"/>
          <p:cNvSpPr txBox="true"/>
          <p:nvPr/>
        </p:nvSpPr>
        <p:spPr>
          <a:xfrm rot="0">
            <a:off x="1028700" y="3555868"/>
            <a:ext cx="8488664" cy="4060572"/>
          </a:xfrm>
          <a:prstGeom prst="rect">
            <a:avLst/>
          </a:prstGeom>
        </p:spPr>
        <p:txBody>
          <a:bodyPr anchor="t" rtlCol="false" tIns="0" lIns="0" bIns="0" rIns="0">
            <a:spAutoFit/>
          </a:bodyPr>
          <a:lstStyle/>
          <a:p>
            <a:pPr algn="l">
              <a:lnSpc>
                <a:spcPts val="4033"/>
              </a:lnSpc>
            </a:pPr>
            <a:r>
              <a:rPr lang="en-US" sz="3734">
                <a:solidFill>
                  <a:srgbClr val="323840"/>
                </a:solidFill>
                <a:latin typeface="TT Interphases"/>
                <a:ea typeface="TT Interphases"/>
                <a:cs typeface="TT Interphases"/>
                <a:sym typeface="TT Interphases"/>
              </a:rPr>
              <a:t>La base de sondage utilisée sera aréolaire, c’est‑à‑dire constituée des districts de recensement (DR) de la région de Dakar. Ces DR proviennent du cinquième Recensement Général de la Population et de l’Habitat (RGPH‑5) et constituent nos unités primaires d’échantillonnage.</a:t>
            </a:r>
          </a:p>
        </p:txBody>
      </p:sp>
      <p:sp>
        <p:nvSpPr>
          <p:cNvPr name="Freeform 15" id="15"/>
          <p:cNvSpPr/>
          <p:nvPr/>
        </p:nvSpPr>
        <p:spPr>
          <a:xfrm flipH="false" flipV="false" rot="0">
            <a:off x="10165064" y="-564524"/>
            <a:ext cx="12326565" cy="12482597"/>
          </a:xfrm>
          <a:custGeom>
            <a:avLst/>
            <a:gdLst/>
            <a:ahLst/>
            <a:cxnLst/>
            <a:rect r="r" b="b" t="t" l="l"/>
            <a:pathLst>
              <a:path h="12482597" w="12326565">
                <a:moveTo>
                  <a:pt x="0" y="0"/>
                </a:moveTo>
                <a:lnTo>
                  <a:pt x="12326564" y="0"/>
                </a:lnTo>
                <a:lnTo>
                  <a:pt x="12326564" y="12482598"/>
                </a:lnTo>
                <a:lnTo>
                  <a:pt x="0" y="12482598"/>
                </a:lnTo>
                <a:lnTo>
                  <a:pt x="0" y="0"/>
                </a:lnTo>
                <a:close/>
              </a:path>
            </a:pathLst>
          </a:custGeom>
          <a:blipFill>
            <a:blip r:embed="rId3"/>
            <a:stretch>
              <a:fillRect l="0" t="0" r="0" b="0"/>
            </a:stretch>
          </a:blipFill>
        </p:spPr>
      </p:sp>
      <p:sp>
        <p:nvSpPr>
          <p:cNvPr name="Freeform 16" id="16"/>
          <p:cNvSpPr/>
          <p:nvPr/>
        </p:nvSpPr>
        <p:spPr>
          <a:xfrm flipH="false" flipV="false" rot="0">
            <a:off x="11758037" y="8150415"/>
            <a:ext cx="1340634" cy="1357604"/>
          </a:xfrm>
          <a:custGeom>
            <a:avLst/>
            <a:gdLst/>
            <a:ahLst/>
            <a:cxnLst/>
            <a:rect r="r" b="b" t="t" l="l"/>
            <a:pathLst>
              <a:path h="1357604" w="1340634">
                <a:moveTo>
                  <a:pt x="0" y="0"/>
                </a:moveTo>
                <a:lnTo>
                  <a:pt x="1340634" y="0"/>
                </a:lnTo>
                <a:lnTo>
                  <a:pt x="1340634" y="1357605"/>
                </a:lnTo>
                <a:lnTo>
                  <a:pt x="0" y="1357605"/>
                </a:lnTo>
                <a:lnTo>
                  <a:pt x="0" y="0"/>
                </a:lnTo>
                <a:close/>
              </a:path>
            </a:pathLst>
          </a:custGeom>
          <a:blipFill>
            <a:blip r:embed="rId3"/>
            <a:stretch>
              <a:fillRect l="0" t="0" r="0" b="0"/>
            </a:stretch>
          </a:blipFill>
        </p:spPr>
      </p:sp>
      <p:grpSp>
        <p:nvGrpSpPr>
          <p:cNvPr name="Group 17" id="17"/>
          <p:cNvGrpSpPr/>
          <p:nvPr/>
        </p:nvGrpSpPr>
        <p:grpSpPr>
          <a:xfrm rot="0">
            <a:off x="11846171" y="8247035"/>
            <a:ext cx="1164366" cy="116436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19" id="19"/>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Freeform 20" id="20"/>
          <p:cNvSpPr/>
          <p:nvPr/>
        </p:nvSpPr>
        <p:spPr>
          <a:xfrm flipH="false" flipV="false" rot="0">
            <a:off x="12171497" y="8629832"/>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13427025" y="8343557"/>
            <a:ext cx="3832275"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Base de sondage</a:t>
            </a:r>
          </a:p>
        </p:txBody>
      </p:sp>
      <p:sp>
        <p:nvSpPr>
          <p:cNvPr name="Freeform 22" id="22"/>
          <p:cNvSpPr/>
          <p:nvPr/>
        </p:nvSpPr>
        <p:spPr>
          <a:xfrm flipH="false" flipV="false" rot="0">
            <a:off x="10544764" y="4780354"/>
            <a:ext cx="1340634" cy="1357604"/>
          </a:xfrm>
          <a:custGeom>
            <a:avLst/>
            <a:gdLst/>
            <a:ahLst/>
            <a:cxnLst/>
            <a:rect r="r" b="b" t="t" l="l"/>
            <a:pathLst>
              <a:path h="1357604" w="1340634">
                <a:moveTo>
                  <a:pt x="0" y="0"/>
                </a:moveTo>
                <a:lnTo>
                  <a:pt x="1340634" y="0"/>
                </a:lnTo>
                <a:lnTo>
                  <a:pt x="1340634" y="1357605"/>
                </a:lnTo>
                <a:lnTo>
                  <a:pt x="0" y="1357605"/>
                </a:lnTo>
                <a:lnTo>
                  <a:pt x="0" y="0"/>
                </a:lnTo>
                <a:close/>
              </a:path>
            </a:pathLst>
          </a:custGeom>
          <a:blipFill>
            <a:blip r:embed="rId3"/>
            <a:stretch>
              <a:fillRect l="0" t="0" r="0" b="0"/>
            </a:stretch>
          </a:blipFill>
        </p:spPr>
      </p:sp>
      <p:grpSp>
        <p:nvGrpSpPr>
          <p:cNvPr name="Group 23" id="23"/>
          <p:cNvGrpSpPr/>
          <p:nvPr/>
        </p:nvGrpSpPr>
        <p:grpSpPr>
          <a:xfrm rot="0">
            <a:off x="10632898" y="4876974"/>
            <a:ext cx="1164366" cy="1164366"/>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25" id="25"/>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TextBox 26" id="26"/>
          <p:cNvSpPr txBox="true"/>
          <p:nvPr/>
        </p:nvSpPr>
        <p:spPr>
          <a:xfrm rot="0">
            <a:off x="12119104" y="5048222"/>
            <a:ext cx="4825393"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Population cible</a:t>
            </a:r>
          </a:p>
        </p:txBody>
      </p:sp>
      <p:sp>
        <p:nvSpPr>
          <p:cNvPr name="Freeform 27" id="27"/>
          <p:cNvSpPr/>
          <p:nvPr/>
        </p:nvSpPr>
        <p:spPr>
          <a:xfrm flipH="false" flipV="false" rot="0">
            <a:off x="10958223" y="5259771"/>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0">
            <a:off x="11645065" y="1803140"/>
            <a:ext cx="1340634" cy="1357604"/>
          </a:xfrm>
          <a:custGeom>
            <a:avLst/>
            <a:gdLst/>
            <a:ahLst/>
            <a:cxnLst/>
            <a:rect r="r" b="b" t="t" l="l"/>
            <a:pathLst>
              <a:path h="1357604" w="1340634">
                <a:moveTo>
                  <a:pt x="0" y="0"/>
                </a:moveTo>
                <a:lnTo>
                  <a:pt x="1340635" y="0"/>
                </a:lnTo>
                <a:lnTo>
                  <a:pt x="1340635" y="1357604"/>
                </a:lnTo>
                <a:lnTo>
                  <a:pt x="0" y="1357604"/>
                </a:lnTo>
                <a:lnTo>
                  <a:pt x="0" y="0"/>
                </a:lnTo>
                <a:close/>
              </a:path>
            </a:pathLst>
          </a:custGeom>
          <a:blipFill>
            <a:blip r:embed="rId3"/>
            <a:stretch>
              <a:fillRect l="0" t="0" r="0" b="0"/>
            </a:stretch>
          </a:blipFill>
        </p:spPr>
      </p:sp>
      <p:grpSp>
        <p:nvGrpSpPr>
          <p:cNvPr name="Group 29" id="29"/>
          <p:cNvGrpSpPr/>
          <p:nvPr/>
        </p:nvGrpSpPr>
        <p:grpSpPr>
          <a:xfrm rot="0">
            <a:off x="11726978" y="1893537"/>
            <a:ext cx="1164366" cy="1164366"/>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sp>
        <p:sp>
          <p:nvSpPr>
            <p:cNvPr name="TextBox 31" id="31"/>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TextBox 32" id="32"/>
          <p:cNvSpPr txBox="true"/>
          <p:nvPr/>
        </p:nvSpPr>
        <p:spPr>
          <a:xfrm rot="0">
            <a:off x="13314054" y="1996282"/>
            <a:ext cx="4973946"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Champ géographique</a:t>
            </a:r>
          </a:p>
        </p:txBody>
      </p:sp>
      <p:sp>
        <p:nvSpPr>
          <p:cNvPr name="Freeform 33" id="33"/>
          <p:cNvSpPr/>
          <p:nvPr/>
        </p:nvSpPr>
        <p:spPr>
          <a:xfrm flipH="false" flipV="false" rot="0">
            <a:off x="12058525" y="2282557"/>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slow">
    <p:push dir="l"/>
  </p:transition>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grpSp>
        <p:nvGrpSpPr>
          <p:cNvPr name="Group 2" id="2"/>
          <p:cNvGrpSpPr/>
          <p:nvPr/>
        </p:nvGrpSpPr>
        <p:grpSpPr>
          <a:xfrm rot="0">
            <a:off x="7440013" y="1014121"/>
            <a:ext cx="1223547" cy="248043"/>
            <a:chOff x="0" y="0"/>
            <a:chExt cx="1631396" cy="330724"/>
          </a:xfrm>
        </p:grpSpPr>
        <p:grpSp>
          <p:nvGrpSpPr>
            <p:cNvPr name="Group 3" id="3"/>
            <p:cNvGrpSpPr/>
            <p:nvPr/>
          </p:nvGrpSpPr>
          <p:grpSpPr>
            <a:xfrm rot="0">
              <a:off x="651264" y="0"/>
              <a:ext cx="330724" cy="33072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300672" y="0"/>
              <a:ext cx="330724" cy="33072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0"/>
              <a:ext cx="330724" cy="33072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sp>
        <p:nvSpPr>
          <p:cNvPr name="TextBox 12" id="12"/>
          <p:cNvSpPr txBox="true"/>
          <p:nvPr/>
        </p:nvSpPr>
        <p:spPr>
          <a:xfrm rot="0">
            <a:off x="1028700" y="846689"/>
            <a:ext cx="6110174" cy="1370236"/>
          </a:xfrm>
          <a:prstGeom prst="rect">
            <a:avLst/>
          </a:prstGeom>
        </p:spPr>
        <p:txBody>
          <a:bodyPr anchor="t" rtlCol="false" tIns="0" lIns="0" bIns="0" rIns="0">
            <a:spAutoFit/>
          </a:bodyPr>
          <a:lstStyle/>
          <a:p>
            <a:pPr algn="l">
              <a:lnSpc>
                <a:spcPts val="5261"/>
              </a:lnSpc>
            </a:pPr>
            <a:r>
              <a:rPr lang="en-US" sz="5480" b="true">
                <a:solidFill>
                  <a:srgbClr val="323840"/>
                </a:solidFill>
                <a:latin typeface="TT Interphases Bold"/>
                <a:ea typeface="TT Interphases Bold"/>
                <a:cs typeface="TT Interphases Bold"/>
                <a:sym typeface="TT Interphases Bold"/>
              </a:rPr>
              <a:t>Taille de l’échantillon</a:t>
            </a:r>
          </a:p>
        </p:txBody>
      </p:sp>
      <p:sp>
        <p:nvSpPr>
          <p:cNvPr name="Freeform 13" id="13"/>
          <p:cNvSpPr/>
          <p:nvPr/>
        </p:nvSpPr>
        <p:spPr>
          <a:xfrm flipH="false" flipV="false" rot="2127493">
            <a:off x="9955172" y="-714632"/>
            <a:ext cx="12746347" cy="12746347"/>
          </a:xfrm>
          <a:custGeom>
            <a:avLst/>
            <a:gdLst/>
            <a:ahLst/>
            <a:cxnLst/>
            <a:rect r="r" b="b" t="t" l="l"/>
            <a:pathLst>
              <a:path h="12746347" w="12746347">
                <a:moveTo>
                  <a:pt x="0" y="0"/>
                </a:moveTo>
                <a:lnTo>
                  <a:pt x="12746348" y="0"/>
                </a:lnTo>
                <a:lnTo>
                  <a:pt x="12746348" y="12746348"/>
                </a:lnTo>
                <a:lnTo>
                  <a:pt x="0" y="12746348"/>
                </a:lnTo>
                <a:lnTo>
                  <a:pt x="0" y="0"/>
                </a:lnTo>
                <a:close/>
              </a:path>
            </a:pathLst>
          </a:custGeom>
          <a:blipFill>
            <a:blip r:embed="rId2">
              <a:alphaModFix amt="18000"/>
            </a:blip>
            <a:stretch>
              <a:fillRect l="0" t="0" r="0" b="0"/>
            </a:stretch>
          </a:blipFill>
        </p:spPr>
      </p:sp>
      <p:sp>
        <p:nvSpPr>
          <p:cNvPr name="TextBox 14" id="14"/>
          <p:cNvSpPr txBox="true"/>
          <p:nvPr/>
        </p:nvSpPr>
        <p:spPr>
          <a:xfrm rot="0">
            <a:off x="1028700" y="3376910"/>
            <a:ext cx="8488664" cy="4566981"/>
          </a:xfrm>
          <a:prstGeom prst="rect">
            <a:avLst/>
          </a:prstGeom>
        </p:spPr>
        <p:txBody>
          <a:bodyPr anchor="t" rtlCol="false" tIns="0" lIns="0" bIns="0" rIns="0">
            <a:spAutoFit/>
          </a:bodyPr>
          <a:lstStyle/>
          <a:p>
            <a:pPr algn="l">
              <a:lnSpc>
                <a:spcPts val="4033"/>
              </a:lnSpc>
            </a:pPr>
            <a:r>
              <a:rPr lang="en-US" sz="3734">
                <a:solidFill>
                  <a:srgbClr val="323840"/>
                </a:solidFill>
                <a:latin typeface="TT Interphases"/>
                <a:ea typeface="TT Interphases"/>
                <a:cs typeface="TT Interphases"/>
                <a:sym typeface="TT Interphases"/>
              </a:rPr>
              <a:t>La taille de l’échantillon (n) est calculée de façon empirique en tenant compte de la durée moyenne d’administration d’un questionnaire, du temps mis pour partir d’un ménage à un autre, et de la durée de collecte de données.</a:t>
            </a:r>
          </a:p>
          <a:p>
            <a:pPr algn="l">
              <a:lnSpc>
                <a:spcPts val="4033"/>
              </a:lnSpc>
            </a:pPr>
          </a:p>
          <a:p>
            <a:pPr algn="l">
              <a:lnSpc>
                <a:spcPts val="4033"/>
              </a:lnSpc>
            </a:pPr>
            <a:r>
              <a:rPr lang="en-US" sz="3734">
                <a:solidFill>
                  <a:srgbClr val="323840"/>
                </a:solidFill>
                <a:latin typeface="TT Interphases"/>
                <a:ea typeface="TT Interphases"/>
                <a:cs typeface="TT Interphases"/>
                <a:sym typeface="TT Interphases"/>
              </a:rPr>
              <a:t>Au total, deux cent six (206) étudiants participent à l’enquête.</a:t>
            </a:r>
          </a:p>
        </p:txBody>
      </p:sp>
      <p:sp>
        <p:nvSpPr>
          <p:cNvPr name="Freeform 15" id="15"/>
          <p:cNvSpPr/>
          <p:nvPr/>
        </p:nvSpPr>
        <p:spPr>
          <a:xfrm flipH="false" flipV="false" rot="0">
            <a:off x="10165064" y="-564524"/>
            <a:ext cx="12326565" cy="12482597"/>
          </a:xfrm>
          <a:custGeom>
            <a:avLst/>
            <a:gdLst/>
            <a:ahLst/>
            <a:cxnLst/>
            <a:rect r="r" b="b" t="t" l="l"/>
            <a:pathLst>
              <a:path h="12482597" w="12326565">
                <a:moveTo>
                  <a:pt x="0" y="0"/>
                </a:moveTo>
                <a:lnTo>
                  <a:pt x="12326564" y="0"/>
                </a:lnTo>
                <a:lnTo>
                  <a:pt x="12326564" y="12482598"/>
                </a:lnTo>
                <a:lnTo>
                  <a:pt x="0" y="12482598"/>
                </a:lnTo>
                <a:lnTo>
                  <a:pt x="0" y="0"/>
                </a:lnTo>
                <a:close/>
              </a:path>
            </a:pathLst>
          </a:custGeom>
          <a:blipFill>
            <a:blip r:embed="rId3"/>
            <a:stretch>
              <a:fillRect l="0" t="0" r="0" b="0"/>
            </a:stretch>
          </a:blipFill>
        </p:spPr>
      </p:sp>
      <p:sp>
        <p:nvSpPr>
          <p:cNvPr name="Freeform 16" id="16"/>
          <p:cNvSpPr/>
          <p:nvPr/>
        </p:nvSpPr>
        <p:spPr>
          <a:xfrm flipH="false" flipV="false" rot="0">
            <a:off x="11758037" y="8150415"/>
            <a:ext cx="1340634" cy="1357604"/>
          </a:xfrm>
          <a:custGeom>
            <a:avLst/>
            <a:gdLst/>
            <a:ahLst/>
            <a:cxnLst/>
            <a:rect r="r" b="b" t="t" l="l"/>
            <a:pathLst>
              <a:path h="1357604" w="1340634">
                <a:moveTo>
                  <a:pt x="0" y="0"/>
                </a:moveTo>
                <a:lnTo>
                  <a:pt x="1340634" y="0"/>
                </a:lnTo>
                <a:lnTo>
                  <a:pt x="1340634" y="1357605"/>
                </a:lnTo>
                <a:lnTo>
                  <a:pt x="0" y="1357605"/>
                </a:lnTo>
                <a:lnTo>
                  <a:pt x="0" y="0"/>
                </a:lnTo>
                <a:close/>
              </a:path>
            </a:pathLst>
          </a:custGeom>
          <a:blipFill>
            <a:blip r:embed="rId3"/>
            <a:stretch>
              <a:fillRect l="0" t="0" r="0" b="0"/>
            </a:stretch>
          </a:blipFill>
        </p:spPr>
      </p:sp>
      <p:grpSp>
        <p:nvGrpSpPr>
          <p:cNvPr name="Group 17" id="17"/>
          <p:cNvGrpSpPr/>
          <p:nvPr/>
        </p:nvGrpSpPr>
        <p:grpSpPr>
          <a:xfrm rot="0">
            <a:off x="11846171" y="8247035"/>
            <a:ext cx="1164366" cy="116436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2E69"/>
            </a:solidFill>
          </p:spPr>
        </p:sp>
        <p:sp>
          <p:nvSpPr>
            <p:cNvPr name="TextBox 19" id="19"/>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Freeform 20" id="20"/>
          <p:cNvSpPr/>
          <p:nvPr/>
        </p:nvSpPr>
        <p:spPr>
          <a:xfrm flipH="false" flipV="false" rot="0">
            <a:off x="12171497" y="8629832"/>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12171497" y="5225909"/>
            <a:ext cx="3832275"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Base de sondage</a:t>
            </a:r>
          </a:p>
        </p:txBody>
      </p:sp>
      <p:sp>
        <p:nvSpPr>
          <p:cNvPr name="Freeform 22" id="22"/>
          <p:cNvSpPr/>
          <p:nvPr/>
        </p:nvSpPr>
        <p:spPr>
          <a:xfrm flipH="false" flipV="false" rot="0">
            <a:off x="10544764" y="4780354"/>
            <a:ext cx="1340634" cy="1357604"/>
          </a:xfrm>
          <a:custGeom>
            <a:avLst/>
            <a:gdLst/>
            <a:ahLst/>
            <a:cxnLst/>
            <a:rect r="r" b="b" t="t" l="l"/>
            <a:pathLst>
              <a:path h="1357604" w="1340634">
                <a:moveTo>
                  <a:pt x="0" y="0"/>
                </a:moveTo>
                <a:lnTo>
                  <a:pt x="1340634" y="0"/>
                </a:lnTo>
                <a:lnTo>
                  <a:pt x="1340634" y="1357605"/>
                </a:lnTo>
                <a:lnTo>
                  <a:pt x="0" y="1357605"/>
                </a:lnTo>
                <a:lnTo>
                  <a:pt x="0" y="0"/>
                </a:lnTo>
                <a:close/>
              </a:path>
            </a:pathLst>
          </a:custGeom>
          <a:blipFill>
            <a:blip r:embed="rId3"/>
            <a:stretch>
              <a:fillRect l="0" t="0" r="0" b="0"/>
            </a:stretch>
          </a:blipFill>
        </p:spPr>
      </p:sp>
      <p:grpSp>
        <p:nvGrpSpPr>
          <p:cNvPr name="Group 23" id="23"/>
          <p:cNvGrpSpPr/>
          <p:nvPr/>
        </p:nvGrpSpPr>
        <p:grpSpPr>
          <a:xfrm rot="0">
            <a:off x="10632898" y="4876974"/>
            <a:ext cx="1164366" cy="1164366"/>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25" id="25"/>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TextBox 26" id="26"/>
          <p:cNvSpPr txBox="true"/>
          <p:nvPr/>
        </p:nvSpPr>
        <p:spPr>
          <a:xfrm rot="0">
            <a:off x="13098671" y="2242473"/>
            <a:ext cx="4825393"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Population cible</a:t>
            </a:r>
          </a:p>
        </p:txBody>
      </p:sp>
      <p:sp>
        <p:nvSpPr>
          <p:cNvPr name="Freeform 27" id="27"/>
          <p:cNvSpPr/>
          <p:nvPr/>
        </p:nvSpPr>
        <p:spPr>
          <a:xfrm flipH="false" flipV="false" rot="0">
            <a:off x="10958223" y="5259771"/>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0">
            <a:off x="11645065" y="1803140"/>
            <a:ext cx="1340634" cy="1357604"/>
          </a:xfrm>
          <a:custGeom>
            <a:avLst/>
            <a:gdLst/>
            <a:ahLst/>
            <a:cxnLst/>
            <a:rect r="r" b="b" t="t" l="l"/>
            <a:pathLst>
              <a:path h="1357604" w="1340634">
                <a:moveTo>
                  <a:pt x="0" y="0"/>
                </a:moveTo>
                <a:lnTo>
                  <a:pt x="1340635" y="0"/>
                </a:lnTo>
                <a:lnTo>
                  <a:pt x="1340635" y="1357604"/>
                </a:lnTo>
                <a:lnTo>
                  <a:pt x="0" y="1357604"/>
                </a:lnTo>
                <a:lnTo>
                  <a:pt x="0" y="0"/>
                </a:lnTo>
                <a:close/>
              </a:path>
            </a:pathLst>
          </a:custGeom>
          <a:blipFill>
            <a:blip r:embed="rId3"/>
            <a:stretch>
              <a:fillRect l="0" t="0" r="0" b="0"/>
            </a:stretch>
          </a:blipFill>
        </p:spPr>
      </p:sp>
      <p:grpSp>
        <p:nvGrpSpPr>
          <p:cNvPr name="Group 29" id="29"/>
          <p:cNvGrpSpPr/>
          <p:nvPr/>
        </p:nvGrpSpPr>
        <p:grpSpPr>
          <a:xfrm rot="0">
            <a:off x="11726978" y="1893537"/>
            <a:ext cx="1164366" cy="1164366"/>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8535"/>
            </a:solidFill>
          </p:spPr>
        </p:sp>
        <p:sp>
          <p:nvSpPr>
            <p:cNvPr name="TextBox 31" id="31"/>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Freeform 32" id="32"/>
          <p:cNvSpPr/>
          <p:nvPr/>
        </p:nvSpPr>
        <p:spPr>
          <a:xfrm flipH="false" flipV="false" rot="0">
            <a:off x="12058525" y="2282557"/>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3" id="33"/>
          <p:cNvSpPr txBox="true"/>
          <p:nvPr/>
        </p:nvSpPr>
        <p:spPr>
          <a:xfrm rot="0">
            <a:off x="13098671" y="8595970"/>
            <a:ext cx="4825393"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Taille de l’échantillon</a:t>
            </a:r>
          </a:p>
        </p:txBody>
      </p:sp>
    </p:spTree>
  </p:cSld>
  <p:clrMapOvr>
    <a:masterClrMapping/>
  </p:clrMapOvr>
  <p:transition spd="slow">
    <p:push dir="l"/>
  </p:transition>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grpSp>
        <p:nvGrpSpPr>
          <p:cNvPr name="Group 2" id="2"/>
          <p:cNvGrpSpPr/>
          <p:nvPr/>
        </p:nvGrpSpPr>
        <p:grpSpPr>
          <a:xfrm rot="0">
            <a:off x="7440013" y="1014121"/>
            <a:ext cx="1223547" cy="248043"/>
            <a:chOff x="0" y="0"/>
            <a:chExt cx="1631396" cy="330724"/>
          </a:xfrm>
        </p:grpSpPr>
        <p:grpSp>
          <p:nvGrpSpPr>
            <p:cNvPr name="Group 3" id="3"/>
            <p:cNvGrpSpPr/>
            <p:nvPr/>
          </p:nvGrpSpPr>
          <p:grpSpPr>
            <a:xfrm rot="0">
              <a:off x="651264" y="0"/>
              <a:ext cx="330724" cy="33072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300672" y="0"/>
              <a:ext cx="330724" cy="33072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0"/>
              <a:ext cx="330724" cy="33072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sp>
        <p:nvSpPr>
          <p:cNvPr name="TextBox 12" id="12"/>
          <p:cNvSpPr txBox="true"/>
          <p:nvPr/>
        </p:nvSpPr>
        <p:spPr>
          <a:xfrm rot="0">
            <a:off x="1028700" y="846689"/>
            <a:ext cx="6110174" cy="1370236"/>
          </a:xfrm>
          <a:prstGeom prst="rect">
            <a:avLst/>
          </a:prstGeom>
        </p:spPr>
        <p:txBody>
          <a:bodyPr anchor="t" rtlCol="false" tIns="0" lIns="0" bIns="0" rIns="0">
            <a:spAutoFit/>
          </a:bodyPr>
          <a:lstStyle/>
          <a:p>
            <a:pPr algn="l">
              <a:lnSpc>
                <a:spcPts val="5261"/>
              </a:lnSpc>
            </a:pPr>
            <a:r>
              <a:rPr lang="en-US" sz="5480" b="true">
                <a:solidFill>
                  <a:srgbClr val="323840"/>
                </a:solidFill>
                <a:latin typeface="TT Interphases Bold"/>
                <a:ea typeface="TT Interphases Bold"/>
                <a:cs typeface="TT Interphases Bold"/>
                <a:sym typeface="TT Interphases Bold"/>
              </a:rPr>
              <a:t>Taille de l’échantillon</a:t>
            </a:r>
          </a:p>
        </p:txBody>
      </p:sp>
      <p:sp>
        <p:nvSpPr>
          <p:cNvPr name="Freeform 13" id="13"/>
          <p:cNvSpPr/>
          <p:nvPr/>
        </p:nvSpPr>
        <p:spPr>
          <a:xfrm flipH="false" flipV="false" rot="2127493">
            <a:off x="9955172" y="-714632"/>
            <a:ext cx="12746347" cy="12746347"/>
          </a:xfrm>
          <a:custGeom>
            <a:avLst/>
            <a:gdLst/>
            <a:ahLst/>
            <a:cxnLst/>
            <a:rect r="r" b="b" t="t" l="l"/>
            <a:pathLst>
              <a:path h="12746347" w="12746347">
                <a:moveTo>
                  <a:pt x="0" y="0"/>
                </a:moveTo>
                <a:lnTo>
                  <a:pt x="12746348" y="0"/>
                </a:lnTo>
                <a:lnTo>
                  <a:pt x="12746348" y="12746348"/>
                </a:lnTo>
                <a:lnTo>
                  <a:pt x="0" y="12746348"/>
                </a:lnTo>
                <a:lnTo>
                  <a:pt x="0" y="0"/>
                </a:lnTo>
                <a:close/>
              </a:path>
            </a:pathLst>
          </a:custGeom>
          <a:blipFill>
            <a:blip r:embed="rId2">
              <a:alphaModFix amt="18000"/>
            </a:blip>
            <a:stretch>
              <a:fillRect l="0" t="0" r="0" b="0"/>
            </a:stretch>
          </a:blipFill>
        </p:spPr>
      </p:sp>
      <p:sp>
        <p:nvSpPr>
          <p:cNvPr name="TextBox 14" id="14"/>
          <p:cNvSpPr txBox="true"/>
          <p:nvPr/>
        </p:nvSpPr>
        <p:spPr>
          <a:xfrm rot="0">
            <a:off x="981075" y="2665680"/>
            <a:ext cx="8812514" cy="6086210"/>
          </a:xfrm>
          <a:prstGeom prst="rect">
            <a:avLst/>
          </a:prstGeom>
        </p:spPr>
        <p:txBody>
          <a:bodyPr anchor="t" rtlCol="false" tIns="0" lIns="0" bIns="0" rIns="0">
            <a:spAutoFit/>
          </a:bodyPr>
          <a:lstStyle/>
          <a:p>
            <a:pPr algn="l">
              <a:lnSpc>
                <a:spcPts val="4033"/>
              </a:lnSpc>
            </a:pPr>
            <a:r>
              <a:rPr lang="en-US" sz="3734">
                <a:solidFill>
                  <a:srgbClr val="323840"/>
                </a:solidFill>
                <a:latin typeface="TT Interphases"/>
                <a:ea typeface="TT Interphases"/>
                <a:cs typeface="TT Interphases"/>
                <a:sym typeface="TT Interphases"/>
              </a:rPr>
              <a:t>Conformément à la stratification, il sera affecté un superviseur assistant dans chaque arrondissement. Ainsi, on dénombre sept (10) superviseurs. Pour l’enquête il sera désigné un assistant à la coordination. Le reste de l’effectif (195) sera réparti en plusieurs équipes d’enquêteurs et auront chacune un contrôleur à leur tête. On choisit pour ce faire, soixante-cinq (65) groupes de trois (03) étudiants (un (01) contrôleur et deux (02) enquêteurs).</a:t>
            </a:r>
          </a:p>
        </p:txBody>
      </p:sp>
      <p:sp>
        <p:nvSpPr>
          <p:cNvPr name="Freeform 15" id="15"/>
          <p:cNvSpPr/>
          <p:nvPr/>
        </p:nvSpPr>
        <p:spPr>
          <a:xfrm flipH="false" flipV="false" rot="0">
            <a:off x="10165064" y="-564524"/>
            <a:ext cx="12326565" cy="12482597"/>
          </a:xfrm>
          <a:custGeom>
            <a:avLst/>
            <a:gdLst/>
            <a:ahLst/>
            <a:cxnLst/>
            <a:rect r="r" b="b" t="t" l="l"/>
            <a:pathLst>
              <a:path h="12482597" w="12326565">
                <a:moveTo>
                  <a:pt x="0" y="0"/>
                </a:moveTo>
                <a:lnTo>
                  <a:pt x="12326564" y="0"/>
                </a:lnTo>
                <a:lnTo>
                  <a:pt x="12326564" y="12482598"/>
                </a:lnTo>
                <a:lnTo>
                  <a:pt x="0" y="12482598"/>
                </a:lnTo>
                <a:lnTo>
                  <a:pt x="0" y="0"/>
                </a:lnTo>
                <a:close/>
              </a:path>
            </a:pathLst>
          </a:custGeom>
          <a:blipFill>
            <a:blip r:embed="rId3"/>
            <a:stretch>
              <a:fillRect l="0" t="0" r="0" b="0"/>
            </a:stretch>
          </a:blipFill>
        </p:spPr>
      </p:sp>
      <p:sp>
        <p:nvSpPr>
          <p:cNvPr name="Freeform 16" id="16"/>
          <p:cNvSpPr/>
          <p:nvPr/>
        </p:nvSpPr>
        <p:spPr>
          <a:xfrm flipH="false" flipV="false" rot="0">
            <a:off x="11758037" y="8150415"/>
            <a:ext cx="1340634" cy="1357604"/>
          </a:xfrm>
          <a:custGeom>
            <a:avLst/>
            <a:gdLst/>
            <a:ahLst/>
            <a:cxnLst/>
            <a:rect r="r" b="b" t="t" l="l"/>
            <a:pathLst>
              <a:path h="1357604" w="1340634">
                <a:moveTo>
                  <a:pt x="0" y="0"/>
                </a:moveTo>
                <a:lnTo>
                  <a:pt x="1340634" y="0"/>
                </a:lnTo>
                <a:lnTo>
                  <a:pt x="1340634" y="1357605"/>
                </a:lnTo>
                <a:lnTo>
                  <a:pt x="0" y="1357605"/>
                </a:lnTo>
                <a:lnTo>
                  <a:pt x="0" y="0"/>
                </a:lnTo>
                <a:close/>
              </a:path>
            </a:pathLst>
          </a:custGeom>
          <a:blipFill>
            <a:blip r:embed="rId3"/>
            <a:stretch>
              <a:fillRect l="0" t="0" r="0" b="0"/>
            </a:stretch>
          </a:blipFill>
        </p:spPr>
      </p:sp>
      <p:grpSp>
        <p:nvGrpSpPr>
          <p:cNvPr name="Group 17" id="17"/>
          <p:cNvGrpSpPr/>
          <p:nvPr/>
        </p:nvGrpSpPr>
        <p:grpSpPr>
          <a:xfrm rot="0">
            <a:off x="11846171" y="8247035"/>
            <a:ext cx="1164366" cy="116436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2E69"/>
            </a:solidFill>
          </p:spPr>
        </p:sp>
        <p:sp>
          <p:nvSpPr>
            <p:cNvPr name="TextBox 19" id="19"/>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Freeform 20" id="20"/>
          <p:cNvSpPr/>
          <p:nvPr/>
        </p:nvSpPr>
        <p:spPr>
          <a:xfrm flipH="false" flipV="false" rot="0">
            <a:off x="12171497" y="8629832"/>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12171497" y="5225909"/>
            <a:ext cx="3832275"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Base de sondage</a:t>
            </a:r>
          </a:p>
        </p:txBody>
      </p:sp>
      <p:sp>
        <p:nvSpPr>
          <p:cNvPr name="Freeform 22" id="22"/>
          <p:cNvSpPr/>
          <p:nvPr/>
        </p:nvSpPr>
        <p:spPr>
          <a:xfrm flipH="false" flipV="false" rot="0">
            <a:off x="10544764" y="4780354"/>
            <a:ext cx="1340634" cy="1357604"/>
          </a:xfrm>
          <a:custGeom>
            <a:avLst/>
            <a:gdLst/>
            <a:ahLst/>
            <a:cxnLst/>
            <a:rect r="r" b="b" t="t" l="l"/>
            <a:pathLst>
              <a:path h="1357604" w="1340634">
                <a:moveTo>
                  <a:pt x="0" y="0"/>
                </a:moveTo>
                <a:lnTo>
                  <a:pt x="1340634" y="0"/>
                </a:lnTo>
                <a:lnTo>
                  <a:pt x="1340634" y="1357605"/>
                </a:lnTo>
                <a:lnTo>
                  <a:pt x="0" y="1357605"/>
                </a:lnTo>
                <a:lnTo>
                  <a:pt x="0" y="0"/>
                </a:lnTo>
                <a:close/>
              </a:path>
            </a:pathLst>
          </a:custGeom>
          <a:blipFill>
            <a:blip r:embed="rId3"/>
            <a:stretch>
              <a:fillRect l="0" t="0" r="0" b="0"/>
            </a:stretch>
          </a:blipFill>
        </p:spPr>
      </p:sp>
      <p:grpSp>
        <p:nvGrpSpPr>
          <p:cNvPr name="Group 23" id="23"/>
          <p:cNvGrpSpPr/>
          <p:nvPr/>
        </p:nvGrpSpPr>
        <p:grpSpPr>
          <a:xfrm rot="0">
            <a:off x="10632898" y="4876974"/>
            <a:ext cx="1164366" cy="1164366"/>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25" id="25"/>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TextBox 26" id="26"/>
          <p:cNvSpPr txBox="true"/>
          <p:nvPr/>
        </p:nvSpPr>
        <p:spPr>
          <a:xfrm rot="0">
            <a:off x="13098671" y="2242473"/>
            <a:ext cx="4825393"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Population cible</a:t>
            </a:r>
          </a:p>
        </p:txBody>
      </p:sp>
      <p:sp>
        <p:nvSpPr>
          <p:cNvPr name="Freeform 27" id="27"/>
          <p:cNvSpPr/>
          <p:nvPr/>
        </p:nvSpPr>
        <p:spPr>
          <a:xfrm flipH="false" flipV="false" rot="0">
            <a:off x="10958223" y="5259771"/>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0">
            <a:off x="11645065" y="1803140"/>
            <a:ext cx="1340634" cy="1357604"/>
          </a:xfrm>
          <a:custGeom>
            <a:avLst/>
            <a:gdLst/>
            <a:ahLst/>
            <a:cxnLst/>
            <a:rect r="r" b="b" t="t" l="l"/>
            <a:pathLst>
              <a:path h="1357604" w="1340634">
                <a:moveTo>
                  <a:pt x="0" y="0"/>
                </a:moveTo>
                <a:lnTo>
                  <a:pt x="1340635" y="0"/>
                </a:lnTo>
                <a:lnTo>
                  <a:pt x="1340635" y="1357604"/>
                </a:lnTo>
                <a:lnTo>
                  <a:pt x="0" y="1357604"/>
                </a:lnTo>
                <a:lnTo>
                  <a:pt x="0" y="0"/>
                </a:lnTo>
                <a:close/>
              </a:path>
            </a:pathLst>
          </a:custGeom>
          <a:blipFill>
            <a:blip r:embed="rId3"/>
            <a:stretch>
              <a:fillRect l="0" t="0" r="0" b="0"/>
            </a:stretch>
          </a:blipFill>
        </p:spPr>
      </p:sp>
      <p:grpSp>
        <p:nvGrpSpPr>
          <p:cNvPr name="Group 29" id="29"/>
          <p:cNvGrpSpPr/>
          <p:nvPr/>
        </p:nvGrpSpPr>
        <p:grpSpPr>
          <a:xfrm rot="0">
            <a:off x="11726978" y="1893537"/>
            <a:ext cx="1164366" cy="1164366"/>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8535"/>
            </a:solidFill>
          </p:spPr>
        </p:sp>
        <p:sp>
          <p:nvSpPr>
            <p:cNvPr name="TextBox 31" id="31"/>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Freeform 32" id="32"/>
          <p:cNvSpPr/>
          <p:nvPr/>
        </p:nvSpPr>
        <p:spPr>
          <a:xfrm flipH="false" flipV="false" rot="0">
            <a:off x="12058525" y="2282557"/>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3" id="33"/>
          <p:cNvSpPr txBox="true"/>
          <p:nvPr/>
        </p:nvSpPr>
        <p:spPr>
          <a:xfrm rot="0">
            <a:off x="13098671" y="8595970"/>
            <a:ext cx="4825393"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Taille de l’échantillon</a:t>
            </a:r>
          </a:p>
        </p:txBody>
      </p:sp>
    </p:spTree>
  </p:cSld>
  <p:clrMapOvr>
    <a:masterClrMapping/>
  </p:clrMapOvr>
  <p:transition spd="slow">
    <p:push dir="l"/>
  </p:transition>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grpSp>
        <p:nvGrpSpPr>
          <p:cNvPr name="Group 2" id="2"/>
          <p:cNvGrpSpPr/>
          <p:nvPr/>
        </p:nvGrpSpPr>
        <p:grpSpPr>
          <a:xfrm rot="0">
            <a:off x="7440013" y="1014121"/>
            <a:ext cx="1223547" cy="248043"/>
            <a:chOff x="0" y="0"/>
            <a:chExt cx="1631396" cy="330724"/>
          </a:xfrm>
        </p:grpSpPr>
        <p:grpSp>
          <p:nvGrpSpPr>
            <p:cNvPr name="Group 3" id="3"/>
            <p:cNvGrpSpPr/>
            <p:nvPr/>
          </p:nvGrpSpPr>
          <p:grpSpPr>
            <a:xfrm rot="0">
              <a:off x="651264" y="0"/>
              <a:ext cx="330724" cy="33072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300672" y="0"/>
              <a:ext cx="330724" cy="33072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0"/>
              <a:ext cx="330724" cy="33072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sp>
        <p:nvSpPr>
          <p:cNvPr name="TextBox 12" id="12"/>
          <p:cNvSpPr txBox="true"/>
          <p:nvPr/>
        </p:nvSpPr>
        <p:spPr>
          <a:xfrm rot="0">
            <a:off x="1028700" y="846689"/>
            <a:ext cx="6110174" cy="1370236"/>
          </a:xfrm>
          <a:prstGeom prst="rect">
            <a:avLst/>
          </a:prstGeom>
        </p:spPr>
        <p:txBody>
          <a:bodyPr anchor="t" rtlCol="false" tIns="0" lIns="0" bIns="0" rIns="0">
            <a:spAutoFit/>
          </a:bodyPr>
          <a:lstStyle/>
          <a:p>
            <a:pPr algn="l">
              <a:lnSpc>
                <a:spcPts val="5261"/>
              </a:lnSpc>
            </a:pPr>
            <a:r>
              <a:rPr lang="en-US" sz="5480" b="true">
                <a:solidFill>
                  <a:srgbClr val="323840"/>
                </a:solidFill>
                <a:latin typeface="TT Interphases Bold"/>
                <a:ea typeface="TT Interphases Bold"/>
                <a:cs typeface="TT Interphases Bold"/>
                <a:sym typeface="TT Interphases Bold"/>
              </a:rPr>
              <a:t>Taille de l’échantillon</a:t>
            </a:r>
          </a:p>
        </p:txBody>
      </p:sp>
      <p:sp>
        <p:nvSpPr>
          <p:cNvPr name="Freeform 13" id="13"/>
          <p:cNvSpPr/>
          <p:nvPr/>
        </p:nvSpPr>
        <p:spPr>
          <a:xfrm flipH="false" flipV="false" rot="2127493">
            <a:off x="9955172" y="-714632"/>
            <a:ext cx="12746347" cy="12746347"/>
          </a:xfrm>
          <a:custGeom>
            <a:avLst/>
            <a:gdLst/>
            <a:ahLst/>
            <a:cxnLst/>
            <a:rect r="r" b="b" t="t" l="l"/>
            <a:pathLst>
              <a:path h="12746347" w="12746347">
                <a:moveTo>
                  <a:pt x="0" y="0"/>
                </a:moveTo>
                <a:lnTo>
                  <a:pt x="12746348" y="0"/>
                </a:lnTo>
                <a:lnTo>
                  <a:pt x="12746348" y="12746348"/>
                </a:lnTo>
                <a:lnTo>
                  <a:pt x="0" y="12746348"/>
                </a:lnTo>
                <a:lnTo>
                  <a:pt x="0" y="0"/>
                </a:lnTo>
                <a:close/>
              </a:path>
            </a:pathLst>
          </a:custGeom>
          <a:blipFill>
            <a:blip r:embed="rId2">
              <a:alphaModFix amt="18000"/>
            </a:blip>
            <a:stretch>
              <a:fillRect l="0" t="0" r="0" b="0"/>
            </a:stretch>
          </a:blipFill>
        </p:spPr>
      </p:sp>
      <p:sp>
        <p:nvSpPr>
          <p:cNvPr name="Freeform 14" id="14"/>
          <p:cNvSpPr/>
          <p:nvPr/>
        </p:nvSpPr>
        <p:spPr>
          <a:xfrm flipH="false" flipV="false" rot="0">
            <a:off x="10165064" y="-564524"/>
            <a:ext cx="12326565" cy="12482597"/>
          </a:xfrm>
          <a:custGeom>
            <a:avLst/>
            <a:gdLst/>
            <a:ahLst/>
            <a:cxnLst/>
            <a:rect r="r" b="b" t="t" l="l"/>
            <a:pathLst>
              <a:path h="12482597" w="12326565">
                <a:moveTo>
                  <a:pt x="0" y="0"/>
                </a:moveTo>
                <a:lnTo>
                  <a:pt x="12326564" y="0"/>
                </a:lnTo>
                <a:lnTo>
                  <a:pt x="12326564" y="12482598"/>
                </a:lnTo>
                <a:lnTo>
                  <a:pt x="0" y="12482598"/>
                </a:lnTo>
                <a:lnTo>
                  <a:pt x="0" y="0"/>
                </a:lnTo>
                <a:close/>
              </a:path>
            </a:pathLst>
          </a:custGeom>
          <a:blipFill>
            <a:blip r:embed="rId3"/>
            <a:stretch>
              <a:fillRect l="0" t="0" r="0" b="0"/>
            </a:stretch>
          </a:blipFill>
        </p:spPr>
      </p:sp>
      <p:sp>
        <p:nvSpPr>
          <p:cNvPr name="Freeform 15" id="15"/>
          <p:cNvSpPr/>
          <p:nvPr/>
        </p:nvSpPr>
        <p:spPr>
          <a:xfrm flipH="false" flipV="false" rot="0">
            <a:off x="11758037" y="8150415"/>
            <a:ext cx="1340634" cy="1357604"/>
          </a:xfrm>
          <a:custGeom>
            <a:avLst/>
            <a:gdLst/>
            <a:ahLst/>
            <a:cxnLst/>
            <a:rect r="r" b="b" t="t" l="l"/>
            <a:pathLst>
              <a:path h="1357604" w="1340634">
                <a:moveTo>
                  <a:pt x="0" y="0"/>
                </a:moveTo>
                <a:lnTo>
                  <a:pt x="1340634" y="0"/>
                </a:lnTo>
                <a:lnTo>
                  <a:pt x="1340634" y="1357605"/>
                </a:lnTo>
                <a:lnTo>
                  <a:pt x="0" y="1357605"/>
                </a:lnTo>
                <a:lnTo>
                  <a:pt x="0" y="0"/>
                </a:lnTo>
                <a:close/>
              </a:path>
            </a:pathLst>
          </a:custGeom>
          <a:blipFill>
            <a:blip r:embed="rId3"/>
            <a:stretch>
              <a:fillRect l="0" t="0" r="0" b="0"/>
            </a:stretch>
          </a:blipFill>
        </p:spPr>
      </p:sp>
      <p:grpSp>
        <p:nvGrpSpPr>
          <p:cNvPr name="Group 16" id="16"/>
          <p:cNvGrpSpPr/>
          <p:nvPr/>
        </p:nvGrpSpPr>
        <p:grpSpPr>
          <a:xfrm rot="0">
            <a:off x="11846171" y="8247035"/>
            <a:ext cx="1164366" cy="116436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2E69"/>
            </a:solidFill>
          </p:spPr>
        </p:sp>
        <p:sp>
          <p:nvSpPr>
            <p:cNvPr name="TextBox 18" id="18"/>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Freeform 19" id="19"/>
          <p:cNvSpPr/>
          <p:nvPr/>
        </p:nvSpPr>
        <p:spPr>
          <a:xfrm flipH="false" flipV="false" rot="0">
            <a:off x="12171497" y="8629832"/>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0" id="20"/>
          <p:cNvSpPr txBox="true"/>
          <p:nvPr/>
        </p:nvSpPr>
        <p:spPr>
          <a:xfrm rot="0">
            <a:off x="12171497" y="5225909"/>
            <a:ext cx="3832275"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Base de sondage</a:t>
            </a:r>
          </a:p>
        </p:txBody>
      </p:sp>
      <p:sp>
        <p:nvSpPr>
          <p:cNvPr name="Freeform 21" id="21"/>
          <p:cNvSpPr/>
          <p:nvPr/>
        </p:nvSpPr>
        <p:spPr>
          <a:xfrm flipH="false" flipV="false" rot="0">
            <a:off x="10544764" y="4780354"/>
            <a:ext cx="1340634" cy="1357604"/>
          </a:xfrm>
          <a:custGeom>
            <a:avLst/>
            <a:gdLst/>
            <a:ahLst/>
            <a:cxnLst/>
            <a:rect r="r" b="b" t="t" l="l"/>
            <a:pathLst>
              <a:path h="1357604" w="1340634">
                <a:moveTo>
                  <a:pt x="0" y="0"/>
                </a:moveTo>
                <a:lnTo>
                  <a:pt x="1340634" y="0"/>
                </a:lnTo>
                <a:lnTo>
                  <a:pt x="1340634" y="1357605"/>
                </a:lnTo>
                <a:lnTo>
                  <a:pt x="0" y="1357605"/>
                </a:lnTo>
                <a:lnTo>
                  <a:pt x="0" y="0"/>
                </a:lnTo>
                <a:close/>
              </a:path>
            </a:pathLst>
          </a:custGeom>
          <a:blipFill>
            <a:blip r:embed="rId3"/>
            <a:stretch>
              <a:fillRect l="0" t="0" r="0" b="0"/>
            </a:stretch>
          </a:blipFill>
        </p:spPr>
      </p:sp>
      <p:grpSp>
        <p:nvGrpSpPr>
          <p:cNvPr name="Group 22" id="22"/>
          <p:cNvGrpSpPr/>
          <p:nvPr/>
        </p:nvGrpSpPr>
        <p:grpSpPr>
          <a:xfrm rot="0">
            <a:off x="10632898" y="4876974"/>
            <a:ext cx="1164366" cy="1164366"/>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24" id="24"/>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TextBox 25" id="25"/>
          <p:cNvSpPr txBox="true"/>
          <p:nvPr/>
        </p:nvSpPr>
        <p:spPr>
          <a:xfrm rot="0">
            <a:off x="13098671" y="2242473"/>
            <a:ext cx="4825393"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Population cible</a:t>
            </a:r>
          </a:p>
        </p:txBody>
      </p:sp>
      <p:sp>
        <p:nvSpPr>
          <p:cNvPr name="Freeform 26" id="26"/>
          <p:cNvSpPr/>
          <p:nvPr/>
        </p:nvSpPr>
        <p:spPr>
          <a:xfrm flipH="false" flipV="false" rot="0">
            <a:off x="10958223" y="5259771"/>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false" flipV="false" rot="0">
            <a:off x="11645065" y="1803140"/>
            <a:ext cx="1340634" cy="1357604"/>
          </a:xfrm>
          <a:custGeom>
            <a:avLst/>
            <a:gdLst/>
            <a:ahLst/>
            <a:cxnLst/>
            <a:rect r="r" b="b" t="t" l="l"/>
            <a:pathLst>
              <a:path h="1357604" w="1340634">
                <a:moveTo>
                  <a:pt x="0" y="0"/>
                </a:moveTo>
                <a:lnTo>
                  <a:pt x="1340635" y="0"/>
                </a:lnTo>
                <a:lnTo>
                  <a:pt x="1340635" y="1357604"/>
                </a:lnTo>
                <a:lnTo>
                  <a:pt x="0" y="1357604"/>
                </a:lnTo>
                <a:lnTo>
                  <a:pt x="0" y="0"/>
                </a:lnTo>
                <a:close/>
              </a:path>
            </a:pathLst>
          </a:custGeom>
          <a:blipFill>
            <a:blip r:embed="rId3"/>
            <a:stretch>
              <a:fillRect l="0" t="0" r="0" b="0"/>
            </a:stretch>
          </a:blipFill>
        </p:spPr>
      </p:sp>
      <p:grpSp>
        <p:nvGrpSpPr>
          <p:cNvPr name="Group 28" id="28"/>
          <p:cNvGrpSpPr/>
          <p:nvPr/>
        </p:nvGrpSpPr>
        <p:grpSpPr>
          <a:xfrm rot="0">
            <a:off x="11726978" y="1893537"/>
            <a:ext cx="1164366" cy="1164366"/>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8535"/>
            </a:solidFill>
          </p:spPr>
        </p:sp>
        <p:sp>
          <p:nvSpPr>
            <p:cNvPr name="TextBox 30" id="30"/>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Freeform 31" id="31"/>
          <p:cNvSpPr/>
          <p:nvPr/>
        </p:nvSpPr>
        <p:spPr>
          <a:xfrm flipH="false" flipV="false" rot="0">
            <a:off x="12058525" y="2282557"/>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2" id="32"/>
          <p:cNvSpPr txBox="true"/>
          <p:nvPr/>
        </p:nvSpPr>
        <p:spPr>
          <a:xfrm rot="0">
            <a:off x="13098671" y="8595970"/>
            <a:ext cx="4825393"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Taille de l’échantillon</a:t>
            </a:r>
          </a:p>
        </p:txBody>
      </p:sp>
      <p:sp>
        <p:nvSpPr>
          <p:cNvPr name="TextBox 33" id="33"/>
          <p:cNvSpPr txBox="true"/>
          <p:nvPr/>
        </p:nvSpPr>
        <p:spPr>
          <a:xfrm rot="0">
            <a:off x="981075" y="2665680"/>
            <a:ext cx="8812514" cy="1022114"/>
          </a:xfrm>
          <a:prstGeom prst="rect">
            <a:avLst/>
          </a:prstGeom>
        </p:spPr>
        <p:txBody>
          <a:bodyPr anchor="t" rtlCol="false" tIns="0" lIns="0" bIns="0" rIns="0">
            <a:spAutoFit/>
          </a:bodyPr>
          <a:lstStyle/>
          <a:p>
            <a:pPr algn="l">
              <a:lnSpc>
                <a:spcPts val="4033"/>
              </a:lnSpc>
            </a:pPr>
            <a:r>
              <a:rPr lang="en-US" sz="3734">
                <a:solidFill>
                  <a:srgbClr val="323840"/>
                </a:solidFill>
                <a:latin typeface="TT Interphases"/>
                <a:ea typeface="TT Interphases"/>
                <a:cs typeface="TT Interphases"/>
                <a:sym typeface="TT Interphases"/>
              </a:rPr>
              <a:t>Répartition des étudiants participant à l’enquête par fonction</a:t>
            </a:r>
          </a:p>
        </p:txBody>
      </p:sp>
      <p:graphicFrame>
        <p:nvGraphicFramePr>
          <p:cNvPr name="Object 34" id="34"/>
          <p:cNvGraphicFramePr/>
          <p:nvPr/>
        </p:nvGraphicFramePr>
        <p:xfrm>
          <a:off x="1028700" y="4357052"/>
          <a:ext cx="2514600" cy="2514600"/>
        </p:xfrm>
        <a:graphic>
          <a:graphicData uri="http://schemas.openxmlformats.org/presentationml/2006/ole">
            <p:oleObj imgW="3009900" imgH="30099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Tree>
  </p:cSld>
  <p:clrMapOvr>
    <a:masterClrMapping/>
  </p:clrMapOvr>
  <p:transition spd="slow">
    <p:push dir="l"/>
  </p:transition>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grpSp>
        <p:nvGrpSpPr>
          <p:cNvPr name="Group 2" id="2"/>
          <p:cNvGrpSpPr/>
          <p:nvPr/>
        </p:nvGrpSpPr>
        <p:grpSpPr>
          <a:xfrm rot="0">
            <a:off x="7440013" y="1014121"/>
            <a:ext cx="1223547" cy="248043"/>
            <a:chOff x="0" y="0"/>
            <a:chExt cx="1631396" cy="330724"/>
          </a:xfrm>
        </p:grpSpPr>
        <p:grpSp>
          <p:nvGrpSpPr>
            <p:cNvPr name="Group 3" id="3"/>
            <p:cNvGrpSpPr/>
            <p:nvPr/>
          </p:nvGrpSpPr>
          <p:grpSpPr>
            <a:xfrm rot="0">
              <a:off x="651264" y="0"/>
              <a:ext cx="330724" cy="33072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300672" y="0"/>
              <a:ext cx="330724" cy="33072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0"/>
              <a:ext cx="330724" cy="33072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sp>
        <p:nvSpPr>
          <p:cNvPr name="TextBox 12" id="12"/>
          <p:cNvSpPr txBox="true"/>
          <p:nvPr/>
        </p:nvSpPr>
        <p:spPr>
          <a:xfrm rot="0">
            <a:off x="1028700" y="846689"/>
            <a:ext cx="6110174" cy="1370236"/>
          </a:xfrm>
          <a:prstGeom prst="rect">
            <a:avLst/>
          </a:prstGeom>
        </p:spPr>
        <p:txBody>
          <a:bodyPr anchor="t" rtlCol="false" tIns="0" lIns="0" bIns="0" rIns="0">
            <a:spAutoFit/>
          </a:bodyPr>
          <a:lstStyle/>
          <a:p>
            <a:pPr algn="l">
              <a:lnSpc>
                <a:spcPts val="5261"/>
              </a:lnSpc>
            </a:pPr>
            <a:r>
              <a:rPr lang="en-US" sz="5480" b="true">
                <a:solidFill>
                  <a:srgbClr val="323840"/>
                </a:solidFill>
                <a:latin typeface="TT Interphases Bold"/>
                <a:ea typeface="TT Interphases Bold"/>
                <a:cs typeface="TT Interphases Bold"/>
                <a:sym typeface="TT Interphases Bold"/>
              </a:rPr>
              <a:t>Méthode de collecte</a:t>
            </a:r>
          </a:p>
        </p:txBody>
      </p:sp>
      <p:sp>
        <p:nvSpPr>
          <p:cNvPr name="Freeform 13" id="13"/>
          <p:cNvSpPr/>
          <p:nvPr/>
        </p:nvSpPr>
        <p:spPr>
          <a:xfrm flipH="false" flipV="false" rot="2127493">
            <a:off x="9955172" y="-714632"/>
            <a:ext cx="12746347" cy="12746347"/>
          </a:xfrm>
          <a:custGeom>
            <a:avLst/>
            <a:gdLst/>
            <a:ahLst/>
            <a:cxnLst/>
            <a:rect r="r" b="b" t="t" l="l"/>
            <a:pathLst>
              <a:path h="12746347" w="12746347">
                <a:moveTo>
                  <a:pt x="0" y="0"/>
                </a:moveTo>
                <a:lnTo>
                  <a:pt x="12746348" y="0"/>
                </a:lnTo>
                <a:lnTo>
                  <a:pt x="12746348" y="12746348"/>
                </a:lnTo>
                <a:lnTo>
                  <a:pt x="0" y="12746348"/>
                </a:lnTo>
                <a:lnTo>
                  <a:pt x="0" y="0"/>
                </a:lnTo>
                <a:close/>
              </a:path>
            </a:pathLst>
          </a:custGeom>
          <a:blipFill>
            <a:blip r:embed="rId2">
              <a:alphaModFix amt="18000"/>
            </a:blip>
            <a:stretch>
              <a:fillRect l="0" t="0" r="0" b="0"/>
            </a:stretch>
          </a:blipFill>
        </p:spPr>
      </p:sp>
      <p:sp>
        <p:nvSpPr>
          <p:cNvPr name="TextBox 14" id="14"/>
          <p:cNvSpPr txBox="true"/>
          <p:nvPr/>
        </p:nvSpPr>
        <p:spPr>
          <a:xfrm rot="0">
            <a:off x="630370" y="4216259"/>
            <a:ext cx="8839368" cy="2533420"/>
          </a:xfrm>
          <a:prstGeom prst="rect">
            <a:avLst/>
          </a:prstGeom>
        </p:spPr>
        <p:txBody>
          <a:bodyPr anchor="t" rtlCol="false" tIns="0" lIns="0" bIns="0" rIns="0">
            <a:spAutoFit/>
          </a:bodyPr>
          <a:lstStyle/>
          <a:p>
            <a:pPr algn="l" marL="806369" indent="-403184" lvl="1">
              <a:lnSpc>
                <a:spcPts val="4033"/>
              </a:lnSpc>
              <a:buFont typeface="Arial"/>
              <a:buChar char="•"/>
            </a:pPr>
            <a:r>
              <a:rPr lang="en-US" sz="3734">
                <a:solidFill>
                  <a:srgbClr val="323840"/>
                </a:solidFill>
                <a:latin typeface="TT Interphases"/>
                <a:ea typeface="TT Interphases"/>
                <a:cs typeface="TT Interphases"/>
                <a:sym typeface="TT Interphases"/>
              </a:rPr>
              <a:t>Employer la méthode CAPI(Computer Assited Personal Interview), soit par interview direct avec l’enquêté avec des tablettes, smartphones...</a:t>
            </a:r>
          </a:p>
          <a:p>
            <a:pPr algn="l" marL="806369" indent="-403184" lvl="1">
              <a:lnSpc>
                <a:spcPts val="4033"/>
              </a:lnSpc>
              <a:buFont typeface="Arial"/>
              <a:buChar char="•"/>
            </a:pPr>
            <a:r>
              <a:rPr lang="en-US" sz="3734">
                <a:solidFill>
                  <a:srgbClr val="323840"/>
                </a:solidFill>
                <a:latin typeface="TT Interphases"/>
                <a:ea typeface="TT Interphases"/>
                <a:cs typeface="TT Interphases"/>
                <a:sym typeface="TT Interphases"/>
              </a:rPr>
              <a:t>Contrôler via suivi GPS en temps réel</a:t>
            </a:r>
          </a:p>
        </p:txBody>
      </p:sp>
      <p:sp>
        <p:nvSpPr>
          <p:cNvPr name="Freeform 15" id="15"/>
          <p:cNvSpPr/>
          <p:nvPr/>
        </p:nvSpPr>
        <p:spPr>
          <a:xfrm flipH="false" flipV="false" rot="0">
            <a:off x="10165064" y="-564524"/>
            <a:ext cx="12326565" cy="12482597"/>
          </a:xfrm>
          <a:custGeom>
            <a:avLst/>
            <a:gdLst/>
            <a:ahLst/>
            <a:cxnLst/>
            <a:rect r="r" b="b" t="t" l="l"/>
            <a:pathLst>
              <a:path h="12482597" w="12326565">
                <a:moveTo>
                  <a:pt x="0" y="0"/>
                </a:moveTo>
                <a:lnTo>
                  <a:pt x="12326564" y="0"/>
                </a:lnTo>
                <a:lnTo>
                  <a:pt x="12326564" y="12482598"/>
                </a:lnTo>
                <a:lnTo>
                  <a:pt x="0" y="12482598"/>
                </a:lnTo>
                <a:lnTo>
                  <a:pt x="0" y="0"/>
                </a:lnTo>
                <a:close/>
              </a:path>
            </a:pathLst>
          </a:custGeom>
          <a:blipFill>
            <a:blip r:embed="rId3"/>
            <a:stretch>
              <a:fillRect l="0" t="0" r="0" b="0"/>
            </a:stretch>
          </a:blipFill>
        </p:spPr>
      </p:sp>
      <p:sp>
        <p:nvSpPr>
          <p:cNvPr name="Freeform 16" id="16"/>
          <p:cNvSpPr/>
          <p:nvPr/>
        </p:nvSpPr>
        <p:spPr>
          <a:xfrm flipH="false" flipV="false" rot="0">
            <a:off x="11758037" y="8150415"/>
            <a:ext cx="1340634" cy="1357604"/>
          </a:xfrm>
          <a:custGeom>
            <a:avLst/>
            <a:gdLst/>
            <a:ahLst/>
            <a:cxnLst/>
            <a:rect r="r" b="b" t="t" l="l"/>
            <a:pathLst>
              <a:path h="1357604" w="1340634">
                <a:moveTo>
                  <a:pt x="0" y="0"/>
                </a:moveTo>
                <a:lnTo>
                  <a:pt x="1340634" y="0"/>
                </a:lnTo>
                <a:lnTo>
                  <a:pt x="1340634" y="1357605"/>
                </a:lnTo>
                <a:lnTo>
                  <a:pt x="0" y="1357605"/>
                </a:lnTo>
                <a:lnTo>
                  <a:pt x="0" y="0"/>
                </a:lnTo>
                <a:close/>
              </a:path>
            </a:pathLst>
          </a:custGeom>
          <a:blipFill>
            <a:blip r:embed="rId3"/>
            <a:stretch>
              <a:fillRect l="0" t="0" r="0" b="0"/>
            </a:stretch>
          </a:blipFill>
        </p:spPr>
      </p:sp>
      <p:grpSp>
        <p:nvGrpSpPr>
          <p:cNvPr name="Group 17" id="17"/>
          <p:cNvGrpSpPr/>
          <p:nvPr/>
        </p:nvGrpSpPr>
        <p:grpSpPr>
          <a:xfrm rot="0">
            <a:off x="11846171" y="8247035"/>
            <a:ext cx="1164366" cy="116436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89D957">
                    <a:alpha val="100000"/>
                  </a:srgbClr>
                </a:gs>
                <a:gs pos="100000">
                  <a:srgbClr val="C9E265">
                    <a:alpha val="100000"/>
                  </a:srgbClr>
                </a:gs>
              </a:gsLst>
              <a:lin ang="0"/>
            </a:gradFill>
          </p:spPr>
        </p:sp>
        <p:sp>
          <p:nvSpPr>
            <p:cNvPr name="TextBox 19" id="19"/>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Freeform 20" id="20"/>
          <p:cNvSpPr/>
          <p:nvPr/>
        </p:nvSpPr>
        <p:spPr>
          <a:xfrm flipH="false" flipV="false" rot="0">
            <a:off x="12171497" y="8629832"/>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13098671" y="2264550"/>
            <a:ext cx="3832275"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Base de sondage</a:t>
            </a:r>
          </a:p>
        </p:txBody>
      </p:sp>
      <p:sp>
        <p:nvSpPr>
          <p:cNvPr name="Freeform 22" id="22"/>
          <p:cNvSpPr/>
          <p:nvPr/>
        </p:nvSpPr>
        <p:spPr>
          <a:xfrm flipH="false" flipV="false" rot="0">
            <a:off x="10544764" y="4780354"/>
            <a:ext cx="1340634" cy="1357604"/>
          </a:xfrm>
          <a:custGeom>
            <a:avLst/>
            <a:gdLst/>
            <a:ahLst/>
            <a:cxnLst/>
            <a:rect r="r" b="b" t="t" l="l"/>
            <a:pathLst>
              <a:path h="1357604" w="1340634">
                <a:moveTo>
                  <a:pt x="0" y="0"/>
                </a:moveTo>
                <a:lnTo>
                  <a:pt x="1340634" y="0"/>
                </a:lnTo>
                <a:lnTo>
                  <a:pt x="1340634" y="1357605"/>
                </a:lnTo>
                <a:lnTo>
                  <a:pt x="0" y="1357605"/>
                </a:lnTo>
                <a:lnTo>
                  <a:pt x="0" y="0"/>
                </a:lnTo>
                <a:close/>
              </a:path>
            </a:pathLst>
          </a:custGeom>
          <a:blipFill>
            <a:blip r:embed="rId3"/>
            <a:stretch>
              <a:fillRect l="0" t="0" r="0" b="0"/>
            </a:stretch>
          </a:blipFill>
        </p:spPr>
      </p:sp>
      <p:grpSp>
        <p:nvGrpSpPr>
          <p:cNvPr name="Group 23" id="23"/>
          <p:cNvGrpSpPr/>
          <p:nvPr/>
        </p:nvGrpSpPr>
        <p:grpSpPr>
          <a:xfrm rot="0">
            <a:off x="10632898" y="4876974"/>
            <a:ext cx="1164366" cy="1164366"/>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2E69"/>
            </a:solidFill>
          </p:spPr>
        </p:sp>
        <p:sp>
          <p:nvSpPr>
            <p:cNvPr name="TextBox 25" id="25"/>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Freeform 26" id="26"/>
          <p:cNvSpPr/>
          <p:nvPr/>
        </p:nvSpPr>
        <p:spPr>
          <a:xfrm flipH="false" flipV="false" rot="0">
            <a:off x="10958223" y="5259771"/>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false" flipV="false" rot="0">
            <a:off x="11645065" y="1803140"/>
            <a:ext cx="1340634" cy="1357604"/>
          </a:xfrm>
          <a:custGeom>
            <a:avLst/>
            <a:gdLst/>
            <a:ahLst/>
            <a:cxnLst/>
            <a:rect r="r" b="b" t="t" l="l"/>
            <a:pathLst>
              <a:path h="1357604" w="1340634">
                <a:moveTo>
                  <a:pt x="0" y="0"/>
                </a:moveTo>
                <a:lnTo>
                  <a:pt x="1340635" y="0"/>
                </a:lnTo>
                <a:lnTo>
                  <a:pt x="1340635" y="1357604"/>
                </a:lnTo>
                <a:lnTo>
                  <a:pt x="0" y="1357604"/>
                </a:lnTo>
                <a:lnTo>
                  <a:pt x="0" y="0"/>
                </a:lnTo>
                <a:close/>
              </a:path>
            </a:pathLst>
          </a:custGeom>
          <a:blipFill>
            <a:blip r:embed="rId3"/>
            <a:stretch>
              <a:fillRect l="0" t="0" r="0" b="0"/>
            </a:stretch>
          </a:blipFill>
        </p:spPr>
      </p:sp>
      <p:grpSp>
        <p:nvGrpSpPr>
          <p:cNvPr name="Group 28" id="28"/>
          <p:cNvGrpSpPr/>
          <p:nvPr/>
        </p:nvGrpSpPr>
        <p:grpSpPr>
          <a:xfrm rot="0">
            <a:off x="11726978" y="1893537"/>
            <a:ext cx="1164366" cy="1164366"/>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30" id="30"/>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Freeform 31" id="31"/>
          <p:cNvSpPr/>
          <p:nvPr/>
        </p:nvSpPr>
        <p:spPr>
          <a:xfrm flipH="false" flipV="false" rot="0">
            <a:off x="12058525" y="2282557"/>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2" id="32"/>
          <p:cNvSpPr txBox="true"/>
          <p:nvPr/>
        </p:nvSpPr>
        <p:spPr>
          <a:xfrm rot="0">
            <a:off x="12171497" y="5191125"/>
            <a:ext cx="4825393"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Taille de l’échantillon</a:t>
            </a:r>
          </a:p>
        </p:txBody>
      </p:sp>
      <p:sp>
        <p:nvSpPr>
          <p:cNvPr name="TextBox 33" id="33"/>
          <p:cNvSpPr txBox="true"/>
          <p:nvPr/>
        </p:nvSpPr>
        <p:spPr>
          <a:xfrm rot="0">
            <a:off x="13098671" y="8514483"/>
            <a:ext cx="4825393"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Méthode de collecte</a:t>
            </a:r>
          </a:p>
        </p:txBody>
      </p:sp>
    </p:spTree>
  </p:cSld>
  <p:clrMapOvr>
    <a:masterClrMapping/>
  </p:clrMapOvr>
  <p:transition spd="slow">
    <p:push dir="l"/>
  </p:transition>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grpSp>
        <p:nvGrpSpPr>
          <p:cNvPr name="Group 2" id="2"/>
          <p:cNvGrpSpPr/>
          <p:nvPr/>
        </p:nvGrpSpPr>
        <p:grpSpPr>
          <a:xfrm rot="0">
            <a:off x="7440013" y="1014121"/>
            <a:ext cx="1223547" cy="248043"/>
            <a:chOff x="0" y="0"/>
            <a:chExt cx="1631396" cy="330724"/>
          </a:xfrm>
        </p:grpSpPr>
        <p:grpSp>
          <p:nvGrpSpPr>
            <p:cNvPr name="Group 3" id="3"/>
            <p:cNvGrpSpPr/>
            <p:nvPr/>
          </p:nvGrpSpPr>
          <p:grpSpPr>
            <a:xfrm rot="0">
              <a:off x="651264" y="0"/>
              <a:ext cx="330724" cy="33072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300672" y="0"/>
              <a:ext cx="330724" cy="33072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0"/>
              <a:ext cx="330724" cy="33072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sp>
        <p:nvSpPr>
          <p:cNvPr name="TextBox 12" id="12"/>
          <p:cNvSpPr txBox="true"/>
          <p:nvPr/>
        </p:nvSpPr>
        <p:spPr>
          <a:xfrm rot="0">
            <a:off x="1028700" y="846689"/>
            <a:ext cx="6110174" cy="1370236"/>
          </a:xfrm>
          <a:prstGeom prst="rect">
            <a:avLst/>
          </a:prstGeom>
        </p:spPr>
        <p:txBody>
          <a:bodyPr anchor="t" rtlCol="false" tIns="0" lIns="0" bIns="0" rIns="0">
            <a:spAutoFit/>
          </a:bodyPr>
          <a:lstStyle/>
          <a:p>
            <a:pPr algn="l">
              <a:lnSpc>
                <a:spcPts val="5261"/>
              </a:lnSpc>
            </a:pPr>
            <a:r>
              <a:rPr lang="en-US" sz="5480" b="true">
                <a:solidFill>
                  <a:srgbClr val="323840"/>
                </a:solidFill>
                <a:latin typeface="TT Interphases Bold"/>
                <a:ea typeface="TT Interphases Bold"/>
                <a:cs typeface="TT Interphases Bold"/>
                <a:sym typeface="TT Interphases Bold"/>
              </a:rPr>
              <a:t>Tirage de l’échantillon</a:t>
            </a:r>
          </a:p>
        </p:txBody>
      </p:sp>
      <p:sp>
        <p:nvSpPr>
          <p:cNvPr name="Freeform 13" id="13"/>
          <p:cNvSpPr/>
          <p:nvPr/>
        </p:nvSpPr>
        <p:spPr>
          <a:xfrm flipH="false" flipV="false" rot="2127493">
            <a:off x="9955172" y="-714632"/>
            <a:ext cx="12746347" cy="12746347"/>
          </a:xfrm>
          <a:custGeom>
            <a:avLst/>
            <a:gdLst/>
            <a:ahLst/>
            <a:cxnLst/>
            <a:rect r="r" b="b" t="t" l="l"/>
            <a:pathLst>
              <a:path h="12746347" w="12746347">
                <a:moveTo>
                  <a:pt x="0" y="0"/>
                </a:moveTo>
                <a:lnTo>
                  <a:pt x="12746348" y="0"/>
                </a:lnTo>
                <a:lnTo>
                  <a:pt x="12746348" y="12746348"/>
                </a:lnTo>
                <a:lnTo>
                  <a:pt x="0" y="12746348"/>
                </a:lnTo>
                <a:lnTo>
                  <a:pt x="0" y="0"/>
                </a:lnTo>
                <a:close/>
              </a:path>
            </a:pathLst>
          </a:custGeom>
          <a:blipFill>
            <a:blip r:embed="rId2">
              <a:alphaModFix amt="18000"/>
            </a:blip>
            <a:stretch>
              <a:fillRect l="0" t="0" r="0" b="0"/>
            </a:stretch>
          </a:blipFill>
        </p:spPr>
      </p:sp>
      <p:sp>
        <p:nvSpPr>
          <p:cNvPr name="TextBox 14" id="14"/>
          <p:cNvSpPr txBox="true"/>
          <p:nvPr/>
        </p:nvSpPr>
        <p:spPr>
          <a:xfrm rot="0">
            <a:off x="981075" y="2665680"/>
            <a:ext cx="8812514" cy="6086210"/>
          </a:xfrm>
          <a:prstGeom prst="rect">
            <a:avLst/>
          </a:prstGeom>
        </p:spPr>
        <p:txBody>
          <a:bodyPr anchor="t" rtlCol="false" tIns="0" lIns="0" bIns="0" rIns="0">
            <a:spAutoFit/>
          </a:bodyPr>
          <a:lstStyle/>
          <a:p>
            <a:pPr algn="l">
              <a:lnSpc>
                <a:spcPts val="4033"/>
              </a:lnSpc>
            </a:pPr>
            <a:r>
              <a:rPr lang="en-US" sz="3734">
                <a:solidFill>
                  <a:srgbClr val="323840"/>
                </a:solidFill>
                <a:latin typeface="TT Interphases"/>
                <a:ea typeface="TT Interphases"/>
                <a:cs typeface="TT Interphases"/>
                <a:sym typeface="TT Interphases"/>
              </a:rPr>
              <a:t>Conformément à la stratification, il sera affecté un superviseur assistant dans chaque arrondissement. Ainsi, on dénombre sept (10) superviseurs. Pour l’enquête il sera désigné un assistant à la coordination. Le reste de l’effectif (195) sera réparti en plusieurs équipes d’enquêteurs et auront chacune un contrôleur à leur tête. On choisit pour ce faire, soixante-cinq (65) groupes de trois (03) étudiants (un (01) contrôleur et deux (02) enquêteurs).</a:t>
            </a:r>
          </a:p>
        </p:txBody>
      </p:sp>
      <p:sp>
        <p:nvSpPr>
          <p:cNvPr name="Freeform 15" id="15"/>
          <p:cNvSpPr/>
          <p:nvPr/>
        </p:nvSpPr>
        <p:spPr>
          <a:xfrm flipH="false" flipV="false" rot="0">
            <a:off x="10165064" y="-564524"/>
            <a:ext cx="12326565" cy="12482597"/>
          </a:xfrm>
          <a:custGeom>
            <a:avLst/>
            <a:gdLst/>
            <a:ahLst/>
            <a:cxnLst/>
            <a:rect r="r" b="b" t="t" l="l"/>
            <a:pathLst>
              <a:path h="12482597" w="12326565">
                <a:moveTo>
                  <a:pt x="0" y="0"/>
                </a:moveTo>
                <a:lnTo>
                  <a:pt x="12326564" y="0"/>
                </a:lnTo>
                <a:lnTo>
                  <a:pt x="12326564" y="12482598"/>
                </a:lnTo>
                <a:lnTo>
                  <a:pt x="0" y="12482598"/>
                </a:lnTo>
                <a:lnTo>
                  <a:pt x="0" y="0"/>
                </a:lnTo>
                <a:close/>
              </a:path>
            </a:pathLst>
          </a:custGeom>
          <a:blipFill>
            <a:blip r:embed="rId3"/>
            <a:stretch>
              <a:fillRect l="0" t="0" r="0" b="0"/>
            </a:stretch>
          </a:blipFill>
        </p:spPr>
      </p:sp>
      <p:sp>
        <p:nvSpPr>
          <p:cNvPr name="Freeform 16" id="16"/>
          <p:cNvSpPr/>
          <p:nvPr/>
        </p:nvSpPr>
        <p:spPr>
          <a:xfrm flipH="false" flipV="false" rot="0">
            <a:off x="11758037" y="8150415"/>
            <a:ext cx="1340634" cy="1357604"/>
          </a:xfrm>
          <a:custGeom>
            <a:avLst/>
            <a:gdLst/>
            <a:ahLst/>
            <a:cxnLst/>
            <a:rect r="r" b="b" t="t" l="l"/>
            <a:pathLst>
              <a:path h="1357604" w="1340634">
                <a:moveTo>
                  <a:pt x="0" y="0"/>
                </a:moveTo>
                <a:lnTo>
                  <a:pt x="1340634" y="0"/>
                </a:lnTo>
                <a:lnTo>
                  <a:pt x="1340634" y="1357605"/>
                </a:lnTo>
                <a:lnTo>
                  <a:pt x="0" y="1357605"/>
                </a:lnTo>
                <a:lnTo>
                  <a:pt x="0" y="0"/>
                </a:lnTo>
                <a:close/>
              </a:path>
            </a:pathLst>
          </a:custGeom>
          <a:blipFill>
            <a:blip r:embed="rId3"/>
            <a:stretch>
              <a:fillRect l="0" t="0" r="0" b="0"/>
            </a:stretch>
          </a:blipFill>
        </p:spPr>
      </p:sp>
      <p:grpSp>
        <p:nvGrpSpPr>
          <p:cNvPr name="Group 17" id="17"/>
          <p:cNvGrpSpPr/>
          <p:nvPr/>
        </p:nvGrpSpPr>
        <p:grpSpPr>
          <a:xfrm rot="0">
            <a:off x="11846171" y="8247035"/>
            <a:ext cx="1164366" cy="116436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2E69"/>
            </a:solidFill>
          </p:spPr>
        </p:sp>
        <p:sp>
          <p:nvSpPr>
            <p:cNvPr name="TextBox 19" id="19"/>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Freeform 20" id="20"/>
          <p:cNvSpPr/>
          <p:nvPr/>
        </p:nvSpPr>
        <p:spPr>
          <a:xfrm flipH="false" flipV="false" rot="0">
            <a:off x="12171497" y="8629832"/>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12171497" y="5225909"/>
            <a:ext cx="3832275"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Base de sondage</a:t>
            </a:r>
          </a:p>
        </p:txBody>
      </p:sp>
      <p:sp>
        <p:nvSpPr>
          <p:cNvPr name="Freeform 22" id="22"/>
          <p:cNvSpPr/>
          <p:nvPr/>
        </p:nvSpPr>
        <p:spPr>
          <a:xfrm flipH="false" flipV="false" rot="0">
            <a:off x="10544764" y="4780354"/>
            <a:ext cx="1340634" cy="1357604"/>
          </a:xfrm>
          <a:custGeom>
            <a:avLst/>
            <a:gdLst/>
            <a:ahLst/>
            <a:cxnLst/>
            <a:rect r="r" b="b" t="t" l="l"/>
            <a:pathLst>
              <a:path h="1357604" w="1340634">
                <a:moveTo>
                  <a:pt x="0" y="0"/>
                </a:moveTo>
                <a:lnTo>
                  <a:pt x="1340634" y="0"/>
                </a:lnTo>
                <a:lnTo>
                  <a:pt x="1340634" y="1357605"/>
                </a:lnTo>
                <a:lnTo>
                  <a:pt x="0" y="1357605"/>
                </a:lnTo>
                <a:lnTo>
                  <a:pt x="0" y="0"/>
                </a:lnTo>
                <a:close/>
              </a:path>
            </a:pathLst>
          </a:custGeom>
          <a:blipFill>
            <a:blip r:embed="rId3"/>
            <a:stretch>
              <a:fillRect l="0" t="0" r="0" b="0"/>
            </a:stretch>
          </a:blipFill>
        </p:spPr>
      </p:sp>
      <p:grpSp>
        <p:nvGrpSpPr>
          <p:cNvPr name="Group 23" id="23"/>
          <p:cNvGrpSpPr/>
          <p:nvPr/>
        </p:nvGrpSpPr>
        <p:grpSpPr>
          <a:xfrm rot="0">
            <a:off x="10632898" y="4876974"/>
            <a:ext cx="1164366" cy="1164366"/>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25" id="25"/>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TextBox 26" id="26"/>
          <p:cNvSpPr txBox="true"/>
          <p:nvPr/>
        </p:nvSpPr>
        <p:spPr>
          <a:xfrm rot="0">
            <a:off x="13098671" y="2242473"/>
            <a:ext cx="4825393"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Population cible</a:t>
            </a:r>
          </a:p>
        </p:txBody>
      </p:sp>
      <p:sp>
        <p:nvSpPr>
          <p:cNvPr name="Freeform 27" id="27"/>
          <p:cNvSpPr/>
          <p:nvPr/>
        </p:nvSpPr>
        <p:spPr>
          <a:xfrm flipH="false" flipV="false" rot="0">
            <a:off x="10958223" y="5259771"/>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0">
            <a:off x="11645065" y="1803140"/>
            <a:ext cx="1340634" cy="1357604"/>
          </a:xfrm>
          <a:custGeom>
            <a:avLst/>
            <a:gdLst/>
            <a:ahLst/>
            <a:cxnLst/>
            <a:rect r="r" b="b" t="t" l="l"/>
            <a:pathLst>
              <a:path h="1357604" w="1340634">
                <a:moveTo>
                  <a:pt x="0" y="0"/>
                </a:moveTo>
                <a:lnTo>
                  <a:pt x="1340635" y="0"/>
                </a:lnTo>
                <a:lnTo>
                  <a:pt x="1340635" y="1357604"/>
                </a:lnTo>
                <a:lnTo>
                  <a:pt x="0" y="1357604"/>
                </a:lnTo>
                <a:lnTo>
                  <a:pt x="0" y="0"/>
                </a:lnTo>
                <a:close/>
              </a:path>
            </a:pathLst>
          </a:custGeom>
          <a:blipFill>
            <a:blip r:embed="rId3"/>
            <a:stretch>
              <a:fillRect l="0" t="0" r="0" b="0"/>
            </a:stretch>
          </a:blipFill>
        </p:spPr>
      </p:sp>
      <p:grpSp>
        <p:nvGrpSpPr>
          <p:cNvPr name="Group 29" id="29"/>
          <p:cNvGrpSpPr/>
          <p:nvPr/>
        </p:nvGrpSpPr>
        <p:grpSpPr>
          <a:xfrm rot="0">
            <a:off x="11726978" y="1893537"/>
            <a:ext cx="1164366" cy="1164366"/>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8535"/>
            </a:solidFill>
          </p:spPr>
        </p:sp>
        <p:sp>
          <p:nvSpPr>
            <p:cNvPr name="TextBox 31" id="31"/>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Freeform 32" id="32"/>
          <p:cNvSpPr/>
          <p:nvPr/>
        </p:nvSpPr>
        <p:spPr>
          <a:xfrm flipH="false" flipV="false" rot="0">
            <a:off x="12058525" y="2282557"/>
            <a:ext cx="513715" cy="398771"/>
          </a:xfrm>
          <a:custGeom>
            <a:avLst/>
            <a:gdLst/>
            <a:ahLst/>
            <a:cxnLst/>
            <a:rect r="r" b="b" t="t" l="l"/>
            <a:pathLst>
              <a:path h="398771" w="513715">
                <a:moveTo>
                  <a:pt x="0" y="0"/>
                </a:moveTo>
                <a:lnTo>
                  <a:pt x="513715" y="0"/>
                </a:lnTo>
                <a:lnTo>
                  <a:pt x="513715" y="398771"/>
                </a:lnTo>
                <a:lnTo>
                  <a:pt x="0" y="398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3" id="33"/>
          <p:cNvSpPr txBox="true"/>
          <p:nvPr/>
        </p:nvSpPr>
        <p:spPr>
          <a:xfrm rot="0">
            <a:off x="13098671" y="8595970"/>
            <a:ext cx="4825393"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Taille de l’échantillon</a:t>
            </a:r>
          </a:p>
        </p:txBody>
      </p:sp>
    </p:spTree>
  </p:cSld>
  <p:clrMapOvr>
    <a:masterClrMapping/>
  </p:clrMapOvr>
  <p:transition spd="slow">
    <p:push dir="l"/>
  </p:transition>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sp>
        <p:nvSpPr>
          <p:cNvPr name="Freeform 2" id="2"/>
          <p:cNvSpPr/>
          <p:nvPr/>
        </p:nvSpPr>
        <p:spPr>
          <a:xfrm flipH="false" flipV="false" rot="0">
            <a:off x="4746594" y="2924214"/>
            <a:ext cx="2961367" cy="1480684"/>
          </a:xfrm>
          <a:custGeom>
            <a:avLst/>
            <a:gdLst/>
            <a:ahLst/>
            <a:cxnLst/>
            <a:rect r="r" b="b" t="t" l="l"/>
            <a:pathLst>
              <a:path h="1480684" w="2961367">
                <a:moveTo>
                  <a:pt x="0" y="0"/>
                </a:moveTo>
                <a:lnTo>
                  <a:pt x="2961368" y="0"/>
                </a:lnTo>
                <a:lnTo>
                  <a:pt x="2961368" y="1480683"/>
                </a:lnTo>
                <a:lnTo>
                  <a:pt x="0" y="148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7535038" y="4393011"/>
            <a:ext cx="2961367" cy="1480684"/>
          </a:xfrm>
          <a:custGeom>
            <a:avLst/>
            <a:gdLst/>
            <a:ahLst/>
            <a:cxnLst/>
            <a:rect r="r" b="b" t="t" l="l"/>
            <a:pathLst>
              <a:path h="1480684" w="2961367">
                <a:moveTo>
                  <a:pt x="0" y="0"/>
                </a:moveTo>
                <a:lnTo>
                  <a:pt x="2961367" y="0"/>
                </a:lnTo>
                <a:lnTo>
                  <a:pt x="2961367" y="1480684"/>
                </a:lnTo>
                <a:lnTo>
                  <a:pt x="0" y="1480684"/>
                </a:lnTo>
                <a:lnTo>
                  <a:pt x="0" y="0"/>
                </a:lnTo>
                <a:close/>
              </a:path>
            </a:pathLst>
          </a:custGeom>
          <a:blipFill>
            <a:blip r:embed="rId4">
              <a:alphaModFix amt="2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232342" y="3442519"/>
            <a:ext cx="1900984" cy="1900984"/>
          </a:xfrm>
          <a:custGeom>
            <a:avLst/>
            <a:gdLst/>
            <a:ahLst/>
            <a:cxnLst/>
            <a:rect r="r" b="b" t="t" l="l"/>
            <a:pathLst>
              <a:path h="1900984" w="1900984">
                <a:moveTo>
                  <a:pt x="0" y="0"/>
                </a:moveTo>
                <a:lnTo>
                  <a:pt x="1900984" y="0"/>
                </a:lnTo>
                <a:lnTo>
                  <a:pt x="1900984" y="1900984"/>
                </a:lnTo>
                <a:lnTo>
                  <a:pt x="0" y="19009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8069912" y="3442519"/>
            <a:ext cx="1900984" cy="1900984"/>
          </a:xfrm>
          <a:custGeom>
            <a:avLst/>
            <a:gdLst/>
            <a:ahLst/>
            <a:cxnLst/>
            <a:rect r="r" b="b" t="t" l="l"/>
            <a:pathLst>
              <a:path h="1900984" w="1900984">
                <a:moveTo>
                  <a:pt x="0" y="0"/>
                </a:moveTo>
                <a:lnTo>
                  <a:pt x="1900983" y="0"/>
                </a:lnTo>
                <a:lnTo>
                  <a:pt x="1900983" y="1900984"/>
                </a:lnTo>
                <a:lnTo>
                  <a:pt x="0" y="1900984"/>
                </a:lnTo>
                <a:lnTo>
                  <a:pt x="0" y="0"/>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0334388" y="2924214"/>
            <a:ext cx="2973253" cy="1486627"/>
          </a:xfrm>
          <a:custGeom>
            <a:avLst/>
            <a:gdLst/>
            <a:ahLst/>
            <a:cxnLst/>
            <a:rect r="r" b="b" t="t" l="l"/>
            <a:pathLst>
              <a:path h="1486627" w="2973253">
                <a:moveTo>
                  <a:pt x="0" y="0"/>
                </a:moveTo>
                <a:lnTo>
                  <a:pt x="2973253" y="0"/>
                </a:lnTo>
                <a:lnTo>
                  <a:pt x="2973253" y="1486626"/>
                </a:lnTo>
                <a:lnTo>
                  <a:pt x="0" y="1486626"/>
                </a:lnTo>
                <a:lnTo>
                  <a:pt x="0" y="0"/>
                </a:lnTo>
                <a:close/>
              </a:path>
            </a:pathLst>
          </a:custGeom>
          <a:blipFill>
            <a:blip r:embed="rId10">
              <a:alphaModFix amt="2400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0869261" y="3448462"/>
            <a:ext cx="1900984" cy="1900984"/>
          </a:xfrm>
          <a:custGeom>
            <a:avLst/>
            <a:gdLst/>
            <a:ahLst/>
            <a:cxnLst/>
            <a:rect r="r" b="b" t="t" l="l"/>
            <a:pathLst>
              <a:path h="1900984" w="1900984">
                <a:moveTo>
                  <a:pt x="0" y="0"/>
                </a:moveTo>
                <a:lnTo>
                  <a:pt x="1900984" y="0"/>
                </a:lnTo>
                <a:lnTo>
                  <a:pt x="1900984" y="1900984"/>
                </a:lnTo>
                <a:lnTo>
                  <a:pt x="0" y="1900984"/>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5622749" y="3832926"/>
            <a:ext cx="1120170" cy="1120170"/>
          </a:xfrm>
          <a:custGeom>
            <a:avLst/>
            <a:gdLst/>
            <a:ahLst/>
            <a:cxnLst/>
            <a:rect r="r" b="b" t="t" l="l"/>
            <a:pathLst>
              <a:path h="1120170" w="1120170">
                <a:moveTo>
                  <a:pt x="0" y="0"/>
                </a:moveTo>
                <a:lnTo>
                  <a:pt x="1120170" y="0"/>
                </a:lnTo>
                <a:lnTo>
                  <a:pt x="1120170" y="1120170"/>
                </a:lnTo>
                <a:lnTo>
                  <a:pt x="0" y="112017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9" id="9"/>
          <p:cNvSpPr txBox="true"/>
          <p:nvPr/>
        </p:nvSpPr>
        <p:spPr>
          <a:xfrm rot="0">
            <a:off x="5815608" y="4130764"/>
            <a:ext cx="734452" cy="486394"/>
          </a:xfrm>
          <a:prstGeom prst="rect">
            <a:avLst/>
          </a:prstGeom>
        </p:spPr>
        <p:txBody>
          <a:bodyPr anchor="t" rtlCol="false" tIns="0" lIns="0" bIns="0" rIns="0">
            <a:spAutoFit/>
          </a:bodyPr>
          <a:lstStyle/>
          <a:p>
            <a:pPr algn="ctr" marL="0" indent="0" lvl="0">
              <a:lnSpc>
                <a:spcPts val="3891"/>
              </a:lnSpc>
              <a:spcBef>
                <a:spcPct val="0"/>
              </a:spcBef>
            </a:pPr>
            <a:r>
              <a:rPr lang="en-US" b="true" sz="3016" u="none">
                <a:solidFill>
                  <a:srgbClr val="000000"/>
                </a:solidFill>
                <a:latin typeface="Roboto Bold"/>
                <a:ea typeface="Roboto Bold"/>
                <a:cs typeface="Roboto Bold"/>
                <a:sym typeface="Roboto Bold"/>
              </a:rPr>
              <a:t>01</a:t>
            </a:r>
          </a:p>
        </p:txBody>
      </p:sp>
      <p:sp>
        <p:nvSpPr>
          <p:cNvPr name="Freeform 10" id="10"/>
          <p:cNvSpPr/>
          <p:nvPr/>
        </p:nvSpPr>
        <p:spPr>
          <a:xfrm flipH="false" flipV="false" rot="0">
            <a:off x="8460319" y="3850755"/>
            <a:ext cx="1120170" cy="1120170"/>
          </a:xfrm>
          <a:custGeom>
            <a:avLst/>
            <a:gdLst/>
            <a:ahLst/>
            <a:cxnLst/>
            <a:rect r="r" b="b" t="t" l="l"/>
            <a:pathLst>
              <a:path h="1120170" w="1120170">
                <a:moveTo>
                  <a:pt x="0" y="0"/>
                </a:moveTo>
                <a:lnTo>
                  <a:pt x="1120169" y="0"/>
                </a:lnTo>
                <a:lnTo>
                  <a:pt x="1120169" y="1120170"/>
                </a:lnTo>
                <a:lnTo>
                  <a:pt x="0" y="1120170"/>
                </a:lnTo>
                <a:lnTo>
                  <a:pt x="0" y="0"/>
                </a:lnTo>
                <a:close/>
              </a:path>
            </a:pathLst>
          </a:custGeom>
          <a:blipFill>
            <a:blip r:embed="rId14">
              <a:alphaModFix amt="24000"/>
              <a:extLst>
                <a:ext uri="{96DAC541-7B7A-43D3-8B79-37D633B846F1}">
                  <asvg:svgBlip xmlns:asvg="http://schemas.microsoft.com/office/drawing/2016/SVG/main" r:embed="rId15"/>
                </a:ext>
              </a:extLst>
            </a:blip>
            <a:stretch>
              <a:fillRect l="0" t="0" r="0" b="0"/>
            </a:stretch>
          </a:blipFill>
        </p:spPr>
      </p:sp>
      <p:sp>
        <p:nvSpPr>
          <p:cNvPr name="TextBox 11" id="11"/>
          <p:cNvSpPr txBox="true"/>
          <p:nvPr/>
        </p:nvSpPr>
        <p:spPr>
          <a:xfrm rot="0">
            <a:off x="8653177" y="4148593"/>
            <a:ext cx="734452" cy="486394"/>
          </a:xfrm>
          <a:prstGeom prst="rect">
            <a:avLst/>
          </a:prstGeom>
        </p:spPr>
        <p:txBody>
          <a:bodyPr anchor="t" rtlCol="false" tIns="0" lIns="0" bIns="0" rIns="0">
            <a:spAutoFit/>
          </a:bodyPr>
          <a:lstStyle/>
          <a:p>
            <a:pPr algn="ctr" marL="0" indent="0" lvl="0">
              <a:lnSpc>
                <a:spcPts val="3891"/>
              </a:lnSpc>
              <a:spcBef>
                <a:spcPct val="0"/>
              </a:spcBef>
            </a:pPr>
            <a:r>
              <a:rPr lang="en-US" b="true" sz="3016" u="none">
                <a:solidFill>
                  <a:srgbClr val="000000">
                    <a:alpha val="23922"/>
                  </a:srgbClr>
                </a:solidFill>
                <a:latin typeface="Roboto Bold"/>
                <a:ea typeface="Roboto Bold"/>
                <a:cs typeface="Roboto Bold"/>
                <a:sym typeface="Roboto Bold"/>
              </a:rPr>
              <a:t>02</a:t>
            </a:r>
          </a:p>
        </p:txBody>
      </p:sp>
      <p:sp>
        <p:nvSpPr>
          <p:cNvPr name="Freeform 12" id="12"/>
          <p:cNvSpPr/>
          <p:nvPr/>
        </p:nvSpPr>
        <p:spPr>
          <a:xfrm flipH="false" flipV="false" rot="0">
            <a:off x="11260930" y="3850755"/>
            <a:ext cx="1120170" cy="1120170"/>
          </a:xfrm>
          <a:custGeom>
            <a:avLst/>
            <a:gdLst/>
            <a:ahLst/>
            <a:cxnLst/>
            <a:rect r="r" b="b" t="t" l="l"/>
            <a:pathLst>
              <a:path h="1120170" w="1120170">
                <a:moveTo>
                  <a:pt x="0" y="0"/>
                </a:moveTo>
                <a:lnTo>
                  <a:pt x="1120169" y="0"/>
                </a:lnTo>
                <a:lnTo>
                  <a:pt x="1120169" y="1120170"/>
                </a:lnTo>
                <a:lnTo>
                  <a:pt x="0" y="1120170"/>
                </a:lnTo>
                <a:lnTo>
                  <a:pt x="0" y="0"/>
                </a:lnTo>
                <a:close/>
              </a:path>
            </a:pathLst>
          </a:custGeom>
          <a:blipFill>
            <a:blip r:embed="rId14">
              <a:alphaModFix amt="24000"/>
              <a:extLst>
                <a:ext uri="{96DAC541-7B7A-43D3-8B79-37D633B846F1}">
                  <asvg:svgBlip xmlns:asvg="http://schemas.microsoft.com/office/drawing/2016/SVG/main" r:embed="rId15"/>
                </a:ext>
              </a:extLst>
            </a:blip>
            <a:stretch>
              <a:fillRect l="0" t="0" r="0" b="0"/>
            </a:stretch>
          </a:blipFill>
        </p:spPr>
      </p:sp>
      <p:sp>
        <p:nvSpPr>
          <p:cNvPr name="TextBox 13" id="13"/>
          <p:cNvSpPr txBox="true"/>
          <p:nvPr/>
        </p:nvSpPr>
        <p:spPr>
          <a:xfrm rot="0">
            <a:off x="11453788" y="4148593"/>
            <a:ext cx="734452" cy="486394"/>
          </a:xfrm>
          <a:prstGeom prst="rect">
            <a:avLst/>
          </a:prstGeom>
        </p:spPr>
        <p:txBody>
          <a:bodyPr anchor="t" rtlCol="false" tIns="0" lIns="0" bIns="0" rIns="0">
            <a:spAutoFit/>
          </a:bodyPr>
          <a:lstStyle/>
          <a:p>
            <a:pPr algn="ctr" marL="0" indent="0" lvl="0">
              <a:lnSpc>
                <a:spcPts val="3891"/>
              </a:lnSpc>
              <a:spcBef>
                <a:spcPct val="0"/>
              </a:spcBef>
            </a:pPr>
            <a:r>
              <a:rPr lang="en-US" b="true" sz="3016" u="none">
                <a:solidFill>
                  <a:srgbClr val="000000">
                    <a:alpha val="23922"/>
                  </a:srgbClr>
                </a:solidFill>
                <a:latin typeface="Roboto Bold"/>
                <a:ea typeface="Roboto Bold"/>
                <a:cs typeface="Roboto Bold"/>
                <a:sym typeface="Roboto Bold"/>
              </a:rPr>
              <a:t>03</a:t>
            </a:r>
          </a:p>
        </p:txBody>
      </p:sp>
      <p:sp>
        <p:nvSpPr>
          <p:cNvPr name="TextBox 14" id="14"/>
          <p:cNvSpPr txBox="true"/>
          <p:nvPr/>
        </p:nvSpPr>
        <p:spPr>
          <a:xfrm rot="0">
            <a:off x="1609844" y="3662134"/>
            <a:ext cx="2976819" cy="975360"/>
          </a:xfrm>
          <a:prstGeom prst="rect">
            <a:avLst/>
          </a:prstGeom>
        </p:spPr>
        <p:txBody>
          <a:bodyPr anchor="t" rtlCol="false" tIns="0" lIns="0" bIns="0" rIns="0">
            <a:spAutoFit/>
          </a:bodyPr>
          <a:lstStyle/>
          <a:p>
            <a:pPr algn="ctr" marL="0" indent="0" lvl="0">
              <a:lnSpc>
                <a:spcPts val="3870"/>
              </a:lnSpc>
              <a:spcBef>
                <a:spcPct val="0"/>
              </a:spcBef>
            </a:pPr>
            <a:r>
              <a:rPr lang="en-US" b="true" sz="3000">
                <a:solidFill>
                  <a:srgbClr val="000000"/>
                </a:solidFill>
                <a:latin typeface="Roboto Bold"/>
                <a:ea typeface="Roboto Bold"/>
                <a:cs typeface="Roboto Bold"/>
                <a:sym typeface="Roboto Bold"/>
              </a:rPr>
              <a:t>Sélection des unités primaires</a:t>
            </a:r>
          </a:p>
        </p:txBody>
      </p:sp>
      <p:sp>
        <p:nvSpPr>
          <p:cNvPr name="TextBox 15" id="15"/>
          <p:cNvSpPr txBox="true"/>
          <p:nvPr/>
        </p:nvSpPr>
        <p:spPr>
          <a:xfrm rot="0">
            <a:off x="13469566" y="3679963"/>
            <a:ext cx="3208590" cy="975360"/>
          </a:xfrm>
          <a:prstGeom prst="rect">
            <a:avLst/>
          </a:prstGeom>
        </p:spPr>
        <p:txBody>
          <a:bodyPr anchor="t" rtlCol="false" tIns="0" lIns="0" bIns="0" rIns="0">
            <a:spAutoFit/>
          </a:bodyPr>
          <a:lstStyle/>
          <a:p>
            <a:pPr algn="ctr" marL="0" indent="0" lvl="0">
              <a:lnSpc>
                <a:spcPts val="3870"/>
              </a:lnSpc>
              <a:spcBef>
                <a:spcPct val="0"/>
              </a:spcBef>
            </a:pPr>
            <a:r>
              <a:rPr lang="en-US" b="true" sz="3000">
                <a:solidFill>
                  <a:srgbClr val="000000">
                    <a:alpha val="23922"/>
                  </a:srgbClr>
                </a:solidFill>
                <a:latin typeface="Roboto Bold"/>
                <a:ea typeface="Roboto Bold"/>
                <a:cs typeface="Roboto Bold"/>
                <a:sym typeface="Roboto Bold"/>
              </a:rPr>
              <a:t>Sélection des unités tertiaires</a:t>
            </a:r>
          </a:p>
        </p:txBody>
      </p:sp>
      <p:sp>
        <p:nvSpPr>
          <p:cNvPr name="TextBox 16" id="16"/>
          <p:cNvSpPr txBox="true"/>
          <p:nvPr/>
        </p:nvSpPr>
        <p:spPr>
          <a:xfrm rot="0">
            <a:off x="7389290" y="1948854"/>
            <a:ext cx="3393323" cy="975360"/>
          </a:xfrm>
          <a:prstGeom prst="rect">
            <a:avLst/>
          </a:prstGeom>
        </p:spPr>
        <p:txBody>
          <a:bodyPr anchor="t" rtlCol="false" tIns="0" lIns="0" bIns="0" rIns="0">
            <a:spAutoFit/>
          </a:bodyPr>
          <a:lstStyle/>
          <a:p>
            <a:pPr algn="ctr" marL="0" indent="0" lvl="0">
              <a:lnSpc>
                <a:spcPts val="3870"/>
              </a:lnSpc>
              <a:spcBef>
                <a:spcPct val="0"/>
              </a:spcBef>
            </a:pPr>
            <a:r>
              <a:rPr lang="en-US" b="true" sz="3000">
                <a:solidFill>
                  <a:srgbClr val="000000">
                    <a:alpha val="23922"/>
                  </a:srgbClr>
                </a:solidFill>
                <a:latin typeface="Roboto Bold"/>
                <a:ea typeface="Roboto Bold"/>
                <a:cs typeface="Roboto Bold"/>
                <a:sym typeface="Roboto Bold"/>
              </a:rPr>
              <a:t>Sélection des unités secondaires</a:t>
            </a:r>
          </a:p>
        </p:txBody>
      </p:sp>
      <p:sp>
        <p:nvSpPr>
          <p:cNvPr name="TextBox 17" id="17"/>
          <p:cNvSpPr txBox="true"/>
          <p:nvPr/>
        </p:nvSpPr>
        <p:spPr>
          <a:xfrm rot="0">
            <a:off x="1028700" y="846689"/>
            <a:ext cx="6110174" cy="1370236"/>
          </a:xfrm>
          <a:prstGeom prst="rect">
            <a:avLst/>
          </a:prstGeom>
        </p:spPr>
        <p:txBody>
          <a:bodyPr anchor="t" rtlCol="false" tIns="0" lIns="0" bIns="0" rIns="0">
            <a:spAutoFit/>
          </a:bodyPr>
          <a:lstStyle/>
          <a:p>
            <a:pPr algn="l">
              <a:lnSpc>
                <a:spcPts val="5261"/>
              </a:lnSpc>
            </a:pPr>
            <a:r>
              <a:rPr lang="en-US" sz="5480" b="true">
                <a:solidFill>
                  <a:srgbClr val="323840"/>
                </a:solidFill>
                <a:latin typeface="TT Interphases Bold"/>
                <a:ea typeface="TT Interphases Bold"/>
                <a:cs typeface="TT Interphases Bold"/>
                <a:sym typeface="TT Interphases Bold"/>
              </a:rPr>
              <a:t>Tirage de l’échantillon</a:t>
            </a:r>
          </a:p>
        </p:txBody>
      </p:sp>
      <p:sp>
        <p:nvSpPr>
          <p:cNvPr name="TextBox 18" id="18"/>
          <p:cNvSpPr txBox="true"/>
          <p:nvPr/>
        </p:nvSpPr>
        <p:spPr>
          <a:xfrm rot="0">
            <a:off x="0" y="6457928"/>
            <a:ext cx="6982061" cy="2626614"/>
          </a:xfrm>
          <a:prstGeom prst="rect">
            <a:avLst/>
          </a:prstGeom>
        </p:spPr>
        <p:txBody>
          <a:bodyPr anchor="t" rtlCol="false" tIns="0" lIns="0" bIns="0" rIns="0">
            <a:spAutoFit/>
          </a:bodyPr>
          <a:lstStyle/>
          <a:p>
            <a:pPr algn="l" marL="582930" indent="-291465" lvl="1">
              <a:lnSpc>
                <a:spcPts val="3483"/>
              </a:lnSpc>
              <a:buFont typeface="Arial"/>
              <a:buChar char="•"/>
            </a:pPr>
            <a:r>
              <a:rPr lang="en-US" sz="2700">
                <a:solidFill>
                  <a:srgbClr val="000000"/>
                </a:solidFill>
                <a:latin typeface="Roboto"/>
                <a:ea typeface="Roboto"/>
                <a:cs typeface="Roboto"/>
                <a:sym typeface="Roboto"/>
              </a:rPr>
              <a:t>Les districts de recensement (DR) comme unités primaires.</a:t>
            </a:r>
          </a:p>
          <a:p>
            <a:pPr algn="l" marL="582930" indent="-291465" lvl="1">
              <a:lnSpc>
                <a:spcPts val="3483"/>
              </a:lnSpc>
              <a:buFont typeface="Arial"/>
              <a:buChar char="•"/>
            </a:pPr>
            <a:r>
              <a:rPr lang="en-US" sz="2700">
                <a:solidFill>
                  <a:srgbClr val="000000"/>
                </a:solidFill>
                <a:latin typeface="Roboto"/>
                <a:ea typeface="Roboto"/>
                <a:cs typeface="Roboto"/>
                <a:sym typeface="Roboto"/>
              </a:rPr>
              <a:t>Tirés les DR avec une probabilité proportionnelle au nombre de ménages.</a:t>
            </a:r>
          </a:p>
          <a:p>
            <a:pPr algn="l" marL="582930" indent="-291465" lvl="1">
              <a:lnSpc>
                <a:spcPts val="3483"/>
              </a:lnSpc>
              <a:buFont typeface="Arial"/>
              <a:buChar char="•"/>
            </a:pPr>
            <a:r>
              <a:rPr lang="en-US" sz="2700">
                <a:solidFill>
                  <a:srgbClr val="000000"/>
                </a:solidFill>
                <a:latin typeface="Roboto"/>
                <a:ea typeface="Roboto"/>
                <a:cs typeface="Roboto"/>
                <a:sym typeface="Roboto"/>
              </a:rPr>
              <a:t>R</a:t>
            </a:r>
            <a:r>
              <a:rPr lang="en-US" sz="2700">
                <a:solidFill>
                  <a:srgbClr val="000000"/>
                </a:solidFill>
                <a:latin typeface="Roboto"/>
                <a:ea typeface="Roboto"/>
                <a:cs typeface="Roboto"/>
                <a:sym typeface="Roboto"/>
              </a:rPr>
              <a:t>eprésentativité géographique garantie dans chaque arrondissement.</a:t>
            </a:r>
          </a:p>
        </p:txBody>
      </p:sp>
      <p:sp>
        <p:nvSpPr>
          <p:cNvPr name="TextBox 19" id="19"/>
          <p:cNvSpPr txBox="true"/>
          <p:nvPr/>
        </p:nvSpPr>
        <p:spPr>
          <a:xfrm rot="0">
            <a:off x="7535038" y="6349945"/>
            <a:ext cx="10201786" cy="2515235"/>
          </a:xfrm>
          <a:prstGeom prst="rect">
            <a:avLst/>
          </a:prstGeom>
        </p:spPr>
        <p:txBody>
          <a:bodyPr anchor="t" rtlCol="false" tIns="0" lIns="0" bIns="0" rIns="0">
            <a:spAutoFit/>
          </a:bodyPr>
          <a:lstStyle/>
          <a:p>
            <a:pPr algn="ctr">
              <a:lnSpc>
                <a:spcPts val="3499"/>
              </a:lnSpc>
            </a:pPr>
            <a:r>
              <a:rPr lang="en-US" sz="2499">
                <a:solidFill>
                  <a:srgbClr val="000000"/>
                </a:solidFill>
                <a:latin typeface="Open Sans"/>
                <a:ea typeface="Open Sans"/>
                <a:cs typeface="Open Sans"/>
                <a:sym typeface="Open Sans"/>
              </a:rPr>
              <a:t>La probabilité globale de tirer un ménage dans la DR𝑖 de la strate h est : </a:t>
            </a:r>
          </a:p>
          <a:p>
            <a:pPr algn="ctr">
              <a:lnSpc>
                <a:spcPts val="5599"/>
              </a:lnSpc>
              <a:spcBef>
                <a:spcPct val="0"/>
              </a:spcBef>
            </a:pPr>
            <a:r>
              <a:rPr lang="en-US" sz="3999">
                <a:solidFill>
                  <a:srgbClr val="000000"/>
                </a:solidFill>
                <a:latin typeface="Open Sans"/>
                <a:ea typeface="Open Sans"/>
                <a:cs typeface="Open Sans"/>
                <a:sym typeface="Open Sans"/>
              </a:rPr>
              <a:t> </a:t>
            </a:r>
            <a:r>
              <a:rPr lang="en-US" b="true" sz="3999">
                <a:solidFill>
                  <a:srgbClr val="000000"/>
                </a:solidFill>
                <a:latin typeface="Open Sans Bold"/>
                <a:ea typeface="Open Sans Bold"/>
                <a:cs typeface="Open Sans Bold"/>
                <a:sym typeface="Open Sans Bold"/>
              </a:rPr>
              <a:t>P₁ₕᵢ = (aₕ × Mᵢ) / ΣMᵢ</a:t>
            </a:r>
            <a:r>
              <a:rPr lang="en-US" sz="3999">
                <a:solidFill>
                  <a:srgbClr val="000000"/>
                </a:solidFill>
                <a:latin typeface="Open Sans"/>
                <a:ea typeface="Open Sans"/>
                <a:cs typeface="Open Sans"/>
                <a:sym typeface="Open Sans"/>
              </a:rPr>
              <a:t> </a:t>
            </a:r>
          </a:p>
          <a:p>
            <a:pPr algn="ctr">
              <a:lnSpc>
                <a:spcPts val="3779"/>
              </a:lnSpc>
              <a:spcBef>
                <a:spcPct val="0"/>
              </a:spcBef>
            </a:pPr>
            <a:r>
              <a:rPr lang="en-US" sz="2700">
                <a:solidFill>
                  <a:srgbClr val="000000"/>
                </a:solidFill>
                <a:latin typeface="Open Sans"/>
                <a:ea typeface="Open Sans"/>
                <a:cs typeface="Open Sans"/>
                <a:sym typeface="Open Sans"/>
              </a:rPr>
              <a:t>Où 𝑎ℎ est le nombre de 𝐷𝑅 tiré dans la strate ℎ et 𝑀𝑖 le nombre de ménage dans le DR𝑖 </a:t>
            </a:r>
          </a:p>
        </p:txBody>
      </p:sp>
    </p:spTree>
  </p:cSld>
  <p:clrMapOvr>
    <a:masterClrMapping/>
  </p:clrMapOvr>
  <p:transition spd="slow">
    <p:push dir="l"/>
  </p:transition>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sp>
        <p:nvSpPr>
          <p:cNvPr name="Freeform 2" id="2"/>
          <p:cNvSpPr/>
          <p:nvPr/>
        </p:nvSpPr>
        <p:spPr>
          <a:xfrm flipH="false" flipV="false" rot="0">
            <a:off x="4746594" y="2728613"/>
            <a:ext cx="2961367" cy="1480684"/>
          </a:xfrm>
          <a:custGeom>
            <a:avLst/>
            <a:gdLst/>
            <a:ahLst/>
            <a:cxnLst/>
            <a:rect r="r" b="b" t="t" l="l"/>
            <a:pathLst>
              <a:path h="1480684" w="2961367">
                <a:moveTo>
                  <a:pt x="0" y="0"/>
                </a:moveTo>
                <a:lnTo>
                  <a:pt x="2961368" y="0"/>
                </a:lnTo>
                <a:lnTo>
                  <a:pt x="2961368" y="1480683"/>
                </a:lnTo>
                <a:lnTo>
                  <a:pt x="0" y="1480683"/>
                </a:lnTo>
                <a:lnTo>
                  <a:pt x="0"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7535038" y="4197410"/>
            <a:ext cx="2961367" cy="1480684"/>
          </a:xfrm>
          <a:custGeom>
            <a:avLst/>
            <a:gdLst/>
            <a:ahLst/>
            <a:cxnLst/>
            <a:rect r="r" b="b" t="t" l="l"/>
            <a:pathLst>
              <a:path h="1480684" w="2961367">
                <a:moveTo>
                  <a:pt x="0" y="0"/>
                </a:moveTo>
                <a:lnTo>
                  <a:pt x="2961367" y="0"/>
                </a:lnTo>
                <a:lnTo>
                  <a:pt x="2961367" y="1480684"/>
                </a:lnTo>
                <a:lnTo>
                  <a:pt x="0" y="14806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232342" y="3246919"/>
            <a:ext cx="1900984" cy="1900984"/>
          </a:xfrm>
          <a:custGeom>
            <a:avLst/>
            <a:gdLst/>
            <a:ahLst/>
            <a:cxnLst/>
            <a:rect r="r" b="b" t="t" l="l"/>
            <a:pathLst>
              <a:path h="1900984" w="1900984">
                <a:moveTo>
                  <a:pt x="0" y="0"/>
                </a:moveTo>
                <a:lnTo>
                  <a:pt x="1900984" y="0"/>
                </a:lnTo>
                <a:lnTo>
                  <a:pt x="1900984" y="1900983"/>
                </a:lnTo>
                <a:lnTo>
                  <a:pt x="0" y="1900983"/>
                </a:lnTo>
                <a:lnTo>
                  <a:pt x="0" y="0"/>
                </a:lnTo>
                <a:close/>
              </a:path>
            </a:pathLst>
          </a:custGeom>
          <a:blipFill>
            <a:blip r:embed="rId6">
              <a:alphaModFix amt="23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8069912" y="3246919"/>
            <a:ext cx="1900984" cy="1900984"/>
          </a:xfrm>
          <a:custGeom>
            <a:avLst/>
            <a:gdLst/>
            <a:ahLst/>
            <a:cxnLst/>
            <a:rect r="r" b="b" t="t" l="l"/>
            <a:pathLst>
              <a:path h="1900984" w="1900984">
                <a:moveTo>
                  <a:pt x="0" y="0"/>
                </a:moveTo>
                <a:lnTo>
                  <a:pt x="1900983" y="0"/>
                </a:lnTo>
                <a:lnTo>
                  <a:pt x="1900983" y="1900983"/>
                </a:lnTo>
                <a:lnTo>
                  <a:pt x="0" y="190098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0334388" y="2728613"/>
            <a:ext cx="2973253" cy="1486627"/>
          </a:xfrm>
          <a:custGeom>
            <a:avLst/>
            <a:gdLst/>
            <a:ahLst/>
            <a:cxnLst/>
            <a:rect r="r" b="b" t="t" l="l"/>
            <a:pathLst>
              <a:path h="1486627" w="2973253">
                <a:moveTo>
                  <a:pt x="0" y="0"/>
                </a:moveTo>
                <a:lnTo>
                  <a:pt x="2973253" y="0"/>
                </a:lnTo>
                <a:lnTo>
                  <a:pt x="2973253" y="1486626"/>
                </a:lnTo>
                <a:lnTo>
                  <a:pt x="0" y="1486626"/>
                </a:lnTo>
                <a:lnTo>
                  <a:pt x="0" y="0"/>
                </a:lnTo>
                <a:close/>
              </a:path>
            </a:pathLst>
          </a:custGeom>
          <a:blipFill>
            <a:blip r:embed="rId10">
              <a:alphaModFix amt="2800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0869261" y="3252861"/>
            <a:ext cx="1900984" cy="1900984"/>
          </a:xfrm>
          <a:custGeom>
            <a:avLst/>
            <a:gdLst/>
            <a:ahLst/>
            <a:cxnLst/>
            <a:rect r="r" b="b" t="t" l="l"/>
            <a:pathLst>
              <a:path h="1900984" w="1900984">
                <a:moveTo>
                  <a:pt x="0" y="0"/>
                </a:moveTo>
                <a:lnTo>
                  <a:pt x="1900984" y="0"/>
                </a:lnTo>
                <a:lnTo>
                  <a:pt x="1900984" y="1900984"/>
                </a:lnTo>
                <a:lnTo>
                  <a:pt x="0" y="1900984"/>
                </a:lnTo>
                <a:lnTo>
                  <a:pt x="0" y="0"/>
                </a:lnTo>
                <a:close/>
              </a:path>
            </a:pathLst>
          </a:custGeom>
          <a:blipFill>
            <a:blip r:embed="rId12">
              <a:alphaModFix amt="28000"/>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5622749" y="3637326"/>
            <a:ext cx="1120170" cy="1120170"/>
          </a:xfrm>
          <a:custGeom>
            <a:avLst/>
            <a:gdLst/>
            <a:ahLst/>
            <a:cxnLst/>
            <a:rect r="r" b="b" t="t" l="l"/>
            <a:pathLst>
              <a:path h="1120170" w="1120170">
                <a:moveTo>
                  <a:pt x="0" y="0"/>
                </a:moveTo>
                <a:lnTo>
                  <a:pt x="1120170" y="0"/>
                </a:lnTo>
                <a:lnTo>
                  <a:pt x="1120170" y="1120169"/>
                </a:lnTo>
                <a:lnTo>
                  <a:pt x="0" y="1120169"/>
                </a:lnTo>
                <a:lnTo>
                  <a:pt x="0" y="0"/>
                </a:lnTo>
                <a:close/>
              </a:path>
            </a:pathLst>
          </a:custGeom>
          <a:blipFill>
            <a:blip r:embed="rId14">
              <a:alphaModFix amt="23000"/>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8460319" y="3655154"/>
            <a:ext cx="1120170" cy="1120170"/>
          </a:xfrm>
          <a:custGeom>
            <a:avLst/>
            <a:gdLst/>
            <a:ahLst/>
            <a:cxnLst/>
            <a:rect r="r" b="b" t="t" l="l"/>
            <a:pathLst>
              <a:path h="1120170" w="1120170">
                <a:moveTo>
                  <a:pt x="0" y="0"/>
                </a:moveTo>
                <a:lnTo>
                  <a:pt x="1120169" y="0"/>
                </a:lnTo>
                <a:lnTo>
                  <a:pt x="1120169" y="1120170"/>
                </a:lnTo>
                <a:lnTo>
                  <a:pt x="0" y="112017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0">
            <a:off x="11260930" y="3655154"/>
            <a:ext cx="1120170" cy="1120170"/>
          </a:xfrm>
          <a:custGeom>
            <a:avLst/>
            <a:gdLst/>
            <a:ahLst/>
            <a:cxnLst/>
            <a:rect r="r" b="b" t="t" l="l"/>
            <a:pathLst>
              <a:path h="1120170" w="1120170">
                <a:moveTo>
                  <a:pt x="0" y="0"/>
                </a:moveTo>
                <a:lnTo>
                  <a:pt x="1120169" y="0"/>
                </a:lnTo>
                <a:lnTo>
                  <a:pt x="1120169" y="1120170"/>
                </a:lnTo>
                <a:lnTo>
                  <a:pt x="0" y="1120170"/>
                </a:lnTo>
                <a:lnTo>
                  <a:pt x="0" y="0"/>
                </a:lnTo>
                <a:close/>
              </a:path>
            </a:pathLst>
          </a:custGeom>
          <a:blipFill>
            <a:blip r:embed="rId14">
              <a:alphaModFix amt="28000"/>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6227278" y="7477834"/>
            <a:ext cx="7607919" cy="1132896"/>
          </a:xfrm>
          <a:custGeom>
            <a:avLst/>
            <a:gdLst/>
            <a:ahLst/>
            <a:cxnLst/>
            <a:rect r="r" b="b" t="t" l="l"/>
            <a:pathLst>
              <a:path h="1132896" w="7607919">
                <a:moveTo>
                  <a:pt x="0" y="0"/>
                </a:moveTo>
                <a:lnTo>
                  <a:pt x="7607919" y="0"/>
                </a:lnTo>
                <a:lnTo>
                  <a:pt x="7607919" y="1132896"/>
                </a:lnTo>
                <a:lnTo>
                  <a:pt x="0" y="1132896"/>
                </a:lnTo>
                <a:lnTo>
                  <a:pt x="0" y="0"/>
                </a:lnTo>
                <a:close/>
              </a:path>
            </a:pathLst>
          </a:custGeom>
          <a:blipFill>
            <a:blip r:embed="rId16"/>
            <a:stretch>
              <a:fillRect l="0" t="-31000" r="0" b="-2745"/>
            </a:stretch>
          </a:blipFill>
        </p:spPr>
      </p:sp>
      <p:sp>
        <p:nvSpPr>
          <p:cNvPr name="TextBox 12" id="12"/>
          <p:cNvSpPr txBox="true"/>
          <p:nvPr/>
        </p:nvSpPr>
        <p:spPr>
          <a:xfrm rot="0">
            <a:off x="5815608" y="3935163"/>
            <a:ext cx="734452" cy="486394"/>
          </a:xfrm>
          <a:prstGeom prst="rect">
            <a:avLst/>
          </a:prstGeom>
        </p:spPr>
        <p:txBody>
          <a:bodyPr anchor="t" rtlCol="false" tIns="0" lIns="0" bIns="0" rIns="0">
            <a:spAutoFit/>
          </a:bodyPr>
          <a:lstStyle/>
          <a:p>
            <a:pPr algn="ctr" marL="0" indent="0" lvl="0">
              <a:lnSpc>
                <a:spcPts val="3891"/>
              </a:lnSpc>
              <a:spcBef>
                <a:spcPct val="0"/>
              </a:spcBef>
            </a:pPr>
            <a:r>
              <a:rPr lang="en-US" b="true" sz="3016" u="none">
                <a:solidFill>
                  <a:srgbClr val="000000">
                    <a:alpha val="22745"/>
                  </a:srgbClr>
                </a:solidFill>
                <a:latin typeface="Roboto Bold"/>
                <a:ea typeface="Roboto Bold"/>
                <a:cs typeface="Roboto Bold"/>
                <a:sym typeface="Roboto Bold"/>
              </a:rPr>
              <a:t>01</a:t>
            </a:r>
          </a:p>
        </p:txBody>
      </p:sp>
      <p:sp>
        <p:nvSpPr>
          <p:cNvPr name="TextBox 13" id="13"/>
          <p:cNvSpPr txBox="true"/>
          <p:nvPr/>
        </p:nvSpPr>
        <p:spPr>
          <a:xfrm rot="0">
            <a:off x="8653177" y="3952992"/>
            <a:ext cx="734452" cy="486394"/>
          </a:xfrm>
          <a:prstGeom prst="rect">
            <a:avLst/>
          </a:prstGeom>
        </p:spPr>
        <p:txBody>
          <a:bodyPr anchor="t" rtlCol="false" tIns="0" lIns="0" bIns="0" rIns="0">
            <a:spAutoFit/>
          </a:bodyPr>
          <a:lstStyle/>
          <a:p>
            <a:pPr algn="ctr" marL="0" indent="0" lvl="0">
              <a:lnSpc>
                <a:spcPts val="3891"/>
              </a:lnSpc>
              <a:spcBef>
                <a:spcPct val="0"/>
              </a:spcBef>
            </a:pPr>
            <a:r>
              <a:rPr lang="en-US" b="true" sz="3016" u="none">
                <a:solidFill>
                  <a:srgbClr val="000000"/>
                </a:solidFill>
                <a:latin typeface="Roboto Bold"/>
                <a:ea typeface="Roboto Bold"/>
                <a:cs typeface="Roboto Bold"/>
                <a:sym typeface="Roboto Bold"/>
              </a:rPr>
              <a:t>02</a:t>
            </a:r>
          </a:p>
        </p:txBody>
      </p:sp>
      <p:sp>
        <p:nvSpPr>
          <p:cNvPr name="TextBox 14" id="14"/>
          <p:cNvSpPr txBox="true"/>
          <p:nvPr/>
        </p:nvSpPr>
        <p:spPr>
          <a:xfrm rot="0">
            <a:off x="11453788" y="3952992"/>
            <a:ext cx="734452" cy="486394"/>
          </a:xfrm>
          <a:prstGeom prst="rect">
            <a:avLst/>
          </a:prstGeom>
        </p:spPr>
        <p:txBody>
          <a:bodyPr anchor="t" rtlCol="false" tIns="0" lIns="0" bIns="0" rIns="0">
            <a:spAutoFit/>
          </a:bodyPr>
          <a:lstStyle/>
          <a:p>
            <a:pPr algn="ctr" marL="0" indent="0" lvl="0">
              <a:lnSpc>
                <a:spcPts val="3891"/>
              </a:lnSpc>
              <a:spcBef>
                <a:spcPct val="0"/>
              </a:spcBef>
            </a:pPr>
            <a:r>
              <a:rPr lang="en-US" b="true" sz="3016" u="none">
                <a:solidFill>
                  <a:srgbClr val="000000">
                    <a:alpha val="27843"/>
                  </a:srgbClr>
                </a:solidFill>
                <a:latin typeface="Roboto Bold"/>
                <a:ea typeface="Roboto Bold"/>
                <a:cs typeface="Roboto Bold"/>
                <a:sym typeface="Roboto Bold"/>
              </a:rPr>
              <a:t>03</a:t>
            </a:r>
          </a:p>
        </p:txBody>
      </p:sp>
      <p:sp>
        <p:nvSpPr>
          <p:cNvPr name="TextBox 15" id="15"/>
          <p:cNvSpPr txBox="true"/>
          <p:nvPr/>
        </p:nvSpPr>
        <p:spPr>
          <a:xfrm rot="0">
            <a:off x="1609844" y="3466533"/>
            <a:ext cx="2976819" cy="975360"/>
          </a:xfrm>
          <a:prstGeom prst="rect">
            <a:avLst/>
          </a:prstGeom>
        </p:spPr>
        <p:txBody>
          <a:bodyPr anchor="t" rtlCol="false" tIns="0" lIns="0" bIns="0" rIns="0">
            <a:spAutoFit/>
          </a:bodyPr>
          <a:lstStyle/>
          <a:p>
            <a:pPr algn="ctr" marL="0" indent="0" lvl="0">
              <a:lnSpc>
                <a:spcPts val="3870"/>
              </a:lnSpc>
              <a:spcBef>
                <a:spcPct val="0"/>
              </a:spcBef>
            </a:pPr>
            <a:r>
              <a:rPr lang="en-US" b="true" sz="3000">
                <a:solidFill>
                  <a:srgbClr val="000000">
                    <a:alpha val="22745"/>
                  </a:srgbClr>
                </a:solidFill>
                <a:latin typeface="Roboto Bold"/>
                <a:ea typeface="Roboto Bold"/>
                <a:cs typeface="Roboto Bold"/>
                <a:sym typeface="Roboto Bold"/>
              </a:rPr>
              <a:t>Sélection des unités primaires</a:t>
            </a:r>
          </a:p>
        </p:txBody>
      </p:sp>
      <p:sp>
        <p:nvSpPr>
          <p:cNvPr name="TextBox 16" id="16"/>
          <p:cNvSpPr txBox="true"/>
          <p:nvPr/>
        </p:nvSpPr>
        <p:spPr>
          <a:xfrm rot="0">
            <a:off x="13469566" y="3484362"/>
            <a:ext cx="3208590" cy="975360"/>
          </a:xfrm>
          <a:prstGeom prst="rect">
            <a:avLst/>
          </a:prstGeom>
        </p:spPr>
        <p:txBody>
          <a:bodyPr anchor="t" rtlCol="false" tIns="0" lIns="0" bIns="0" rIns="0">
            <a:spAutoFit/>
          </a:bodyPr>
          <a:lstStyle/>
          <a:p>
            <a:pPr algn="ctr" marL="0" indent="0" lvl="0">
              <a:lnSpc>
                <a:spcPts val="3870"/>
              </a:lnSpc>
              <a:spcBef>
                <a:spcPct val="0"/>
              </a:spcBef>
            </a:pPr>
            <a:r>
              <a:rPr lang="en-US" b="true" sz="3000">
                <a:solidFill>
                  <a:srgbClr val="000000">
                    <a:alpha val="27843"/>
                  </a:srgbClr>
                </a:solidFill>
                <a:latin typeface="Roboto Bold"/>
                <a:ea typeface="Roboto Bold"/>
                <a:cs typeface="Roboto Bold"/>
                <a:sym typeface="Roboto Bold"/>
              </a:rPr>
              <a:t>Sélection des unités tertiaires</a:t>
            </a:r>
          </a:p>
        </p:txBody>
      </p:sp>
      <p:sp>
        <p:nvSpPr>
          <p:cNvPr name="TextBox 17" id="17"/>
          <p:cNvSpPr txBox="true"/>
          <p:nvPr/>
        </p:nvSpPr>
        <p:spPr>
          <a:xfrm rot="0">
            <a:off x="7389290" y="1753253"/>
            <a:ext cx="3393323" cy="975360"/>
          </a:xfrm>
          <a:prstGeom prst="rect">
            <a:avLst/>
          </a:prstGeom>
        </p:spPr>
        <p:txBody>
          <a:bodyPr anchor="t" rtlCol="false" tIns="0" lIns="0" bIns="0" rIns="0">
            <a:spAutoFit/>
          </a:bodyPr>
          <a:lstStyle/>
          <a:p>
            <a:pPr algn="ctr" marL="0" indent="0" lvl="0">
              <a:lnSpc>
                <a:spcPts val="3870"/>
              </a:lnSpc>
              <a:spcBef>
                <a:spcPct val="0"/>
              </a:spcBef>
            </a:pPr>
            <a:r>
              <a:rPr lang="en-US" b="true" sz="3000">
                <a:solidFill>
                  <a:srgbClr val="000000"/>
                </a:solidFill>
                <a:latin typeface="Roboto Bold"/>
                <a:ea typeface="Roboto Bold"/>
                <a:cs typeface="Roboto Bold"/>
                <a:sym typeface="Roboto Bold"/>
              </a:rPr>
              <a:t>Sélection des unités secondaires</a:t>
            </a:r>
          </a:p>
        </p:txBody>
      </p:sp>
      <p:sp>
        <p:nvSpPr>
          <p:cNvPr name="TextBox 18" id="18"/>
          <p:cNvSpPr txBox="true"/>
          <p:nvPr/>
        </p:nvSpPr>
        <p:spPr>
          <a:xfrm rot="0">
            <a:off x="1028700" y="846689"/>
            <a:ext cx="6110174" cy="1370236"/>
          </a:xfrm>
          <a:prstGeom prst="rect">
            <a:avLst/>
          </a:prstGeom>
        </p:spPr>
        <p:txBody>
          <a:bodyPr anchor="t" rtlCol="false" tIns="0" lIns="0" bIns="0" rIns="0">
            <a:spAutoFit/>
          </a:bodyPr>
          <a:lstStyle/>
          <a:p>
            <a:pPr algn="l">
              <a:lnSpc>
                <a:spcPts val="5261"/>
              </a:lnSpc>
            </a:pPr>
            <a:r>
              <a:rPr lang="en-US" sz="5480" b="true">
                <a:solidFill>
                  <a:srgbClr val="323840"/>
                </a:solidFill>
                <a:latin typeface="TT Interphases Bold"/>
                <a:ea typeface="TT Interphases Bold"/>
                <a:cs typeface="TT Interphases Bold"/>
                <a:sym typeface="TT Interphases Bold"/>
              </a:rPr>
              <a:t>Tirage de l’échantillon</a:t>
            </a:r>
          </a:p>
        </p:txBody>
      </p:sp>
      <p:sp>
        <p:nvSpPr>
          <p:cNvPr name="TextBox 19" id="19"/>
          <p:cNvSpPr txBox="true"/>
          <p:nvPr/>
        </p:nvSpPr>
        <p:spPr>
          <a:xfrm rot="0">
            <a:off x="4411432" y="5639620"/>
            <a:ext cx="9208581" cy="1750314"/>
          </a:xfrm>
          <a:prstGeom prst="rect">
            <a:avLst/>
          </a:prstGeom>
        </p:spPr>
        <p:txBody>
          <a:bodyPr anchor="t" rtlCol="false" tIns="0" lIns="0" bIns="0" rIns="0">
            <a:spAutoFit/>
          </a:bodyPr>
          <a:lstStyle/>
          <a:p>
            <a:pPr algn="l" marL="582930" indent="-291465" lvl="1">
              <a:lnSpc>
                <a:spcPts val="3483"/>
              </a:lnSpc>
              <a:buFont typeface="Arial"/>
              <a:buChar char="•"/>
            </a:pPr>
            <a:r>
              <a:rPr lang="en-US" sz="2700">
                <a:solidFill>
                  <a:srgbClr val="000000"/>
                </a:solidFill>
                <a:latin typeface="Roboto"/>
                <a:ea typeface="Roboto"/>
                <a:cs typeface="Roboto"/>
                <a:sym typeface="Roboto"/>
              </a:rPr>
              <a:t>Lister exhaustivement les ménages dans chaque DR tiré.</a:t>
            </a:r>
          </a:p>
          <a:p>
            <a:pPr algn="l" marL="582930" indent="-291465" lvl="1">
              <a:lnSpc>
                <a:spcPts val="3483"/>
              </a:lnSpc>
              <a:buFont typeface="Arial"/>
              <a:buChar char="•"/>
            </a:pPr>
            <a:r>
              <a:rPr lang="en-US" sz="2700">
                <a:solidFill>
                  <a:srgbClr val="000000"/>
                </a:solidFill>
                <a:latin typeface="Roboto"/>
                <a:ea typeface="Roboto"/>
                <a:cs typeface="Roboto"/>
                <a:sym typeface="Roboto"/>
              </a:rPr>
              <a:t>Tirer les ménages systématiquement à probabilité égale.</a:t>
            </a:r>
          </a:p>
          <a:p>
            <a:pPr algn="l" marL="582930" indent="-291465" lvl="1">
              <a:lnSpc>
                <a:spcPts val="3483"/>
              </a:lnSpc>
              <a:buFont typeface="Arial"/>
              <a:buChar char="•"/>
            </a:pPr>
            <a:r>
              <a:rPr lang="en-US" sz="2700">
                <a:solidFill>
                  <a:srgbClr val="000000"/>
                </a:solidFill>
                <a:latin typeface="Roboto"/>
                <a:ea typeface="Roboto"/>
                <a:cs typeface="Roboto"/>
                <a:sym typeface="Roboto"/>
              </a:rPr>
              <a:t>Déterminer le nombre de ménages par arrondissement avant tirage.</a:t>
            </a:r>
          </a:p>
        </p:txBody>
      </p:sp>
      <p:sp>
        <p:nvSpPr>
          <p:cNvPr name="TextBox 20" id="20"/>
          <p:cNvSpPr txBox="true"/>
          <p:nvPr/>
        </p:nvSpPr>
        <p:spPr>
          <a:xfrm rot="0">
            <a:off x="184414" y="7590257"/>
            <a:ext cx="5827679" cy="86042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Open Sans"/>
                <a:ea typeface="Open Sans"/>
                <a:cs typeface="Open Sans"/>
                <a:sym typeface="Open Sans"/>
              </a:rPr>
              <a:t>Ainsi, la probabilité globale de tirer un ménage dans la DR𝑖 de la strate h est : </a:t>
            </a:r>
          </a:p>
        </p:txBody>
      </p:sp>
      <p:sp>
        <p:nvSpPr>
          <p:cNvPr name="TextBox 21" id="21"/>
          <p:cNvSpPr txBox="true"/>
          <p:nvPr/>
        </p:nvSpPr>
        <p:spPr>
          <a:xfrm rot="0">
            <a:off x="2142716" y="8804275"/>
            <a:ext cx="13746013" cy="86042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Open Sans"/>
                <a:ea typeface="Open Sans"/>
                <a:cs typeface="Open Sans"/>
                <a:sym typeface="Open Sans"/>
              </a:rPr>
              <a:t>Où 𝑏ℎ𝑖 est le nombre de ménage tiré dans le DR𝑖 ; 𝐿ℎ𝑖 est le nombre de ménage dénombré dans le DR𝑖 et 𝑃2ℎ𝑖 la probabilité de tirer un ménage dans le DR𝑖 de la strate h. </a:t>
            </a:r>
          </a:p>
        </p:txBody>
      </p:sp>
    </p:spTree>
  </p:cSld>
  <p:clrMapOvr>
    <a:masterClrMapping/>
  </p:clrMapOvr>
  <p:transition spd="slow">
    <p:push dir="l"/>
  </p:transition>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sp>
        <p:nvSpPr>
          <p:cNvPr name="Freeform 2" id="2"/>
          <p:cNvSpPr/>
          <p:nvPr/>
        </p:nvSpPr>
        <p:spPr>
          <a:xfrm flipH="false" flipV="false" rot="0">
            <a:off x="4746594" y="2218862"/>
            <a:ext cx="2961367" cy="1480684"/>
          </a:xfrm>
          <a:custGeom>
            <a:avLst/>
            <a:gdLst/>
            <a:ahLst/>
            <a:cxnLst/>
            <a:rect r="r" b="b" t="t" l="l"/>
            <a:pathLst>
              <a:path h="1480684" w="2961367">
                <a:moveTo>
                  <a:pt x="0" y="0"/>
                </a:moveTo>
                <a:lnTo>
                  <a:pt x="2961368" y="0"/>
                </a:lnTo>
                <a:lnTo>
                  <a:pt x="2961368" y="1480683"/>
                </a:lnTo>
                <a:lnTo>
                  <a:pt x="0" y="1480683"/>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7535038" y="3687659"/>
            <a:ext cx="2961367" cy="1480684"/>
          </a:xfrm>
          <a:custGeom>
            <a:avLst/>
            <a:gdLst/>
            <a:ahLst/>
            <a:cxnLst/>
            <a:rect r="r" b="b" t="t" l="l"/>
            <a:pathLst>
              <a:path h="1480684" w="2961367">
                <a:moveTo>
                  <a:pt x="0" y="0"/>
                </a:moveTo>
                <a:lnTo>
                  <a:pt x="2961367" y="0"/>
                </a:lnTo>
                <a:lnTo>
                  <a:pt x="2961367" y="1480684"/>
                </a:lnTo>
                <a:lnTo>
                  <a:pt x="0" y="1480684"/>
                </a:lnTo>
                <a:lnTo>
                  <a:pt x="0" y="0"/>
                </a:lnTo>
                <a:close/>
              </a:path>
            </a:pathLst>
          </a:custGeom>
          <a:blipFill>
            <a:blip r:embed="rId4">
              <a:alphaModFix amt="21999"/>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232342" y="2737168"/>
            <a:ext cx="1900984" cy="1900984"/>
          </a:xfrm>
          <a:custGeom>
            <a:avLst/>
            <a:gdLst/>
            <a:ahLst/>
            <a:cxnLst/>
            <a:rect r="r" b="b" t="t" l="l"/>
            <a:pathLst>
              <a:path h="1900984" w="1900984">
                <a:moveTo>
                  <a:pt x="0" y="0"/>
                </a:moveTo>
                <a:lnTo>
                  <a:pt x="1900984" y="0"/>
                </a:lnTo>
                <a:lnTo>
                  <a:pt x="1900984" y="1900983"/>
                </a:lnTo>
                <a:lnTo>
                  <a:pt x="0" y="1900983"/>
                </a:lnTo>
                <a:lnTo>
                  <a:pt x="0" y="0"/>
                </a:lnTo>
                <a:close/>
              </a:path>
            </a:pathLst>
          </a:custGeom>
          <a:blipFill>
            <a:blip r:embed="rId6">
              <a:alphaModFix amt="21999"/>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8069912" y="2737168"/>
            <a:ext cx="1900984" cy="1900984"/>
          </a:xfrm>
          <a:custGeom>
            <a:avLst/>
            <a:gdLst/>
            <a:ahLst/>
            <a:cxnLst/>
            <a:rect r="r" b="b" t="t" l="l"/>
            <a:pathLst>
              <a:path h="1900984" w="1900984">
                <a:moveTo>
                  <a:pt x="0" y="0"/>
                </a:moveTo>
                <a:lnTo>
                  <a:pt x="1900983" y="0"/>
                </a:lnTo>
                <a:lnTo>
                  <a:pt x="1900983" y="1900983"/>
                </a:lnTo>
                <a:lnTo>
                  <a:pt x="0" y="1900983"/>
                </a:lnTo>
                <a:lnTo>
                  <a:pt x="0" y="0"/>
                </a:lnTo>
                <a:close/>
              </a:path>
            </a:pathLst>
          </a:custGeom>
          <a:blipFill>
            <a:blip r:embed="rId8">
              <a:alphaModFix amt="21999"/>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0334388" y="2218862"/>
            <a:ext cx="2973253" cy="1486627"/>
          </a:xfrm>
          <a:custGeom>
            <a:avLst/>
            <a:gdLst/>
            <a:ahLst/>
            <a:cxnLst/>
            <a:rect r="r" b="b" t="t" l="l"/>
            <a:pathLst>
              <a:path h="1486627" w="2973253">
                <a:moveTo>
                  <a:pt x="0" y="0"/>
                </a:moveTo>
                <a:lnTo>
                  <a:pt x="2973253" y="0"/>
                </a:lnTo>
                <a:lnTo>
                  <a:pt x="2973253" y="1486626"/>
                </a:lnTo>
                <a:lnTo>
                  <a:pt x="0" y="1486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0869261" y="2743111"/>
            <a:ext cx="1900984" cy="1900984"/>
          </a:xfrm>
          <a:custGeom>
            <a:avLst/>
            <a:gdLst/>
            <a:ahLst/>
            <a:cxnLst/>
            <a:rect r="r" b="b" t="t" l="l"/>
            <a:pathLst>
              <a:path h="1900984" w="1900984">
                <a:moveTo>
                  <a:pt x="0" y="0"/>
                </a:moveTo>
                <a:lnTo>
                  <a:pt x="1900984" y="0"/>
                </a:lnTo>
                <a:lnTo>
                  <a:pt x="1900984" y="1900983"/>
                </a:lnTo>
                <a:lnTo>
                  <a:pt x="0" y="190098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5622749" y="3127575"/>
            <a:ext cx="1120170" cy="1120170"/>
          </a:xfrm>
          <a:custGeom>
            <a:avLst/>
            <a:gdLst/>
            <a:ahLst/>
            <a:cxnLst/>
            <a:rect r="r" b="b" t="t" l="l"/>
            <a:pathLst>
              <a:path h="1120170" w="1120170">
                <a:moveTo>
                  <a:pt x="0" y="0"/>
                </a:moveTo>
                <a:lnTo>
                  <a:pt x="1120170" y="0"/>
                </a:lnTo>
                <a:lnTo>
                  <a:pt x="1120170" y="1120169"/>
                </a:lnTo>
                <a:lnTo>
                  <a:pt x="0" y="1120169"/>
                </a:lnTo>
                <a:lnTo>
                  <a:pt x="0" y="0"/>
                </a:lnTo>
                <a:close/>
              </a:path>
            </a:pathLst>
          </a:custGeom>
          <a:blipFill>
            <a:blip r:embed="rId14">
              <a:alphaModFix amt="21999"/>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8460319" y="3145403"/>
            <a:ext cx="1120170" cy="1120170"/>
          </a:xfrm>
          <a:custGeom>
            <a:avLst/>
            <a:gdLst/>
            <a:ahLst/>
            <a:cxnLst/>
            <a:rect r="r" b="b" t="t" l="l"/>
            <a:pathLst>
              <a:path h="1120170" w="1120170">
                <a:moveTo>
                  <a:pt x="0" y="0"/>
                </a:moveTo>
                <a:lnTo>
                  <a:pt x="1120169" y="0"/>
                </a:lnTo>
                <a:lnTo>
                  <a:pt x="1120169" y="1120170"/>
                </a:lnTo>
                <a:lnTo>
                  <a:pt x="0" y="1120170"/>
                </a:lnTo>
                <a:lnTo>
                  <a:pt x="0" y="0"/>
                </a:lnTo>
                <a:close/>
              </a:path>
            </a:pathLst>
          </a:custGeom>
          <a:blipFill>
            <a:blip r:embed="rId14">
              <a:alphaModFix amt="21999"/>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0">
            <a:off x="11260930" y="3145403"/>
            <a:ext cx="1120170" cy="1120170"/>
          </a:xfrm>
          <a:custGeom>
            <a:avLst/>
            <a:gdLst/>
            <a:ahLst/>
            <a:cxnLst/>
            <a:rect r="r" b="b" t="t" l="l"/>
            <a:pathLst>
              <a:path h="1120170" w="1120170">
                <a:moveTo>
                  <a:pt x="0" y="0"/>
                </a:moveTo>
                <a:lnTo>
                  <a:pt x="1120169" y="0"/>
                </a:lnTo>
                <a:lnTo>
                  <a:pt x="1120169" y="1120170"/>
                </a:lnTo>
                <a:lnTo>
                  <a:pt x="0" y="112017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3011712" y="8139147"/>
            <a:ext cx="3090636" cy="1665026"/>
          </a:xfrm>
          <a:custGeom>
            <a:avLst/>
            <a:gdLst/>
            <a:ahLst/>
            <a:cxnLst/>
            <a:rect r="r" b="b" t="t" l="l"/>
            <a:pathLst>
              <a:path h="1665026" w="3090636">
                <a:moveTo>
                  <a:pt x="0" y="0"/>
                </a:moveTo>
                <a:lnTo>
                  <a:pt x="3090635" y="0"/>
                </a:lnTo>
                <a:lnTo>
                  <a:pt x="3090635" y="1665025"/>
                </a:lnTo>
                <a:lnTo>
                  <a:pt x="0" y="1665025"/>
                </a:lnTo>
                <a:lnTo>
                  <a:pt x="0" y="0"/>
                </a:lnTo>
                <a:close/>
              </a:path>
            </a:pathLst>
          </a:custGeom>
          <a:blipFill>
            <a:blip r:embed="rId16"/>
            <a:stretch>
              <a:fillRect l="0" t="0" r="0" b="0"/>
            </a:stretch>
          </a:blipFill>
        </p:spPr>
      </p:sp>
      <p:sp>
        <p:nvSpPr>
          <p:cNvPr name="Freeform 12" id="12"/>
          <p:cNvSpPr/>
          <p:nvPr/>
        </p:nvSpPr>
        <p:spPr>
          <a:xfrm flipH="false" flipV="false" rot="0">
            <a:off x="8460319" y="8256519"/>
            <a:ext cx="9864008" cy="1430281"/>
          </a:xfrm>
          <a:custGeom>
            <a:avLst/>
            <a:gdLst/>
            <a:ahLst/>
            <a:cxnLst/>
            <a:rect r="r" b="b" t="t" l="l"/>
            <a:pathLst>
              <a:path h="1430281" w="9864008">
                <a:moveTo>
                  <a:pt x="0" y="0"/>
                </a:moveTo>
                <a:lnTo>
                  <a:pt x="9864007" y="0"/>
                </a:lnTo>
                <a:lnTo>
                  <a:pt x="9864007" y="1430281"/>
                </a:lnTo>
                <a:lnTo>
                  <a:pt x="0" y="1430281"/>
                </a:lnTo>
                <a:lnTo>
                  <a:pt x="0" y="0"/>
                </a:lnTo>
                <a:close/>
              </a:path>
            </a:pathLst>
          </a:custGeom>
          <a:blipFill>
            <a:blip r:embed="rId17"/>
            <a:stretch>
              <a:fillRect l="0" t="0" r="0" b="0"/>
            </a:stretch>
          </a:blipFill>
        </p:spPr>
      </p:sp>
      <p:sp>
        <p:nvSpPr>
          <p:cNvPr name="TextBox 13" id="13"/>
          <p:cNvSpPr txBox="true"/>
          <p:nvPr/>
        </p:nvSpPr>
        <p:spPr>
          <a:xfrm rot="0">
            <a:off x="5815608" y="3425412"/>
            <a:ext cx="734452" cy="486394"/>
          </a:xfrm>
          <a:prstGeom prst="rect">
            <a:avLst/>
          </a:prstGeom>
        </p:spPr>
        <p:txBody>
          <a:bodyPr anchor="t" rtlCol="false" tIns="0" lIns="0" bIns="0" rIns="0">
            <a:spAutoFit/>
          </a:bodyPr>
          <a:lstStyle/>
          <a:p>
            <a:pPr algn="ctr" marL="0" indent="0" lvl="0">
              <a:lnSpc>
                <a:spcPts val="3891"/>
              </a:lnSpc>
              <a:spcBef>
                <a:spcPct val="0"/>
              </a:spcBef>
            </a:pPr>
            <a:r>
              <a:rPr lang="en-US" b="true" sz="3016" u="none">
                <a:solidFill>
                  <a:srgbClr val="000000">
                    <a:alpha val="21961"/>
                  </a:srgbClr>
                </a:solidFill>
                <a:latin typeface="Roboto Bold"/>
                <a:ea typeface="Roboto Bold"/>
                <a:cs typeface="Roboto Bold"/>
                <a:sym typeface="Roboto Bold"/>
              </a:rPr>
              <a:t>01</a:t>
            </a:r>
          </a:p>
        </p:txBody>
      </p:sp>
      <p:sp>
        <p:nvSpPr>
          <p:cNvPr name="TextBox 14" id="14"/>
          <p:cNvSpPr txBox="true"/>
          <p:nvPr/>
        </p:nvSpPr>
        <p:spPr>
          <a:xfrm rot="0">
            <a:off x="8653177" y="3443241"/>
            <a:ext cx="734452" cy="486394"/>
          </a:xfrm>
          <a:prstGeom prst="rect">
            <a:avLst/>
          </a:prstGeom>
        </p:spPr>
        <p:txBody>
          <a:bodyPr anchor="t" rtlCol="false" tIns="0" lIns="0" bIns="0" rIns="0">
            <a:spAutoFit/>
          </a:bodyPr>
          <a:lstStyle/>
          <a:p>
            <a:pPr algn="ctr" marL="0" indent="0" lvl="0">
              <a:lnSpc>
                <a:spcPts val="3891"/>
              </a:lnSpc>
              <a:spcBef>
                <a:spcPct val="0"/>
              </a:spcBef>
            </a:pPr>
            <a:r>
              <a:rPr lang="en-US" b="true" sz="3016" u="none">
                <a:solidFill>
                  <a:srgbClr val="000000">
                    <a:alpha val="21961"/>
                  </a:srgbClr>
                </a:solidFill>
                <a:latin typeface="Roboto Bold"/>
                <a:ea typeface="Roboto Bold"/>
                <a:cs typeface="Roboto Bold"/>
                <a:sym typeface="Roboto Bold"/>
              </a:rPr>
              <a:t>02</a:t>
            </a:r>
          </a:p>
        </p:txBody>
      </p:sp>
      <p:sp>
        <p:nvSpPr>
          <p:cNvPr name="TextBox 15" id="15"/>
          <p:cNvSpPr txBox="true"/>
          <p:nvPr/>
        </p:nvSpPr>
        <p:spPr>
          <a:xfrm rot="0">
            <a:off x="11453788" y="3443241"/>
            <a:ext cx="734452" cy="486394"/>
          </a:xfrm>
          <a:prstGeom prst="rect">
            <a:avLst/>
          </a:prstGeom>
        </p:spPr>
        <p:txBody>
          <a:bodyPr anchor="t" rtlCol="false" tIns="0" lIns="0" bIns="0" rIns="0">
            <a:spAutoFit/>
          </a:bodyPr>
          <a:lstStyle/>
          <a:p>
            <a:pPr algn="ctr" marL="0" indent="0" lvl="0">
              <a:lnSpc>
                <a:spcPts val="3891"/>
              </a:lnSpc>
              <a:spcBef>
                <a:spcPct val="0"/>
              </a:spcBef>
            </a:pPr>
            <a:r>
              <a:rPr lang="en-US" b="true" sz="3016" u="none">
                <a:solidFill>
                  <a:srgbClr val="000000"/>
                </a:solidFill>
                <a:latin typeface="Roboto Bold"/>
                <a:ea typeface="Roboto Bold"/>
                <a:cs typeface="Roboto Bold"/>
                <a:sym typeface="Roboto Bold"/>
              </a:rPr>
              <a:t>03</a:t>
            </a:r>
          </a:p>
        </p:txBody>
      </p:sp>
      <p:sp>
        <p:nvSpPr>
          <p:cNvPr name="TextBox 16" id="16"/>
          <p:cNvSpPr txBox="true"/>
          <p:nvPr/>
        </p:nvSpPr>
        <p:spPr>
          <a:xfrm rot="0">
            <a:off x="1609844" y="2956782"/>
            <a:ext cx="2976819" cy="975360"/>
          </a:xfrm>
          <a:prstGeom prst="rect">
            <a:avLst/>
          </a:prstGeom>
        </p:spPr>
        <p:txBody>
          <a:bodyPr anchor="t" rtlCol="false" tIns="0" lIns="0" bIns="0" rIns="0">
            <a:spAutoFit/>
          </a:bodyPr>
          <a:lstStyle/>
          <a:p>
            <a:pPr algn="ctr" marL="0" indent="0" lvl="0">
              <a:lnSpc>
                <a:spcPts val="3870"/>
              </a:lnSpc>
              <a:spcBef>
                <a:spcPct val="0"/>
              </a:spcBef>
            </a:pPr>
            <a:r>
              <a:rPr lang="en-US" b="true" sz="3000">
                <a:solidFill>
                  <a:srgbClr val="000000">
                    <a:alpha val="21961"/>
                  </a:srgbClr>
                </a:solidFill>
                <a:latin typeface="Roboto Bold"/>
                <a:ea typeface="Roboto Bold"/>
                <a:cs typeface="Roboto Bold"/>
                <a:sym typeface="Roboto Bold"/>
              </a:rPr>
              <a:t>Sélection des unités primaires</a:t>
            </a:r>
          </a:p>
        </p:txBody>
      </p:sp>
      <p:sp>
        <p:nvSpPr>
          <p:cNvPr name="TextBox 17" id="17"/>
          <p:cNvSpPr txBox="true"/>
          <p:nvPr/>
        </p:nvSpPr>
        <p:spPr>
          <a:xfrm rot="0">
            <a:off x="13469566" y="2974611"/>
            <a:ext cx="3208590" cy="975360"/>
          </a:xfrm>
          <a:prstGeom prst="rect">
            <a:avLst/>
          </a:prstGeom>
        </p:spPr>
        <p:txBody>
          <a:bodyPr anchor="t" rtlCol="false" tIns="0" lIns="0" bIns="0" rIns="0">
            <a:spAutoFit/>
          </a:bodyPr>
          <a:lstStyle/>
          <a:p>
            <a:pPr algn="ctr" marL="0" indent="0" lvl="0">
              <a:lnSpc>
                <a:spcPts val="3870"/>
              </a:lnSpc>
              <a:spcBef>
                <a:spcPct val="0"/>
              </a:spcBef>
            </a:pPr>
            <a:r>
              <a:rPr lang="en-US" b="true" sz="3000">
                <a:solidFill>
                  <a:srgbClr val="000000"/>
                </a:solidFill>
                <a:latin typeface="Roboto Bold"/>
                <a:ea typeface="Roboto Bold"/>
                <a:cs typeface="Roboto Bold"/>
                <a:sym typeface="Roboto Bold"/>
              </a:rPr>
              <a:t>Sélection des unités tertiaires</a:t>
            </a:r>
          </a:p>
        </p:txBody>
      </p:sp>
      <p:sp>
        <p:nvSpPr>
          <p:cNvPr name="TextBox 18" id="18"/>
          <p:cNvSpPr txBox="true"/>
          <p:nvPr/>
        </p:nvSpPr>
        <p:spPr>
          <a:xfrm rot="0">
            <a:off x="7319060" y="1477864"/>
            <a:ext cx="3393323" cy="975360"/>
          </a:xfrm>
          <a:prstGeom prst="rect">
            <a:avLst/>
          </a:prstGeom>
        </p:spPr>
        <p:txBody>
          <a:bodyPr anchor="t" rtlCol="false" tIns="0" lIns="0" bIns="0" rIns="0">
            <a:spAutoFit/>
          </a:bodyPr>
          <a:lstStyle/>
          <a:p>
            <a:pPr algn="ctr" marL="0" indent="0" lvl="0">
              <a:lnSpc>
                <a:spcPts val="3870"/>
              </a:lnSpc>
              <a:spcBef>
                <a:spcPct val="0"/>
              </a:spcBef>
            </a:pPr>
            <a:r>
              <a:rPr lang="en-US" b="true" sz="3000">
                <a:solidFill>
                  <a:srgbClr val="000000">
                    <a:alpha val="21961"/>
                  </a:srgbClr>
                </a:solidFill>
                <a:latin typeface="Roboto Bold"/>
                <a:ea typeface="Roboto Bold"/>
                <a:cs typeface="Roboto Bold"/>
                <a:sym typeface="Roboto Bold"/>
              </a:rPr>
              <a:t>Sélection des unités secondaires</a:t>
            </a:r>
          </a:p>
        </p:txBody>
      </p:sp>
      <p:sp>
        <p:nvSpPr>
          <p:cNvPr name="TextBox 19" id="19"/>
          <p:cNvSpPr txBox="true"/>
          <p:nvPr/>
        </p:nvSpPr>
        <p:spPr>
          <a:xfrm rot="0">
            <a:off x="1028700" y="846689"/>
            <a:ext cx="6110174" cy="1370236"/>
          </a:xfrm>
          <a:prstGeom prst="rect">
            <a:avLst/>
          </a:prstGeom>
        </p:spPr>
        <p:txBody>
          <a:bodyPr anchor="t" rtlCol="false" tIns="0" lIns="0" bIns="0" rIns="0">
            <a:spAutoFit/>
          </a:bodyPr>
          <a:lstStyle/>
          <a:p>
            <a:pPr algn="l">
              <a:lnSpc>
                <a:spcPts val="5261"/>
              </a:lnSpc>
            </a:pPr>
            <a:r>
              <a:rPr lang="en-US" sz="5480" b="true">
                <a:solidFill>
                  <a:srgbClr val="323840"/>
                </a:solidFill>
                <a:latin typeface="TT Interphases Bold"/>
                <a:ea typeface="TT Interphases Bold"/>
                <a:cs typeface="TT Interphases Bold"/>
                <a:sym typeface="TT Interphases Bold"/>
              </a:rPr>
              <a:t>Tirage de l’échantillon</a:t>
            </a:r>
          </a:p>
        </p:txBody>
      </p:sp>
      <p:sp>
        <p:nvSpPr>
          <p:cNvPr name="TextBox 20" id="20"/>
          <p:cNvSpPr txBox="true"/>
          <p:nvPr/>
        </p:nvSpPr>
        <p:spPr>
          <a:xfrm rot="0">
            <a:off x="2107256" y="5273384"/>
            <a:ext cx="13826295" cy="1312164"/>
          </a:xfrm>
          <a:prstGeom prst="rect">
            <a:avLst/>
          </a:prstGeom>
        </p:spPr>
        <p:txBody>
          <a:bodyPr anchor="t" rtlCol="false" tIns="0" lIns="0" bIns="0" rIns="0">
            <a:spAutoFit/>
          </a:bodyPr>
          <a:lstStyle/>
          <a:p>
            <a:pPr algn="ctr">
              <a:lnSpc>
                <a:spcPts val="3483"/>
              </a:lnSpc>
            </a:pPr>
            <a:r>
              <a:rPr lang="en-US" sz="2700">
                <a:solidFill>
                  <a:srgbClr val="000000"/>
                </a:solidFill>
                <a:latin typeface="Roboto"/>
                <a:ea typeface="Roboto"/>
                <a:cs typeface="Roboto"/>
                <a:sym typeface="Roboto"/>
              </a:rPr>
              <a:t>Les unités tertiaires sont les unités d’observation, c’est à-dire les individus à interroger pendant l’enquête. Dans chaque ménage faisant partie de l’échantillon, on tire par un sondage aléatoire simple un membre résident âgé d’au moins 18 ans. </a:t>
            </a:r>
          </a:p>
        </p:txBody>
      </p:sp>
      <p:sp>
        <p:nvSpPr>
          <p:cNvPr name="TextBox 21" id="21"/>
          <p:cNvSpPr txBox="true"/>
          <p:nvPr/>
        </p:nvSpPr>
        <p:spPr>
          <a:xfrm rot="0">
            <a:off x="752722" y="7061798"/>
            <a:ext cx="7987746" cy="86042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Open Sans"/>
                <a:ea typeface="Open Sans"/>
                <a:cs typeface="Open Sans"/>
                <a:sym typeface="Open Sans"/>
              </a:rPr>
              <a:t> Ainsi, la probabilité de tirer un individu dans un ménage 𝑗, de taille 𝑁ℎ𝑖𝑗 dans le DR𝑖 de la strate ℎ est :</a:t>
            </a:r>
          </a:p>
        </p:txBody>
      </p:sp>
      <p:sp>
        <p:nvSpPr>
          <p:cNvPr name="TextBox 22" id="22"/>
          <p:cNvSpPr txBox="true"/>
          <p:nvPr/>
        </p:nvSpPr>
        <p:spPr>
          <a:xfrm rot="0">
            <a:off x="9387630" y="7061798"/>
            <a:ext cx="7987746" cy="86042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Open Sans"/>
                <a:ea typeface="Open Sans"/>
                <a:cs typeface="Open Sans"/>
                <a:sym typeface="Open Sans"/>
              </a:rPr>
              <a:t>Finalement, la probabilité d’inclusion d’un individu du ménage 𝑗 dans le DR𝑖 dans la strate ℎ est : </a:t>
            </a:r>
          </a:p>
        </p:txBody>
      </p:sp>
    </p:spTree>
  </p:cSld>
  <p:clrMapOvr>
    <a:masterClrMapping/>
  </p:clrMapOvr>
  <p:transition spd="slow">
    <p:push dir="l"/>
  </p:transition>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sp>
        <p:nvSpPr>
          <p:cNvPr name="TextBox 2" id="2"/>
          <p:cNvSpPr txBox="true"/>
          <p:nvPr/>
        </p:nvSpPr>
        <p:spPr>
          <a:xfrm rot="0">
            <a:off x="1028700" y="846689"/>
            <a:ext cx="6110174" cy="1370236"/>
          </a:xfrm>
          <a:prstGeom prst="rect">
            <a:avLst/>
          </a:prstGeom>
        </p:spPr>
        <p:txBody>
          <a:bodyPr anchor="t" rtlCol="false" tIns="0" lIns="0" bIns="0" rIns="0">
            <a:spAutoFit/>
          </a:bodyPr>
          <a:lstStyle/>
          <a:p>
            <a:pPr algn="l">
              <a:lnSpc>
                <a:spcPts val="5261"/>
              </a:lnSpc>
            </a:pPr>
            <a:r>
              <a:rPr lang="en-US" sz="5480" b="true">
                <a:solidFill>
                  <a:srgbClr val="323840"/>
                </a:solidFill>
                <a:latin typeface="TT Interphases Bold"/>
                <a:ea typeface="TT Interphases Bold"/>
                <a:cs typeface="TT Interphases Bold"/>
                <a:sym typeface="TT Interphases Bold"/>
              </a:rPr>
              <a:t>Tirage de l’échantillon</a:t>
            </a:r>
          </a:p>
        </p:txBody>
      </p:sp>
      <p:sp>
        <p:nvSpPr>
          <p:cNvPr name="Freeform 3" id="3"/>
          <p:cNvSpPr/>
          <p:nvPr/>
        </p:nvSpPr>
        <p:spPr>
          <a:xfrm flipH="false" flipV="false" rot="2127493">
            <a:off x="11434935" y="-792514"/>
            <a:ext cx="12746347" cy="12746347"/>
          </a:xfrm>
          <a:custGeom>
            <a:avLst/>
            <a:gdLst/>
            <a:ahLst/>
            <a:cxnLst/>
            <a:rect r="r" b="b" t="t" l="l"/>
            <a:pathLst>
              <a:path h="12746347" w="12746347">
                <a:moveTo>
                  <a:pt x="0" y="0"/>
                </a:moveTo>
                <a:lnTo>
                  <a:pt x="12746348" y="0"/>
                </a:lnTo>
                <a:lnTo>
                  <a:pt x="12746348" y="12746347"/>
                </a:lnTo>
                <a:lnTo>
                  <a:pt x="0" y="12746347"/>
                </a:lnTo>
                <a:lnTo>
                  <a:pt x="0" y="0"/>
                </a:lnTo>
                <a:close/>
              </a:path>
            </a:pathLst>
          </a:custGeom>
          <a:blipFill>
            <a:blip r:embed="rId2">
              <a:alphaModFix amt="18000"/>
            </a:blip>
            <a:stretch>
              <a:fillRect l="0" t="0" r="0" b="0"/>
            </a:stretch>
          </a:blipFill>
        </p:spPr>
      </p:sp>
      <p:sp>
        <p:nvSpPr>
          <p:cNvPr name="Freeform 4" id="4"/>
          <p:cNvSpPr/>
          <p:nvPr/>
        </p:nvSpPr>
        <p:spPr>
          <a:xfrm flipH="false" flipV="false" rot="0">
            <a:off x="11644827" y="-642406"/>
            <a:ext cx="12326565" cy="12482597"/>
          </a:xfrm>
          <a:custGeom>
            <a:avLst/>
            <a:gdLst/>
            <a:ahLst/>
            <a:cxnLst/>
            <a:rect r="r" b="b" t="t" l="l"/>
            <a:pathLst>
              <a:path h="12482597" w="12326565">
                <a:moveTo>
                  <a:pt x="0" y="0"/>
                </a:moveTo>
                <a:lnTo>
                  <a:pt x="12326564" y="0"/>
                </a:lnTo>
                <a:lnTo>
                  <a:pt x="12326564" y="12482597"/>
                </a:lnTo>
                <a:lnTo>
                  <a:pt x="0" y="12482597"/>
                </a:lnTo>
                <a:lnTo>
                  <a:pt x="0" y="0"/>
                </a:lnTo>
                <a:close/>
              </a:path>
            </a:pathLst>
          </a:custGeom>
          <a:blipFill>
            <a:blip r:embed="rId3"/>
            <a:stretch>
              <a:fillRect l="0" t="0" r="0" b="0"/>
            </a:stretch>
          </a:blipFill>
        </p:spPr>
      </p:sp>
      <p:sp>
        <p:nvSpPr>
          <p:cNvPr name="TextBox 5" id="5"/>
          <p:cNvSpPr txBox="true"/>
          <p:nvPr/>
        </p:nvSpPr>
        <p:spPr>
          <a:xfrm rot="0">
            <a:off x="13651260" y="5148027"/>
            <a:ext cx="3832275" cy="514120"/>
          </a:xfrm>
          <a:prstGeom prst="rect">
            <a:avLst/>
          </a:prstGeom>
        </p:spPr>
        <p:txBody>
          <a:bodyPr anchor="t" rtlCol="false" tIns="0" lIns="0" bIns="0" rIns="0">
            <a:spAutoFit/>
          </a:bodyPr>
          <a:lstStyle/>
          <a:p>
            <a:pPr algn="l">
              <a:lnSpc>
                <a:spcPts val="4033"/>
              </a:lnSpc>
            </a:pPr>
            <a:r>
              <a:rPr lang="en-US" sz="3734" b="true">
                <a:solidFill>
                  <a:srgbClr val="323840"/>
                </a:solidFill>
                <a:latin typeface="TT Interphases Bold"/>
                <a:ea typeface="TT Interphases Bold"/>
                <a:cs typeface="TT Interphases Bold"/>
                <a:sym typeface="TT Interphases Bold"/>
              </a:rPr>
              <a:t>Remarques</a:t>
            </a:r>
          </a:p>
        </p:txBody>
      </p:sp>
      <p:sp>
        <p:nvSpPr>
          <p:cNvPr name="Freeform 6" id="6"/>
          <p:cNvSpPr/>
          <p:nvPr/>
        </p:nvSpPr>
        <p:spPr>
          <a:xfrm flipH="false" flipV="false" rot="0">
            <a:off x="12024527" y="4702472"/>
            <a:ext cx="1340634" cy="1357604"/>
          </a:xfrm>
          <a:custGeom>
            <a:avLst/>
            <a:gdLst/>
            <a:ahLst/>
            <a:cxnLst/>
            <a:rect r="r" b="b" t="t" l="l"/>
            <a:pathLst>
              <a:path h="1357604" w="1340634">
                <a:moveTo>
                  <a:pt x="0" y="0"/>
                </a:moveTo>
                <a:lnTo>
                  <a:pt x="1340634" y="0"/>
                </a:lnTo>
                <a:lnTo>
                  <a:pt x="1340634" y="1357604"/>
                </a:lnTo>
                <a:lnTo>
                  <a:pt x="0" y="1357604"/>
                </a:lnTo>
                <a:lnTo>
                  <a:pt x="0" y="0"/>
                </a:lnTo>
                <a:close/>
              </a:path>
            </a:pathLst>
          </a:custGeom>
          <a:blipFill>
            <a:blip r:embed="rId3"/>
            <a:stretch>
              <a:fillRect l="0" t="0" r="0" b="0"/>
            </a:stretch>
          </a:blipFill>
        </p:spPr>
      </p:sp>
      <p:grpSp>
        <p:nvGrpSpPr>
          <p:cNvPr name="Group 7" id="7"/>
          <p:cNvGrpSpPr/>
          <p:nvPr/>
        </p:nvGrpSpPr>
        <p:grpSpPr>
          <a:xfrm rot="0">
            <a:off x="12112661" y="4799091"/>
            <a:ext cx="1164366" cy="116436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9" id="9"/>
            <p:cNvSpPr txBox="true"/>
            <p:nvPr/>
          </p:nvSpPr>
          <p:spPr>
            <a:xfrm>
              <a:off x="76200" y="47625"/>
              <a:ext cx="660400" cy="688975"/>
            </a:xfrm>
            <a:prstGeom prst="rect">
              <a:avLst/>
            </a:prstGeom>
          </p:spPr>
          <p:txBody>
            <a:bodyPr anchor="ctr" rtlCol="false" tIns="50800" lIns="50800" bIns="50800" rIns="50800"/>
            <a:lstStyle/>
            <a:p>
              <a:pPr algn="ctr">
                <a:lnSpc>
                  <a:spcPts val="2318"/>
                </a:lnSpc>
              </a:pPr>
            </a:p>
          </p:txBody>
        </p:sp>
      </p:grpSp>
      <p:sp>
        <p:nvSpPr>
          <p:cNvPr name="Freeform 10" id="10"/>
          <p:cNvSpPr/>
          <p:nvPr/>
        </p:nvSpPr>
        <p:spPr>
          <a:xfrm flipH="false" flipV="false" rot="0">
            <a:off x="12437986" y="5181888"/>
            <a:ext cx="513715" cy="398771"/>
          </a:xfrm>
          <a:custGeom>
            <a:avLst/>
            <a:gdLst/>
            <a:ahLst/>
            <a:cxnLst/>
            <a:rect r="r" b="b" t="t" l="l"/>
            <a:pathLst>
              <a:path h="398771" w="513715">
                <a:moveTo>
                  <a:pt x="0" y="0"/>
                </a:moveTo>
                <a:lnTo>
                  <a:pt x="513715" y="0"/>
                </a:lnTo>
                <a:lnTo>
                  <a:pt x="513715" y="398772"/>
                </a:lnTo>
                <a:lnTo>
                  <a:pt x="0" y="3987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526527" y="3662012"/>
            <a:ext cx="11212249" cy="4047895"/>
          </a:xfrm>
          <a:prstGeom prst="rect">
            <a:avLst/>
          </a:prstGeom>
        </p:spPr>
        <p:txBody>
          <a:bodyPr anchor="t" rtlCol="false" tIns="0" lIns="0" bIns="0" rIns="0">
            <a:spAutoFit/>
          </a:bodyPr>
          <a:lstStyle/>
          <a:p>
            <a:pPr algn="l" marL="806369" indent="-403184" lvl="1">
              <a:lnSpc>
                <a:spcPts val="4033"/>
              </a:lnSpc>
              <a:buFont typeface="Arial"/>
              <a:buChar char="•"/>
            </a:pPr>
            <a:r>
              <a:rPr lang="en-US" sz="3734">
                <a:solidFill>
                  <a:srgbClr val="323840"/>
                </a:solidFill>
                <a:latin typeface="TT Interphases"/>
                <a:ea typeface="TT Interphases"/>
                <a:cs typeface="TT Interphases"/>
                <a:sym typeface="TT Interphases"/>
              </a:rPr>
              <a:t>Tirage limité aux individus présents durant la collecte par contrainte de temps</a:t>
            </a:r>
          </a:p>
          <a:p>
            <a:pPr algn="l" marL="806369" indent="-403184" lvl="1">
              <a:lnSpc>
                <a:spcPts val="4033"/>
              </a:lnSpc>
              <a:buFont typeface="Arial"/>
              <a:buChar char="•"/>
            </a:pPr>
            <a:r>
              <a:rPr lang="en-US" sz="3734">
                <a:solidFill>
                  <a:srgbClr val="323840"/>
                </a:solidFill>
                <a:latin typeface="TT Interphases"/>
                <a:ea typeface="TT Interphases"/>
                <a:cs typeface="TT Interphases"/>
                <a:sym typeface="TT Interphases"/>
              </a:rPr>
              <a:t>L</a:t>
            </a:r>
            <a:r>
              <a:rPr lang="en-US" sz="3734">
                <a:solidFill>
                  <a:srgbClr val="323840"/>
                </a:solidFill>
                <a:latin typeface="TT Interphases"/>
                <a:ea typeface="TT Interphases"/>
                <a:cs typeface="TT Interphases"/>
                <a:sym typeface="TT Interphases"/>
              </a:rPr>
              <a:t>e coefficient d’extrapolation est calculé comme comme l’inverse de la probabilité d’être tiré.</a:t>
            </a:r>
          </a:p>
          <a:p>
            <a:pPr algn="l" marL="806369" indent="-403184" lvl="1">
              <a:lnSpc>
                <a:spcPts val="4033"/>
              </a:lnSpc>
              <a:buFont typeface="Arial"/>
              <a:buChar char="•"/>
            </a:pPr>
            <a:r>
              <a:rPr lang="en-US" sz="3734">
                <a:solidFill>
                  <a:srgbClr val="323840"/>
                </a:solidFill>
                <a:latin typeface="TT Interphases"/>
                <a:ea typeface="TT Interphases"/>
                <a:cs typeface="TT Interphases"/>
                <a:sym typeface="TT Interphases"/>
              </a:rPr>
              <a:t>C</a:t>
            </a:r>
            <a:r>
              <a:rPr lang="en-US" sz="3734">
                <a:solidFill>
                  <a:srgbClr val="323840"/>
                </a:solidFill>
                <a:latin typeface="TT Interphases"/>
                <a:ea typeface="TT Interphases"/>
                <a:cs typeface="TT Interphases"/>
                <a:sym typeface="TT Interphases"/>
              </a:rPr>
              <a:t>haque individu est pondéré pour représenter un groupe similaire.</a:t>
            </a:r>
          </a:p>
          <a:p>
            <a:pPr algn="l" marL="806369" indent="-403184" lvl="1">
              <a:lnSpc>
                <a:spcPts val="4033"/>
              </a:lnSpc>
              <a:buFont typeface="Arial"/>
              <a:buChar char="•"/>
            </a:pPr>
            <a:r>
              <a:rPr lang="en-US" sz="3734">
                <a:solidFill>
                  <a:srgbClr val="323840"/>
                </a:solidFill>
                <a:latin typeface="TT Interphases"/>
                <a:ea typeface="TT Interphases"/>
                <a:cs typeface="TT Interphases"/>
                <a:sym typeface="TT Interphases"/>
              </a:rPr>
              <a:t>L</a:t>
            </a:r>
            <a:r>
              <a:rPr lang="en-US" sz="3734">
                <a:solidFill>
                  <a:srgbClr val="323840"/>
                </a:solidFill>
                <a:latin typeface="TT Interphases"/>
                <a:ea typeface="TT Interphases"/>
                <a:cs typeface="TT Interphases"/>
                <a:sym typeface="TT Interphases"/>
              </a:rPr>
              <a:t>es résultats sont généralisés à la population de Dakar via ce poids</a:t>
            </a:r>
          </a:p>
        </p:txBody>
      </p:sp>
    </p:spTree>
  </p:cSld>
  <p:clrMapOvr>
    <a:masterClrMapping/>
  </p:clrMapOvr>
  <p:transition spd="slow">
    <p:push dir="l"/>
  </p:transition>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EF8535"/>
        </a:solidFill>
      </p:bgPr>
    </p:bg>
    <p:spTree>
      <p:nvGrpSpPr>
        <p:cNvPr id="1" name=""/>
        <p:cNvGrpSpPr/>
        <p:nvPr/>
      </p:nvGrpSpPr>
      <p:grpSpPr>
        <a:xfrm>
          <a:off x="0" y="0"/>
          <a:ext cx="0" cy="0"/>
          <a:chOff x="0" y="0"/>
          <a:chExt cx="0" cy="0"/>
        </a:xfrm>
      </p:grpSpPr>
      <p:grpSp>
        <p:nvGrpSpPr>
          <p:cNvPr name="Group 2" id="2"/>
          <p:cNvGrpSpPr/>
          <p:nvPr/>
        </p:nvGrpSpPr>
        <p:grpSpPr>
          <a:xfrm rot="0">
            <a:off x="10401430" y="-642826"/>
            <a:ext cx="5809027" cy="9901126"/>
            <a:chOff x="0" y="0"/>
            <a:chExt cx="660400" cy="1125611"/>
          </a:xfrm>
        </p:grpSpPr>
        <p:sp>
          <p:nvSpPr>
            <p:cNvPr name="Freeform 3" id="3"/>
            <p:cNvSpPr/>
            <p:nvPr/>
          </p:nvSpPr>
          <p:spPr>
            <a:xfrm flipH="false" flipV="false" rot="0">
              <a:off x="0" y="0"/>
              <a:ext cx="660400" cy="1125611"/>
            </a:xfrm>
            <a:custGeom>
              <a:avLst/>
              <a:gdLst/>
              <a:ahLst/>
              <a:cxnLst/>
              <a:rect r="r" b="b" t="t" l="l"/>
              <a:pathLst>
                <a:path h="1125611" w="660400">
                  <a:moveTo>
                    <a:pt x="220252" y="1106542"/>
                  </a:moveTo>
                  <a:cubicBezTo>
                    <a:pt x="254109" y="1118056"/>
                    <a:pt x="292600" y="1125611"/>
                    <a:pt x="330378" y="1125611"/>
                  </a:cubicBezTo>
                  <a:cubicBezTo>
                    <a:pt x="368157" y="1125611"/>
                    <a:pt x="404509" y="1119134"/>
                    <a:pt x="438009" y="1107620"/>
                  </a:cubicBezTo>
                  <a:cubicBezTo>
                    <a:pt x="438723" y="1107261"/>
                    <a:pt x="439435" y="1107261"/>
                    <a:pt x="440148" y="1106901"/>
                  </a:cubicBezTo>
                  <a:cubicBezTo>
                    <a:pt x="565955" y="1060846"/>
                    <a:pt x="658618" y="939232"/>
                    <a:pt x="660400" y="790160"/>
                  </a:cubicBezTo>
                  <a:lnTo>
                    <a:pt x="660400" y="0"/>
                  </a:lnTo>
                  <a:lnTo>
                    <a:pt x="0" y="0"/>
                  </a:lnTo>
                  <a:lnTo>
                    <a:pt x="0" y="789574"/>
                  </a:lnTo>
                  <a:cubicBezTo>
                    <a:pt x="1782" y="939951"/>
                    <a:pt x="93019" y="1061566"/>
                    <a:pt x="220252" y="1106542"/>
                  </a:cubicBezTo>
                  <a:close/>
                </a:path>
              </a:pathLst>
            </a:custGeom>
            <a:solidFill>
              <a:srgbClr val="763C00"/>
            </a:solidFill>
            <a:ln cap="sq">
              <a:noFill/>
              <a:prstDash val="solid"/>
              <a:miter/>
            </a:ln>
          </p:spPr>
        </p:sp>
        <p:sp>
          <p:nvSpPr>
            <p:cNvPr name="TextBox 4" id="4"/>
            <p:cNvSpPr txBox="true"/>
            <p:nvPr/>
          </p:nvSpPr>
          <p:spPr>
            <a:xfrm>
              <a:off x="0" y="-38100"/>
              <a:ext cx="660400" cy="103671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95778" y="6270394"/>
            <a:ext cx="6770715" cy="277115"/>
            <a:chOff x="0" y="0"/>
            <a:chExt cx="1783234" cy="72985"/>
          </a:xfrm>
        </p:grpSpPr>
        <p:sp>
          <p:nvSpPr>
            <p:cNvPr name="Freeform 6" id="6"/>
            <p:cNvSpPr/>
            <p:nvPr/>
          </p:nvSpPr>
          <p:spPr>
            <a:xfrm flipH="false" flipV="false" rot="0">
              <a:off x="0" y="0"/>
              <a:ext cx="1783234" cy="72985"/>
            </a:xfrm>
            <a:custGeom>
              <a:avLst/>
              <a:gdLst/>
              <a:ahLst/>
              <a:cxnLst/>
              <a:rect r="r" b="b" t="t" l="l"/>
              <a:pathLst>
                <a:path h="72985" w="1783234">
                  <a:moveTo>
                    <a:pt x="0" y="0"/>
                  </a:moveTo>
                  <a:lnTo>
                    <a:pt x="1783234" y="0"/>
                  </a:lnTo>
                  <a:lnTo>
                    <a:pt x="1783234" y="72985"/>
                  </a:lnTo>
                  <a:lnTo>
                    <a:pt x="0" y="72985"/>
                  </a:lnTo>
                  <a:close/>
                </a:path>
              </a:pathLst>
            </a:custGeom>
            <a:solidFill>
              <a:srgbClr val="F9F7DC"/>
            </a:solidFill>
          </p:spPr>
        </p:sp>
        <p:sp>
          <p:nvSpPr>
            <p:cNvPr name="TextBox 7" id="7"/>
            <p:cNvSpPr txBox="true"/>
            <p:nvPr/>
          </p:nvSpPr>
          <p:spPr>
            <a:xfrm>
              <a:off x="0" y="-38100"/>
              <a:ext cx="1783234" cy="111085"/>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8766493" y="6119771"/>
            <a:ext cx="1079400" cy="1028392"/>
          </a:xfrm>
          <a:custGeom>
            <a:avLst/>
            <a:gdLst/>
            <a:ahLst/>
            <a:cxnLst/>
            <a:rect r="r" b="b" t="t" l="l"/>
            <a:pathLst>
              <a:path h="1028392" w="1079400">
                <a:moveTo>
                  <a:pt x="0" y="0"/>
                </a:moveTo>
                <a:lnTo>
                  <a:pt x="1079400" y="0"/>
                </a:lnTo>
                <a:lnTo>
                  <a:pt x="1079400" y="1028392"/>
                </a:lnTo>
                <a:lnTo>
                  <a:pt x="0" y="10283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413135" y="4164563"/>
            <a:ext cx="3785616" cy="4114800"/>
          </a:xfrm>
          <a:custGeom>
            <a:avLst/>
            <a:gdLst/>
            <a:ahLst/>
            <a:cxnLst/>
            <a:rect r="r" b="b" t="t" l="l"/>
            <a:pathLst>
              <a:path h="4114800" w="3785616">
                <a:moveTo>
                  <a:pt x="0" y="0"/>
                </a:moveTo>
                <a:lnTo>
                  <a:pt x="3785616" y="0"/>
                </a:lnTo>
                <a:lnTo>
                  <a:pt x="378561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376227" y="4244150"/>
            <a:ext cx="7469666" cy="1221827"/>
          </a:xfrm>
          <a:prstGeom prst="rect">
            <a:avLst/>
          </a:prstGeom>
        </p:spPr>
        <p:txBody>
          <a:bodyPr anchor="t" rtlCol="false" tIns="0" lIns="0" bIns="0" rIns="0">
            <a:spAutoFit/>
          </a:bodyPr>
          <a:lstStyle/>
          <a:p>
            <a:pPr algn="l">
              <a:lnSpc>
                <a:spcPts val="7488"/>
              </a:lnSpc>
            </a:pPr>
            <a:r>
              <a:rPr lang="en-US" b="true" sz="7882" spc="-39">
                <a:solidFill>
                  <a:srgbClr val="F9F7DC"/>
                </a:solidFill>
                <a:latin typeface="Agrandir Narrow Bold"/>
                <a:ea typeface="Agrandir Narrow Bold"/>
                <a:cs typeface="Agrandir Narrow Bold"/>
                <a:sym typeface="Agrandir Narrow Bold"/>
              </a:rPr>
              <a:t>Plan d’analyse</a:t>
            </a:r>
          </a:p>
        </p:txBody>
      </p:sp>
      <p:sp>
        <p:nvSpPr>
          <p:cNvPr name="TextBox 11" id="11"/>
          <p:cNvSpPr txBox="true"/>
          <p:nvPr/>
        </p:nvSpPr>
        <p:spPr>
          <a:xfrm rot="0">
            <a:off x="2376227" y="6269588"/>
            <a:ext cx="4961516" cy="326351"/>
          </a:xfrm>
          <a:prstGeom prst="rect">
            <a:avLst/>
          </a:prstGeom>
        </p:spPr>
        <p:txBody>
          <a:bodyPr anchor="t" rtlCol="false" tIns="0" lIns="0" bIns="0" rIns="0">
            <a:spAutoFit/>
          </a:bodyPr>
          <a:lstStyle/>
          <a:p>
            <a:pPr algn="l">
              <a:lnSpc>
                <a:spcPts val="2354"/>
              </a:lnSpc>
            </a:pPr>
            <a:r>
              <a:rPr lang="en-US" b="true" sz="2478" i="true" spc="-39">
                <a:solidFill>
                  <a:srgbClr val="763C00"/>
                </a:solidFill>
                <a:latin typeface="Arimo Bold Italics"/>
                <a:ea typeface="Arimo Bold Italics"/>
                <a:cs typeface="Arimo Bold Italics"/>
                <a:sym typeface="Arimo Bold Italics"/>
              </a:rPr>
              <a:t>Axes et thémes  de l’étude</a:t>
            </a:r>
          </a:p>
        </p:txBody>
      </p:sp>
      <p:sp>
        <p:nvSpPr>
          <p:cNvPr name="TextBox 12" id="12"/>
          <p:cNvSpPr txBox="true"/>
          <p:nvPr/>
        </p:nvSpPr>
        <p:spPr>
          <a:xfrm rot="0">
            <a:off x="12617956" y="1322665"/>
            <a:ext cx="1375975" cy="2559051"/>
          </a:xfrm>
          <a:prstGeom prst="rect">
            <a:avLst/>
          </a:prstGeom>
        </p:spPr>
        <p:txBody>
          <a:bodyPr anchor="t" rtlCol="false" tIns="0" lIns="0" bIns="0" rIns="0">
            <a:spAutoFit/>
          </a:bodyPr>
          <a:lstStyle/>
          <a:p>
            <a:pPr algn="just" marL="0" indent="0" lvl="0">
              <a:lnSpc>
                <a:spcPts val="19000"/>
              </a:lnSpc>
              <a:spcBef>
                <a:spcPct val="0"/>
              </a:spcBef>
            </a:pPr>
            <a:r>
              <a:rPr lang="en-US" b="true" sz="20000" spc="-100">
                <a:solidFill>
                  <a:srgbClr val="F9F7DC"/>
                </a:solidFill>
                <a:latin typeface="Museo Moderno Bold"/>
                <a:ea typeface="Museo Moderno Bold"/>
                <a:cs typeface="Museo Moderno Bold"/>
                <a:sym typeface="Museo Moderno Bold"/>
              </a:rPr>
              <a:t>4</a:t>
            </a:r>
          </a:p>
        </p:txBody>
      </p:sp>
    </p:spTree>
  </p:cSld>
  <p:clrMapOvr>
    <a:masterClrMapping/>
  </p:clrMapOvr>
  <p:transition spd="slow">
    <p:push dir="l"/>
  </p:transition>
</p:sld>
</file>

<file path=ppt/slides/slide33.xml><?xml version="1.0" encoding="utf-8"?>
<p:sld xmlns:p="http://schemas.openxmlformats.org/presentationml/2006/main" xmlns:a="http://schemas.openxmlformats.org/drawingml/2006/main">
  <p:cSld>
    <p:bg>
      <p:bgPr>
        <a:solidFill>
          <a:srgbClr val="FCF1E4"/>
        </a:solidFill>
      </p:bgPr>
    </p:bg>
    <p:spTree>
      <p:nvGrpSpPr>
        <p:cNvPr id="1" name=""/>
        <p:cNvGrpSpPr/>
        <p:nvPr/>
      </p:nvGrpSpPr>
      <p:grpSpPr>
        <a:xfrm>
          <a:off x="0" y="0"/>
          <a:ext cx="0" cy="0"/>
          <a:chOff x="0" y="0"/>
          <a:chExt cx="0" cy="0"/>
        </a:xfrm>
      </p:grpSpPr>
      <p:grpSp>
        <p:nvGrpSpPr>
          <p:cNvPr name="Group 2" id="2"/>
          <p:cNvGrpSpPr/>
          <p:nvPr/>
        </p:nvGrpSpPr>
        <p:grpSpPr>
          <a:xfrm rot="0">
            <a:off x="4703072" y="507147"/>
            <a:ext cx="8861890" cy="940750"/>
            <a:chOff x="0" y="0"/>
            <a:chExt cx="7953250" cy="844292"/>
          </a:xfrm>
        </p:grpSpPr>
        <p:sp>
          <p:nvSpPr>
            <p:cNvPr name="Freeform 3" id="3"/>
            <p:cNvSpPr/>
            <p:nvPr/>
          </p:nvSpPr>
          <p:spPr>
            <a:xfrm flipH="false" flipV="false" rot="0">
              <a:off x="0" y="0"/>
              <a:ext cx="7954521" cy="844292"/>
            </a:xfrm>
            <a:custGeom>
              <a:avLst/>
              <a:gdLst/>
              <a:ahLst/>
              <a:cxnLst/>
              <a:rect r="r" b="b" t="t" l="l"/>
              <a:pathLst>
                <a:path h="844292" w="7954521">
                  <a:moveTo>
                    <a:pt x="7400800" y="844292"/>
                  </a:moveTo>
                  <a:lnTo>
                    <a:pt x="553720" y="844292"/>
                  </a:lnTo>
                  <a:cubicBezTo>
                    <a:pt x="247650" y="844292"/>
                    <a:pt x="0" y="655234"/>
                    <a:pt x="0" y="422606"/>
                  </a:cubicBezTo>
                  <a:cubicBezTo>
                    <a:pt x="0" y="189010"/>
                    <a:pt x="247650" y="0"/>
                    <a:pt x="553720" y="0"/>
                  </a:cubicBezTo>
                  <a:lnTo>
                    <a:pt x="7400800" y="0"/>
                  </a:lnTo>
                  <a:cubicBezTo>
                    <a:pt x="7706871" y="0"/>
                    <a:pt x="7954521" y="189010"/>
                    <a:pt x="7954521" y="422606"/>
                  </a:cubicBezTo>
                  <a:cubicBezTo>
                    <a:pt x="7953250" y="655234"/>
                    <a:pt x="7705600" y="844292"/>
                    <a:pt x="7400800" y="844292"/>
                  </a:cubicBezTo>
                  <a:close/>
                </a:path>
              </a:pathLst>
            </a:custGeom>
            <a:solidFill>
              <a:srgbClr val="763C00"/>
            </a:solidFill>
          </p:spPr>
        </p:sp>
      </p:grpSp>
      <p:sp>
        <p:nvSpPr>
          <p:cNvPr name="TextBox 4" id="4"/>
          <p:cNvSpPr txBox="true"/>
          <p:nvPr/>
        </p:nvSpPr>
        <p:spPr>
          <a:xfrm rot="0">
            <a:off x="5173792" y="760035"/>
            <a:ext cx="7920451" cy="406400"/>
          </a:xfrm>
          <a:prstGeom prst="rect">
            <a:avLst/>
          </a:prstGeom>
        </p:spPr>
        <p:txBody>
          <a:bodyPr anchor="t" rtlCol="false" tIns="0" lIns="0" bIns="0" rIns="0">
            <a:spAutoFit/>
          </a:bodyPr>
          <a:lstStyle/>
          <a:p>
            <a:pPr algn="ctr">
              <a:lnSpc>
                <a:spcPts val="3250"/>
              </a:lnSpc>
            </a:pPr>
            <a:r>
              <a:rPr lang="en-US" b="true" sz="2500" spc="100">
                <a:solidFill>
                  <a:srgbClr val="FFFFFF"/>
                </a:solidFill>
                <a:latin typeface="Aileron Bold"/>
                <a:ea typeface="Aileron Bold"/>
                <a:cs typeface="Aileron Bold"/>
                <a:sym typeface="Aileron Bold"/>
              </a:rPr>
              <a:t>Plan d’analyse</a:t>
            </a:r>
          </a:p>
        </p:txBody>
      </p:sp>
      <p:grpSp>
        <p:nvGrpSpPr>
          <p:cNvPr name="Group 5" id="5"/>
          <p:cNvGrpSpPr/>
          <p:nvPr/>
        </p:nvGrpSpPr>
        <p:grpSpPr>
          <a:xfrm rot="0">
            <a:off x="1402688" y="2965597"/>
            <a:ext cx="2136104" cy="729249"/>
            <a:chOff x="0" y="0"/>
            <a:chExt cx="2848138" cy="972331"/>
          </a:xfrm>
        </p:grpSpPr>
        <p:sp>
          <p:nvSpPr>
            <p:cNvPr name="AutoShape 6" id="6"/>
            <p:cNvSpPr/>
            <p:nvPr/>
          </p:nvSpPr>
          <p:spPr>
            <a:xfrm rot="0">
              <a:off x="0" y="955658"/>
              <a:ext cx="2848138" cy="16673"/>
            </a:xfrm>
            <a:prstGeom prst="rect">
              <a:avLst/>
            </a:prstGeom>
            <a:solidFill>
              <a:srgbClr val="191919"/>
            </a:solidFill>
          </p:spPr>
        </p:sp>
        <p:sp>
          <p:nvSpPr>
            <p:cNvPr name="AutoShape 7" id="7"/>
            <p:cNvSpPr/>
            <p:nvPr/>
          </p:nvSpPr>
          <p:spPr>
            <a:xfrm rot="-5400000">
              <a:off x="974907" y="467103"/>
              <a:ext cx="947321" cy="13116"/>
            </a:xfrm>
            <a:prstGeom prst="rect">
              <a:avLst/>
            </a:prstGeom>
            <a:solidFill>
              <a:srgbClr val="191919"/>
            </a:solidFill>
          </p:spPr>
        </p:sp>
      </p:grpSp>
      <p:grpSp>
        <p:nvGrpSpPr>
          <p:cNvPr name="Group 8" id="8"/>
          <p:cNvGrpSpPr/>
          <p:nvPr/>
        </p:nvGrpSpPr>
        <p:grpSpPr>
          <a:xfrm rot="0">
            <a:off x="1757895" y="1681144"/>
            <a:ext cx="1425689" cy="537078"/>
            <a:chOff x="0" y="0"/>
            <a:chExt cx="1900919" cy="716103"/>
          </a:xfrm>
        </p:grpSpPr>
        <p:grpSp>
          <p:nvGrpSpPr>
            <p:cNvPr name="Group 9" id="9"/>
            <p:cNvGrpSpPr/>
            <p:nvPr/>
          </p:nvGrpSpPr>
          <p:grpSpPr>
            <a:xfrm rot="0">
              <a:off x="0" y="0"/>
              <a:ext cx="1900919" cy="716103"/>
              <a:chOff x="0" y="0"/>
              <a:chExt cx="2904119" cy="1106170"/>
            </a:xfrm>
          </p:grpSpPr>
          <p:sp>
            <p:nvSpPr>
              <p:cNvPr name="Freeform 10" id="10"/>
              <p:cNvSpPr/>
              <p:nvPr/>
            </p:nvSpPr>
            <p:spPr>
              <a:xfrm flipH="false" flipV="false" rot="0">
                <a:off x="0" y="0"/>
                <a:ext cx="2905389" cy="1107440"/>
              </a:xfrm>
              <a:custGeom>
                <a:avLst/>
                <a:gdLst/>
                <a:ahLst/>
                <a:cxnLst/>
                <a:rect r="r" b="b" t="t" l="l"/>
                <a:pathLst>
                  <a:path h="1107440" w="2905389">
                    <a:moveTo>
                      <a:pt x="2351669" y="45720"/>
                    </a:moveTo>
                    <a:cubicBezTo>
                      <a:pt x="2631069" y="45720"/>
                      <a:pt x="2858399" y="273050"/>
                      <a:pt x="2858399" y="552450"/>
                    </a:cubicBezTo>
                    <a:cubicBezTo>
                      <a:pt x="2858399" y="831850"/>
                      <a:pt x="2631069" y="1059180"/>
                      <a:pt x="2351669" y="1059180"/>
                    </a:cubicBezTo>
                    <a:lnTo>
                      <a:pt x="553720" y="1059180"/>
                    </a:lnTo>
                    <a:cubicBezTo>
                      <a:pt x="274320" y="1059180"/>
                      <a:pt x="46990" y="831850"/>
                      <a:pt x="46990" y="552450"/>
                    </a:cubicBezTo>
                    <a:cubicBezTo>
                      <a:pt x="46990" y="273050"/>
                      <a:pt x="274320" y="45720"/>
                      <a:pt x="553720" y="45720"/>
                    </a:cubicBezTo>
                    <a:lnTo>
                      <a:pt x="2351669" y="45720"/>
                    </a:lnTo>
                    <a:moveTo>
                      <a:pt x="2351669" y="0"/>
                    </a:moveTo>
                    <a:lnTo>
                      <a:pt x="553720" y="0"/>
                    </a:lnTo>
                    <a:cubicBezTo>
                      <a:pt x="247650" y="0"/>
                      <a:pt x="0" y="247650"/>
                      <a:pt x="0" y="553720"/>
                    </a:cubicBezTo>
                    <a:cubicBezTo>
                      <a:pt x="0" y="859790"/>
                      <a:pt x="247650" y="1107440"/>
                      <a:pt x="553720" y="1107440"/>
                    </a:cubicBezTo>
                    <a:lnTo>
                      <a:pt x="2351669" y="1107440"/>
                    </a:lnTo>
                    <a:cubicBezTo>
                      <a:pt x="2657739" y="1107440"/>
                      <a:pt x="2905389" y="859790"/>
                      <a:pt x="2905389" y="553720"/>
                    </a:cubicBezTo>
                    <a:cubicBezTo>
                      <a:pt x="2904119" y="247650"/>
                      <a:pt x="2656469" y="0"/>
                      <a:pt x="2351669" y="0"/>
                    </a:cubicBezTo>
                    <a:close/>
                  </a:path>
                </a:pathLst>
              </a:custGeom>
              <a:solidFill>
                <a:srgbClr val="763C00"/>
              </a:solidFill>
            </p:spPr>
          </p:sp>
        </p:grpSp>
        <p:sp>
          <p:nvSpPr>
            <p:cNvPr name="TextBox 11" id="11"/>
            <p:cNvSpPr txBox="true"/>
            <p:nvPr/>
          </p:nvSpPr>
          <p:spPr>
            <a:xfrm rot="0">
              <a:off x="238839" y="140476"/>
              <a:ext cx="1423240" cy="397051"/>
            </a:xfrm>
            <a:prstGeom prst="rect">
              <a:avLst/>
            </a:prstGeom>
          </p:spPr>
          <p:txBody>
            <a:bodyPr anchor="t" rtlCol="false" tIns="0" lIns="0" bIns="0" rIns="0">
              <a:spAutoFit/>
            </a:bodyPr>
            <a:lstStyle/>
            <a:p>
              <a:pPr algn="ctr">
                <a:lnSpc>
                  <a:spcPts val="2519"/>
                </a:lnSpc>
              </a:pPr>
              <a:r>
                <a:rPr lang="en-US" b="true" sz="1799" spc="89">
                  <a:solidFill>
                    <a:srgbClr val="763C00"/>
                  </a:solidFill>
                  <a:latin typeface="Aileron Bold"/>
                  <a:ea typeface="Aileron Bold"/>
                  <a:cs typeface="Aileron Bold"/>
                  <a:sym typeface="Aileron Bold"/>
                </a:rPr>
                <a:t>AXE 1</a:t>
              </a:r>
            </a:p>
          </p:txBody>
        </p:sp>
      </p:grpSp>
      <p:sp>
        <p:nvSpPr>
          <p:cNvPr name="TextBox 12" id="12"/>
          <p:cNvSpPr txBox="true"/>
          <p:nvPr/>
        </p:nvSpPr>
        <p:spPr>
          <a:xfrm rot="0">
            <a:off x="0" y="4962838"/>
            <a:ext cx="3183584" cy="405765"/>
          </a:xfrm>
          <a:prstGeom prst="rect">
            <a:avLst/>
          </a:prstGeom>
        </p:spPr>
        <p:txBody>
          <a:bodyPr anchor="t" rtlCol="false" tIns="0" lIns="0" bIns="0" rIns="0">
            <a:spAutoFit/>
          </a:bodyPr>
          <a:lstStyle/>
          <a:p>
            <a:pPr algn="ctr">
              <a:lnSpc>
                <a:spcPts val="3359"/>
              </a:lnSpc>
            </a:pPr>
            <a:r>
              <a:rPr lang="en-US" b="true" sz="2399" spc="119">
                <a:solidFill>
                  <a:srgbClr val="191919"/>
                </a:solidFill>
                <a:latin typeface="Aileron Bold"/>
                <a:ea typeface="Aileron Bold"/>
                <a:cs typeface="Aileron Bold"/>
                <a:sym typeface="Aileron Bold"/>
              </a:rPr>
              <a:t> Profil des enquêtés </a:t>
            </a:r>
          </a:p>
        </p:txBody>
      </p:sp>
      <p:grpSp>
        <p:nvGrpSpPr>
          <p:cNvPr name="Group 13" id="13"/>
          <p:cNvGrpSpPr/>
          <p:nvPr/>
        </p:nvGrpSpPr>
        <p:grpSpPr>
          <a:xfrm rot="0">
            <a:off x="15104416" y="1681144"/>
            <a:ext cx="1425689" cy="537078"/>
            <a:chOff x="0" y="0"/>
            <a:chExt cx="1900919" cy="716103"/>
          </a:xfrm>
        </p:grpSpPr>
        <p:grpSp>
          <p:nvGrpSpPr>
            <p:cNvPr name="Group 14" id="14"/>
            <p:cNvGrpSpPr/>
            <p:nvPr/>
          </p:nvGrpSpPr>
          <p:grpSpPr>
            <a:xfrm rot="0">
              <a:off x="0" y="0"/>
              <a:ext cx="1900919" cy="716103"/>
              <a:chOff x="0" y="0"/>
              <a:chExt cx="2904119" cy="1106170"/>
            </a:xfrm>
          </p:grpSpPr>
          <p:sp>
            <p:nvSpPr>
              <p:cNvPr name="Freeform 15" id="15"/>
              <p:cNvSpPr/>
              <p:nvPr/>
            </p:nvSpPr>
            <p:spPr>
              <a:xfrm flipH="false" flipV="false" rot="0">
                <a:off x="0" y="0"/>
                <a:ext cx="2905389" cy="1107440"/>
              </a:xfrm>
              <a:custGeom>
                <a:avLst/>
                <a:gdLst/>
                <a:ahLst/>
                <a:cxnLst/>
                <a:rect r="r" b="b" t="t" l="l"/>
                <a:pathLst>
                  <a:path h="1107440" w="2905389">
                    <a:moveTo>
                      <a:pt x="2351669" y="45720"/>
                    </a:moveTo>
                    <a:cubicBezTo>
                      <a:pt x="2631069" y="45720"/>
                      <a:pt x="2858399" y="273050"/>
                      <a:pt x="2858399" y="552450"/>
                    </a:cubicBezTo>
                    <a:cubicBezTo>
                      <a:pt x="2858399" y="831850"/>
                      <a:pt x="2631069" y="1059180"/>
                      <a:pt x="2351669" y="1059180"/>
                    </a:cubicBezTo>
                    <a:lnTo>
                      <a:pt x="553720" y="1059180"/>
                    </a:lnTo>
                    <a:cubicBezTo>
                      <a:pt x="274320" y="1059180"/>
                      <a:pt x="46990" y="831850"/>
                      <a:pt x="46990" y="552450"/>
                    </a:cubicBezTo>
                    <a:cubicBezTo>
                      <a:pt x="46990" y="273050"/>
                      <a:pt x="274320" y="45720"/>
                      <a:pt x="553720" y="45720"/>
                    </a:cubicBezTo>
                    <a:lnTo>
                      <a:pt x="2351669" y="45720"/>
                    </a:lnTo>
                    <a:moveTo>
                      <a:pt x="2351669" y="0"/>
                    </a:moveTo>
                    <a:lnTo>
                      <a:pt x="553720" y="0"/>
                    </a:lnTo>
                    <a:cubicBezTo>
                      <a:pt x="247650" y="0"/>
                      <a:pt x="0" y="247650"/>
                      <a:pt x="0" y="553720"/>
                    </a:cubicBezTo>
                    <a:cubicBezTo>
                      <a:pt x="0" y="859790"/>
                      <a:pt x="247650" y="1107440"/>
                      <a:pt x="553720" y="1107440"/>
                    </a:cubicBezTo>
                    <a:lnTo>
                      <a:pt x="2351669" y="1107440"/>
                    </a:lnTo>
                    <a:cubicBezTo>
                      <a:pt x="2657739" y="1107440"/>
                      <a:pt x="2905389" y="859790"/>
                      <a:pt x="2905389" y="553720"/>
                    </a:cubicBezTo>
                    <a:cubicBezTo>
                      <a:pt x="2904119" y="247650"/>
                      <a:pt x="2656469" y="0"/>
                      <a:pt x="2351669" y="0"/>
                    </a:cubicBezTo>
                    <a:close/>
                  </a:path>
                </a:pathLst>
              </a:custGeom>
              <a:solidFill>
                <a:srgbClr val="2C92D5"/>
              </a:solidFill>
            </p:spPr>
          </p:sp>
        </p:grpSp>
        <p:sp>
          <p:nvSpPr>
            <p:cNvPr name="TextBox 16" id="16"/>
            <p:cNvSpPr txBox="true"/>
            <p:nvPr/>
          </p:nvSpPr>
          <p:spPr>
            <a:xfrm rot="0">
              <a:off x="238839" y="140476"/>
              <a:ext cx="1423240" cy="397051"/>
            </a:xfrm>
            <a:prstGeom prst="rect">
              <a:avLst/>
            </a:prstGeom>
          </p:spPr>
          <p:txBody>
            <a:bodyPr anchor="t" rtlCol="false" tIns="0" lIns="0" bIns="0" rIns="0">
              <a:spAutoFit/>
            </a:bodyPr>
            <a:lstStyle/>
            <a:p>
              <a:pPr algn="ctr">
                <a:lnSpc>
                  <a:spcPts val="2519"/>
                </a:lnSpc>
              </a:pPr>
              <a:r>
                <a:rPr lang="en-US" b="true" sz="1799" spc="89">
                  <a:solidFill>
                    <a:srgbClr val="763C00"/>
                  </a:solidFill>
                  <a:latin typeface="Aileron Bold"/>
                  <a:ea typeface="Aileron Bold"/>
                  <a:cs typeface="Aileron Bold"/>
                  <a:sym typeface="Aileron Bold"/>
                </a:rPr>
                <a:t>AXE 3</a:t>
              </a:r>
            </a:p>
          </p:txBody>
        </p:sp>
      </p:grpSp>
      <p:grpSp>
        <p:nvGrpSpPr>
          <p:cNvPr name="Group 17" id="17"/>
          <p:cNvGrpSpPr/>
          <p:nvPr/>
        </p:nvGrpSpPr>
        <p:grpSpPr>
          <a:xfrm rot="0">
            <a:off x="952651" y="4473994"/>
            <a:ext cx="1425689" cy="536469"/>
            <a:chOff x="0" y="0"/>
            <a:chExt cx="1900919" cy="715292"/>
          </a:xfrm>
        </p:grpSpPr>
        <p:grpSp>
          <p:nvGrpSpPr>
            <p:cNvPr name="Group 18" id="18"/>
            <p:cNvGrpSpPr/>
            <p:nvPr/>
          </p:nvGrpSpPr>
          <p:grpSpPr>
            <a:xfrm rot="0">
              <a:off x="0" y="0"/>
              <a:ext cx="1900919" cy="715292"/>
              <a:chOff x="0" y="0"/>
              <a:chExt cx="2904119" cy="1106170"/>
            </a:xfrm>
          </p:grpSpPr>
          <p:sp>
            <p:nvSpPr>
              <p:cNvPr name="Freeform 19" id="19"/>
              <p:cNvSpPr/>
              <p:nvPr/>
            </p:nvSpPr>
            <p:spPr>
              <a:xfrm flipH="false" flipV="false" rot="0">
                <a:off x="0" y="0"/>
                <a:ext cx="2905389" cy="1106187"/>
              </a:xfrm>
              <a:custGeom>
                <a:avLst/>
                <a:gdLst/>
                <a:ahLst/>
                <a:cxnLst/>
                <a:rect r="r" b="b" t="t" l="l"/>
                <a:pathLst>
                  <a:path h="1106187" w="2905389">
                    <a:moveTo>
                      <a:pt x="2351669" y="45668"/>
                    </a:moveTo>
                    <a:cubicBezTo>
                      <a:pt x="2631069" y="45668"/>
                      <a:pt x="2858399" y="272741"/>
                      <a:pt x="2858399" y="551824"/>
                    </a:cubicBezTo>
                    <a:cubicBezTo>
                      <a:pt x="2858399" y="830908"/>
                      <a:pt x="2631069" y="1057980"/>
                      <a:pt x="2351669" y="1057980"/>
                    </a:cubicBezTo>
                    <a:lnTo>
                      <a:pt x="553720" y="1057980"/>
                    </a:lnTo>
                    <a:cubicBezTo>
                      <a:pt x="274320" y="1057980"/>
                      <a:pt x="46990" y="830908"/>
                      <a:pt x="46990" y="551824"/>
                    </a:cubicBezTo>
                    <a:cubicBezTo>
                      <a:pt x="46990" y="272741"/>
                      <a:pt x="274320" y="45668"/>
                      <a:pt x="553720" y="45668"/>
                    </a:cubicBezTo>
                    <a:lnTo>
                      <a:pt x="2351669" y="45668"/>
                    </a:lnTo>
                    <a:moveTo>
                      <a:pt x="2351669" y="0"/>
                    </a:moveTo>
                    <a:lnTo>
                      <a:pt x="553720" y="0"/>
                    </a:lnTo>
                    <a:cubicBezTo>
                      <a:pt x="247650" y="0"/>
                      <a:pt x="0" y="247369"/>
                      <a:pt x="0" y="553093"/>
                    </a:cubicBezTo>
                    <a:cubicBezTo>
                      <a:pt x="0" y="858816"/>
                      <a:pt x="247650" y="1106187"/>
                      <a:pt x="553720" y="1106187"/>
                    </a:cubicBezTo>
                    <a:lnTo>
                      <a:pt x="2351669" y="1106187"/>
                    </a:lnTo>
                    <a:cubicBezTo>
                      <a:pt x="2657739" y="1106187"/>
                      <a:pt x="2905389" y="858816"/>
                      <a:pt x="2905389" y="553093"/>
                    </a:cubicBezTo>
                    <a:cubicBezTo>
                      <a:pt x="2904119" y="247369"/>
                      <a:pt x="2656469" y="0"/>
                      <a:pt x="2351669" y="0"/>
                    </a:cubicBezTo>
                    <a:close/>
                  </a:path>
                </a:pathLst>
              </a:custGeom>
              <a:solidFill>
                <a:srgbClr val="2C92D5"/>
              </a:solidFill>
            </p:spPr>
          </p:sp>
        </p:grpSp>
        <p:sp>
          <p:nvSpPr>
            <p:cNvPr name="TextBox 20" id="20"/>
            <p:cNvSpPr txBox="true"/>
            <p:nvPr/>
          </p:nvSpPr>
          <p:spPr>
            <a:xfrm rot="0">
              <a:off x="238839" y="140476"/>
              <a:ext cx="1423240" cy="396240"/>
            </a:xfrm>
            <a:prstGeom prst="rect">
              <a:avLst/>
            </a:prstGeom>
          </p:spPr>
          <p:txBody>
            <a:bodyPr anchor="t" rtlCol="false" tIns="0" lIns="0" bIns="0" rIns="0">
              <a:spAutoFit/>
            </a:bodyPr>
            <a:lstStyle/>
            <a:p>
              <a:pPr algn="ctr">
                <a:lnSpc>
                  <a:spcPts val="2520"/>
                </a:lnSpc>
              </a:pPr>
              <a:r>
                <a:rPr lang="en-US" b="true" sz="1800" spc="89">
                  <a:solidFill>
                    <a:srgbClr val="763C00"/>
                  </a:solidFill>
                  <a:latin typeface="Aileron Bold"/>
                  <a:ea typeface="Aileron Bold"/>
                  <a:cs typeface="Aileron Bold"/>
                  <a:sym typeface="Aileron Bold"/>
                </a:rPr>
                <a:t>Thème 1</a:t>
              </a:r>
            </a:p>
          </p:txBody>
        </p:sp>
      </p:grpSp>
      <p:grpSp>
        <p:nvGrpSpPr>
          <p:cNvPr name="Group 21" id="21"/>
          <p:cNvGrpSpPr/>
          <p:nvPr/>
        </p:nvGrpSpPr>
        <p:grpSpPr>
          <a:xfrm rot="0">
            <a:off x="8429288" y="1681144"/>
            <a:ext cx="1425689" cy="537078"/>
            <a:chOff x="0" y="0"/>
            <a:chExt cx="1900919" cy="716103"/>
          </a:xfrm>
        </p:grpSpPr>
        <p:grpSp>
          <p:nvGrpSpPr>
            <p:cNvPr name="Group 22" id="22"/>
            <p:cNvGrpSpPr/>
            <p:nvPr/>
          </p:nvGrpSpPr>
          <p:grpSpPr>
            <a:xfrm rot="0">
              <a:off x="0" y="0"/>
              <a:ext cx="1900919" cy="716103"/>
              <a:chOff x="0" y="0"/>
              <a:chExt cx="2904119" cy="1106170"/>
            </a:xfrm>
          </p:grpSpPr>
          <p:sp>
            <p:nvSpPr>
              <p:cNvPr name="Freeform 23" id="23"/>
              <p:cNvSpPr/>
              <p:nvPr/>
            </p:nvSpPr>
            <p:spPr>
              <a:xfrm flipH="false" flipV="false" rot="0">
                <a:off x="0" y="0"/>
                <a:ext cx="2905389" cy="1107440"/>
              </a:xfrm>
              <a:custGeom>
                <a:avLst/>
                <a:gdLst/>
                <a:ahLst/>
                <a:cxnLst/>
                <a:rect r="r" b="b" t="t" l="l"/>
                <a:pathLst>
                  <a:path h="1107440" w="2905389">
                    <a:moveTo>
                      <a:pt x="2351669" y="45720"/>
                    </a:moveTo>
                    <a:cubicBezTo>
                      <a:pt x="2631069" y="45720"/>
                      <a:pt x="2858399" y="273050"/>
                      <a:pt x="2858399" y="552450"/>
                    </a:cubicBezTo>
                    <a:cubicBezTo>
                      <a:pt x="2858399" y="831850"/>
                      <a:pt x="2631069" y="1059180"/>
                      <a:pt x="2351669" y="1059180"/>
                    </a:cubicBezTo>
                    <a:lnTo>
                      <a:pt x="553720" y="1059180"/>
                    </a:lnTo>
                    <a:cubicBezTo>
                      <a:pt x="274320" y="1059180"/>
                      <a:pt x="46990" y="831850"/>
                      <a:pt x="46990" y="552450"/>
                    </a:cubicBezTo>
                    <a:cubicBezTo>
                      <a:pt x="46990" y="273050"/>
                      <a:pt x="274320" y="45720"/>
                      <a:pt x="553720" y="45720"/>
                    </a:cubicBezTo>
                    <a:lnTo>
                      <a:pt x="2351669" y="45720"/>
                    </a:lnTo>
                    <a:moveTo>
                      <a:pt x="2351669" y="0"/>
                    </a:moveTo>
                    <a:lnTo>
                      <a:pt x="553720" y="0"/>
                    </a:lnTo>
                    <a:cubicBezTo>
                      <a:pt x="247650" y="0"/>
                      <a:pt x="0" y="247650"/>
                      <a:pt x="0" y="553720"/>
                    </a:cubicBezTo>
                    <a:cubicBezTo>
                      <a:pt x="0" y="859790"/>
                      <a:pt x="247650" y="1107440"/>
                      <a:pt x="553720" y="1107440"/>
                    </a:cubicBezTo>
                    <a:lnTo>
                      <a:pt x="2351669" y="1107440"/>
                    </a:lnTo>
                    <a:cubicBezTo>
                      <a:pt x="2657739" y="1107440"/>
                      <a:pt x="2905389" y="859790"/>
                      <a:pt x="2905389" y="553720"/>
                    </a:cubicBezTo>
                    <a:cubicBezTo>
                      <a:pt x="2904119" y="247650"/>
                      <a:pt x="2656469" y="0"/>
                      <a:pt x="2351669" y="0"/>
                    </a:cubicBezTo>
                    <a:close/>
                  </a:path>
                </a:pathLst>
              </a:custGeom>
              <a:solidFill>
                <a:srgbClr val="2C92D5"/>
              </a:solidFill>
            </p:spPr>
          </p:sp>
        </p:grpSp>
        <p:sp>
          <p:nvSpPr>
            <p:cNvPr name="TextBox 24" id="24"/>
            <p:cNvSpPr txBox="true"/>
            <p:nvPr/>
          </p:nvSpPr>
          <p:spPr>
            <a:xfrm rot="0">
              <a:off x="238839" y="140476"/>
              <a:ext cx="1423240" cy="397051"/>
            </a:xfrm>
            <a:prstGeom prst="rect">
              <a:avLst/>
            </a:prstGeom>
          </p:spPr>
          <p:txBody>
            <a:bodyPr anchor="t" rtlCol="false" tIns="0" lIns="0" bIns="0" rIns="0">
              <a:spAutoFit/>
            </a:bodyPr>
            <a:lstStyle/>
            <a:p>
              <a:pPr algn="ctr">
                <a:lnSpc>
                  <a:spcPts val="2519"/>
                </a:lnSpc>
              </a:pPr>
              <a:r>
                <a:rPr lang="en-US" b="true" sz="1799" spc="89">
                  <a:solidFill>
                    <a:srgbClr val="763C00"/>
                  </a:solidFill>
                  <a:latin typeface="Aileron Bold"/>
                  <a:ea typeface="Aileron Bold"/>
                  <a:cs typeface="Aileron Bold"/>
                  <a:sym typeface="Aileron Bold"/>
                </a:rPr>
                <a:t>AXE 2</a:t>
              </a:r>
            </a:p>
          </p:txBody>
        </p:sp>
      </p:grpSp>
      <p:grpSp>
        <p:nvGrpSpPr>
          <p:cNvPr name="Group 25" id="25"/>
          <p:cNvGrpSpPr/>
          <p:nvPr/>
        </p:nvGrpSpPr>
        <p:grpSpPr>
          <a:xfrm rot="0">
            <a:off x="4522049" y="1906773"/>
            <a:ext cx="3598073" cy="85819"/>
            <a:chOff x="0" y="0"/>
            <a:chExt cx="21298512" cy="508000"/>
          </a:xfrm>
        </p:grpSpPr>
        <p:sp>
          <p:nvSpPr>
            <p:cNvPr name="Freeform 26" id="26"/>
            <p:cNvSpPr/>
            <p:nvPr/>
          </p:nvSpPr>
          <p:spPr>
            <a:xfrm flipH="false" flipV="false" rot="0">
              <a:off x="0" y="215900"/>
              <a:ext cx="21002602" cy="76200"/>
            </a:xfrm>
            <a:custGeom>
              <a:avLst/>
              <a:gdLst/>
              <a:ahLst/>
              <a:cxnLst/>
              <a:rect r="r" b="b" t="t" l="l"/>
              <a:pathLst>
                <a:path h="76200" w="21002602">
                  <a:moveTo>
                    <a:pt x="0" y="0"/>
                  </a:moveTo>
                  <a:lnTo>
                    <a:pt x="21002602" y="0"/>
                  </a:lnTo>
                  <a:lnTo>
                    <a:pt x="21002602" y="76200"/>
                  </a:lnTo>
                  <a:lnTo>
                    <a:pt x="0" y="76200"/>
                  </a:lnTo>
                  <a:close/>
                </a:path>
              </a:pathLst>
            </a:custGeom>
            <a:solidFill>
              <a:srgbClr val="191919"/>
            </a:solidFill>
          </p:spPr>
        </p:sp>
        <p:sp>
          <p:nvSpPr>
            <p:cNvPr name="Freeform 27" id="27"/>
            <p:cNvSpPr/>
            <p:nvPr/>
          </p:nvSpPr>
          <p:spPr>
            <a:xfrm flipH="false" flipV="false" rot="0">
              <a:off x="20923862" y="1270"/>
              <a:ext cx="374650" cy="505460"/>
            </a:xfrm>
            <a:custGeom>
              <a:avLst/>
              <a:gdLst/>
              <a:ahLst/>
              <a:cxnLst/>
              <a:rect r="r" b="b" t="t" l="l"/>
              <a:pathLst>
                <a:path h="505460" w="374650">
                  <a:moveTo>
                    <a:pt x="0" y="505460"/>
                  </a:moveTo>
                  <a:lnTo>
                    <a:pt x="0" y="0"/>
                  </a:lnTo>
                  <a:lnTo>
                    <a:pt x="374650" y="252730"/>
                  </a:lnTo>
                  <a:close/>
                </a:path>
              </a:pathLst>
            </a:custGeom>
            <a:solidFill>
              <a:srgbClr val="191919"/>
            </a:solidFill>
          </p:spPr>
        </p:sp>
      </p:grpSp>
      <p:grpSp>
        <p:nvGrpSpPr>
          <p:cNvPr name="Group 28" id="28"/>
          <p:cNvGrpSpPr/>
          <p:nvPr/>
        </p:nvGrpSpPr>
        <p:grpSpPr>
          <a:xfrm rot="0">
            <a:off x="9854977" y="1906773"/>
            <a:ext cx="4190656" cy="85819"/>
            <a:chOff x="0" y="0"/>
            <a:chExt cx="24806262" cy="508000"/>
          </a:xfrm>
        </p:grpSpPr>
        <p:sp>
          <p:nvSpPr>
            <p:cNvPr name="Freeform 29" id="29"/>
            <p:cNvSpPr/>
            <p:nvPr/>
          </p:nvSpPr>
          <p:spPr>
            <a:xfrm flipH="false" flipV="false" rot="0">
              <a:off x="0" y="215900"/>
              <a:ext cx="24510352" cy="76200"/>
            </a:xfrm>
            <a:custGeom>
              <a:avLst/>
              <a:gdLst/>
              <a:ahLst/>
              <a:cxnLst/>
              <a:rect r="r" b="b" t="t" l="l"/>
              <a:pathLst>
                <a:path h="76200" w="24510352">
                  <a:moveTo>
                    <a:pt x="0" y="0"/>
                  </a:moveTo>
                  <a:lnTo>
                    <a:pt x="24510352" y="0"/>
                  </a:lnTo>
                  <a:lnTo>
                    <a:pt x="24510352" y="76200"/>
                  </a:lnTo>
                  <a:lnTo>
                    <a:pt x="0" y="76200"/>
                  </a:lnTo>
                  <a:close/>
                </a:path>
              </a:pathLst>
            </a:custGeom>
            <a:solidFill>
              <a:srgbClr val="191919"/>
            </a:solidFill>
          </p:spPr>
        </p:sp>
        <p:sp>
          <p:nvSpPr>
            <p:cNvPr name="Freeform 30" id="30"/>
            <p:cNvSpPr/>
            <p:nvPr/>
          </p:nvSpPr>
          <p:spPr>
            <a:xfrm flipH="false" flipV="false" rot="0">
              <a:off x="24431613" y="1270"/>
              <a:ext cx="374650" cy="505460"/>
            </a:xfrm>
            <a:custGeom>
              <a:avLst/>
              <a:gdLst/>
              <a:ahLst/>
              <a:cxnLst/>
              <a:rect r="r" b="b" t="t" l="l"/>
              <a:pathLst>
                <a:path h="505460" w="374650">
                  <a:moveTo>
                    <a:pt x="0" y="505460"/>
                  </a:moveTo>
                  <a:lnTo>
                    <a:pt x="0" y="0"/>
                  </a:lnTo>
                  <a:lnTo>
                    <a:pt x="374650" y="252730"/>
                  </a:lnTo>
                  <a:close/>
                </a:path>
              </a:pathLst>
            </a:custGeom>
            <a:solidFill>
              <a:srgbClr val="191919"/>
            </a:solidFill>
          </p:spPr>
        </p:sp>
      </p:grpSp>
      <p:grpSp>
        <p:nvGrpSpPr>
          <p:cNvPr name="Group 31" id="31"/>
          <p:cNvGrpSpPr/>
          <p:nvPr/>
        </p:nvGrpSpPr>
        <p:grpSpPr>
          <a:xfrm rot="5400000">
            <a:off x="1280031" y="5673995"/>
            <a:ext cx="623521" cy="147407"/>
            <a:chOff x="0" y="0"/>
            <a:chExt cx="3690885" cy="508000"/>
          </a:xfrm>
        </p:grpSpPr>
        <p:sp>
          <p:nvSpPr>
            <p:cNvPr name="Freeform 32" id="32"/>
            <p:cNvSpPr/>
            <p:nvPr/>
          </p:nvSpPr>
          <p:spPr>
            <a:xfrm flipH="false" flipV="false" rot="0">
              <a:off x="0" y="272118"/>
              <a:ext cx="3394975" cy="96042"/>
            </a:xfrm>
            <a:custGeom>
              <a:avLst/>
              <a:gdLst/>
              <a:ahLst/>
              <a:cxnLst/>
              <a:rect r="r" b="b" t="t" l="l"/>
              <a:pathLst>
                <a:path h="96042" w="3394975">
                  <a:moveTo>
                    <a:pt x="0" y="0"/>
                  </a:moveTo>
                  <a:lnTo>
                    <a:pt x="3394975" y="0"/>
                  </a:lnTo>
                  <a:lnTo>
                    <a:pt x="3394975" y="96042"/>
                  </a:lnTo>
                  <a:lnTo>
                    <a:pt x="0" y="96042"/>
                  </a:lnTo>
                  <a:close/>
                </a:path>
              </a:pathLst>
            </a:custGeom>
            <a:solidFill>
              <a:srgbClr val="191919"/>
            </a:solidFill>
          </p:spPr>
        </p:sp>
        <p:sp>
          <p:nvSpPr>
            <p:cNvPr name="Freeform 33" id="33"/>
            <p:cNvSpPr/>
            <p:nvPr/>
          </p:nvSpPr>
          <p:spPr>
            <a:xfrm flipH="false" flipV="false" rot="0">
              <a:off x="3316235" y="1601"/>
              <a:ext cx="374650" cy="637077"/>
            </a:xfrm>
            <a:custGeom>
              <a:avLst/>
              <a:gdLst/>
              <a:ahLst/>
              <a:cxnLst/>
              <a:rect r="r" b="b" t="t" l="l"/>
              <a:pathLst>
                <a:path h="637077" w="374650">
                  <a:moveTo>
                    <a:pt x="0" y="637077"/>
                  </a:moveTo>
                  <a:lnTo>
                    <a:pt x="0" y="0"/>
                  </a:lnTo>
                  <a:lnTo>
                    <a:pt x="374650" y="318538"/>
                  </a:lnTo>
                  <a:close/>
                </a:path>
              </a:pathLst>
            </a:custGeom>
            <a:solidFill>
              <a:srgbClr val="191919"/>
            </a:solidFill>
          </p:spPr>
        </p:sp>
      </p:grpSp>
      <p:sp>
        <p:nvSpPr>
          <p:cNvPr name="TextBox 34" id="34"/>
          <p:cNvSpPr txBox="true"/>
          <p:nvPr/>
        </p:nvSpPr>
        <p:spPr>
          <a:xfrm rot="0">
            <a:off x="14689548" y="2140732"/>
            <a:ext cx="2647029" cy="824865"/>
          </a:xfrm>
          <a:prstGeom prst="rect">
            <a:avLst/>
          </a:prstGeom>
        </p:spPr>
        <p:txBody>
          <a:bodyPr anchor="t" rtlCol="false" tIns="0" lIns="0" bIns="0" rIns="0">
            <a:spAutoFit/>
          </a:bodyPr>
          <a:lstStyle/>
          <a:p>
            <a:pPr algn="ctr">
              <a:lnSpc>
                <a:spcPts val="3359"/>
              </a:lnSpc>
            </a:pPr>
            <a:r>
              <a:rPr lang="en-US" b="true" sz="2399" spc="119">
                <a:solidFill>
                  <a:srgbClr val="191919"/>
                </a:solidFill>
                <a:latin typeface="Aileron Bold"/>
                <a:ea typeface="Aileron Bold"/>
                <a:cs typeface="Aileron Bold"/>
                <a:sym typeface="Aileron Bold"/>
              </a:rPr>
              <a:t>Perception et obstacles</a:t>
            </a:r>
          </a:p>
        </p:txBody>
      </p:sp>
      <p:sp>
        <p:nvSpPr>
          <p:cNvPr name="TextBox 35" id="35"/>
          <p:cNvSpPr txBox="true"/>
          <p:nvPr/>
        </p:nvSpPr>
        <p:spPr>
          <a:xfrm rot="0">
            <a:off x="764086" y="2140732"/>
            <a:ext cx="3804909" cy="824865"/>
          </a:xfrm>
          <a:prstGeom prst="rect">
            <a:avLst/>
          </a:prstGeom>
        </p:spPr>
        <p:txBody>
          <a:bodyPr anchor="t" rtlCol="false" tIns="0" lIns="0" bIns="0" rIns="0">
            <a:spAutoFit/>
          </a:bodyPr>
          <a:lstStyle/>
          <a:p>
            <a:pPr algn="ctr">
              <a:lnSpc>
                <a:spcPts val="3359"/>
              </a:lnSpc>
            </a:pPr>
            <a:r>
              <a:rPr lang="en-US" b="true" sz="2399" spc="119">
                <a:solidFill>
                  <a:srgbClr val="191919"/>
                </a:solidFill>
                <a:latin typeface="Aileron Bold"/>
                <a:ea typeface="Aileron Bold"/>
                <a:cs typeface="Aileron Bold"/>
                <a:sym typeface="Aileron Bold"/>
              </a:rPr>
              <a:t>Connaissance des services bancaires</a:t>
            </a:r>
          </a:p>
        </p:txBody>
      </p:sp>
      <p:sp>
        <p:nvSpPr>
          <p:cNvPr name="TextBox 36" id="36"/>
          <p:cNvSpPr txBox="true"/>
          <p:nvPr/>
        </p:nvSpPr>
        <p:spPr>
          <a:xfrm rot="0">
            <a:off x="7295284" y="2170596"/>
            <a:ext cx="3804909" cy="824865"/>
          </a:xfrm>
          <a:prstGeom prst="rect">
            <a:avLst/>
          </a:prstGeom>
        </p:spPr>
        <p:txBody>
          <a:bodyPr anchor="t" rtlCol="false" tIns="0" lIns="0" bIns="0" rIns="0">
            <a:spAutoFit/>
          </a:bodyPr>
          <a:lstStyle/>
          <a:p>
            <a:pPr algn="ctr">
              <a:lnSpc>
                <a:spcPts val="3359"/>
              </a:lnSpc>
            </a:pPr>
            <a:r>
              <a:rPr lang="en-US" b="true" sz="2399" spc="119">
                <a:solidFill>
                  <a:srgbClr val="191919"/>
                </a:solidFill>
                <a:latin typeface="Aileron Bold"/>
                <a:ea typeface="Aileron Bold"/>
                <a:cs typeface="Aileron Bold"/>
                <a:sym typeface="Aileron Bold"/>
              </a:rPr>
              <a:t>Utilisation des services bancaires</a:t>
            </a:r>
          </a:p>
        </p:txBody>
      </p:sp>
      <p:grpSp>
        <p:nvGrpSpPr>
          <p:cNvPr name="Group 37" id="37"/>
          <p:cNvGrpSpPr/>
          <p:nvPr/>
        </p:nvGrpSpPr>
        <p:grpSpPr>
          <a:xfrm rot="0">
            <a:off x="15178119" y="3452661"/>
            <a:ext cx="1425689" cy="536469"/>
            <a:chOff x="0" y="0"/>
            <a:chExt cx="1900919" cy="715292"/>
          </a:xfrm>
        </p:grpSpPr>
        <p:grpSp>
          <p:nvGrpSpPr>
            <p:cNvPr name="Group 38" id="38"/>
            <p:cNvGrpSpPr/>
            <p:nvPr/>
          </p:nvGrpSpPr>
          <p:grpSpPr>
            <a:xfrm rot="0">
              <a:off x="0" y="0"/>
              <a:ext cx="1900919" cy="715292"/>
              <a:chOff x="0" y="0"/>
              <a:chExt cx="2904119" cy="1106170"/>
            </a:xfrm>
          </p:grpSpPr>
          <p:sp>
            <p:nvSpPr>
              <p:cNvPr name="Freeform 39" id="39"/>
              <p:cNvSpPr/>
              <p:nvPr/>
            </p:nvSpPr>
            <p:spPr>
              <a:xfrm flipH="false" flipV="false" rot="0">
                <a:off x="0" y="0"/>
                <a:ext cx="2905389" cy="1106187"/>
              </a:xfrm>
              <a:custGeom>
                <a:avLst/>
                <a:gdLst/>
                <a:ahLst/>
                <a:cxnLst/>
                <a:rect r="r" b="b" t="t" l="l"/>
                <a:pathLst>
                  <a:path h="1106187" w="2905389">
                    <a:moveTo>
                      <a:pt x="2351669" y="45668"/>
                    </a:moveTo>
                    <a:cubicBezTo>
                      <a:pt x="2631069" y="45668"/>
                      <a:pt x="2858399" y="272741"/>
                      <a:pt x="2858399" y="551824"/>
                    </a:cubicBezTo>
                    <a:cubicBezTo>
                      <a:pt x="2858399" y="830908"/>
                      <a:pt x="2631069" y="1057980"/>
                      <a:pt x="2351669" y="1057980"/>
                    </a:cubicBezTo>
                    <a:lnTo>
                      <a:pt x="553720" y="1057980"/>
                    </a:lnTo>
                    <a:cubicBezTo>
                      <a:pt x="274320" y="1057980"/>
                      <a:pt x="46990" y="830908"/>
                      <a:pt x="46990" y="551824"/>
                    </a:cubicBezTo>
                    <a:cubicBezTo>
                      <a:pt x="46990" y="272741"/>
                      <a:pt x="274320" y="45668"/>
                      <a:pt x="553720" y="45668"/>
                    </a:cubicBezTo>
                    <a:lnTo>
                      <a:pt x="2351669" y="45668"/>
                    </a:lnTo>
                    <a:moveTo>
                      <a:pt x="2351669" y="0"/>
                    </a:moveTo>
                    <a:lnTo>
                      <a:pt x="553720" y="0"/>
                    </a:lnTo>
                    <a:cubicBezTo>
                      <a:pt x="247650" y="0"/>
                      <a:pt x="0" y="247369"/>
                      <a:pt x="0" y="553093"/>
                    </a:cubicBezTo>
                    <a:cubicBezTo>
                      <a:pt x="0" y="858816"/>
                      <a:pt x="247650" y="1106187"/>
                      <a:pt x="553720" y="1106187"/>
                    </a:cubicBezTo>
                    <a:lnTo>
                      <a:pt x="2351669" y="1106187"/>
                    </a:lnTo>
                    <a:cubicBezTo>
                      <a:pt x="2657739" y="1106187"/>
                      <a:pt x="2905389" y="858816"/>
                      <a:pt x="2905389" y="553093"/>
                    </a:cubicBezTo>
                    <a:cubicBezTo>
                      <a:pt x="2904119" y="247369"/>
                      <a:pt x="2656469" y="0"/>
                      <a:pt x="2351669" y="0"/>
                    </a:cubicBezTo>
                    <a:close/>
                  </a:path>
                </a:pathLst>
              </a:custGeom>
              <a:solidFill>
                <a:srgbClr val="2C92D5"/>
              </a:solidFill>
            </p:spPr>
          </p:sp>
        </p:grpSp>
        <p:sp>
          <p:nvSpPr>
            <p:cNvPr name="TextBox 40" id="40"/>
            <p:cNvSpPr txBox="true"/>
            <p:nvPr/>
          </p:nvSpPr>
          <p:spPr>
            <a:xfrm rot="0">
              <a:off x="238839" y="140476"/>
              <a:ext cx="1423240" cy="396240"/>
            </a:xfrm>
            <a:prstGeom prst="rect">
              <a:avLst/>
            </a:prstGeom>
          </p:spPr>
          <p:txBody>
            <a:bodyPr anchor="t" rtlCol="false" tIns="0" lIns="0" bIns="0" rIns="0">
              <a:spAutoFit/>
            </a:bodyPr>
            <a:lstStyle/>
            <a:p>
              <a:pPr algn="ctr">
                <a:lnSpc>
                  <a:spcPts val="2520"/>
                </a:lnSpc>
              </a:pPr>
              <a:r>
                <a:rPr lang="en-US" b="true" sz="1800" spc="89">
                  <a:solidFill>
                    <a:srgbClr val="763C00"/>
                  </a:solidFill>
                  <a:latin typeface="Aileron Bold"/>
                  <a:ea typeface="Aileron Bold"/>
                  <a:cs typeface="Aileron Bold"/>
                  <a:sym typeface="Aileron Bold"/>
                </a:rPr>
                <a:t>Thème 2</a:t>
              </a:r>
            </a:p>
          </p:txBody>
        </p:sp>
      </p:grpSp>
      <p:sp>
        <p:nvSpPr>
          <p:cNvPr name="TextBox 41" id="41"/>
          <p:cNvSpPr txBox="true"/>
          <p:nvPr/>
        </p:nvSpPr>
        <p:spPr>
          <a:xfrm rot="0">
            <a:off x="13804761" y="4037749"/>
            <a:ext cx="4172406" cy="824865"/>
          </a:xfrm>
          <a:prstGeom prst="rect">
            <a:avLst/>
          </a:prstGeom>
        </p:spPr>
        <p:txBody>
          <a:bodyPr anchor="t" rtlCol="false" tIns="0" lIns="0" bIns="0" rIns="0">
            <a:spAutoFit/>
          </a:bodyPr>
          <a:lstStyle/>
          <a:p>
            <a:pPr algn="ctr">
              <a:lnSpc>
                <a:spcPts val="3359"/>
              </a:lnSpc>
            </a:pPr>
            <a:r>
              <a:rPr lang="en-US" b="true" sz="2399" spc="119">
                <a:solidFill>
                  <a:srgbClr val="191919"/>
                </a:solidFill>
                <a:latin typeface="Aileron Bold"/>
                <a:ea typeface="Aileron Bold"/>
                <a:cs typeface="Aileron Bold"/>
                <a:sym typeface="Aileron Bold"/>
              </a:rPr>
              <a:t>Connaissance des institutions bancaires</a:t>
            </a:r>
          </a:p>
        </p:txBody>
      </p:sp>
      <p:grpSp>
        <p:nvGrpSpPr>
          <p:cNvPr name="Group 42" id="42"/>
          <p:cNvGrpSpPr/>
          <p:nvPr/>
        </p:nvGrpSpPr>
        <p:grpSpPr>
          <a:xfrm rot="5400000">
            <a:off x="15313311" y="5345243"/>
            <a:ext cx="1155306" cy="273126"/>
            <a:chOff x="0" y="0"/>
            <a:chExt cx="3690885" cy="508000"/>
          </a:xfrm>
        </p:grpSpPr>
        <p:sp>
          <p:nvSpPr>
            <p:cNvPr name="Freeform 43" id="43"/>
            <p:cNvSpPr/>
            <p:nvPr/>
          </p:nvSpPr>
          <p:spPr>
            <a:xfrm flipH="false" flipV="false" rot="0">
              <a:off x="0" y="272118"/>
              <a:ext cx="3394975" cy="96042"/>
            </a:xfrm>
            <a:custGeom>
              <a:avLst/>
              <a:gdLst/>
              <a:ahLst/>
              <a:cxnLst/>
              <a:rect r="r" b="b" t="t" l="l"/>
              <a:pathLst>
                <a:path h="96042" w="3394975">
                  <a:moveTo>
                    <a:pt x="0" y="0"/>
                  </a:moveTo>
                  <a:lnTo>
                    <a:pt x="3394975" y="0"/>
                  </a:lnTo>
                  <a:lnTo>
                    <a:pt x="3394975" y="96042"/>
                  </a:lnTo>
                  <a:lnTo>
                    <a:pt x="0" y="96042"/>
                  </a:lnTo>
                  <a:close/>
                </a:path>
              </a:pathLst>
            </a:custGeom>
            <a:solidFill>
              <a:srgbClr val="191919"/>
            </a:solidFill>
          </p:spPr>
        </p:sp>
        <p:sp>
          <p:nvSpPr>
            <p:cNvPr name="Freeform 44" id="44"/>
            <p:cNvSpPr/>
            <p:nvPr/>
          </p:nvSpPr>
          <p:spPr>
            <a:xfrm flipH="false" flipV="false" rot="0">
              <a:off x="3316235" y="1601"/>
              <a:ext cx="374650" cy="637077"/>
            </a:xfrm>
            <a:custGeom>
              <a:avLst/>
              <a:gdLst/>
              <a:ahLst/>
              <a:cxnLst/>
              <a:rect r="r" b="b" t="t" l="l"/>
              <a:pathLst>
                <a:path h="637077" w="374650">
                  <a:moveTo>
                    <a:pt x="0" y="637077"/>
                  </a:moveTo>
                  <a:lnTo>
                    <a:pt x="0" y="0"/>
                  </a:lnTo>
                  <a:lnTo>
                    <a:pt x="374650" y="318538"/>
                  </a:lnTo>
                  <a:close/>
                </a:path>
              </a:pathLst>
            </a:custGeom>
            <a:solidFill>
              <a:srgbClr val="191919"/>
            </a:solidFill>
          </p:spPr>
        </p:sp>
      </p:grpSp>
      <p:grpSp>
        <p:nvGrpSpPr>
          <p:cNvPr name="Group 45" id="45"/>
          <p:cNvGrpSpPr/>
          <p:nvPr/>
        </p:nvGrpSpPr>
        <p:grpSpPr>
          <a:xfrm rot="0">
            <a:off x="91050" y="6126134"/>
            <a:ext cx="8861998" cy="2367915"/>
            <a:chOff x="0" y="0"/>
            <a:chExt cx="2334024" cy="623648"/>
          </a:xfrm>
        </p:grpSpPr>
        <p:sp>
          <p:nvSpPr>
            <p:cNvPr name="Freeform 46" id="46"/>
            <p:cNvSpPr/>
            <p:nvPr/>
          </p:nvSpPr>
          <p:spPr>
            <a:xfrm flipH="false" flipV="false" rot="0">
              <a:off x="0" y="0"/>
              <a:ext cx="2334024" cy="623648"/>
            </a:xfrm>
            <a:custGeom>
              <a:avLst/>
              <a:gdLst/>
              <a:ahLst/>
              <a:cxnLst/>
              <a:rect r="r" b="b" t="t" l="l"/>
              <a:pathLst>
                <a:path h="623648" w="2334024">
                  <a:moveTo>
                    <a:pt x="44554" y="0"/>
                  </a:moveTo>
                  <a:lnTo>
                    <a:pt x="2289470" y="0"/>
                  </a:lnTo>
                  <a:cubicBezTo>
                    <a:pt x="2301287" y="0"/>
                    <a:pt x="2312619" y="4694"/>
                    <a:pt x="2320975" y="13050"/>
                  </a:cubicBezTo>
                  <a:cubicBezTo>
                    <a:pt x="2329330" y="21405"/>
                    <a:pt x="2334024" y="32738"/>
                    <a:pt x="2334024" y="44554"/>
                  </a:cubicBezTo>
                  <a:lnTo>
                    <a:pt x="2334024" y="579094"/>
                  </a:lnTo>
                  <a:cubicBezTo>
                    <a:pt x="2334024" y="603701"/>
                    <a:pt x="2314077" y="623648"/>
                    <a:pt x="2289470" y="623648"/>
                  </a:cubicBezTo>
                  <a:lnTo>
                    <a:pt x="44554" y="623648"/>
                  </a:lnTo>
                  <a:cubicBezTo>
                    <a:pt x="19948" y="623648"/>
                    <a:pt x="0" y="603701"/>
                    <a:pt x="0" y="579094"/>
                  </a:cubicBezTo>
                  <a:lnTo>
                    <a:pt x="0" y="44554"/>
                  </a:lnTo>
                  <a:cubicBezTo>
                    <a:pt x="0" y="19948"/>
                    <a:pt x="19948" y="0"/>
                    <a:pt x="44554" y="0"/>
                  </a:cubicBezTo>
                  <a:close/>
                </a:path>
              </a:pathLst>
            </a:custGeom>
            <a:solidFill>
              <a:srgbClr val="FCF1E4"/>
            </a:solidFill>
            <a:ln w="66675" cap="rnd">
              <a:solidFill>
                <a:srgbClr val="763C00"/>
              </a:solidFill>
              <a:prstDash val="solid"/>
              <a:round/>
            </a:ln>
          </p:spPr>
        </p:sp>
        <p:sp>
          <p:nvSpPr>
            <p:cNvPr name="TextBox 47" id="47"/>
            <p:cNvSpPr txBox="true"/>
            <p:nvPr/>
          </p:nvSpPr>
          <p:spPr>
            <a:xfrm>
              <a:off x="0" y="-28575"/>
              <a:ext cx="2334024" cy="652223"/>
            </a:xfrm>
            <a:prstGeom prst="rect">
              <a:avLst/>
            </a:prstGeom>
          </p:spPr>
          <p:txBody>
            <a:bodyPr anchor="ctr" rtlCol="false" tIns="50800" lIns="50800" bIns="50800" rIns="50800"/>
            <a:lstStyle/>
            <a:p>
              <a:pPr algn="ctr">
                <a:lnSpc>
                  <a:spcPts val="3224"/>
                </a:lnSpc>
              </a:pPr>
            </a:p>
          </p:txBody>
        </p:sp>
      </p:grpSp>
      <p:sp>
        <p:nvSpPr>
          <p:cNvPr name="TextBox 48" id="48"/>
          <p:cNvSpPr txBox="true"/>
          <p:nvPr/>
        </p:nvSpPr>
        <p:spPr>
          <a:xfrm rot="0">
            <a:off x="-87281" y="6664297"/>
            <a:ext cx="9231281" cy="1243965"/>
          </a:xfrm>
          <a:prstGeom prst="rect">
            <a:avLst/>
          </a:prstGeom>
        </p:spPr>
        <p:txBody>
          <a:bodyPr anchor="t" rtlCol="false" tIns="0" lIns="0" bIns="0" rIns="0">
            <a:spAutoFit/>
          </a:bodyPr>
          <a:lstStyle/>
          <a:p>
            <a:pPr algn="l" marL="518158" indent="-259079" lvl="1">
              <a:lnSpc>
                <a:spcPts val="3359"/>
              </a:lnSpc>
              <a:buFont typeface="Arial"/>
              <a:buChar char="•"/>
            </a:pPr>
            <a:r>
              <a:rPr lang="en-US" b="true" sz="2399" spc="119">
                <a:solidFill>
                  <a:srgbClr val="191919"/>
                </a:solidFill>
                <a:latin typeface="Aileron Bold"/>
                <a:ea typeface="Aileron Bold"/>
                <a:cs typeface="Aileron Bold"/>
                <a:sym typeface="Aileron Bold"/>
              </a:rPr>
              <a:t>1.1.1 Caractéristiques socio-économiques (catégorie socio professionnelle, âge, revenu, professions)</a:t>
            </a:r>
          </a:p>
          <a:p>
            <a:pPr algn="l" marL="518158" indent="-259079" lvl="1">
              <a:lnSpc>
                <a:spcPts val="3359"/>
              </a:lnSpc>
              <a:buFont typeface="Arial"/>
              <a:buChar char="•"/>
            </a:pPr>
            <a:r>
              <a:rPr lang="en-US" b="true" sz="2399" spc="119">
                <a:solidFill>
                  <a:srgbClr val="191919"/>
                </a:solidFill>
                <a:latin typeface="Aileron Bold"/>
                <a:ea typeface="Aileron Bold"/>
                <a:cs typeface="Aileron Bold"/>
                <a:sym typeface="Aileron Bold"/>
              </a:rPr>
              <a:t>1.1.2 Niveau d’éducation. </a:t>
            </a:r>
          </a:p>
        </p:txBody>
      </p:sp>
      <p:sp>
        <p:nvSpPr>
          <p:cNvPr name="TextBox 49" id="49"/>
          <p:cNvSpPr txBox="true"/>
          <p:nvPr/>
        </p:nvSpPr>
        <p:spPr>
          <a:xfrm rot="0">
            <a:off x="290994" y="6221384"/>
            <a:ext cx="2130857" cy="489585"/>
          </a:xfrm>
          <a:prstGeom prst="rect">
            <a:avLst/>
          </a:prstGeom>
        </p:spPr>
        <p:txBody>
          <a:bodyPr anchor="t" rtlCol="false" tIns="0" lIns="0" bIns="0" rIns="0">
            <a:spAutoFit/>
          </a:bodyPr>
          <a:lstStyle/>
          <a:p>
            <a:pPr algn="ctr">
              <a:lnSpc>
                <a:spcPts val="3870"/>
              </a:lnSpc>
              <a:spcBef>
                <a:spcPct val="0"/>
              </a:spcBef>
            </a:pPr>
            <a:r>
              <a:rPr lang="en-US" b="true" sz="3000">
                <a:solidFill>
                  <a:srgbClr val="B31E1E"/>
                </a:solidFill>
                <a:latin typeface="Roboto Bold"/>
                <a:ea typeface="Roboto Bold"/>
                <a:cs typeface="Roboto Bold"/>
                <a:sym typeface="Roboto Bold"/>
              </a:rPr>
              <a:t>Indicateurs</a:t>
            </a:r>
          </a:p>
        </p:txBody>
      </p:sp>
      <p:grpSp>
        <p:nvGrpSpPr>
          <p:cNvPr name="Group 50" id="50"/>
          <p:cNvGrpSpPr/>
          <p:nvPr/>
        </p:nvGrpSpPr>
        <p:grpSpPr>
          <a:xfrm rot="0">
            <a:off x="9426002" y="6126134"/>
            <a:ext cx="8861998" cy="2367915"/>
            <a:chOff x="0" y="0"/>
            <a:chExt cx="2334024" cy="623648"/>
          </a:xfrm>
        </p:grpSpPr>
        <p:sp>
          <p:nvSpPr>
            <p:cNvPr name="Freeform 51" id="51"/>
            <p:cNvSpPr/>
            <p:nvPr/>
          </p:nvSpPr>
          <p:spPr>
            <a:xfrm flipH="false" flipV="false" rot="0">
              <a:off x="0" y="0"/>
              <a:ext cx="2334024" cy="623648"/>
            </a:xfrm>
            <a:custGeom>
              <a:avLst/>
              <a:gdLst/>
              <a:ahLst/>
              <a:cxnLst/>
              <a:rect r="r" b="b" t="t" l="l"/>
              <a:pathLst>
                <a:path h="623648" w="2334024">
                  <a:moveTo>
                    <a:pt x="44554" y="0"/>
                  </a:moveTo>
                  <a:lnTo>
                    <a:pt x="2289470" y="0"/>
                  </a:lnTo>
                  <a:cubicBezTo>
                    <a:pt x="2301287" y="0"/>
                    <a:pt x="2312619" y="4694"/>
                    <a:pt x="2320975" y="13050"/>
                  </a:cubicBezTo>
                  <a:cubicBezTo>
                    <a:pt x="2329330" y="21405"/>
                    <a:pt x="2334024" y="32738"/>
                    <a:pt x="2334024" y="44554"/>
                  </a:cubicBezTo>
                  <a:lnTo>
                    <a:pt x="2334024" y="579094"/>
                  </a:lnTo>
                  <a:cubicBezTo>
                    <a:pt x="2334024" y="603701"/>
                    <a:pt x="2314077" y="623648"/>
                    <a:pt x="2289470" y="623648"/>
                  </a:cubicBezTo>
                  <a:lnTo>
                    <a:pt x="44554" y="623648"/>
                  </a:lnTo>
                  <a:cubicBezTo>
                    <a:pt x="19948" y="623648"/>
                    <a:pt x="0" y="603701"/>
                    <a:pt x="0" y="579094"/>
                  </a:cubicBezTo>
                  <a:lnTo>
                    <a:pt x="0" y="44554"/>
                  </a:lnTo>
                  <a:cubicBezTo>
                    <a:pt x="0" y="19948"/>
                    <a:pt x="19948" y="0"/>
                    <a:pt x="44554" y="0"/>
                  </a:cubicBezTo>
                  <a:close/>
                </a:path>
              </a:pathLst>
            </a:custGeom>
            <a:solidFill>
              <a:srgbClr val="FCF1E4"/>
            </a:solidFill>
            <a:ln w="66675" cap="rnd">
              <a:solidFill>
                <a:srgbClr val="763C00"/>
              </a:solidFill>
              <a:prstDash val="solid"/>
              <a:round/>
            </a:ln>
          </p:spPr>
        </p:sp>
        <p:sp>
          <p:nvSpPr>
            <p:cNvPr name="TextBox 52" id="52"/>
            <p:cNvSpPr txBox="true"/>
            <p:nvPr/>
          </p:nvSpPr>
          <p:spPr>
            <a:xfrm>
              <a:off x="0" y="-28575"/>
              <a:ext cx="2334024" cy="652223"/>
            </a:xfrm>
            <a:prstGeom prst="rect">
              <a:avLst/>
            </a:prstGeom>
          </p:spPr>
          <p:txBody>
            <a:bodyPr anchor="ctr" rtlCol="false" tIns="50800" lIns="50800" bIns="50800" rIns="50800"/>
            <a:lstStyle/>
            <a:p>
              <a:pPr algn="ctr">
                <a:lnSpc>
                  <a:spcPts val="3224"/>
                </a:lnSpc>
              </a:pPr>
            </a:p>
          </p:txBody>
        </p:sp>
      </p:grpSp>
      <p:sp>
        <p:nvSpPr>
          <p:cNvPr name="TextBox 53" id="53"/>
          <p:cNvSpPr txBox="true"/>
          <p:nvPr/>
        </p:nvSpPr>
        <p:spPr>
          <a:xfrm rot="0">
            <a:off x="9246905" y="6602384"/>
            <a:ext cx="9115711" cy="1663065"/>
          </a:xfrm>
          <a:prstGeom prst="rect">
            <a:avLst/>
          </a:prstGeom>
        </p:spPr>
        <p:txBody>
          <a:bodyPr anchor="t" rtlCol="false" tIns="0" lIns="0" bIns="0" rIns="0">
            <a:spAutoFit/>
          </a:bodyPr>
          <a:lstStyle/>
          <a:p>
            <a:pPr algn="l" marL="518158" indent="-259079" lvl="1">
              <a:lnSpc>
                <a:spcPts val="3359"/>
              </a:lnSpc>
              <a:buFont typeface="Arial"/>
              <a:buChar char="•"/>
            </a:pPr>
            <a:r>
              <a:rPr lang="en-US" b="true" sz="2399" spc="119">
                <a:solidFill>
                  <a:srgbClr val="191919"/>
                </a:solidFill>
                <a:latin typeface="Aileron Bold"/>
                <a:ea typeface="Aileron Bold"/>
                <a:cs typeface="Aileron Bold"/>
                <a:sym typeface="Aileron Bold"/>
              </a:rPr>
              <a:t>1.2.1 : Proportion des personnes connaissant l’existence des services bancaires</a:t>
            </a:r>
          </a:p>
          <a:p>
            <a:pPr algn="l" marL="518158" indent="-259079" lvl="1">
              <a:lnSpc>
                <a:spcPts val="3359"/>
              </a:lnSpc>
              <a:buFont typeface="Arial"/>
              <a:buChar char="•"/>
            </a:pPr>
            <a:r>
              <a:rPr lang="en-US" b="true" sz="2399" spc="119">
                <a:solidFill>
                  <a:srgbClr val="191919"/>
                </a:solidFill>
                <a:latin typeface="Aileron Bold"/>
                <a:ea typeface="Aileron Bold"/>
                <a:cs typeface="Aileron Bold"/>
                <a:sym typeface="Aileron Bold"/>
              </a:rPr>
              <a:t>1.2.2 : Types de services bancaires connus (comptes courants, épargne, crédits, etc.).</a:t>
            </a:r>
          </a:p>
        </p:txBody>
      </p:sp>
      <p:sp>
        <p:nvSpPr>
          <p:cNvPr name="TextBox 54" id="54"/>
          <p:cNvSpPr txBox="true"/>
          <p:nvPr/>
        </p:nvSpPr>
        <p:spPr>
          <a:xfrm rot="0">
            <a:off x="15890964" y="6221384"/>
            <a:ext cx="2130857" cy="489585"/>
          </a:xfrm>
          <a:prstGeom prst="rect">
            <a:avLst/>
          </a:prstGeom>
        </p:spPr>
        <p:txBody>
          <a:bodyPr anchor="t" rtlCol="false" tIns="0" lIns="0" bIns="0" rIns="0">
            <a:spAutoFit/>
          </a:bodyPr>
          <a:lstStyle/>
          <a:p>
            <a:pPr algn="ctr">
              <a:lnSpc>
                <a:spcPts val="3870"/>
              </a:lnSpc>
              <a:spcBef>
                <a:spcPct val="0"/>
              </a:spcBef>
            </a:pPr>
            <a:r>
              <a:rPr lang="en-US" b="true" sz="3000">
                <a:solidFill>
                  <a:srgbClr val="B31E1E"/>
                </a:solidFill>
                <a:latin typeface="Roboto Bold"/>
                <a:ea typeface="Roboto Bold"/>
                <a:cs typeface="Roboto Bold"/>
                <a:sym typeface="Roboto Bold"/>
              </a:rPr>
              <a:t>Indicateurs</a:t>
            </a:r>
          </a:p>
        </p:txBody>
      </p:sp>
      <p:grpSp>
        <p:nvGrpSpPr>
          <p:cNvPr name="Group 55" id="55"/>
          <p:cNvGrpSpPr/>
          <p:nvPr/>
        </p:nvGrpSpPr>
        <p:grpSpPr>
          <a:xfrm rot="5400000">
            <a:off x="1090927" y="3932903"/>
            <a:ext cx="623521" cy="147407"/>
            <a:chOff x="0" y="0"/>
            <a:chExt cx="3690885" cy="508000"/>
          </a:xfrm>
        </p:grpSpPr>
        <p:sp>
          <p:nvSpPr>
            <p:cNvPr name="Freeform 56" id="56"/>
            <p:cNvSpPr/>
            <p:nvPr/>
          </p:nvSpPr>
          <p:spPr>
            <a:xfrm flipH="false" flipV="false" rot="0">
              <a:off x="0" y="272118"/>
              <a:ext cx="3394975" cy="96042"/>
            </a:xfrm>
            <a:custGeom>
              <a:avLst/>
              <a:gdLst/>
              <a:ahLst/>
              <a:cxnLst/>
              <a:rect r="r" b="b" t="t" l="l"/>
              <a:pathLst>
                <a:path h="96042" w="3394975">
                  <a:moveTo>
                    <a:pt x="0" y="0"/>
                  </a:moveTo>
                  <a:lnTo>
                    <a:pt x="3394975" y="0"/>
                  </a:lnTo>
                  <a:lnTo>
                    <a:pt x="3394975" y="96042"/>
                  </a:lnTo>
                  <a:lnTo>
                    <a:pt x="0" y="96042"/>
                  </a:lnTo>
                  <a:close/>
                </a:path>
              </a:pathLst>
            </a:custGeom>
            <a:solidFill>
              <a:srgbClr val="191919"/>
            </a:solidFill>
          </p:spPr>
        </p:sp>
        <p:sp>
          <p:nvSpPr>
            <p:cNvPr name="Freeform 57" id="57"/>
            <p:cNvSpPr/>
            <p:nvPr/>
          </p:nvSpPr>
          <p:spPr>
            <a:xfrm flipH="false" flipV="false" rot="0">
              <a:off x="3316235" y="1601"/>
              <a:ext cx="374650" cy="637077"/>
            </a:xfrm>
            <a:custGeom>
              <a:avLst/>
              <a:gdLst/>
              <a:ahLst/>
              <a:cxnLst/>
              <a:rect r="r" b="b" t="t" l="l"/>
              <a:pathLst>
                <a:path h="637077" w="374650">
                  <a:moveTo>
                    <a:pt x="0" y="637077"/>
                  </a:moveTo>
                  <a:lnTo>
                    <a:pt x="0" y="0"/>
                  </a:lnTo>
                  <a:lnTo>
                    <a:pt x="374650" y="318538"/>
                  </a:lnTo>
                  <a:close/>
                </a:path>
              </a:pathLst>
            </a:custGeom>
            <a:solidFill>
              <a:srgbClr val="191919"/>
            </a:solidFill>
          </p:spPr>
        </p:sp>
      </p:grpSp>
      <p:grpSp>
        <p:nvGrpSpPr>
          <p:cNvPr name="Group 58" id="58"/>
          <p:cNvGrpSpPr/>
          <p:nvPr/>
        </p:nvGrpSpPr>
        <p:grpSpPr>
          <a:xfrm rot="0">
            <a:off x="1476391" y="3553794"/>
            <a:ext cx="13775432" cy="282103"/>
            <a:chOff x="0" y="0"/>
            <a:chExt cx="24806262" cy="508000"/>
          </a:xfrm>
        </p:grpSpPr>
        <p:sp>
          <p:nvSpPr>
            <p:cNvPr name="Freeform 59" id="59"/>
            <p:cNvSpPr/>
            <p:nvPr/>
          </p:nvSpPr>
          <p:spPr>
            <a:xfrm flipH="false" flipV="false" rot="0">
              <a:off x="0" y="215900"/>
              <a:ext cx="24510352" cy="76200"/>
            </a:xfrm>
            <a:custGeom>
              <a:avLst/>
              <a:gdLst/>
              <a:ahLst/>
              <a:cxnLst/>
              <a:rect r="r" b="b" t="t" l="l"/>
              <a:pathLst>
                <a:path h="76200" w="24510352">
                  <a:moveTo>
                    <a:pt x="0" y="0"/>
                  </a:moveTo>
                  <a:lnTo>
                    <a:pt x="24510352" y="0"/>
                  </a:lnTo>
                  <a:lnTo>
                    <a:pt x="24510352" y="76200"/>
                  </a:lnTo>
                  <a:lnTo>
                    <a:pt x="0" y="76200"/>
                  </a:lnTo>
                  <a:close/>
                </a:path>
              </a:pathLst>
            </a:custGeom>
            <a:solidFill>
              <a:srgbClr val="763C00">
                <a:alpha val="38824"/>
              </a:srgbClr>
            </a:solidFill>
          </p:spPr>
        </p:sp>
        <p:sp>
          <p:nvSpPr>
            <p:cNvPr name="Freeform 60" id="60"/>
            <p:cNvSpPr/>
            <p:nvPr/>
          </p:nvSpPr>
          <p:spPr>
            <a:xfrm flipH="false" flipV="false" rot="0">
              <a:off x="24431613" y="1270"/>
              <a:ext cx="374650" cy="505460"/>
            </a:xfrm>
            <a:custGeom>
              <a:avLst/>
              <a:gdLst/>
              <a:ahLst/>
              <a:cxnLst/>
              <a:rect r="r" b="b" t="t" l="l"/>
              <a:pathLst>
                <a:path h="505460" w="374650">
                  <a:moveTo>
                    <a:pt x="0" y="505460"/>
                  </a:moveTo>
                  <a:lnTo>
                    <a:pt x="0" y="0"/>
                  </a:lnTo>
                  <a:lnTo>
                    <a:pt x="374650" y="252730"/>
                  </a:lnTo>
                  <a:close/>
                </a:path>
              </a:pathLst>
            </a:custGeom>
            <a:solidFill>
              <a:srgbClr val="763C00">
                <a:alpha val="38824"/>
              </a:srgbClr>
            </a:solidFill>
          </p:spPr>
        </p:sp>
      </p:grpSp>
    </p:spTree>
  </p:cSld>
  <p:clrMapOvr>
    <a:masterClrMapping/>
  </p:clrMapOvr>
  <p:transition spd="slow">
    <p:push dir="l"/>
  </p:transition>
</p:sld>
</file>

<file path=ppt/slides/slide34.xml><?xml version="1.0" encoding="utf-8"?>
<p:sld xmlns:p="http://schemas.openxmlformats.org/presentationml/2006/main" xmlns:a="http://schemas.openxmlformats.org/drawingml/2006/main">
  <p:cSld>
    <p:bg>
      <p:bgPr>
        <a:solidFill>
          <a:srgbClr val="FCF1E4"/>
        </a:solidFill>
      </p:bgPr>
    </p:bg>
    <p:spTree>
      <p:nvGrpSpPr>
        <p:cNvPr id="1" name=""/>
        <p:cNvGrpSpPr/>
        <p:nvPr/>
      </p:nvGrpSpPr>
      <p:grpSpPr>
        <a:xfrm>
          <a:off x="0" y="0"/>
          <a:ext cx="0" cy="0"/>
          <a:chOff x="0" y="0"/>
          <a:chExt cx="0" cy="0"/>
        </a:xfrm>
      </p:grpSpPr>
      <p:grpSp>
        <p:nvGrpSpPr>
          <p:cNvPr name="Group 2" id="2"/>
          <p:cNvGrpSpPr/>
          <p:nvPr/>
        </p:nvGrpSpPr>
        <p:grpSpPr>
          <a:xfrm rot="0">
            <a:off x="4703072" y="507147"/>
            <a:ext cx="8861890" cy="940750"/>
            <a:chOff x="0" y="0"/>
            <a:chExt cx="7953250" cy="844292"/>
          </a:xfrm>
        </p:grpSpPr>
        <p:sp>
          <p:nvSpPr>
            <p:cNvPr name="Freeform 3" id="3"/>
            <p:cNvSpPr/>
            <p:nvPr/>
          </p:nvSpPr>
          <p:spPr>
            <a:xfrm flipH="false" flipV="false" rot="0">
              <a:off x="0" y="0"/>
              <a:ext cx="7954521" cy="844292"/>
            </a:xfrm>
            <a:custGeom>
              <a:avLst/>
              <a:gdLst/>
              <a:ahLst/>
              <a:cxnLst/>
              <a:rect r="r" b="b" t="t" l="l"/>
              <a:pathLst>
                <a:path h="844292" w="7954521">
                  <a:moveTo>
                    <a:pt x="7400800" y="844292"/>
                  </a:moveTo>
                  <a:lnTo>
                    <a:pt x="553720" y="844292"/>
                  </a:lnTo>
                  <a:cubicBezTo>
                    <a:pt x="247650" y="844292"/>
                    <a:pt x="0" y="655234"/>
                    <a:pt x="0" y="422606"/>
                  </a:cubicBezTo>
                  <a:cubicBezTo>
                    <a:pt x="0" y="189010"/>
                    <a:pt x="247650" y="0"/>
                    <a:pt x="553720" y="0"/>
                  </a:cubicBezTo>
                  <a:lnTo>
                    <a:pt x="7400800" y="0"/>
                  </a:lnTo>
                  <a:cubicBezTo>
                    <a:pt x="7706871" y="0"/>
                    <a:pt x="7954521" y="189010"/>
                    <a:pt x="7954521" y="422606"/>
                  </a:cubicBezTo>
                  <a:cubicBezTo>
                    <a:pt x="7953250" y="655234"/>
                    <a:pt x="7705600" y="844292"/>
                    <a:pt x="7400800" y="844292"/>
                  </a:cubicBezTo>
                  <a:close/>
                </a:path>
              </a:pathLst>
            </a:custGeom>
            <a:solidFill>
              <a:srgbClr val="763C00"/>
            </a:solidFill>
          </p:spPr>
        </p:sp>
      </p:grpSp>
      <p:sp>
        <p:nvSpPr>
          <p:cNvPr name="TextBox 4" id="4"/>
          <p:cNvSpPr txBox="true"/>
          <p:nvPr/>
        </p:nvSpPr>
        <p:spPr>
          <a:xfrm rot="0">
            <a:off x="5173792" y="760035"/>
            <a:ext cx="7920451" cy="406400"/>
          </a:xfrm>
          <a:prstGeom prst="rect">
            <a:avLst/>
          </a:prstGeom>
        </p:spPr>
        <p:txBody>
          <a:bodyPr anchor="t" rtlCol="false" tIns="0" lIns="0" bIns="0" rIns="0">
            <a:spAutoFit/>
          </a:bodyPr>
          <a:lstStyle/>
          <a:p>
            <a:pPr algn="ctr">
              <a:lnSpc>
                <a:spcPts val="3250"/>
              </a:lnSpc>
            </a:pPr>
            <a:r>
              <a:rPr lang="en-US" b="true" sz="2500" spc="100">
                <a:solidFill>
                  <a:srgbClr val="FFFFFF"/>
                </a:solidFill>
                <a:latin typeface="Aileron Bold"/>
                <a:ea typeface="Aileron Bold"/>
                <a:cs typeface="Aileron Bold"/>
                <a:sym typeface="Aileron Bold"/>
              </a:rPr>
              <a:t>Plan d’analyse</a:t>
            </a:r>
          </a:p>
        </p:txBody>
      </p:sp>
      <p:grpSp>
        <p:nvGrpSpPr>
          <p:cNvPr name="Group 5" id="5"/>
          <p:cNvGrpSpPr/>
          <p:nvPr/>
        </p:nvGrpSpPr>
        <p:grpSpPr>
          <a:xfrm rot="0">
            <a:off x="2958891" y="3224061"/>
            <a:ext cx="12182880" cy="573666"/>
            <a:chOff x="0" y="0"/>
            <a:chExt cx="16243841" cy="764887"/>
          </a:xfrm>
        </p:grpSpPr>
        <p:sp>
          <p:nvSpPr>
            <p:cNvPr name="AutoShape 6" id="6"/>
            <p:cNvSpPr/>
            <p:nvPr/>
          </p:nvSpPr>
          <p:spPr>
            <a:xfrm rot="0">
              <a:off x="0" y="751771"/>
              <a:ext cx="16243841" cy="13116"/>
            </a:xfrm>
            <a:prstGeom prst="rect">
              <a:avLst/>
            </a:prstGeom>
            <a:solidFill>
              <a:srgbClr val="191919"/>
            </a:solidFill>
          </p:spPr>
        </p:sp>
        <p:sp>
          <p:nvSpPr>
            <p:cNvPr name="AutoShape 7" id="7"/>
            <p:cNvSpPr/>
            <p:nvPr/>
          </p:nvSpPr>
          <p:spPr>
            <a:xfrm rot="-5400000">
              <a:off x="7860720" y="363523"/>
              <a:ext cx="745213" cy="18168"/>
            </a:xfrm>
            <a:prstGeom prst="rect">
              <a:avLst/>
            </a:prstGeom>
            <a:solidFill>
              <a:srgbClr val="191919"/>
            </a:solidFill>
          </p:spPr>
        </p:sp>
      </p:grpSp>
      <p:grpSp>
        <p:nvGrpSpPr>
          <p:cNvPr name="Group 8" id="8"/>
          <p:cNvGrpSpPr/>
          <p:nvPr/>
        </p:nvGrpSpPr>
        <p:grpSpPr>
          <a:xfrm rot="0">
            <a:off x="1757895" y="1681144"/>
            <a:ext cx="1425689" cy="537078"/>
            <a:chOff x="0" y="0"/>
            <a:chExt cx="1900919" cy="716103"/>
          </a:xfrm>
        </p:grpSpPr>
        <p:grpSp>
          <p:nvGrpSpPr>
            <p:cNvPr name="Group 9" id="9"/>
            <p:cNvGrpSpPr/>
            <p:nvPr/>
          </p:nvGrpSpPr>
          <p:grpSpPr>
            <a:xfrm rot="0">
              <a:off x="0" y="0"/>
              <a:ext cx="1900919" cy="716103"/>
              <a:chOff x="0" y="0"/>
              <a:chExt cx="2904119" cy="1106170"/>
            </a:xfrm>
          </p:grpSpPr>
          <p:sp>
            <p:nvSpPr>
              <p:cNvPr name="Freeform 10" id="10"/>
              <p:cNvSpPr/>
              <p:nvPr/>
            </p:nvSpPr>
            <p:spPr>
              <a:xfrm flipH="false" flipV="false" rot="0">
                <a:off x="0" y="0"/>
                <a:ext cx="2905389" cy="1107440"/>
              </a:xfrm>
              <a:custGeom>
                <a:avLst/>
                <a:gdLst/>
                <a:ahLst/>
                <a:cxnLst/>
                <a:rect r="r" b="b" t="t" l="l"/>
                <a:pathLst>
                  <a:path h="1107440" w="2905389">
                    <a:moveTo>
                      <a:pt x="2351669" y="45720"/>
                    </a:moveTo>
                    <a:cubicBezTo>
                      <a:pt x="2631069" y="45720"/>
                      <a:pt x="2858399" y="273050"/>
                      <a:pt x="2858399" y="552450"/>
                    </a:cubicBezTo>
                    <a:cubicBezTo>
                      <a:pt x="2858399" y="831850"/>
                      <a:pt x="2631069" y="1059180"/>
                      <a:pt x="2351669" y="1059180"/>
                    </a:cubicBezTo>
                    <a:lnTo>
                      <a:pt x="553720" y="1059180"/>
                    </a:lnTo>
                    <a:cubicBezTo>
                      <a:pt x="274320" y="1059180"/>
                      <a:pt x="46990" y="831850"/>
                      <a:pt x="46990" y="552450"/>
                    </a:cubicBezTo>
                    <a:cubicBezTo>
                      <a:pt x="46990" y="273050"/>
                      <a:pt x="274320" y="45720"/>
                      <a:pt x="553720" y="45720"/>
                    </a:cubicBezTo>
                    <a:lnTo>
                      <a:pt x="2351669" y="45720"/>
                    </a:lnTo>
                    <a:moveTo>
                      <a:pt x="2351669" y="0"/>
                    </a:moveTo>
                    <a:lnTo>
                      <a:pt x="553720" y="0"/>
                    </a:lnTo>
                    <a:cubicBezTo>
                      <a:pt x="247650" y="0"/>
                      <a:pt x="0" y="247650"/>
                      <a:pt x="0" y="553720"/>
                    </a:cubicBezTo>
                    <a:cubicBezTo>
                      <a:pt x="0" y="859790"/>
                      <a:pt x="247650" y="1107440"/>
                      <a:pt x="553720" y="1107440"/>
                    </a:cubicBezTo>
                    <a:lnTo>
                      <a:pt x="2351669" y="1107440"/>
                    </a:lnTo>
                    <a:cubicBezTo>
                      <a:pt x="2657739" y="1107440"/>
                      <a:pt x="2905389" y="859790"/>
                      <a:pt x="2905389" y="553720"/>
                    </a:cubicBezTo>
                    <a:cubicBezTo>
                      <a:pt x="2904119" y="247650"/>
                      <a:pt x="2656469" y="0"/>
                      <a:pt x="2351669" y="0"/>
                    </a:cubicBezTo>
                    <a:close/>
                  </a:path>
                </a:pathLst>
              </a:custGeom>
              <a:solidFill>
                <a:srgbClr val="763C00"/>
              </a:solidFill>
            </p:spPr>
          </p:sp>
        </p:grpSp>
        <p:sp>
          <p:nvSpPr>
            <p:cNvPr name="TextBox 11" id="11"/>
            <p:cNvSpPr txBox="true"/>
            <p:nvPr/>
          </p:nvSpPr>
          <p:spPr>
            <a:xfrm rot="0">
              <a:off x="238839" y="140476"/>
              <a:ext cx="1423240" cy="397051"/>
            </a:xfrm>
            <a:prstGeom prst="rect">
              <a:avLst/>
            </a:prstGeom>
          </p:spPr>
          <p:txBody>
            <a:bodyPr anchor="t" rtlCol="false" tIns="0" lIns="0" bIns="0" rIns="0">
              <a:spAutoFit/>
            </a:bodyPr>
            <a:lstStyle/>
            <a:p>
              <a:pPr algn="ctr">
                <a:lnSpc>
                  <a:spcPts val="2519"/>
                </a:lnSpc>
              </a:pPr>
              <a:r>
                <a:rPr lang="en-US" b="true" sz="1799" spc="89">
                  <a:solidFill>
                    <a:srgbClr val="763C00"/>
                  </a:solidFill>
                  <a:latin typeface="Aileron Bold"/>
                  <a:ea typeface="Aileron Bold"/>
                  <a:cs typeface="Aileron Bold"/>
                  <a:sym typeface="Aileron Bold"/>
                </a:rPr>
                <a:t>AXE 1</a:t>
              </a:r>
            </a:p>
          </p:txBody>
        </p:sp>
      </p:grpSp>
      <p:sp>
        <p:nvSpPr>
          <p:cNvPr name="TextBox 12" id="12"/>
          <p:cNvSpPr txBox="true"/>
          <p:nvPr/>
        </p:nvSpPr>
        <p:spPr>
          <a:xfrm rot="0">
            <a:off x="300215" y="4046879"/>
            <a:ext cx="3777885" cy="405765"/>
          </a:xfrm>
          <a:prstGeom prst="rect">
            <a:avLst/>
          </a:prstGeom>
        </p:spPr>
        <p:txBody>
          <a:bodyPr anchor="t" rtlCol="false" tIns="0" lIns="0" bIns="0" rIns="0">
            <a:spAutoFit/>
          </a:bodyPr>
          <a:lstStyle/>
          <a:p>
            <a:pPr algn="ctr">
              <a:lnSpc>
                <a:spcPts val="3359"/>
              </a:lnSpc>
            </a:pPr>
            <a:r>
              <a:rPr lang="en-US" b="true" sz="2399" spc="119">
                <a:solidFill>
                  <a:srgbClr val="191919"/>
                </a:solidFill>
                <a:latin typeface="Aileron Bold"/>
                <a:ea typeface="Aileron Bold"/>
                <a:cs typeface="Aileron Bold"/>
                <a:sym typeface="Aileron Bold"/>
              </a:rPr>
              <a:t>Profil des utilisateurs</a:t>
            </a:r>
          </a:p>
        </p:txBody>
      </p:sp>
      <p:grpSp>
        <p:nvGrpSpPr>
          <p:cNvPr name="Group 13" id="13"/>
          <p:cNvGrpSpPr/>
          <p:nvPr/>
        </p:nvGrpSpPr>
        <p:grpSpPr>
          <a:xfrm rot="0">
            <a:off x="15104416" y="1681144"/>
            <a:ext cx="1425689" cy="537078"/>
            <a:chOff x="0" y="0"/>
            <a:chExt cx="1900919" cy="716103"/>
          </a:xfrm>
        </p:grpSpPr>
        <p:grpSp>
          <p:nvGrpSpPr>
            <p:cNvPr name="Group 14" id="14"/>
            <p:cNvGrpSpPr/>
            <p:nvPr/>
          </p:nvGrpSpPr>
          <p:grpSpPr>
            <a:xfrm rot="0">
              <a:off x="0" y="0"/>
              <a:ext cx="1900919" cy="716103"/>
              <a:chOff x="0" y="0"/>
              <a:chExt cx="2904119" cy="1106170"/>
            </a:xfrm>
          </p:grpSpPr>
          <p:sp>
            <p:nvSpPr>
              <p:cNvPr name="Freeform 15" id="15"/>
              <p:cNvSpPr/>
              <p:nvPr/>
            </p:nvSpPr>
            <p:spPr>
              <a:xfrm flipH="false" flipV="false" rot="0">
                <a:off x="0" y="0"/>
                <a:ext cx="2905389" cy="1107440"/>
              </a:xfrm>
              <a:custGeom>
                <a:avLst/>
                <a:gdLst/>
                <a:ahLst/>
                <a:cxnLst/>
                <a:rect r="r" b="b" t="t" l="l"/>
                <a:pathLst>
                  <a:path h="1107440" w="2905389">
                    <a:moveTo>
                      <a:pt x="2351669" y="45720"/>
                    </a:moveTo>
                    <a:cubicBezTo>
                      <a:pt x="2631069" y="45720"/>
                      <a:pt x="2858399" y="273050"/>
                      <a:pt x="2858399" y="552450"/>
                    </a:cubicBezTo>
                    <a:cubicBezTo>
                      <a:pt x="2858399" y="831850"/>
                      <a:pt x="2631069" y="1059180"/>
                      <a:pt x="2351669" y="1059180"/>
                    </a:cubicBezTo>
                    <a:lnTo>
                      <a:pt x="553720" y="1059180"/>
                    </a:lnTo>
                    <a:cubicBezTo>
                      <a:pt x="274320" y="1059180"/>
                      <a:pt x="46990" y="831850"/>
                      <a:pt x="46990" y="552450"/>
                    </a:cubicBezTo>
                    <a:cubicBezTo>
                      <a:pt x="46990" y="273050"/>
                      <a:pt x="274320" y="45720"/>
                      <a:pt x="553720" y="45720"/>
                    </a:cubicBezTo>
                    <a:lnTo>
                      <a:pt x="2351669" y="45720"/>
                    </a:lnTo>
                    <a:moveTo>
                      <a:pt x="2351669" y="0"/>
                    </a:moveTo>
                    <a:lnTo>
                      <a:pt x="553720" y="0"/>
                    </a:lnTo>
                    <a:cubicBezTo>
                      <a:pt x="247650" y="0"/>
                      <a:pt x="0" y="247650"/>
                      <a:pt x="0" y="553720"/>
                    </a:cubicBezTo>
                    <a:cubicBezTo>
                      <a:pt x="0" y="859790"/>
                      <a:pt x="247650" y="1107440"/>
                      <a:pt x="553720" y="1107440"/>
                    </a:cubicBezTo>
                    <a:lnTo>
                      <a:pt x="2351669" y="1107440"/>
                    </a:lnTo>
                    <a:cubicBezTo>
                      <a:pt x="2657739" y="1107440"/>
                      <a:pt x="2905389" y="859790"/>
                      <a:pt x="2905389" y="553720"/>
                    </a:cubicBezTo>
                    <a:cubicBezTo>
                      <a:pt x="2904119" y="247650"/>
                      <a:pt x="2656469" y="0"/>
                      <a:pt x="2351669" y="0"/>
                    </a:cubicBezTo>
                    <a:close/>
                  </a:path>
                </a:pathLst>
              </a:custGeom>
              <a:solidFill>
                <a:srgbClr val="2C92D5"/>
              </a:solidFill>
            </p:spPr>
          </p:sp>
        </p:grpSp>
        <p:sp>
          <p:nvSpPr>
            <p:cNvPr name="TextBox 16" id="16"/>
            <p:cNvSpPr txBox="true"/>
            <p:nvPr/>
          </p:nvSpPr>
          <p:spPr>
            <a:xfrm rot="0">
              <a:off x="238839" y="140476"/>
              <a:ext cx="1423240" cy="397051"/>
            </a:xfrm>
            <a:prstGeom prst="rect">
              <a:avLst/>
            </a:prstGeom>
          </p:spPr>
          <p:txBody>
            <a:bodyPr anchor="t" rtlCol="false" tIns="0" lIns="0" bIns="0" rIns="0">
              <a:spAutoFit/>
            </a:bodyPr>
            <a:lstStyle/>
            <a:p>
              <a:pPr algn="ctr">
                <a:lnSpc>
                  <a:spcPts val="2519"/>
                </a:lnSpc>
              </a:pPr>
              <a:r>
                <a:rPr lang="en-US" b="true" sz="1799" spc="89">
                  <a:solidFill>
                    <a:srgbClr val="763C00"/>
                  </a:solidFill>
                  <a:latin typeface="Aileron Bold"/>
                  <a:ea typeface="Aileron Bold"/>
                  <a:cs typeface="Aileron Bold"/>
                  <a:sym typeface="Aileron Bold"/>
                </a:rPr>
                <a:t>AXE 3</a:t>
              </a:r>
            </a:p>
          </p:txBody>
        </p:sp>
      </p:grpSp>
      <p:grpSp>
        <p:nvGrpSpPr>
          <p:cNvPr name="Group 17" id="17"/>
          <p:cNvGrpSpPr/>
          <p:nvPr/>
        </p:nvGrpSpPr>
        <p:grpSpPr>
          <a:xfrm rot="0">
            <a:off x="1476313" y="3558035"/>
            <a:ext cx="1425689" cy="536469"/>
            <a:chOff x="0" y="0"/>
            <a:chExt cx="1900919" cy="715292"/>
          </a:xfrm>
        </p:grpSpPr>
        <p:grpSp>
          <p:nvGrpSpPr>
            <p:cNvPr name="Group 18" id="18"/>
            <p:cNvGrpSpPr/>
            <p:nvPr/>
          </p:nvGrpSpPr>
          <p:grpSpPr>
            <a:xfrm rot="0">
              <a:off x="0" y="0"/>
              <a:ext cx="1900919" cy="715292"/>
              <a:chOff x="0" y="0"/>
              <a:chExt cx="2904119" cy="1106170"/>
            </a:xfrm>
          </p:grpSpPr>
          <p:sp>
            <p:nvSpPr>
              <p:cNvPr name="Freeform 19" id="19"/>
              <p:cNvSpPr/>
              <p:nvPr/>
            </p:nvSpPr>
            <p:spPr>
              <a:xfrm flipH="false" flipV="false" rot="0">
                <a:off x="0" y="0"/>
                <a:ext cx="2905389" cy="1106187"/>
              </a:xfrm>
              <a:custGeom>
                <a:avLst/>
                <a:gdLst/>
                <a:ahLst/>
                <a:cxnLst/>
                <a:rect r="r" b="b" t="t" l="l"/>
                <a:pathLst>
                  <a:path h="1106187" w="2905389">
                    <a:moveTo>
                      <a:pt x="2351669" y="45668"/>
                    </a:moveTo>
                    <a:cubicBezTo>
                      <a:pt x="2631069" y="45668"/>
                      <a:pt x="2858399" y="272741"/>
                      <a:pt x="2858399" y="551824"/>
                    </a:cubicBezTo>
                    <a:cubicBezTo>
                      <a:pt x="2858399" y="830908"/>
                      <a:pt x="2631069" y="1057980"/>
                      <a:pt x="2351669" y="1057980"/>
                    </a:cubicBezTo>
                    <a:lnTo>
                      <a:pt x="553720" y="1057980"/>
                    </a:lnTo>
                    <a:cubicBezTo>
                      <a:pt x="274320" y="1057980"/>
                      <a:pt x="46990" y="830908"/>
                      <a:pt x="46990" y="551824"/>
                    </a:cubicBezTo>
                    <a:cubicBezTo>
                      <a:pt x="46990" y="272741"/>
                      <a:pt x="274320" y="45668"/>
                      <a:pt x="553720" y="45668"/>
                    </a:cubicBezTo>
                    <a:lnTo>
                      <a:pt x="2351669" y="45668"/>
                    </a:lnTo>
                    <a:moveTo>
                      <a:pt x="2351669" y="0"/>
                    </a:moveTo>
                    <a:lnTo>
                      <a:pt x="553720" y="0"/>
                    </a:lnTo>
                    <a:cubicBezTo>
                      <a:pt x="247650" y="0"/>
                      <a:pt x="0" y="247369"/>
                      <a:pt x="0" y="553093"/>
                    </a:cubicBezTo>
                    <a:cubicBezTo>
                      <a:pt x="0" y="858816"/>
                      <a:pt x="247650" y="1106187"/>
                      <a:pt x="553720" y="1106187"/>
                    </a:cubicBezTo>
                    <a:lnTo>
                      <a:pt x="2351669" y="1106187"/>
                    </a:lnTo>
                    <a:cubicBezTo>
                      <a:pt x="2657739" y="1106187"/>
                      <a:pt x="2905389" y="858816"/>
                      <a:pt x="2905389" y="553093"/>
                    </a:cubicBezTo>
                    <a:cubicBezTo>
                      <a:pt x="2904119" y="247369"/>
                      <a:pt x="2656469" y="0"/>
                      <a:pt x="2351669" y="0"/>
                    </a:cubicBezTo>
                    <a:close/>
                  </a:path>
                </a:pathLst>
              </a:custGeom>
              <a:solidFill>
                <a:srgbClr val="2C92D5"/>
              </a:solidFill>
            </p:spPr>
          </p:sp>
        </p:grpSp>
        <p:sp>
          <p:nvSpPr>
            <p:cNvPr name="TextBox 20" id="20"/>
            <p:cNvSpPr txBox="true"/>
            <p:nvPr/>
          </p:nvSpPr>
          <p:spPr>
            <a:xfrm rot="0">
              <a:off x="238839" y="140476"/>
              <a:ext cx="1423240" cy="396240"/>
            </a:xfrm>
            <a:prstGeom prst="rect">
              <a:avLst/>
            </a:prstGeom>
          </p:spPr>
          <p:txBody>
            <a:bodyPr anchor="t" rtlCol="false" tIns="0" lIns="0" bIns="0" rIns="0">
              <a:spAutoFit/>
            </a:bodyPr>
            <a:lstStyle/>
            <a:p>
              <a:pPr algn="ctr">
                <a:lnSpc>
                  <a:spcPts val="2520"/>
                </a:lnSpc>
              </a:pPr>
              <a:r>
                <a:rPr lang="en-US" b="true" sz="1800" spc="89">
                  <a:solidFill>
                    <a:srgbClr val="763C00"/>
                  </a:solidFill>
                  <a:latin typeface="Aileron Bold"/>
                  <a:ea typeface="Aileron Bold"/>
                  <a:cs typeface="Aileron Bold"/>
                  <a:sym typeface="Aileron Bold"/>
                </a:rPr>
                <a:t>Thème 1</a:t>
              </a:r>
            </a:p>
          </p:txBody>
        </p:sp>
      </p:grpSp>
      <p:grpSp>
        <p:nvGrpSpPr>
          <p:cNvPr name="Group 21" id="21"/>
          <p:cNvGrpSpPr/>
          <p:nvPr/>
        </p:nvGrpSpPr>
        <p:grpSpPr>
          <a:xfrm rot="0">
            <a:off x="8429288" y="1681144"/>
            <a:ext cx="1425689" cy="537078"/>
            <a:chOff x="0" y="0"/>
            <a:chExt cx="1900919" cy="716103"/>
          </a:xfrm>
        </p:grpSpPr>
        <p:grpSp>
          <p:nvGrpSpPr>
            <p:cNvPr name="Group 22" id="22"/>
            <p:cNvGrpSpPr/>
            <p:nvPr/>
          </p:nvGrpSpPr>
          <p:grpSpPr>
            <a:xfrm rot="0">
              <a:off x="0" y="0"/>
              <a:ext cx="1900919" cy="716103"/>
              <a:chOff x="0" y="0"/>
              <a:chExt cx="2904119" cy="1106170"/>
            </a:xfrm>
          </p:grpSpPr>
          <p:sp>
            <p:nvSpPr>
              <p:cNvPr name="Freeform 23" id="23"/>
              <p:cNvSpPr/>
              <p:nvPr/>
            </p:nvSpPr>
            <p:spPr>
              <a:xfrm flipH="false" flipV="false" rot="0">
                <a:off x="0" y="0"/>
                <a:ext cx="2905389" cy="1107440"/>
              </a:xfrm>
              <a:custGeom>
                <a:avLst/>
                <a:gdLst/>
                <a:ahLst/>
                <a:cxnLst/>
                <a:rect r="r" b="b" t="t" l="l"/>
                <a:pathLst>
                  <a:path h="1107440" w="2905389">
                    <a:moveTo>
                      <a:pt x="2351669" y="45720"/>
                    </a:moveTo>
                    <a:cubicBezTo>
                      <a:pt x="2631069" y="45720"/>
                      <a:pt x="2858399" y="273050"/>
                      <a:pt x="2858399" y="552450"/>
                    </a:cubicBezTo>
                    <a:cubicBezTo>
                      <a:pt x="2858399" y="831850"/>
                      <a:pt x="2631069" y="1059180"/>
                      <a:pt x="2351669" y="1059180"/>
                    </a:cubicBezTo>
                    <a:lnTo>
                      <a:pt x="553720" y="1059180"/>
                    </a:lnTo>
                    <a:cubicBezTo>
                      <a:pt x="274320" y="1059180"/>
                      <a:pt x="46990" y="831850"/>
                      <a:pt x="46990" y="552450"/>
                    </a:cubicBezTo>
                    <a:cubicBezTo>
                      <a:pt x="46990" y="273050"/>
                      <a:pt x="274320" y="45720"/>
                      <a:pt x="553720" y="45720"/>
                    </a:cubicBezTo>
                    <a:lnTo>
                      <a:pt x="2351669" y="45720"/>
                    </a:lnTo>
                    <a:moveTo>
                      <a:pt x="2351669" y="0"/>
                    </a:moveTo>
                    <a:lnTo>
                      <a:pt x="553720" y="0"/>
                    </a:lnTo>
                    <a:cubicBezTo>
                      <a:pt x="247650" y="0"/>
                      <a:pt x="0" y="247650"/>
                      <a:pt x="0" y="553720"/>
                    </a:cubicBezTo>
                    <a:cubicBezTo>
                      <a:pt x="0" y="859790"/>
                      <a:pt x="247650" y="1107440"/>
                      <a:pt x="553720" y="1107440"/>
                    </a:cubicBezTo>
                    <a:lnTo>
                      <a:pt x="2351669" y="1107440"/>
                    </a:lnTo>
                    <a:cubicBezTo>
                      <a:pt x="2657739" y="1107440"/>
                      <a:pt x="2905389" y="859790"/>
                      <a:pt x="2905389" y="553720"/>
                    </a:cubicBezTo>
                    <a:cubicBezTo>
                      <a:pt x="2904119" y="247650"/>
                      <a:pt x="2656469" y="0"/>
                      <a:pt x="2351669" y="0"/>
                    </a:cubicBezTo>
                    <a:close/>
                  </a:path>
                </a:pathLst>
              </a:custGeom>
              <a:solidFill>
                <a:srgbClr val="2C92D5"/>
              </a:solidFill>
            </p:spPr>
          </p:sp>
        </p:grpSp>
        <p:sp>
          <p:nvSpPr>
            <p:cNvPr name="TextBox 24" id="24"/>
            <p:cNvSpPr txBox="true"/>
            <p:nvPr/>
          </p:nvSpPr>
          <p:spPr>
            <a:xfrm rot="0">
              <a:off x="238839" y="140476"/>
              <a:ext cx="1423240" cy="397051"/>
            </a:xfrm>
            <a:prstGeom prst="rect">
              <a:avLst/>
            </a:prstGeom>
          </p:spPr>
          <p:txBody>
            <a:bodyPr anchor="t" rtlCol="false" tIns="0" lIns="0" bIns="0" rIns="0">
              <a:spAutoFit/>
            </a:bodyPr>
            <a:lstStyle/>
            <a:p>
              <a:pPr algn="ctr">
                <a:lnSpc>
                  <a:spcPts val="2519"/>
                </a:lnSpc>
              </a:pPr>
              <a:r>
                <a:rPr lang="en-US" b="true" sz="1799" spc="89">
                  <a:solidFill>
                    <a:srgbClr val="763C00"/>
                  </a:solidFill>
                  <a:latin typeface="Aileron Bold"/>
                  <a:ea typeface="Aileron Bold"/>
                  <a:cs typeface="Aileron Bold"/>
                  <a:sym typeface="Aileron Bold"/>
                </a:rPr>
                <a:t>AXE 2</a:t>
              </a:r>
            </a:p>
          </p:txBody>
        </p:sp>
      </p:grpSp>
      <p:grpSp>
        <p:nvGrpSpPr>
          <p:cNvPr name="Group 25" id="25"/>
          <p:cNvGrpSpPr/>
          <p:nvPr/>
        </p:nvGrpSpPr>
        <p:grpSpPr>
          <a:xfrm rot="0">
            <a:off x="4522049" y="1906773"/>
            <a:ext cx="3598073" cy="85819"/>
            <a:chOff x="0" y="0"/>
            <a:chExt cx="21298512" cy="508000"/>
          </a:xfrm>
        </p:grpSpPr>
        <p:sp>
          <p:nvSpPr>
            <p:cNvPr name="Freeform 26" id="26"/>
            <p:cNvSpPr/>
            <p:nvPr/>
          </p:nvSpPr>
          <p:spPr>
            <a:xfrm flipH="false" flipV="false" rot="0">
              <a:off x="0" y="215900"/>
              <a:ext cx="21002602" cy="76200"/>
            </a:xfrm>
            <a:custGeom>
              <a:avLst/>
              <a:gdLst/>
              <a:ahLst/>
              <a:cxnLst/>
              <a:rect r="r" b="b" t="t" l="l"/>
              <a:pathLst>
                <a:path h="76200" w="21002602">
                  <a:moveTo>
                    <a:pt x="0" y="0"/>
                  </a:moveTo>
                  <a:lnTo>
                    <a:pt x="21002602" y="0"/>
                  </a:lnTo>
                  <a:lnTo>
                    <a:pt x="21002602" y="76200"/>
                  </a:lnTo>
                  <a:lnTo>
                    <a:pt x="0" y="76200"/>
                  </a:lnTo>
                  <a:close/>
                </a:path>
              </a:pathLst>
            </a:custGeom>
            <a:solidFill>
              <a:srgbClr val="191919"/>
            </a:solidFill>
          </p:spPr>
        </p:sp>
        <p:sp>
          <p:nvSpPr>
            <p:cNvPr name="Freeform 27" id="27"/>
            <p:cNvSpPr/>
            <p:nvPr/>
          </p:nvSpPr>
          <p:spPr>
            <a:xfrm flipH="false" flipV="false" rot="0">
              <a:off x="20923862" y="1270"/>
              <a:ext cx="374650" cy="505460"/>
            </a:xfrm>
            <a:custGeom>
              <a:avLst/>
              <a:gdLst/>
              <a:ahLst/>
              <a:cxnLst/>
              <a:rect r="r" b="b" t="t" l="l"/>
              <a:pathLst>
                <a:path h="505460" w="374650">
                  <a:moveTo>
                    <a:pt x="0" y="505460"/>
                  </a:moveTo>
                  <a:lnTo>
                    <a:pt x="0" y="0"/>
                  </a:lnTo>
                  <a:lnTo>
                    <a:pt x="374650" y="252730"/>
                  </a:lnTo>
                  <a:close/>
                </a:path>
              </a:pathLst>
            </a:custGeom>
            <a:solidFill>
              <a:srgbClr val="191919"/>
            </a:solidFill>
          </p:spPr>
        </p:sp>
      </p:grpSp>
      <p:grpSp>
        <p:nvGrpSpPr>
          <p:cNvPr name="Group 28" id="28"/>
          <p:cNvGrpSpPr/>
          <p:nvPr/>
        </p:nvGrpSpPr>
        <p:grpSpPr>
          <a:xfrm rot="0">
            <a:off x="9854977" y="1906773"/>
            <a:ext cx="4190656" cy="85819"/>
            <a:chOff x="0" y="0"/>
            <a:chExt cx="24806262" cy="508000"/>
          </a:xfrm>
        </p:grpSpPr>
        <p:sp>
          <p:nvSpPr>
            <p:cNvPr name="Freeform 29" id="29"/>
            <p:cNvSpPr/>
            <p:nvPr/>
          </p:nvSpPr>
          <p:spPr>
            <a:xfrm flipH="false" flipV="false" rot="0">
              <a:off x="0" y="215900"/>
              <a:ext cx="24510352" cy="76200"/>
            </a:xfrm>
            <a:custGeom>
              <a:avLst/>
              <a:gdLst/>
              <a:ahLst/>
              <a:cxnLst/>
              <a:rect r="r" b="b" t="t" l="l"/>
              <a:pathLst>
                <a:path h="76200" w="24510352">
                  <a:moveTo>
                    <a:pt x="0" y="0"/>
                  </a:moveTo>
                  <a:lnTo>
                    <a:pt x="24510352" y="0"/>
                  </a:lnTo>
                  <a:lnTo>
                    <a:pt x="24510352" y="76200"/>
                  </a:lnTo>
                  <a:lnTo>
                    <a:pt x="0" y="76200"/>
                  </a:lnTo>
                  <a:close/>
                </a:path>
              </a:pathLst>
            </a:custGeom>
            <a:solidFill>
              <a:srgbClr val="191919"/>
            </a:solidFill>
          </p:spPr>
        </p:sp>
        <p:sp>
          <p:nvSpPr>
            <p:cNvPr name="Freeform 30" id="30"/>
            <p:cNvSpPr/>
            <p:nvPr/>
          </p:nvSpPr>
          <p:spPr>
            <a:xfrm flipH="false" flipV="false" rot="0">
              <a:off x="24431613" y="1270"/>
              <a:ext cx="374650" cy="505460"/>
            </a:xfrm>
            <a:custGeom>
              <a:avLst/>
              <a:gdLst/>
              <a:ahLst/>
              <a:cxnLst/>
              <a:rect r="r" b="b" t="t" l="l"/>
              <a:pathLst>
                <a:path h="505460" w="374650">
                  <a:moveTo>
                    <a:pt x="0" y="505460"/>
                  </a:moveTo>
                  <a:lnTo>
                    <a:pt x="0" y="0"/>
                  </a:lnTo>
                  <a:lnTo>
                    <a:pt x="374650" y="252730"/>
                  </a:lnTo>
                  <a:close/>
                </a:path>
              </a:pathLst>
            </a:custGeom>
            <a:solidFill>
              <a:srgbClr val="191919"/>
            </a:solidFill>
          </p:spPr>
        </p:sp>
      </p:grpSp>
      <p:grpSp>
        <p:nvGrpSpPr>
          <p:cNvPr name="Group 31" id="31"/>
          <p:cNvGrpSpPr/>
          <p:nvPr/>
        </p:nvGrpSpPr>
        <p:grpSpPr>
          <a:xfrm rot="5400000">
            <a:off x="1803694" y="4758036"/>
            <a:ext cx="623521" cy="147407"/>
            <a:chOff x="0" y="0"/>
            <a:chExt cx="3690885" cy="508000"/>
          </a:xfrm>
        </p:grpSpPr>
        <p:sp>
          <p:nvSpPr>
            <p:cNvPr name="Freeform 32" id="32"/>
            <p:cNvSpPr/>
            <p:nvPr/>
          </p:nvSpPr>
          <p:spPr>
            <a:xfrm flipH="false" flipV="false" rot="0">
              <a:off x="0" y="272118"/>
              <a:ext cx="3394975" cy="96042"/>
            </a:xfrm>
            <a:custGeom>
              <a:avLst/>
              <a:gdLst/>
              <a:ahLst/>
              <a:cxnLst/>
              <a:rect r="r" b="b" t="t" l="l"/>
              <a:pathLst>
                <a:path h="96042" w="3394975">
                  <a:moveTo>
                    <a:pt x="0" y="0"/>
                  </a:moveTo>
                  <a:lnTo>
                    <a:pt x="3394975" y="0"/>
                  </a:lnTo>
                  <a:lnTo>
                    <a:pt x="3394975" y="96042"/>
                  </a:lnTo>
                  <a:lnTo>
                    <a:pt x="0" y="96042"/>
                  </a:lnTo>
                  <a:close/>
                </a:path>
              </a:pathLst>
            </a:custGeom>
            <a:solidFill>
              <a:srgbClr val="191919"/>
            </a:solidFill>
          </p:spPr>
        </p:sp>
        <p:sp>
          <p:nvSpPr>
            <p:cNvPr name="Freeform 33" id="33"/>
            <p:cNvSpPr/>
            <p:nvPr/>
          </p:nvSpPr>
          <p:spPr>
            <a:xfrm flipH="false" flipV="false" rot="0">
              <a:off x="3316235" y="1601"/>
              <a:ext cx="374650" cy="637077"/>
            </a:xfrm>
            <a:custGeom>
              <a:avLst/>
              <a:gdLst/>
              <a:ahLst/>
              <a:cxnLst/>
              <a:rect r="r" b="b" t="t" l="l"/>
              <a:pathLst>
                <a:path h="637077" w="374650">
                  <a:moveTo>
                    <a:pt x="0" y="637077"/>
                  </a:moveTo>
                  <a:lnTo>
                    <a:pt x="0" y="0"/>
                  </a:lnTo>
                  <a:lnTo>
                    <a:pt x="374650" y="318538"/>
                  </a:lnTo>
                  <a:close/>
                </a:path>
              </a:pathLst>
            </a:custGeom>
            <a:solidFill>
              <a:srgbClr val="191919"/>
            </a:solidFill>
          </p:spPr>
        </p:sp>
      </p:grpSp>
      <p:sp>
        <p:nvSpPr>
          <p:cNvPr name="TextBox 34" id="34"/>
          <p:cNvSpPr txBox="true"/>
          <p:nvPr/>
        </p:nvSpPr>
        <p:spPr>
          <a:xfrm rot="0">
            <a:off x="14689548" y="2140732"/>
            <a:ext cx="2647029" cy="824865"/>
          </a:xfrm>
          <a:prstGeom prst="rect">
            <a:avLst/>
          </a:prstGeom>
        </p:spPr>
        <p:txBody>
          <a:bodyPr anchor="t" rtlCol="false" tIns="0" lIns="0" bIns="0" rIns="0">
            <a:spAutoFit/>
          </a:bodyPr>
          <a:lstStyle/>
          <a:p>
            <a:pPr algn="ctr">
              <a:lnSpc>
                <a:spcPts val="3359"/>
              </a:lnSpc>
            </a:pPr>
            <a:r>
              <a:rPr lang="en-US" b="true" sz="2399" spc="119">
                <a:solidFill>
                  <a:srgbClr val="191919"/>
                </a:solidFill>
                <a:latin typeface="Aileron Bold"/>
                <a:ea typeface="Aileron Bold"/>
                <a:cs typeface="Aileron Bold"/>
                <a:sym typeface="Aileron Bold"/>
              </a:rPr>
              <a:t>Perception et obstacles</a:t>
            </a:r>
          </a:p>
        </p:txBody>
      </p:sp>
      <p:sp>
        <p:nvSpPr>
          <p:cNvPr name="TextBox 35" id="35"/>
          <p:cNvSpPr txBox="true"/>
          <p:nvPr/>
        </p:nvSpPr>
        <p:spPr>
          <a:xfrm rot="0">
            <a:off x="764086" y="2140732"/>
            <a:ext cx="3804909" cy="824865"/>
          </a:xfrm>
          <a:prstGeom prst="rect">
            <a:avLst/>
          </a:prstGeom>
        </p:spPr>
        <p:txBody>
          <a:bodyPr anchor="t" rtlCol="false" tIns="0" lIns="0" bIns="0" rIns="0">
            <a:spAutoFit/>
          </a:bodyPr>
          <a:lstStyle/>
          <a:p>
            <a:pPr algn="ctr">
              <a:lnSpc>
                <a:spcPts val="3359"/>
              </a:lnSpc>
            </a:pPr>
            <a:r>
              <a:rPr lang="en-US" b="true" sz="2399" spc="119">
                <a:solidFill>
                  <a:srgbClr val="191919"/>
                </a:solidFill>
                <a:latin typeface="Aileron Bold"/>
                <a:ea typeface="Aileron Bold"/>
                <a:cs typeface="Aileron Bold"/>
                <a:sym typeface="Aileron Bold"/>
              </a:rPr>
              <a:t>Connaissance des services bancaires</a:t>
            </a:r>
          </a:p>
        </p:txBody>
      </p:sp>
      <p:sp>
        <p:nvSpPr>
          <p:cNvPr name="TextBox 36" id="36"/>
          <p:cNvSpPr txBox="true"/>
          <p:nvPr/>
        </p:nvSpPr>
        <p:spPr>
          <a:xfrm rot="0">
            <a:off x="7295284" y="2170596"/>
            <a:ext cx="3804909" cy="824865"/>
          </a:xfrm>
          <a:prstGeom prst="rect">
            <a:avLst/>
          </a:prstGeom>
        </p:spPr>
        <p:txBody>
          <a:bodyPr anchor="t" rtlCol="false" tIns="0" lIns="0" bIns="0" rIns="0">
            <a:spAutoFit/>
          </a:bodyPr>
          <a:lstStyle/>
          <a:p>
            <a:pPr algn="ctr">
              <a:lnSpc>
                <a:spcPts val="3359"/>
              </a:lnSpc>
            </a:pPr>
            <a:r>
              <a:rPr lang="en-US" b="true" sz="2399" spc="119">
                <a:solidFill>
                  <a:srgbClr val="191919"/>
                </a:solidFill>
                <a:latin typeface="Aileron Bold"/>
                <a:ea typeface="Aileron Bold"/>
                <a:cs typeface="Aileron Bold"/>
                <a:sym typeface="Aileron Bold"/>
              </a:rPr>
              <a:t>Utilisation des services bancaires</a:t>
            </a:r>
          </a:p>
        </p:txBody>
      </p:sp>
      <p:grpSp>
        <p:nvGrpSpPr>
          <p:cNvPr name="Group 37" id="37"/>
          <p:cNvGrpSpPr/>
          <p:nvPr/>
        </p:nvGrpSpPr>
        <p:grpSpPr>
          <a:xfrm rot="0">
            <a:off x="15178119" y="3558035"/>
            <a:ext cx="1425689" cy="536469"/>
            <a:chOff x="0" y="0"/>
            <a:chExt cx="1900919" cy="715292"/>
          </a:xfrm>
        </p:grpSpPr>
        <p:grpSp>
          <p:nvGrpSpPr>
            <p:cNvPr name="Group 38" id="38"/>
            <p:cNvGrpSpPr/>
            <p:nvPr/>
          </p:nvGrpSpPr>
          <p:grpSpPr>
            <a:xfrm rot="0">
              <a:off x="0" y="0"/>
              <a:ext cx="1900919" cy="715292"/>
              <a:chOff x="0" y="0"/>
              <a:chExt cx="2904119" cy="1106170"/>
            </a:xfrm>
          </p:grpSpPr>
          <p:sp>
            <p:nvSpPr>
              <p:cNvPr name="Freeform 39" id="39"/>
              <p:cNvSpPr/>
              <p:nvPr/>
            </p:nvSpPr>
            <p:spPr>
              <a:xfrm flipH="false" flipV="false" rot="0">
                <a:off x="0" y="0"/>
                <a:ext cx="2905389" cy="1106187"/>
              </a:xfrm>
              <a:custGeom>
                <a:avLst/>
                <a:gdLst/>
                <a:ahLst/>
                <a:cxnLst/>
                <a:rect r="r" b="b" t="t" l="l"/>
                <a:pathLst>
                  <a:path h="1106187" w="2905389">
                    <a:moveTo>
                      <a:pt x="2351669" y="45668"/>
                    </a:moveTo>
                    <a:cubicBezTo>
                      <a:pt x="2631069" y="45668"/>
                      <a:pt x="2858399" y="272741"/>
                      <a:pt x="2858399" y="551824"/>
                    </a:cubicBezTo>
                    <a:cubicBezTo>
                      <a:pt x="2858399" y="830908"/>
                      <a:pt x="2631069" y="1057980"/>
                      <a:pt x="2351669" y="1057980"/>
                    </a:cubicBezTo>
                    <a:lnTo>
                      <a:pt x="553720" y="1057980"/>
                    </a:lnTo>
                    <a:cubicBezTo>
                      <a:pt x="274320" y="1057980"/>
                      <a:pt x="46990" y="830908"/>
                      <a:pt x="46990" y="551824"/>
                    </a:cubicBezTo>
                    <a:cubicBezTo>
                      <a:pt x="46990" y="272741"/>
                      <a:pt x="274320" y="45668"/>
                      <a:pt x="553720" y="45668"/>
                    </a:cubicBezTo>
                    <a:lnTo>
                      <a:pt x="2351669" y="45668"/>
                    </a:lnTo>
                    <a:moveTo>
                      <a:pt x="2351669" y="0"/>
                    </a:moveTo>
                    <a:lnTo>
                      <a:pt x="553720" y="0"/>
                    </a:lnTo>
                    <a:cubicBezTo>
                      <a:pt x="247650" y="0"/>
                      <a:pt x="0" y="247369"/>
                      <a:pt x="0" y="553093"/>
                    </a:cubicBezTo>
                    <a:cubicBezTo>
                      <a:pt x="0" y="858816"/>
                      <a:pt x="247650" y="1106187"/>
                      <a:pt x="553720" y="1106187"/>
                    </a:cubicBezTo>
                    <a:lnTo>
                      <a:pt x="2351669" y="1106187"/>
                    </a:lnTo>
                    <a:cubicBezTo>
                      <a:pt x="2657739" y="1106187"/>
                      <a:pt x="2905389" y="858816"/>
                      <a:pt x="2905389" y="553093"/>
                    </a:cubicBezTo>
                    <a:cubicBezTo>
                      <a:pt x="2904119" y="247369"/>
                      <a:pt x="2656469" y="0"/>
                      <a:pt x="2351669" y="0"/>
                    </a:cubicBezTo>
                    <a:close/>
                  </a:path>
                </a:pathLst>
              </a:custGeom>
              <a:solidFill>
                <a:srgbClr val="2C92D5"/>
              </a:solidFill>
            </p:spPr>
          </p:sp>
        </p:grpSp>
        <p:sp>
          <p:nvSpPr>
            <p:cNvPr name="TextBox 40" id="40"/>
            <p:cNvSpPr txBox="true"/>
            <p:nvPr/>
          </p:nvSpPr>
          <p:spPr>
            <a:xfrm rot="0">
              <a:off x="238839" y="140476"/>
              <a:ext cx="1423240" cy="396240"/>
            </a:xfrm>
            <a:prstGeom prst="rect">
              <a:avLst/>
            </a:prstGeom>
          </p:spPr>
          <p:txBody>
            <a:bodyPr anchor="t" rtlCol="false" tIns="0" lIns="0" bIns="0" rIns="0">
              <a:spAutoFit/>
            </a:bodyPr>
            <a:lstStyle/>
            <a:p>
              <a:pPr algn="ctr">
                <a:lnSpc>
                  <a:spcPts val="2520"/>
                </a:lnSpc>
              </a:pPr>
              <a:r>
                <a:rPr lang="en-US" b="true" sz="1800" spc="89">
                  <a:solidFill>
                    <a:srgbClr val="763C00"/>
                  </a:solidFill>
                  <a:latin typeface="Aileron Bold"/>
                  <a:ea typeface="Aileron Bold"/>
                  <a:cs typeface="Aileron Bold"/>
                  <a:sym typeface="Aileron Bold"/>
                </a:rPr>
                <a:t>Thème 2</a:t>
              </a:r>
            </a:p>
          </p:txBody>
        </p:sp>
      </p:grpSp>
      <p:sp>
        <p:nvSpPr>
          <p:cNvPr name="TextBox 41" id="41"/>
          <p:cNvSpPr txBox="true"/>
          <p:nvPr/>
        </p:nvSpPr>
        <p:spPr>
          <a:xfrm rot="0">
            <a:off x="13804761" y="4046879"/>
            <a:ext cx="4172406" cy="405765"/>
          </a:xfrm>
          <a:prstGeom prst="rect">
            <a:avLst/>
          </a:prstGeom>
        </p:spPr>
        <p:txBody>
          <a:bodyPr anchor="t" rtlCol="false" tIns="0" lIns="0" bIns="0" rIns="0">
            <a:spAutoFit/>
          </a:bodyPr>
          <a:lstStyle/>
          <a:p>
            <a:pPr algn="ctr">
              <a:lnSpc>
                <a:spcPts val="3359"/>
              </a:lnSpc>
            </a:pPr>
            <a:r>
              <a:rPr lang="en-US" b="true" sz="2399" spc="119">
                <a:solidFill>
                  <a:srgbClr val="191919"/>
                </a:solidFill>
                <a:latin typeface="Aileron Bold"/>
                <a:ea typeface="Aileron Bold"/>
                <a:cs typeface="Aileron Bold"/>
                <a:sym typeface="Aileron Bold"/>
              </a:rPr>
              <a:t>Types de services utilisés</a:t>
            </a:r>
          </a:p>
        </p:txBody>
      </p:sp>
      <p:grpSp>
        <p:nvGrpSpPr>
          <p:cNvPr name="Group 42" id="42"/>
          <p:cNvGrpSpPr/>
          <p:nvPr/>
        </p:nvGrpSpPr>
        <p:grpSpPr>
          <a:xfrm rot="5400000">
            <a:off x="15775005" y="4758036"/>
            <a:ext cx="623521" cy="147407"/>
            <a:chOff x="0" y="0"/>
            <a:chExt cx="3690885" cy="508000"/>
          </a:xfrm>
        </p:grpSpPr>
        <p:sp>
          <p:nvSpPr>
            <p:cNvPr name="Freeform 43" id="43"/>
            <p:cNvSpPr/>
            <p:nvPr/>
          </p:nvSpPr>
          <p:spPr>
            <a:xfrm flipH="false" flipV="false" rot="0">
              <a:off x="0" y="272118"/>
              <a:ext cx="3394975" cy="96042"/>
            </a:xfrm>
            <a:custGeom>
              <a:avLst/>
              <a:gdLst/>
              <a:ahLst/>
              <a:cxnLst/>
              <a:rect r="r" b="b" t="t" l="l"/>
              <a:pathLst>
                <a:path h="96042" w="3394975">
                  <a:moveTo>
                    <a:pt x="0" y="0"/>
                  </a:moveTo>
                  <a:lnTo>
                    <a:pt x="3394975" y="0"/>
                  </a:lnTo>
                  <a:lnTo>
                    <a:pt x="3394975" y="96042"/>
                  </a:lnTo>
                  <a:lnTo>
                    <a:pt x="0" y="96042"/>
                  </a:lnTo>
                  <a:close/>
                </a:path>
              </a:pathLst>
            </a:custGeom>
            <a:solidFill>
              <a:srgbClr val="191919"/>
            </a:solidFill>
          </p:spPr>
        </p:sp>
        <p:sp>
          <p:nvSpPr>
            <p:cNvPr name="Freeform 44" id="44"/>
            <p:cNvSpPr/>
            <p:nvPr/>
          </p:nvSpPr>
          <p:spPr>
            <a:xfrm flipH="false" flipV="false" rot="0">
              <a:off x="3316235" y="1601"/>
              <a:ext cx="374650" cy="637077"/>
            </a:xfrm>
            <a:custGeom>
              <a:avLst/>
              <a:gdLst/>
              <a:ahLst/>
              <a:cxnLst/>
              <a:rect r="r" b="b" t="t" l="l"/>
              <a:pathLst>
                <a:path h="637077" w="374650">
                  <a:moveTo>
                    <a:pt x="0" y="637077"/>
                  </a:moveTo>
                  <a:lnTo>
                    <a:pt x="0" y="0"/>
                  </a:lnTo>
                  <a:lnTo>
                    <a:pt x="374650" y="318538"/>
                  </a:lnTo>
                  <a:close/>
                </a:path>
              </a:pathLst>
            </a:custGeom>
            <a:solidFill>
              <a:srgbClr val="191919"/>
            </a:solidFill>
          </p:spPr>
        </p:sp>
      </p:grpSp>
      <p:grpSp>
        <p:nvGrpSpPr>
          <p:cNvPr name="Group 45" id="45"/>
          <p:cNvGrpSpPr/>
          <p:nvPr/>
        </p:nvGrpSpPr>
        <p:grpSpPr>
          <a:xfrm rot="0">
            <a:off x="335740" y="5438775"/>
            <a:ext cx="8861998" cy="2367915"/>
            <a:chOff x="0" y="0"/>
            <a:chExt cx="2334024" cy="623648"/>
          </a:xfrm>
        </p:grpSpPr>
        <p:sp>
          <p:nvSpPr>
            <p:cNvPr name="Freeform 46" id="46"/>
            <p:cNvSpPr/>
            <p:nvPr/>
          </p:nvSpPr>
          <p:spPr>
            <a:xfrm flipH="false" flipV="false" rot="0">
              <a:off x="0" y="0"/>
              <a:ext cx="2334024" cy="623648"/>
            </a:xfrm>
            <a:custGeom>
              <a:avLst/>
              <a:gdLst/>
              <a:ahLst/>
              <a:cxnLst/>
              <a:rect r="r" b="b" t="t" l="l"/>
              <a:pathLst>
                <a:path h="623648" w="2334024">
                  <a:moveTo>
                    <a:pt x="44554" y="0"/>
                  </a:moveTo>
                  <a:lnTo>
                    <a:pt x="2289470" y="0"/>
                  </a:lnTo>
                  <a:cubicBezTo>
                    <a:pt x="2301287" y="0"/>
                    <a:pt x="2312619" y="4694"/>
                    <a:pt x="2320975" y="13050"/>
                  </a:cubicBezTo>
                  <a:cubicBezTo>
                    <a:pt x="2329330" y="21405"/>
                    <a:pt x="2334024" y="32738"/>
                    <a:pt x="2334024" y="44554"/>
                  </a:cubicBezTo>
                  <a:lnTo>
                    <a:pt x="2334024" y="579094"/>
                  </a:lnTo>
                  <a:cubicBezTo>
                    <a:pt x="2334024" y="603701"/>
                    <a:pt x="2314077" y="623648"/>
                    <a:pt x="2289470" y="623648"/>
                  </a:cubicBezTo>
                  <a:lnTo>
                    <a:pt x="44554" y="623648"/>
                  </a:lnTo>
                  <a:cubicBezTo>
                    <a:pt x="19948" y="623648"/>
                    <a:pt x="0" y="603701"/>
                    <a:pt x="0" y="579094"/>
                  </a:cubicBezTo>
                  <a:lnTo>
                    <a:pt x="0" y="44554"/>
                  </a:lnTo>
                  <a:cubicBezTo>
                    <a:pt x="0" y="19948"/>
                    <a:pt x="19948" y="0"/>
                    <a:pt x="44554" y="0"/>
                  </a:cubicBezTo>
                  <a:close/>
                </a:path>
              </a:pathLst>
            </a:custGeom>
            <a:solidFill>
              <a:srgbClr val="FCF1E4"/>
            </a:solidFill>
            <a:ln w="66675" cap="rnd">
              <a:solidFill>
                <a:srgbClr val="763C00"/>
              </a:solidFill>
              <a:prstDash val="solid"/>
              <a:round/>
            </a:ln>
          </p:spPr>
        </p:sp>
        <p:sp>
          <p:nvSpPr>
            <p:cNvPr name="TextBox 47" id="47"/>
            <p:cNvSpPr txBox="true"/>
            <p:nvPr/>
          </p:nvSpPr>
          <p:spPr>
            <a:xfrm>
              <a:off x="0" y="-28575"/>
              <a:ext cx="2334024" cy="652223"/>
            </a:xfrm>
            <a:prstGeom prst="rect">
              <a:avLst/>
            </a:prstGeom>
          </p:spPr>
          <p:txBody>
            <a:bodyPr anchor="ctr" rtlCol="false" tIns="50800" lIns="50800" bIns="50800" rIns="50800"/>
            <a:lstStyle/>
            <a:p>
              <a:pPr algn="ctr">
                <a:lnSpc>
                  <a:spcPts val="3224"/>
                </a:lnSpc>
              </a:pPr>
            </a:p>
          </p:txBody>
        </p:sp>
      </p:grpSp>
      <p:sp>
        <p:nvSpPr>
          <p:cNvPr name="TextBox 48" id="48"/>
          <p:cNvSpPr txBox="true"/>
          <p:nvPr/>
        </p:nvSpPr>
        <p:spPr>
          <a:xfrm rot="0">
            <a:off x="439411" y="5975985"/>
            <a:ext cx="8654656" cy="1663065"/>
          </a:xfrm>
          <a:prstGeom prst="rect">
            <a:avLst/>
          </a:prstGeom>
        </p:spPr>
        <p:txBody>
          <a:bodyPr anchor="t" rtlCol="false" tIns="0" lIns="0" bIns="0" rIns="0">
            <a:spAutoFit/>
          </a:bodyPr>
          <a:lstStyle/>
          <a:p>
            <a:pPr algn="l" marL="518158" indent="-259079" lvl="1">
              <a:lnSpc>
                <a:spcPts val="3359"/>
              </a:lnSpc>
              <a:buFont typeface="Arial"/>
              <a:buChar char="•"/>
            </a:pPr>
            <a:r>
              <a:rPr lang="en-US" b="true" sz="2399" spc="119">
                <a:solidFill>
                  <a:srgbClr val="191919"/>
                </a:solidFill>
                <a:latin typeface="Aileron Bold"/>
                <a:ea typeface="Aileron Bold"/>
                <a:cs typeface="Aileron Bold"/>
                <a:sym typeface="Aileron Bold"/>
              </a:rPr>
              <a:t>2.1.1 : Proportion des utilisateurs par sexe</a:t>
            </a:r>
          </a:p>
          <a:p>
            <a:pPr algn="l" marL="518158" indent="-259079" lvl="1">
              <a:lnSpc>
                <a:spcPts val="3359"/>
              </a:lnSpc>
              <a:buFont typeface="Arial"/>
              <a:buChar char="•"/>
            </a:pPr>
            <a:r>
              <a:rPr lang="en-US" b="true" sz="2399" spc="119">
                <a:solidFill>
                  <a:srgbClr val="191919"/>
                </a:solidFill>
                <a:latin typeface="Aileron Bold"/>
                <a:ea typeface="Aileron Bold"/>
                <a:cs typeface="Aileron Bold"/>
                <a:sym typeface="Aileron Bold"/>
              </a:rPr>
              <a:t>2.1.2 : Proportion des utilisateurs par tranche d’âge</a:t>
            </a:r>
          </a:p>
          <a:p>
            <a:pPr algn="l" marL="518158" indent="-259079" lvl="1">
              <a:lnSpc>
                <a:spcPts val="3359"/>
              </a:lnSpc>
              <a:buFont typeface="Arial"/>
              <a:buChar char="•"/>
            </a:pPr>
            <a:r>
              <a:rPr lang="en-US" b="true" sz="2399" spc="119">
                <a:solidFill>
                  <a:srgbClr val="191919"/>
                </a:solidFill>
                <a:latin typeface="Aileron Bold"/>
                <a:ea typeface="Aileron Bold"/>
                <a:cs typeface="Aileron Bold"/>
                <a:sym typeface="Aileron Bold"/>
              </a:rPr>
              <a:t>2.1.3 : Proportion des utilisateurs par catégorie socio professionnelle. </a:t>
            </a:r>
          </a:p>
        </p:txBody>
      </p:sp>
      <p:sp>
        <p:nvSpPr>
          <p:cNvPr name="TextBox 49" id="49"/>
          <p:cNvSpPr txBox="true"/>
          <p:nvPr/>
        </p:nvSpPr>
        <p:spPr>
          <a:xfrm rot="0">
            <a:off x="535684" y="5534025"/>
            <a:ext cx="2130857" cy="489585"/>
          </a:xfrm>
          <a:prstGeom prst="rect">
            <a:avLst/>
          </a:prstGeom>
        </p:spPr>
        <p:txBody>
          <a:bodyPr anchor="t" rtlCol="false" tIns="0" lIns="0" bIns="0" rIns="0">
            <a:spAutoFit/>
          </a:bodyPr>
          <a:lstStyle/>
          <a:p>
            <a:pPr algn="ctr">
              <a:lnSpc>
                <a:spcPts val="3870"/>
              </a:lnSpc>
              <a:spcBef>
                <a:spcPct val="0"/>
              </a:spcBef>
            </a:pPr>
            <a:r>
              <a:rPr lang="en-US" b="true" sz="3000">
                <a:solidFill>
                  <a:srgbClr val="B31E1E"/>
                </a:solidFill>
                <a:latin typeface="Roboto Bold"/>
                <a:ea typeface="Roboto Bold"/>
                <a:cs typeface="Roboto Bold"/>
                <a:sym typeface="Roboto Bold"/>
              </a:rPr>
              <a:t>Indicateurs</a:t>
            </a:r>
          </a:p>
        </p:txBody>
      </p:sp>
      <p:grpSp>
        <p:nvGrpSpPr>
          <p:cNvPr name="Group 50" id="50"/>
          <p:cNvGrpSpPr/>
          <p:nvPr/>
        </p:nvGrpSpPr>
        <p:grpSpPr>
          <a:xfrm rot="0">
            <a:off x="9426002" y="5372100"/>
            <a:ext cx="8861998" cy="2367915"/>
            <a:chOff x="0" y="0"/>
            <a:chExt cx="2334024" cy="623648"/>
          </a:xfrm>
        </p:grpSpPr>
        <p:sp>
          <p:nvSpPr>
            <p:cNvPr name="Freeform 51" id="51"/>
            <p:cNvSpPr/>
            <p:nvPr/>
          </p:nvSpPr>
          <p:spPr>
            <a:xfrm flipH="false" flipV="false" rot="0">
              <a:off x="0" y="0"/>
              <a:ext cx="2334024" cy="623648"/>
            </a:xfrm>
            <a:custGeom>
              <a:avLst/>
              <a:gdLst/>
              <a:ahLst/>
              <a:cxnLst/>
              <a:rect r="r" b="b" t="t" l="l"/>
              <a:pathLst>
                <a:path h="623648" w="2334024">
                  <a:moveTo>
                    <a:pt x="44554" y="0"/>
                  </a:moveTo>
                  <a:lnTo>
                    <a:pt x="2289470" y="0"/>
                  </a:lnTo>
                  <a:cubicBezTo>
                    <a:pt x="2301287" y="0"/>
                    <a:pt x="2312619" y="4694"/>
                    <a:pt x="2320975" y="13050"/>
                  </a:cubicBezTo>
                  <a:cubicBezTo>
                    <a:pt x="2329330" y="21405"/>
                    <a:pt x="2334024" y="32738"/>
                    <a:pt x="2334024" y="44554"/>
                  </a:cubicBezTo>
                  <a:lnTo>
                    <a:pt x="2334024" y="579094"/>
                  </a:lnTo>
                  <a:cubicBezTo>
                    <a:pt x="2334024" y="603701"/>
                    <a:pt x="2314077" y="623648"/>
                    <a:pt x="2289470" y="623648"/>
                  </a:cubicBezTo>
                  <a:lnTo>
                    <a:pt x="44554" y="623648"/>
                  </a:lnTo>
                  <a:cubicBezTo>
                    <a:pt x="19948" y="623648"/>
                    <a:pt x="0" y="603701"/>
                    <a:pt x="0" y="579094"/>
                  </a:cubicBezTo>
                  <a:lnTo>
                    <a:pt x="0" y="44554"/>
                  </a:lnTo>
                  <a:cubicBezTo>
                    <a:pt x="0" y="19948"/>
                    <a:pt x="19948" y="0"/>
                    <a:pt x="44554" y="0"/>
                  </a:cubicBezTo>
                  <a:close/>
                </a:path>
              </a:pathLst>
            </a:custGeom>
            <a:solidFill>
              <a:srgbClr val="FCF1E4"/>
            </a:solidFill>
            <a:ln w="66675" cap="rnd">
              <a:solidFill>
                <a:srgbClr val="763C00"/>
              </a:solidFill>
              <a:prstDash val="solid"/>
              <a:round/>
            </a:ln>
          </p:spPr>
        </p:sp>
        <p:sp>
          <p:nvSpPr>
            <p:cNvPr name="TextBox 52" id="52"/>
            <p:cNvSpPr txBox="true"/>
            <p:nvPr/>
          </p:nvSpPr>
          <p:spPr>
            <a:xfrm>
              <a:off x="0" y="-28575"/>
              <a:ext cx="2334024" cy="652223"/>
            </a:xfrm>
            <a:prstGeom prst="rect">
              <a:avLst/>
            </a:prstGeom>
          </p:spPr>
          <p:txBody>
            <a:bodyPr anchor="ctr" rtlCol="false" tIns="50800" lIns="50800" bIns="50800" rIns="50800"/>
            <a:lstStyle/>
            <a:p>
              <a:pPr algn="ctr">
                <a:lnSpc>
                  <a:spcPts val="3224"/>
                </a:lnSpc>
              </a:pPr>
            </a:p>
          </p:txBody>
        </p:sp>
      </p:grpSp>
      <p:sp>
        <p:nvSpPr>
          <p:cNvPr name="TextBox 53" id="53"/>
          <p:cNvSpPr txBox="true"/>
          <p:nvPr/>
        </p:nvSpPr>
        <p:spPr>
          <a:xfrm rot="0">
            <a:off x="10558373" y="6166485"/>
            <a:ext cx="7729627" cy="824865"/>
          </a:xfrm>
          <a:prstGeom prst="rect">
            <a:avLst/>
          </a:prstGeom>
        </p:spPr>
        <p:txBody>
          <a:bodyPr anchor="t" rtlCol="false" tIns="0" lIns="0" bIns="0" rIns="0">
            <a:spAutoFit/>
          </a:bodyPr>
          <a:lstStyle/>
          <a:p>
            <a:pPr algn="l" marL="518158" indent="-259079" lvl="1">
              <a:lnSpc>
                <a:spcPts val="3359"/>
              </a:lnSpc>
              <a:buFont typeface="Arial"/>
              <a:buChar char="•"/>
            </a:pPr>
            <a:r>
              <a:rPr lang="en-US" b="true" sz="2399" spc="119">
                <a:solidFill>
                  <a:srgbClr val="191919"/>
                </a:solidFill>
                <a:latin typeface="Aileron Bold"/>
                <a:ea typeface="Aileron Bold"/>
                <a:cs typeface="Aileron Bold"/>
                <a:sym typeface="Aileron Bold"/>
              </a:rPr>
              <a:t>2.2.1 : Services bancaires les plus utilisés</a:t>
            </a:r>
          </a:p>
          <a:p>
            <a:pPr algn="l" marL="518158" indent="-259079" lvl="1">
              <a:lnSpc>
                <a:spcPts val="3359"/>
              </a:lnSpc>
              <a:buFont typeface="Arial"/>
              <a:buChar char="•"/>
            </a:pPr>
            <a:r>
              <a:rPr lang="en-US" b="true" sz="2399" spc="119">
                <a:solidFill>
                  <a:srgbClr val="191919"/>
                </a:solidFill>
                <a:latin typeface="Aileron Bold"/>
                <a:ea typeface="Aileron Bold"/>
                <a:cs typeface="Aileron Bold"/>
                <a:sym typeface="Aileron Bold"/>
              </a:rPr>
              <a:t>2.2.2 : Fréquence d’utilisation des services. </a:t>
            </a:r>
          </a:p>
        </p:txBody>
      </p:sp>
      <p:sp>
        <p:nvSpPr>
          <p:cNvPr name="TextBox 54" id="54"/>
          <p:cNvSpPr txBox="true"/>
          <p:nvPr/>
        </p:nvSpPr>
        <p:spPr>
          <a:xfrm rot="0">
            <a:off x="15890964" y="5467350"/>
            <a:ext cx="2130857" cy="489585"/>
          </a:xfrm>
          <a:prstGeom prst="rect">
            <a:avLst/>
          </a:prstGeom>
        </p:spPr>
        <p:txBody>
          <a:bodyPr anchor="t" rtlCol="false" tIns="0" lIns="0" bIns="0" rIns="0">
            <a:spAutoFit/>
          </a:bodyPr>
          <a:lstStyle/>
          <a:p>
            <a:pPr algn="ctr">
              <a:lnSpc>
                <a:spcPts val="3870"/>
              </a:lnSpc>
              <a:spcBef>
                <a:spcPct val="0"/>
              </a:spcBef>
            </a:pPr>
            <a:r>
              <a:rPr lang="en-US" b="true" sz="3000">
                <a:solidFill>
                  <a:srgbClr val="B31E1E"/>
                </a:solidFill>
                <a:latin typeface="Roboto Bold"/>
                <a:ea typeface="Roboto Bold"/>
                <a:cs typeface="Roboto Bold"/>
                <a:sym typeface="Roboto Bold"/>
              </a:rPr>
              <a:t>Indicateurs</a:t>
            </a:r>
          </a:p>
        </p:txBody>
      </p:sp>
    </p:spTree>
  </p:cSld>
  <p:clrMapOvr>
    <a:masterClrMapping/>
  </p:clrMapOvr>
  <p:transition spd="slow">
    <p:push dir="l"/>
  </p:transition>
</p:sld>
</file>

<file path=ppt/slides/slide35.xml><?xml version="1.0" encoding="utf-8"?>
<p:sld xmlns:p="http://schemas.openxmlformats.org/presentationml/2006/main" xmlns:a="http://schemas.openxmlformats.org/drawingml/2006/main">
  <p:cSld>
    <p:bg>
      <p:bgPr>
        <a:solidFill>
          <a:srgbClr val="FCF1E4"/>
        </a:solidFill>
      </p:bgPr>
    </p:bg>
    <p:spTree>
      <p:nvGrpSpPr>
        <p:cNvPr id="1" name=""/>
        <p:cNvGrpSpPr/>
        <p:nvPr/>
      </p:nvGrpSpPr>
      <p:grpSpPr>
        <a:xfrm>
          <a:off x="0" y="0"/>
          <a:ext cx="0" cy="0"/>
          <a:chOff x="0" y="0"/>
          <a:chExt cx="0" cy="0"/>
        </a:xfrm>
      </p:grpSpPr>
      <p:grpSp>
        <p:nvGrpSpPr>
          <p:cNvPr name="Group 2" id="2"/>
          <p:cNvGrpSpPr/>
          <p:nvPr/>
        </p:nvGrpSpPr>
        <p:grpSpPr>
          <a:xfrm rot="0">
            <a:off x="4703072" y="507147"/>
            <a:ext cx="8861890" cy="940750"/>
            <a:chOff x="0" y="0"/>
            <a:chExt cx="7953250" cy="844292"/>
          </a:xfrm>
        </p:grpSpPr>
        <p:sp>
          <p:nvSpPr>
            <p:cNvPr name="Freeform 3" id="3"/>
            <p:cNvSpPr/>
            <p:nvPr/>
          </p:nvSpPr>
          <p:spPr>
            <a:xfrm flipH="false" flipV="false" rot="0">
              <a:off x="0" y="0"/>
              <a:ext cx="7954521" cy="844292"/>
            </a:xfrm>
            <a:custGeom>
              <a:avLst/>
              <a:gdLst/>
              <a:ahLst/>
              <a:cxnLst/>
              <a:rect r="r" b="b" t="t" l="l"/>
              <a:pathLst>
                <a:path h="844292" w="7954521">
                  <a:moveTo>
                    <a:pt x="7400800" y="844292"/>
                  </a:moveTo>
                  <a:lnTo>
                    <a:pt x="553720" y="844292"/>
                  </a:lnTo>
                  <a:cubicBezTo>
                    <a:pt x="247650" y="844292"/>
                    <a:pt x="0" y="655234"/>
                    <a:pt x="0" y="422606"/>
                  </a:cubicBezTo>
                  <a:cubicBezTo>
                    <a:pt x="0" y="189010"/>
                    <a:pt x="247650" y="0"/>
                    <a:pt x="553720" y="0"/>
                  </a:cubicBezTo>
                  <a:lnTo>
                    <a:pt x="7400800" y="0"/>
                  </a:lnTo>
                  <a:cubicBezTo>
                    <a:pt x="7706871" y="0"/>
                    <a:pt x="7954521" y="189010"/>
                    <a:pt x="7954521" y="422606"/>
                  </a:cubicBezTo>
                  <a:cubicBezTo>
                    <a:pt x="7953250" y="655234"/>
                    <a:pt x="7705600" y="844292"/>
                    <a:pt x="7400800" y="844292"/>
                  </a:cubicBezTo>
                  <a:close/>
                </a:path>
              </a:pathLst>
            </a:custGeom>
            <a:solidFill>
              <a:srgbClr val="763C00"/>
            </a:solidFill>
          </p:spPr>
        </p:sp>
      </p:grpSp>
      <p:sp>
        <p:nvSpPr>
          <p:cNvPr name="TextBox 4" id="4"/>
          <p:cNvSpPr txBox="true"/>
          <p:nvPr/>
        </p:nvSpPr>
        <p:spPr>
          <a:xfrm rot="0">
            <a:off x="5173792" y="760035"/>
            <a:ext cx="7920451" cy="406400"/>
          </a:xfrm>
          <a:prstGeom prst="rect">
            <a:avLst/>
          </a:prstGeom>
        </p:spPr>
        <p:txBody>
          <a:bodyPr anchor="t" rtlCol="false" tIns="0" lIns="0" bIns="0" rIns="0">
            <a:spAutoFit/>
          </a:bodyPr>
          <a:lstStyle/>
          <a:p>
            <a:pPr algn="ctr">
              <a:lnSpc>
                <a:spcPts val="3250"/>
              </a:lnSpc>
            </a:pPr>
            <a:r>
              <a:rPr lang="en-US" b="true" sz="2500" spc="100">
                <a:solidFill>
                  <a:srgbClr val="FFFFFF"/>
                </a:solidFill>
                <a:latin typeface="Aileron Bold"/>
                <a:ea typeface="Aileron Bold"/>
                <a:cs typeface="Aileron Bold"/>
                <a:sym typeface="Aileron Bold"/>
              </a:rPr>
              <a:t>Plan d’analyse</a:t>
            </a:r>
          </a:p>
        </p:txBody>
      </p:sp>
      <p:sp>
        <p:nvSpPr>
          <p:cNvPr name="AutoShape 5" id="5"/>
          <p:cNvSpPr/>
          <p:nvPr/>
        </p:nvSpPr>
        <p:spPr>
          <a:xfrm rot="0">
            <a:off x="14786060" y="3712205"/>
            <a:ext cx="2136104" cy="12505"/>
          </a:xfrm>
          <a:prstGeom prst="rect">
            <a:avLst/>
          </a:prstGeom>
          <a:solidFill>
            <a:srgbClr val="191919"/>
          </a:solidFill>
        </p:spPr>
      </p:sp>
      <p:sp>
        <p:nvSpPr>
          <p:cNvPr name="AutoShape 6" id="6"/>
          <p:cNvSpPr/>
          <p:nvPr/>
        </p:nvSpPr>
        <p:spPr>
          <a:xfrm rot="-5400000">
            <a:off x="15517241" y="3345788"/>
            <a:ext cx="710491" cy="9837"/>
          </a:xfrm>
          <a:prstGeom prst="rect">
            <a:avLst/>
          </a:prstGeom>
          <a:solidFill>
            <a:srgbClr val="191919"/>
          </a:solidFill>
        </p:spPr>
      </p:sp>
      <p:grpSp>
        <p:nvGrpSpPr>
          <p:cNvPr name="Group 7" id="7"/>
          <p:cNvGrpSpPr/>
          <p:nvPr/>
        </p:nvGrpSpPr>
        <p:grpSpPr>
          <a:xfrm rot="5400000">
            <a:off x="16610404" y="3962767"/>
            <a:ext cx="623521" cy="147407"/>
            <a:chOff x="0" y="0"/>
            <a:chExt cx="3690885" cy="508000"/>
          </a:xfrm>
        </p:grpSpPr>
        <p:sp>
          <p:nvSpPr>
            <p:cNvPr name="Freeform 8" id="8"/>
            <p:cNvSpPr/>
            <p:nvPr/>
          </p:nvSpPr>
          <p:spPr>
            <a:xfrm flipH="false" flipV="false" rot="0">
              <a:off x="0" y="272118"/>
              <a:ext cx="3394975" cy="96042"/>
            </a:xfrm>
            <a:custGeom>
              <a:avLst/>
              <a:gdLst/>
              <a:ahLst/>
              <a:cxnLst/>
              <a:rect r="r" b="b" t="t" l="l"/>
              <a:pathLst>
                <a:path h="96042" w="3394975">
                  <a:moveTo>
                    <a:pt x="0" y="0"/>
                  </a:moveTo>
                  <a:lnTo>
                    <a:pt x="3394975" y="0"/>
                  </a:lnTo>
                  <a:lnTo>
                    <a:pt x="3394975" y="96042"/>
                  </a:lnTo>
                  <a:lnTo>
                    <a:pt x="0" y="96042"/>
                  </a:lnTo>
                  <a:close/>
                </a:path>
              </a:pathLst>
            </a:custGeom>
            <a:solidFill>
              <a:srgbClr val="191919"/>
            </a:solidFill>
          </p:spPr>
        </p:sp>
        <p:sp>
          <p:nvSpPr>
            <p:cNvPr name="Freeform 9" id="9"/>
            <p:cNvSpPr/>
            <p:nvPr/>
          </p:nvSpPr>
          <p:spPr>
            <a:xfrm flipH="false" flipV="false" rot="0">
              <a:off x="3316235" y="1601"/>
              <a:ext cx="374650" cy="637077"/>
            </a:xfrm>
            <a:custGeom>
              <a:avLst/>
              <a:gdLst/>
              <a:ahLst/>
              <a:cxnLst/>
              <a:rect r="r" b="b" t="t" l="l"/>
              <a:pathLst>
                <a:path h="637077" w="374650">
                  <a:moveTo>
                    <a:pt x="0" y="637077"/>
                  </a:moveTo>
                  <a:lnTo>
                    <a:pt x="0" y="0"/>
                  </a:lnTo>
                  <a:lnTo>
                    <a:pt x="374650" y="318538"/>
                  </a:lnTo>
                  <a:close/>
                </a:path>
              </a:pathLst>
            </a:custGeom>
            <a:solidFill>
              <a:srgbClr val="191919"/>
            </a:solidFill>
          </p:spPr>
        </p:sp>
      </p:grpSp>
      <p:grpSp>
        <p:nvGrpSpPr>
          <p:cNvPr name="Group 10" id="10"/>
          <p:cNvGrpSpPr/>
          <p:nvPr/>
        </p:nvGrpSpPr>
        <p:grpSpPr>
          <a:xfrm rot="-10800000">
            <a:off x="3146732" y="3589878"/>
            <a:ext cx="13775432" cy="282103"/>
            <a:chOff x="0" y="0"/>
            <a:chExt cx="24806262" cy="508000"/>
          </a:xfrm>
        </p:grpSpPr>
        <p:sp>
          <p:nvSpPr>
            <p:cNvPr name="Freeform 11" id="11"/>
            <p:cNvSpPr/>
            <p:nvPr/>
          </p:nvSpPr>
          <p:spPr>
            <a:xfrm flipH="false" flipV="false" rot="0">
              <a:off x="0" y="215900"/>
              <a:ext cx="24510352" cy="76200"/>
            </a:xfrm>
            <a:custGeom>
              <a:avLst/>
              <a:gdLst/>
              <a:ahLst/>
              <a:cxnLst/>
              <a:rect r="r" b="b" t="t" l="l"/>
              <a:pathLst>
                <a:path h="76200" w="24510352">
                  <a:moveTo>
                    <a:pt x="0" y="0"/>
                  </a:moveTo>
                  <a:lnTo>
                    <a:pt x="24510352" y="0"/>
                  </a:lnTo>
                  <a:lnTo>
                    <a:pt x="24510352" y="76200"/>
                  </a:lnTo>
                  <a:lnTo>
                    <a:pt x="0" y="76200"/>
                  </a:lnTo>
                  <a:close/>
                </a:path>
              </a:pathLst>
            </a:custGeom>
            <a:solidFill>
              <a:srgbClr val="763C00">
                <a:alpha val="38824"/>
              </a:srgbClr>
            </a:solidFill>
          </p:spPr>
        </p:sp>
        <p:sp>
          <p:nvSpPr>
            <p:cNvPr name="Freeform 12" id="12"/>
            <p:cNvSpPr/>
            <p:nvPr/>
          </p:nvSpPr>
          <p:spPr>
            <a:xfrm flipH="false" flipV="false" rot="0">
              <a:off x="24431613" y="1270"/>
              <a:ext cx="374650" cy="505460"/>
            </a:xfrm>
            <a:custGeom>
              <a:avLst/>
              <a:gdLst/>
              <a:ahLst/>
              <a:cxnLst/>
              <a:rect r="r" b="b" t="t" l="l"/>
              <a:pathLst>
                <a:path h="505460" w="374650">
                  <a:moveTo>
                    <a:pt x="0" y="505460"/>
                  </a:moveTo>
                  <a:lnTo>
                    <a:pt x="0" y="0"/>
                  </a:lnTo>
                  <a:lnTo>
                    <a:pt x="374650" y="252730"/>
                  </a:lnTo>
                  <a:close/>
                </a:path>
              </a:pathLst>
            </a:custGeom>
            <a:solidFill>
              <a:srgbClr val="763C00">
                <a:alpha val="38824"/>
              </a:srgbClr>
            </a:solidFill>
          </p:spPr>
        </p:sp>
      </p:grpSp>
      <p:grpSp>
        <p:nvGrpSpPr>
          <p:cNvPr name="Group 13" id="13"/>
          <p:cNvGrpSpPr/>
          <p:nvPr/>
        </p:nvGrpSpPr>
        <p:grpSpPr>
          <a:xfrm rot="0">
            <a:off x="1757895" y="1681144"/>
            <a:ext cx="1425689" cy="537078"/>
            <a:chOff x="0" y="0"/>
            <a:chExt cx="1900919" cy="716103"/>
          </a:xfrm>
        </p:grpSpPr>
        <p:grpSp>
          <p:nvGrpSpPr>
            <p:cNvPr name="Group 14" id="14"/>
            <p:cNvGrpSpPr/>
            <p:nvPr/>
          </p:nvGrpSpPr>
          <p:grpSpPr>
            <a:xfrm rot="0">
              <a:off x="0" y="0"/>
              <a:ext cx="1900919" cy="716103"/>
              <a:chOff x="0" y="0"/>
              <a:chExt cx="2904119" cy="1106170"/>
            </a:xfrm>
          </p:grpSpPr>
          <p:sp>
            <p:nvSpPr>
              <p:cNvPr name="Freeform 15" id="15"/>
              <p:cNvSpPr/>
              <p:nvPr/>
            </p:nvSpPr>
            <p:spPr>
              <a:xfrm flipH="false" flipV="false" rot="0">
                <a:off x="0" y="0"/>
                <a:ext cx="2905389" cy="1107440"/>
              </a:xfrm>
              <a:custGeom>
                <a:avLst/>
                <a:gdLst/>
                <a:ahLst/>
                <a:cxnLst/>
                <a:rect r="r" b="b" t="t" l="l"/>
                <a:pathLst>
                  <a:path h="1107440" w="2905389">
                    <a:moveTo>
                      <a:pt x="2351669" y="45720"/>
                    </a:moveTo>
                    <a:cubicBezTo>
                      <a:pt x="2631069" y="45720"/>
                      <a:pt x="2858399" y="273050"/>
                      <a:pt x="2858399" y="552450"/>
                    </a:cubicBezTo>
                    <a:cubicBezTo>
                      <a:pt x="2858399" y="831850"/>
                      <a:pt x="2631069" y="1059180"/>
                      <a:pt x="2351669" y="1059180"/>
                    </a:cubicBezTo>
                    <a:lnTo>
                      <a:pt x="553720" y="1059180"/>
                    </a:lnTo>
                    <a:cubicBezTo>
                      <a:pt x="274320" y="1059180"/>
                      <a:pt x="46990" y="831850"/>
                      <a:pt x="46990" y="552450"/>
                    </a:cubicBezTo>
                    <a:cubicBezTo>
                      <a:pt x="46990" y="273050"/>
                      <a:pt x="274320" y="45720"/>
                      <a:pt x="553720" y="45720"/>
                    </a:cubicBezTo>
                    <a:lnTo>
                      <a:pt x="2351669" y="45720"/>
                    </a:lnTo>
                    <a:moveTo>
                      <a:pt x="2351669" y="0"/>
                    </a:moveTo>
                    <a:lnTo>
                      <a:pt x="553720" y="0"/>
                    </a:lnTo>
                    <a:cubicBezTo>
                      <a:pt x="247650" y="0"/>
                      <a:pt x="0" y="247650"/>
                      <a:pt x="0" y="553720"/>
                    </a:cubicBezTo>
                    <a:cubicBezTo>
                      <a:pt x="0" y="859790"/>
                      <a:pt x="247650" y="1107440"/>
                      <a:pt x="553720" y="1107440"/>
                    </a:cubicBezTo>
                    <a:lnTo>
                      <a:pt x="2351669" y="1107440"/>
                    </a:lnTo>
                    <a:cubicBezTo>
                      <a:pt x="2657739" y="1107440"/>
                      <a:pt x="2905389" y="859790"/>
                      <a:pt x="2905389" y="553720"/>
                    </a:cubicBezTo>
                    <a:cubicBezTo>
                      <a:pt x="2904119" y="247650"/>
                      <a:pt x="2656469" y="0"/>
                      <a:pt x="2351669" y="0"/>
                    </a:cubicBezTo>
                    <a:close/>
                  </a:path>
                </a:pathLst>
              </a:custGeom>
              <a:solidFill>
                <a:srgbClr val="763C00"/>
              </a:solidFill>
            </p:spPr>
          </p:sp>
        </p:grpSp>
        <p:sp>
          <p:nvSpPr>
            <p:cNvPr name="TextBox 16" id="16"/>
            <p:cNvSpPr txBox="true"/>
            <p:nvPr/>
          </p:nvSpPr>
          <p:spPr>
            <a:xfrm rot="0">
              <a:off x="238839" y="140476"/>
              <a:ext cx="1423240" cy="397051"/>
            </a:xfrm>
            <a:prstGeom prst="rect">
              <a:avLst/>
            </a:prstGeom>
          </p:spPr>
          <p:txBody>
            <a:bodyPr anchor="t" rtlCol="false" tIns="0" lIns="0" bIns="0" rIns="0">
              <a:spAutoFit/>
            </a:bodyPr>
            <a:lstStyle/>
            <a:p>
              <a:pPr algn="ctr">
                <a:lnSpc>
                  <a:spcPts val="2519"/>
                </a:lnSpc>
              </a:pPr>
              <a:r>
                <a:rPr lang="en-US" b="true" sz="1799" spc="89">
                  <a:solidFill>
                    <a:srgbClr val="763C00"/>
                  </a:solidFill>
                  <a:latin typeface="Aileron Bold"/>
                  <a:ea typeface="Aileron Bold"/>
                  <a:cs typeface="Aileron Bold"/>
                  <a:sym typeface="Aileron Bold"/>
                </a:rPr>
                <a:t>AXE 1</a:t>
              </a:r>
            </a:p>
          </p:txBody>
        </p:sp>
      </p:grpSp>
      <p:sp>
        <p:nvSpPr>
          <p:cNvPr name="TextBox 17" id="17"/>
          <p:cNvSpPr txBox="true"/>
          <p:nvPr/>
        </p:nvSpPr>
        <p:spPr>
          <a:xfrm rot="0">
            <a:off x="740908" y="3988846"/>
            <a:ext cx="3183584" cy="824865"/>
          </a:xfrm>
          <a:prstGeom prst="rect">
            <a:avLst/>
          </a:prstGeom>
        </p:spPr>
        <p:txBody>
          <a:bodyPr anchor="t" rtlCol="false" tIns="0" lIns="0" bIns="0" rIns="0">
            <a:spAutoFit/>
          </a:bodyPr>
          <a:lstStyle/>
          <a:p>
            <a:pPr algn="ctr">
              <a:lnSpc>
                <a:spcPts val="3359"/>
              </a:lnSpc>
            </a:pPr>
            <a:r>
              <a:rPr lang="en-US" b="true" sz="2399" spc="119">
                <a:solidFill>
                  <a:srgbClr val="191919"/>
                </a:solidFill>
                <a:latin typeface="Aileron Bold"/>
                <a:ea typeface="Aileron Bold"/>
                <a:cs typeface="Aileron Bold"/>
                <a:sym typeface="Aileron Bold"/>
              </a:rPr>
              <a:t>Perception des services bancaires</a:t>
            </a:r>
          </a:p>
        </p:txBody>
      </p:sp>
      <p:grpSp>
        <p:nvGrpSpPr>
          <p:cNvPr name="Group 18" id="18"/>
          <p:cNvGrpSpPr/>
          <p:nvPr/>
        </p:nvGrpSpPr>
        <p:grpSpPr>
          <a:xfrm rot="0">
            <a:off x="15104416" y="1681144"/>
            <a:ext cx="1425689" cy="537078"/>
            <a:chOff x="0" y="0"/>
            <a:chExt cx="1900919" cy="716103"/>
          </a:xfrm>
        </p:grpSpPr>
        <p:grpSp>
          <p:nvGrpSpPr>
            <p:cNvPr name="Group 19" id="19"/>
            <p:cNvGrpSpPr/>
            <p:nvPr/>
          </p:nvGrpSpPr>
          <p:grpSpPr>
            <a:xfrm rot="0">
              <a:off x="0" y="0"/>
              <a:ext cx="1900919" cy="716103"/>
              <a:chOff x="0" y="0"/>
              <a:chExt cx="2904119" cy="1106170"/>
            </a:xfrm>
          </p:grpSpPr>
          <p:sp>
            <p:nvSpPr>
              <p:cNvPr name="Freeform 20" id="20"/>
              <p:cNvSpPr/>
              <p:nvPr/>
            </p:nvSpPr>
            <p:spPr>
              <a:xfrm flipH="false" flipV="false" rot="0">
                <a:off x="0" y="0"/>
                <a:ext cx="2905389" cy="1107440"/>
              </a:xfrm>
              <a:custGeom>
                <a:avLst/>
                <a:gdLst/>
                <a:ahLst/>
                <a:cxnLst/>
                <a:rect r="r" b="b" t="t" l="l"/>
                <a:pathLst>
                  <a:path h="1107440" w="2905389">
                    <a:moveTo>
                      <a:pt x="2351669" y="45720"/>
                    </a:moveTo>
                    <a:cubicBezTo>
                      <a:pt x="2631069" y="45720"/>
                      <a:pt x="2858399" y="273050"/>
                      <a:pt x="2858399" y="552450"/>
                    </a:cubicBezTo>
                    <a:cubicBezTo>
                      <a:pt x="2858399" y="831850"/>
                      <a:pt x="2631069" y="1059180"/>
                      <a:pt x="2351669" y="1059180"/>
                    </a:cubicBezTo>
                    <a:lnTo>
                      <a:pt x="553720" y="1059180"/>
                    </a:lnTo>
                    <a:cubicBezTo>
                      <a:pt x="274320" y="1059180"/>
                      <a:pt x="46990" y="831850"/>
                      <a:pt x="46990" y="552450"/>
                    </a:cubicBezTo>
                    <a:cubicBezTo>
                      <a:pt x="46990" y="273050"/>
                      <a:pt x="274320" y="45720"/>
                      <a:pt x="553720" y="45720"/>
                    </a:cubicBezTo>
                    <a:lnTo>
                      <a:pt x="2351669" y="45720"/>
                    </a:lnTo>
                    <a:moveTo>
                      <a:pt x="2351669" y="0"/>
                    </a:moveTo>
                    <a:lnTo>
                      <a:pt x="553720" y="0"/>
                    </a:lnTo>
                    <a:cubicBezTo>
                      <a:pt x="247650" y="0"/>
                      <a:pt x="0" y="247650"/>
                      <a:pt x="0" y="553720"/>
                    </a:cubicBezTo>
                    <a:cubicBezTo>
                      <a:pt x="0" y="859790"/>
                      <a:pt x="247650" y="1107440"/>
                      <a:pt x="553720" y="1107440"/>
                    </a:cubicBezTo>
                    <a:lnTo>
                      <a:pt x="2351669" y="1107440"/>
                    </a:lnTo>
                    <a:cubicBezTo>
                      <a:pt x="2657739" y="1107440"/>
                      <a:pt x="2905389" y="859790"/>
                      <a:pt x="2905389" y="553720"/>
                    </a:cubicBezTo>
                    <a:cubicBezTo>
                      <a:pt x="2904119" y="247650"/>
                      <a:pt x="2656469" y="0"/>
                      <a:pt x="2351669" y="0"/>
                    </a:cubicBezTo>
                    <a:close/>
                  </a:path>
                </a:pathLst>
              </a:custGeom>
              <a:solidFill>
                <a:srgbClr val="2C92D5"/>
              </a:solidFill>
            </p:spPr>
          </p:sp>
        </p:grpSp>
        <p:sp>
          <p:nvSpPr>
            <p:cNvPr name="TextBox 21" id="21"/>
            <p:cNvSpPr txBox="true"/>
            <p:nvPr/>
          </p:nvSpPr>
          <p:spPr>
            <a:xfrm rot="0">
              <a:off x="238839" y="140476"/>
              <a:ext cx="1423240" cy="397051"/>
            </a:xfrm>
            <a:prstGeom prst="rect">
              <a:avLst/>
            </a:prstGeom>
          </p:spPr>
          <p:txBody>
            <a:bodyPr anchor="t" rtlCol="false" tIns="0" lIns="0" bIns="0" rIns="0">
              <a:spAutoFit/>
            </a:bodyPr>
            <a:lstStyle/>
            <a:p>
              <a:pPr algn="ctr">
                <a:lnSpc>
                  <a:spcPts val="2519"/>
                </a:lnSpc>
              </a:pPr>
              <a:r>
                <a:rPr lang="en-US" b="true" sz="1799" spc="89">
                  <a:solidFill>
                    <a:srgbClr val="763C00"/>
                  </a:solidFill>
                  <a:latin typeface="Aileron Bold"/>
                  <a:ea typeface="Aileron Bold"/>
                  <a:cs typeface="Aileron Bold"/>
                  <a:sym typeface="Aileron Bold"/>
                </a:rPr>
                <a:t>AXE 3</a:t>
              </a:r>
            </a:p>
          </p:txBody>
        </p:sp>
      </p:grpSp>
      <p:grpSp>
        <p:nvGrpSpPr>
          <p:cNvPr name="Group 22" id="22"/>
          <p:cNvGrpSpPr/>
          <p:nvPr/>
        </p:nvGrpSpPr>
        <p:grpSpPr>
          <a:xfrm rot="0">
            <a:off x="1693559" y="3496066"/>
            <a:ext cx="1425689" cy="536469"/>
            <a:chOff x="0" y="0"/>
            <a:chExt cx="1900919" cy="715292"/>
          </a:xfrm>
        </p:grpSpPr>
        <p:grpSp>
          <p:nvGrpSpPr>
            <p:cNvPr name="Group 23" id="23"/>
            <p:cNvGrpSpPr/>
            <p:nvPr/>
          </p:nvGrpSpPr>
          <p:grpSpPr>
            <a:xfrm rot="0">
              <a:off x="0" y="0"/>
              <a:ext cx="1900919" cy="715292"/>
              <a:chOff x="0" y="0"/>
              <a:chExt cx="2904119" cy="1106170"/>
            </a:xfrm>
          </p:grpSpPr>
          <p:sp>
            <p:nvSpPr>
              <p:cNvPr name="Freeform 24" id="24"/>
              <p:cNvSpPr/>
              <p:nvPr/>
            </p:nvSpPr>
            <p:spPr>
              <a:xfrm flipH="false" flipV="false" rot="0">
                <a:off x="0" y="0"/>
                <a:ext cx="2905389" cy="1106187"/>
              </a:xfrm>
              <a:custGeom>
                <a:avLst/>
                <a:gdLst/>
                <a:ahLst/>
                <a:cxnLst/>
                <a:rect r="r" b="b" t="t" l="l"/>
                <a:pathLst>
                  <a:path h="1106187" w="2905389">
                    <a:moveTo>
                      <a:pt x="2351669" y="45668"/>
                    </a:moveTo>
                    <a:cubicBezTo>
                      <a:pt x="2631069" y="45668"/>
                      <a:pt x="2858399" y="272741"/>
                      <a:pt x="2858399" y="551824"/>
                    </a:cubicBezTo>
                    <a:cubicBezTo>
                      <a:pt x="2858399" y="830908"/>
                      <a:pt x="2631069" y="1057980"/>
                      <a:pt x="2351669" y="1057980"/>
                    </a:cubicBezTo>
                    <a:lnTo>
                      <a:pt x="553720" y="1057980"/>
                    </a:lnTo>
                    <a:cubicBezTo>
                      <a:pt x="274320" y="1057980"/>
                      <a:pt x="46990" y="830908"/>
                      <a:pt x="46990" y="551824"/>
                    </a:cubicBezTo>
                    <a:cubicBezTo>
                      <a:pt x="46990" y="272741"/>
                      <a:pt x="274320" y="45668"/>
                      <a:pt x="553720" y="45668"/>
                    </a:cubicBezTo>
                    <a:lnTo>
                      <a:pt x="2351669" y="45668"/>
                    </a:lnTo>
                    <a:moveTo>
                      <a:pt x="2351669" y="0"/>
                    </a:moveTo>
                    <a:lnTo>
                      <a:pt x="553720" y="0"/>
                    </a:lnTo>
                    <a:cubicBezTo>
                      <a:pt x="247650" y="0"/>
                      <a:pt x="0" y="247369"/>
                      <a:pt x="0" y="553093"/>
                    </a:cubicBezTo>
                    <a:cubicBezTo>
                      <a:pt x="0" y="858816"/>
                      <a:pt x="247650" y="1106187"/>
                      <a:pt x="553720" y="1106187"/>
                    </a:cubicBezTo>
                    <a:lnTo>
                      <a:pt x="2351669" y="1106187"/>
                    </a:lnTo>
                    <a:cubicBezTo>
                      <a:pt x="2657739" y="1106187"/>
                      <a:pt x="2905389" y="858816"/>
                      <a:pt x="2905389" y="553093"/>
                    </a:cubicBezTo>
                    <a:cubicBezTo>
                      <a:pt x="2904119" y="247369"/>
                      <a:pt x="2656469" y="0"/>
                      <a:pt x="2351669" y="0"/>
                    </a:cubicBezTo>
                    <a:close/>
                  </a:path>
                </a:pathLst>
              </a:custGeom>
              <a:solidFill>
                <a:srgbClr val="2C92D5"/>
              </a:solidFill>
            </p:spPr>
          </p:sp>
        </p:grpSp>
        <p:sp>
          <p:nvSpPr>
            <p:cNvPr name="TextBox 25" id="25"/>
            <p:cNvSpPr txBox="true"/>
            <p:nvPr/>
          </p:nvSpPr>
          <p:spPr>
            <a:xfrm rot="0">
              <a:off x="238839" y="140476"/>
              <a:ext cx="1423240" cy="396240"/>
            </a:xfrm>
            <a:prstGeom prst="rect">
              <a:avLst/>
            </a:prstGeom>
          </p:spPr>
          <p:txBody>
            <a:bodyPr anchor="t" rtlCol="false" tIns="0" lIns="0" bIns="0" rIns="0">
              <a:spAutoFit/>
            </a:bodyPr>
            <a:lstStyle/>
            <a:p>
              <a:pPr algn="ctr">
                <a:lnSpc>
                  <a:spcPts val="2520"/>
                </a:lnSpc>
              </a:pPr>
              <a:r>
                <a:rPr lang="en-US" b="true" sz="1800" spc="89">
                  <a:solidFill>
                    <a:srgbClr val="763C00"/>
                  </a:solidFill>
                  <a:latin typeface="Aileron Bold"/>
                  <a:ea typeface="Aileron Bold"/>
                  <a:cs typeface="Aileron Bold"/>
                  <a:sym typeface="Aileron Bold"/>
                </a:rPr>
                <a:t>Thème 1</a:t>
              </a:r>
            </a:p>
          </p:txBody>
        </p:sp>
      </p:grpSp>
      <p:grpSp>
        <p:nvGrpSpPr>
          <p:cNvPr name="Group 26" id="26"/>
          <p:cNvGrpSpPr/>
          <p:nvPr/>
        </p:nvGrpSpPr>
        <p:grpSpPr>
          <a:xfrm rot="0">
            <a:off x="8429288" y="1681144"/>
            <a:ext cx="1425689" cy="537078"/>
            <a:chOff x="0" y="0"/>
            <a:chExt cx="1900919" cy="716103"/>
          </a:xfrm>
        </p:grpSpPr>
        <p:grpSp>
          <p:nvGrpSpPr>
            <p:cNvPr name="Group 27" id="27"/>
            <p:cNvGrpSpPr/>
            <p:nvPr/>
          </p:nvGrpSpPr>
          <p:grpSpPr>
            <a:xfrm rot="0">
              <a:off x="0" y="0"/>
              <a:ext cx="1900919" cy="716103"/>
              <a:chOff x="0" y="0"/>
              <a:chExt cx="2904119" cy="1106170"/>
            </a:xfrm>
          </p:grpSpPr>
          <p:sp>
            <p:nvSpPr>
              <p:cNvPr name="Freeform 28" id="28"/>
              <p:cNvSpPr/>
              <p:nvPr/>
            </p:nvSpPr>
            <p:spPr>
              <a:xfrm flipH="false" flipV="false" rot="0">
                <a:off x="0" y="0"/>
                <a:ext cx="2905389" cy="1107440"/>
              </a:xfrm>
              <a:custGeom>
                <a:avLst/>
                <a:gdLst/>
                <a:ahLst/>
                <a:cxnLst/>
                <a:rect r="r" b="b" t="t" l="l"/>
                <a:pathLst>
                  <a:path h="1107440" w="2905389">
                    <a:moveTo>
                      <a:pt x="2351669" y="45720"/>
                    </a:moveTo>
                    <a:cubicBezTo>
                      <a:pt x="2631069" y="45720"/>
                      <a:pt x="2858399" y="273050"/>
                      <a:pt x="2858399" y="552450"/>
                    </a:cubicBezTo>
                    <a:cubicBezTo>
                      <a:pt x="2858399" y="831850"/>
                      <a:pt x="2631069" y="1059180"/>
                      <a:pt x="2351669" y="1059180"/>
                    </a:cubicBezTo>
                    <a:lnTo>
                      <a:pt x="553720" y="1059180"/>
                    </a:lnTo>
                    <a:cubicBezTo>
                      <a:pt x="274320" y="1059180"/>
                      <a:pt x="46990" y="831850"/>
                      <a:pt x="46990" y="552450"/>
                    </a:cubicBezTo>
                    <a:cubicBezTo>
                      <a:pt x="46990" y="273050"/>
                      <a:pt x="274320" y="45720"/>
                      <a:pt x="553720" y="45720"/>
                    </a:cubicBezTo>
                    <a:lnTo>
                      <a:pt x="2351669" y="45720"/>
                    </a:lnTo>
                    <a:moveTo>
                      <a:pt x="2351669" y="0"/>
                    </a:moveTo>
                    <a:lnTo>
                      <a:pt x="553720" y="0"/>
                    </a:lnTo>
                    <a:cubicBezTo>
                      <a:pt x="247650" y="0"/>
                      <a:pt x="0" y="247650"/>
                      <a:pt x="0" y="553720"/>
                    </a:cubicBezTo>
                    <a:cubicBezTo>
                      <a:pt x="0" y="859790"/>
                      <a:pt x="247650" y="1107440"/>
                      <a:pt x="553720" y="1107440"/>
                    </a:cubicBezTo>
                    <a:lnTo>
                      <a:pt x="2351669" y="1107440"/>
                    </a:lnTo>
                    <a:cubicBezTo>
                      <a:pt x="2657739" y="1107440"/>
                      <a:pt x="2905389" y="859790"/>
                      <a:pt x="2905389" y="553720"/>
                    </a:cubicBezTo>
                    <a:cubicBezTo>
                      <a:pt x="2904119" y="247650"/>
                      <a:pt x="2656469" y="0"/>
                      <a:pt x="2351669" y="0"/>
                    </a:cubicBezTo>
                    <a:close/>
                  </a:path>
                </a:pathLst>
              </a:custGeom>
              <a:solidFill>
                <a:srgbClr val="2C92D5"/>
              </a:solidFill>
            </p:spPr>
          </p:sp>
        </p:grpSp>
        <p:sp>
          <p:nvSpPr>
            <p:cNvPr name="TextBox 29" id="29"/>
            <p:cNvSpPr txBox="true"/>
            <p:nvPr/>
          </p:nvSpPr>
          <p:spPr>
            <a:xfrm rot="0">
              <a:off x="238839" y="140476"/>
              <a:ext cx="1423240" cy="397051"/>
            </a:xfrm>
            <a:prstGeom prst="rect">
              <a:avLst/>
            </a:prstGeom>
          </p:spPr>
          <p:txBody>
            <a:bodyPr anchor="t" rtlCol="false" tIns="0" lIns="0" bIns="0" rIns="0">
              <a:spAutoFit/>
            </a:bodyPr>
            <a:lstStyle/>
            <a:p>
              <a:pPr algn="ctr">
                <a:lnSpc>
                  <a:spcPts val="2519"/>
                </a:lnSpc>
              </a:pPr>
              <a:r>
                <a:rPr lang="en-US" b="true" sz="1799" spc="89">
                  <a:solidFill>
                    <a:srgbClr val="763C00"/>
                  </a:solidFill>
                  <a:latin typeface="Aileron Bold"/>
                  <a:ea typeface="Aileron Bold"/>
                  <a:cs typeface="Aileron Bold"/>
                  <a:sym typeface="Aileron Bold"/>
                </a:rPr>
                <a:t>AXE 2</a:t>
              </a:r>
            </a:p>
          </p:txBody>
        </p:sp>
      </p:grpSp>
      <p:grpSp>
        <p:nvGrpSpPr>
          <p:cNvPr name="Group 30" id="30"/>
          <p:cNvGrpSpPr/>
          <p:nvPr/>
        </p:nvGrpSpPr>
        <p:grpSpPr>
          <a:xfrm rot="0">
            <a:off x="4522049" y="1906773"/>
            <a:ext cx="3598073" cy="85819"/>
            <a:chOff x="0" y="0"/>
            <a:chExt cx="21298512" cy="508000"/>
          </a:xfrm>
        </p:grpSpPr>
        <p:sp>
          <p:nvSpPr>
            <p:cNvPr name="Freeform 31" id="31"/>
            <p:cNvSpPr/>
            <p:nvPr/>
          </p:nvSpPr>
          <p:spPr>
            <a:xfrm flipH="false" flipV="false" rot="0">
              <a:off x="0" y="215900"/>
              <a:ext cx="21002602" cy="76200"/>
            </a:xfrm>
            <a:custGeom>
              <a:avLst/>
              <a:gdLst/>
              <a:ahLst/>
              <a:cxnLst/>
              <a:rect r="r" b="b" t="t" l="l"/>
              <a:pathLst>
                <a:path h="76200" w="21002602">
                  <a:moveTo>
                    <a:pt x="0" y="0"/>
                  </a:moveTo>
                  <a:lnTo>
                    <a:pt x="21002602" y="0"/>
                  </a:lnTo>
                  <a:lnTo>
                    <a:pt x="21002602" y="76200"/>
                  </a:lnTo>
                  <a:lnTo>
                    <a:pt x="0" y="76200"/>
                  </a:lnTo>
                  <a:close/>
                </a:path>
              </a:pathLst>
            </a:custGeom>
            <a:solidFill>
              <a:srgbClr val="191919"/>
            </a:solidFill>
          </p:spPr>
        </p:sp>
        <p:sp>
          <p:nvSpPr>
            <p:cNvPr name="Freeform 32" id="32"/>
            <p:cNvSpPr/>
            <p:nvPr/>
          </p:nvSpPr>
          <p:spPr>
            <a:xfrm flipH="false" flipV="false" rot="0">
              <a:off x="20923862" y="1270"/>
              <a:ext cx="374650" cy="505460"/>
            </a:xfrm>
            <a:custGeom>
              <a:avLst/>
              <a:gdLst/>
              <a:ahLst/>
              <a:cxnLst/>
              <a:rect r="r" b="b" t="t" l="l"/>
              <a:pathLst>
                <a:path h="505460" w="374650">
                  <a:moveTo>
                    <a:pt x="0" y="505460"/>
                  </a:moveTo>
                  <a:lnTo>
                    <a:pt x="0" y="0"/>
                  </a:lnTo>
                  <a:lnTo>
                    <a:pt x="374650" y="252730"/>
                  </a:lnTo>
                  <a:close/>
                </a:path>
              </a:pathLst>
            </a:custGeom>
            <a:solidFill>
              <a:srgbClr val="191919"/>
            </a:solidFill>
          </p:spPr>
        </p:sp>
      </p:grpSp>
      <p:grpSp>
        <p:nvGrpSpPr>
          <p:cNvPr name="Group 33" id="33"/>
          <p:cNvGrpSpPr/>
          <p:nvPr/>
        </p:nvGrpSpPr>
        <p:grpSpPr>
          <a:xfrm rot="0">
            <a:off x="9854977" y="1906773"/>
            <a:ext cx="4190656" cy="85819"/>
            <a:chOff x="0" y="0"/>
            <a:chExt cx="24806262" cy="508000"/>
          </a:xfrm>
        </p:grpSpPr>
        <p:sp>
          <p:nvSpPr>
            <p:cNvPr name="Freeform 34" id="34"/>
            <p:cNvSpPr/>
            <p:nvPr/>
          </p:nvSpPr>
          <p:spPr>
            <a:xfrm flipH="false" flipV="false" rot="0">
              <a:off x="0" y="215900"/>
              <a:ext cx="24510352" cy="76200"/>
            </a:xfrm>
            <a:custGeom>
              <a:avLst/>
              <a:gdLst/>
              <a:ahLst/>
              <a:cxnLst/>
              <a:rect r="r" b="b" t="t" l="l"/>
              <a:pathLst>
                <a:path h="76200" w="24510352">
                  <a:moveTo>
                    <a:pt x="0" y="0"/>
                  </a:moveTo>
                  <a:lnTo>
                    <a:pt x="24510352" y="0"/>
                  </a:lnTo>
                  <a:lnTo>
                    <a:pt x="24510352" y="76200"/>
                  </a:lnTo>
                  <a:lnTo>
                    <a:pt x="0" y="76200"/>
                  </a:lnTo>
                  <a:close/>
                </a:path>
              </a:pathLst>
            </a:custGeom>
            <a:solidFill>
              <a:srgbClr val="191919"/>
            </a:solidFill>
          </p:spPr>
        </p:sp>
        <p:sp>
          <p:nvSpPr>
            <p:cNvPr name="Freeform 35" id="35"/>
            <p:cNvSpPr/>
            <p:nvPr/>
          </p:nvSpPr>
          <p:spPr>
            <a:xfrm flipH="false" flipV="false" rot="0">
              <a:off x="24431613" y="1270"/>
              <a:ext cx="374650" cy="505460"/>
            </a:xfrm>
            <a:custGeom>
              <a:avLst/>
              <a:gdLst/>
              <a:ahLst/>
              <a:cxnLst/>
              <a:rect r="r" b="b" t="t" l="l"/>
              <a:pathLst>
                <a:path h="505460" w="374650">
                  <a:moveTo>
                    <a:pt x="0" y="505460"/>
                  </a:moveTo>
                  <a:lnTo>
                    <a:pt x="0" y="0"/>
                  </a:lnTo>
                  <a:lnTo>
                    <a:pt x="374650" y="252730"/>
                  </a:lnTo>
                  <a:close/>
                </a:path>
              </a:pathLst>
            </a:custGeom>
            <a:solidFill>
              <a:srgbClr val="191919"/>
            </a:solidFill>
          </p:spPr>
        </p:sp>
      </p:grpSp>
      <p:grpSp>
        <p:nvGrpSpPr>
          <p:cNvPr name="Group 36" id="36"/>
          <p:cNvGrpSpPr/>
          <p:nvPr/>
        </p:nvGrpSpPr>
        <p:grpSpPr>
          <a:xfrm rot="5400000">
            <a:off x="2020940" y="5151333"/>
            <a:ext cx="623521" cy="147407"/>
            <a:chOff x="0" y="0"/>
            <a:chExt cx="3690885" cy="508000"/>
          </a:xfrm>
        </p:grpSpPr>
        <p:sp>
          <p:nvSpPr>
            <p:cNvPr name="Freeform 37" id="37"/>
            <p:cNvSpPr/>
            <p:nvPr/>
          </p:nvSpPr>
          <p:spPr>
            <a:xfrm flipH="false" flipV="false" rot="0">
              <a:off x="0" y="272118"/>
              <a:ext cx="3394975" cy="96042"/>
            </a:xfrm>
            <a:custGeom>
              <a:avLst/>
              <a:gdLst/>
              <a:ahLst/>
              <a:cxnLst/>
              <a:rect r="r" b="b" t="t" l="l"/>
              <a:pathLst>
                <a:path h="96042" w="3394975">
                  <a:moveTo>
                    <a:pt x="0" y="0"/>
                  </a:moveTo>
                  <a:lnTo>
                    <a:pt x="3394975" y="0"/>
                  </a:lnTo>
                  <a:lnTo>
                    <a:pt x="3394975" y="96042"/>
                  </a:lnTo>
                  <a:lnTo>
                    <a:pt x="0" y="96042"/>
                  </a:lnTo>
                  <a:close/>
                </a:path>
              </a:pathLst>
            </a:custGeom>
            <a:solidFill>
              <a:srgbClr val="191919"/>
            </a:solidFill>
          </p:spPr>
        </p:sp>
        <p:sp>
          <p:nvSpPr>
            <p:cNvPr name="Freeform 38" id="38"/>
            <p:cNvSpPr/>
            <p:nvPr/>
          </p:nvSpPr>
          <p:spPr>
            <a:xfrm flipH="false" flipV="false" rot="0">
              <a:off x="3316235" y="1601"/>
              <a:ext cx="374650" cy="637077"/>
            </a:xfrm>
            <a:custGeom>
              <a:avLst/>
              <a:gdLst/>
              <a:ahLst/>
              <a:cxnLst/>
              <a:rect r="r" b="b" t="t" l="l"/>
              <a:pathLst>
                <a:path h="637077" w="374650">
                  <a:moveTo>
                    <a:pt x="0" y="637077"/>
                  </a:moveTo>
                  <a:lnTo>
                    <a:pt x="0" y="0"/>
                  </a:lnTo>
                  <a:lnTo>
                    <a:pt x="374650" y="318538"/>
                  </a:lnTo>
                  <a:close/>
                </a:path>
              </a:pathLst>
            </a:custGeom>
            <a:solidFill>
              <a:srgbClr val="191919"/>
            </a:solidFill>
          </p:spPr>
        </p:sp>
      </p:grpSp>
      <p:sp>
        <p:nvSpPr>
          <p:cNvPr name="TextBox 39" id="39"/>
          <p:cNvSpPr txBox="true"/>
          <p:nvPr/>
        </p:nvSpPr>
        <p:spPr>
          <a:xfrm rot="0">
            <a:off x="14689548" y="2140732"/>
            <a:ext cx="2647029" cy="824865"/>
          </a:xfrm>
          <a:prstGeom prst="rect">
            <a:avLst/>
          </a:prstGeom>
        </p:spPr>
        <p:txBody>
          <a:bodyPr anchor="t" rtlCol="false" tIns="0" lIns="0" bIns="0" rIns="0">
            <a:spAutoFit/>
          </a:bodyPr>
          <a:lstStyle/>
          <a:p>
            <a:pPr algn="ctr">
              <a:lnSpc>
                <a:spcPts val="3359"/>
              </a:lnSpc>
            </a:pPr>
            <a:r>
              <a:rPr lang="en-US" b="true" sz="2399" spc="119">
                <a:solidFill>
                  <a:srgbClr val="191919"/>
                </a:solidFill>
                <a:latin typeface="Aileron Bold"/>
                <a:ea typeface="Aileron Bold"/>
                <a:cs typeface="Aileron Bold"/>
                <a:sym typeface="Aileron Bold"/>
              </a:rPr>
              <a:t>Perception et obstacles</a:t>
            </a:r>
          </a:p>
        </p:txBody>
      </p:sp>
      <p:sp>
        <p:nvSpPr>
          <p:cNvPr name="TextBox 40" id="40"/>
          <p:cNvSpPr txBox="true"/>
          <p:nvPr/>
        </p:nvSpPr>
        <p:spPr>
          <a:xfrm rot="0">
            <a:off x="764086" y="2140732"/>
            <a:ext cx="3804909" cy="824865"/>
          </a:xfrm>
          <a:prstGeom prst="rect">
            <a:avLst/>
          </a:prstGeom>
        </p:spPr>
        <p:txBody>
          <a:bodyPr anchor="t" rtlCol="false" tIns="0" lIns="0" bIns="0" rIns="0">
            <a:spAutoFit/>
          </a:bodyPr>
          <a:lstStyle/>
          <a:p>
            <a:pPr algn="ctr">
              <a:lnSpc>
                <a:spcPts val="3359"/>
              </a:lnSpc>
            </a:pPr>
            <a:r>
              <a:rPr lang="en-US" b="true" sz="2399" spc="119">
                <a:solidFill>
                  <a:srgbClr val="191919"/>
                </a:solidFill>
                <a:latin typeface="Aileron Bold"/>
                <a:ea typeface="Aileron Bold"/>
                <a:cs typeface="Aileron Bold"/>
                <a:sym typeface="Aileron Bold"/>
              </a:rPr>
              <a:t>Connaissance des services bancaires</a:t>
            </a:r>
          </a:p>
        </p:txBody>
      </p:sp>
      <p:sp>
        <p:nvSpPr>
          <p:cNvPr name="TextBox 41" id="41"/>
          <p:cNvSpPr txBox="true"/>
          <p:nvPr/>
        </p:nvSpPr>
        <p:spPr>
          <a:xfrm rot="0">
            <a:off x="7295284" y="2170596"/>
            <a:ext cx="3804909" cy="824865"/>
          </a:xfrm>
          <a:prstGeom prst="rect">
            <a:avLst/>
          </a:prstGeom>
        </p:spPr>
        <p:txBody>
          <a:bodyPr anchor="t" rtlCol="false" tIns="0" lIns="0" bIns="0" rIns="0">
            <a:spAutoFit/>
          </a:bodyPr>
          <a:lstStyle/>
          <a:p>
            <a:pPr algn="ctr">
              <a:lnSpc>
                <a:spcPts val="3359"/>
              </a:lnSpc>
            </a:pPr>
            <a:r>
              <a:rPr lang="en-US" b="true" sz="2399" spc="119">
                <a:solidFill>
                  <a:srgbClr val="191919"/>
                </a:solidFill>
                <a:latin typeface="Aileron Bold"/>
                <a:ea typeface="Aileron Bold"/>
                <a:cs typeface="Aileron Bold"/>
                <a:sym typeface="Aileron Bold"/>
              </a:rPr>
              <a:t>Utilisation des services bancaires</a:t>
            </a:r>
          </a:p>
        </p:txBody>
      </p:sp>
      <p:grpSp>
        <p:nvGrpSpPr>
          <p:cNvPr name="Group 42" id="42"/>
          <p:cNvGrpSpPr/>
          <p:nvPr/>
        </p:nvGrpSpPr>
        <p:grpSpPr>
          <a:xfrm rot="0">
            <a:off x="16131898" y="4376806"/>
            <a:ext cx="1425689" cy="536469"/>
            <a:chOff x="0" y="0"/>
            <a:chExt cx="1900919" cy="715292"/>
          </a:xfrm>
        </p:grpSpPr>
        <p:grpSp>
          <p:nvGrpSpPr>
            <p:cNvPr name="Group 43" id="43"/>
            <p:cNvGrpSpPr/>
            <p:nvPr/>
          </p:nvGrpSpPr>
          <p:grpSpPr>
            <a:xfrm rot="0">
              <a:off x="0" y="0"/>
              <a:ext cx="1900919" cy="715292"/>
              <a:chOff x="0" y="0"/>
              <a:chExt cx="2904119" cy="1106170"/>
            </a:xfrm>
          </p:grpSpPr>
          <p:sp>
            <p:nvSpPr>
              <p:cNvPr name="Freeform 44" id="44"/>
              <p:cNvSpPr/>
              <p:nvPr/>
            </p:nvSpPr>
            <p:spPr>
              <a:xfrm flipH="false" flipV="false" rot="0">
                <a:off x="0" y="0"/>
                <a:ext cx="2905389" cy="1106187"/>
              </a:xfrm>
              <a:custGeom>
                <a:avLst/>
                <a:gdLst/>
                <a:ahLst/>
                <a:cxnLst/>
                <a:rect r="r" b="b" t="t" l="l"/>
                <a:pathLst>
                  <a:path h="1106187" w="2905389">
                    <a:moveTo>
                      <a:pt x="2351669" y="45668"/>
                    </a:moveTo>
                    <a:cubicBezTo>
                      <a:pt x="2631069" y="45668"/>
                      <a:pt x="2858399" y="272741"/>
                      <a:pt x="2858399" y="551824"/>
                    </a:cubicBezTo>
                    <a:cubicBezTo>
                      <a:pt x="2858399" y="830908"/>
                      <a:pt x="2631069" y="1057980"/>
                      <a:pt x="2351669" y="1057980"/>
                    </a:cubicBezTo>
                    <a:lnTo>
                      <a:pt x="553720" y="1057980"/>
                    </a:lnTo>
                    <a:cubicBezTo>
                      <a:pt x="274320" y="1057980"/>
                      <a:pt x="46990" y="830908"/>
                      <a:pt x="46990" y="551824"/>
                    </a:cubicBezTo>
                    <a:cubicBezTo>
                      <a:pt x="46990" y="272741"/>
                      <a:pt x="274320" y="45668"/>
                      <a:pt x="553720" y="45668"/>
                    </a:cubicBezTo>
                    <a:lnTo>
                      <a:pt x="2351669" y="45668"/>
                    </a:lnTo>
                    <a:moveTo>
                      <a:pt x="2351669" y="0"/>
                    </a:moveTo>
                    <a:lnTo>
                      <a:pt x="553720" y="0"/>
                    </a:lnTo>
                    <a:cubicBezTo>
                      <a:pt x="247650" y="0"/>
                      <a:pt x="0" y="247369"/>
                      <a:pt x="0" y="553093"/>
                    </a:cubicBezTo>
                    <a:cubicBezTo>
                      <a:pt x="0" y="858816"/>
                      <a:pt x="247650" y="1106187"/>
                      <a:pt x="553720" y="1106187"/>
                    </a:cubicBezTo>
                    <a:lnTo>
                      <a:pt x="2351669" y="1106187"/>
                    </a:lnTo>
                    <a:cubicBezTo>
                      <a:pt x="2657739" y="1106187"/>
                      <a:pt x="2905389" y="858816"/>
                      <a:pt x="2905389" y="553093"/>
                    </a:cubicBezTo>
                    <a:cubicBezTo>
                      <a:pt x="2904119" y="247369"/>
                      <a:pt x="2656469" y="0"/>
                      <a:pt x="2351669" y="0"/>
                    </a:cubicBezTo>
                    <a:close/>
                  </a:path>
                </a:pathLst>
              </a:custGeom>
              <a:solidFill>
                <a:srgbClr val="2C92D5"/>
              </a:solidFill>
            </p:spPr>
          </p:sp>
        </p:grpSp>
        <p:sp>
          <p:nvSpPr>
            <p:cNvPr name="TextBox 45" id="45"/>
            <p:cNvSpPr txBox="true"/>
            <p:nvPr/>
          </p:nvSpPr>
          <p:spPr>
            <a:xfrm rot="0">
              <a:off x="238839" y="140476"/>
              <a:ext cx="1423240" cy="396240"/>
            </a:xfrm>
            <a:prstGeom prst="rect">
              <a:avLst/>
            </a:prstGeom>
          </p:spPr>
          <p:txBody>
            <a:bodyPr anchor="t" rtlCol="false" tIns="0" lIns="0" bIns="0" rIns="0">
              <a:spAutoFit/>
            </a:bodyPr>
            <a:lstStyle/>
            <a:p>
              <a:pPr algn="ctr">
                <a:lnSpc>
                  <a:spcPts val="2520"/>
                </a:lnSpc>
              </a:pPr>
              <a:r>
                <a:rPr lang="en-US" b="true" sz="1800" spc="89">
                  <a:solidFill>
                    <a:srgbClr val="763C00"/>
                  </a:solidFill>
                  <a:latin typeface="Aileron Bold"/>
                  <a:ea typeface="Aileron Bold"/>
                  <a:cs typeface="Aileron Bold"/>
                  <a:sym typeface="Aileron Bold"/>
                </a:rPr>
                <a:t>Thème 2</a:t>
              </a:r>
            </a:p>
          </p:txBody>
        </p:sp>
      </p:grpSp>
      <p:sp>
        <p:nvSpPr>
          <p:cNvPr name="TextBox 46" id="46"/>
          <p:cNvSpPr txBox="true"/>
          <p:nvPr/>
        </p:nvSpPr>
        <p:spPr>
          <a:xfrm rot="0">
            <a:off x="15535822" y="4875175"/>
            <a:ext cx="2772684" cy="824865"/>
          </a:xfrm>
          <a:prstGeom prst="rect">
            <a:avLst/>
          </a:prstGeom>
        </p:spPr>
        <p:txBody>
          <a:bodyPr anchor="t" rtlCol="false" tIns="0" lIns="0" bIns="0" rIns="0">
            <a:spAutoFit/>
          </a:bodyPr>
          <a:lstStyle/>
          <a:p>
            <a:pPr algn="ctr">
              <a:lnSpc>
                <a:spcPts val="3359"/>
              </a:lnSpc>
            </a:pPr>
            <a:r>
              <a:rPr lang="en-US" b="true" sz="2399" spc="119">
                <a:solidFill>
                  <a:srgbClr val="191919"/>
                </a:solidFill>
                <a:latin typeface="Aileron Bold"/>
                <a:ea typeface="Aileron Bold"/>
                <a:cs typeface="Aileron Bold"/>
                <a:sym typeface="Aileron Bold"/>
              </a:rPr>
              <a:t>Obstacles à la bancarisation </a:t>
            </a:r>
          </a:p>
        </p:txBody>
      </p:sp>
      <p:grpSp>
        <p:nvGrpSpPr>
          <p:cNvPr name="Group 47" id="47"/>
          <p:cNvGrpSpPr/>
          <p:nvPr/>
        </p:nvGrpSpPr>
        <p:grpSpPr>
          <a:xfrm rot="5400000">
            <a:off x="16508887" y="6014849"/>
            <a:ext cx="889413" cy="210266"/>
            <a:chOff x="0" y="0"/>
            <a:chExt cx="3690885" cy="508000"/>
          </a:xfrm>
        </p:grpSpPr>
        <p:sp>
          <p:nvSpPr>
            <p:cNvPr name="Freeform 48" id="48"/>
            <p:cNvSpPr/>
            <p:nvPr/>
          </p:nvSpPr>
          <p:spPr>
            <a:xfrm flipH="false" flipV="false" rot="0">
              <a:off x="0" y="272118"/>
              <a:ext cx="3394975" cy="96042"/>
            </a:xfrm>
            <a:custGeom>
              <a:avLst/>
              <a:gdLst/>
              <a:ahLst/>
              <a:cxnLst/>
              <a:rect r="r" b="b" t="t" l="l"/>
              <a:pathLst>
                <a:path h="96042" w="3394975">
                  <a:moveTo>
                    <a:pt x="0" y="0"/>
                  </a:moveTo>
                  <a:lnTo>
                    <a:pt x="3394975" y="0"/>
                  </a:lnTo>
                  <a:lnTo>
                    <a:pt x="3394975" y="96042"/>
                  </a:lnTo>
                  <a:lnTo>
                    <a:pt x="0" y="96042"/>
                  </a:lnTo>
                  <a:close/>
                </a:path>
              </a:pathLst>
            </a:custGeom>
            <a:solidFill>
              <a:srgbClr val="191919"/>
            </a:solidFill>
          </p:spPr>
        </p:sp>
        <p:sp>
          <p:nvSpPr>
            <p:cNvPr name="Freeform 49" id="49"/>
            <p:cNvSpPr/>
            <p:nvPr/>
          </p:nvSpPr>
          <p:spPr>
            <a:xfrm flipH="false" flipV="false" rot="0">
              <a:off x="3316235" y="1601"/>
              <a:ext cx="374650" cy="637077"/>
            </a:xfrm>
            <a:custGeom>
              <a:avLst/>
              <a:gdLst/>
              <a:ahLst/>
              <a:cxnLst/>
              <a:rect r="r" b="b" t="t" l="l"/>
              <a:pathLst>
                <a:path h="637077" w="374650">
                  <a:moveTo>
                    <a:pt x="0" y="637077"/>
                  </a:moveTo>
                  <a:lnTo>
                    <a:pt x="0" y="0"/>
                  </a:lnTo>
                  <a:lnTo>
                    <a:pt x="374650" y="318538"/>
                  </a:lnTo>
                  <a:close/>
                </a:path>
              </a:pathLst>
            </a:custGeom>
            <a:solidFill>
              <a:srgbClr val="191919"/>
            </a:solidFill>
          </p:spPr>
        </p:sp>
      </p:grpSp>
      <p:grpSp>
        <p:nvGrpSpPr>
          <p:cNvPr name="Group 50" id="50"/>
          <p:cNvGrpSpPr/>
          <p:nvPr/>
        </p:nvGrpSpPr>
        <p:grpSpPr>
          <a:xfrm rot="0">
            <a:off x="831959" y="5603472"/>
            <a:ext cx="8861998" cy="2367915"/>
            <a:chOff x="0" y="0"/>
            <a:chExt cx="2334024" cy="623648"/>
          </a:xfrm>
        </p:grpSpPr>
        <p:sp>
          <p:nvSpPr>
            <p:cNvPr name="Freeform 51" id="51"/>
            <p:cNvSpPr/>
            <p:nvPr/>
          </p:nvSpPr>
          <p:spPr>
            <a:xfrm flipH="false" flipV="false" rot="0">
              <a:off x="0" y="0"/>
              <a:ext cx="2334024" cy="623648"/>
            </a:xfrm>
            <a:custGeom>
              <a:avLst/>
              <a:gdLst/>
              <a:ahLst/>
              <a:cxnLst/>
              <a:rect r="r" b="b" t="t" l="l"/>
              <a:pathLst>
                <a:path h="623648" w="2334024">
                  <a:moveTo>
                    <a:pt x="44554" y="0"/>
                  </a:moveTo>
                  <a:lnTo>
                    <a:pt x="2289470" y="0"/>
                  </a:lnTo>
                  <a:cubicBezTo>
                    <a:pt x="2301287" y="0"/>
                    <a:pt x="2312619" y="4694"/>
                    <a:pt x="2320975" y="13050"/>
                  </a:cubicBezTo>
                  <a:cubicBezTo>
                    <a:pt x="2329330" y="21405"/>
                    <a:pt x="2334024" y="32738"/>
                    <a:pt x="2334024" y="44554"/>
                  </a:cubicBezTo>
                  <a:lnTo>
                    <a:pt x="2334024" y="579094"/>
                  </a:lnTo>
                  <a:cubicBezTo>
                    <a:pt x="2334024" y="603701"/>
                    <a:pt x="2314077" y="623648"/>
                    <a:pt x="2289470" y="623648"/>
                  </a:cubicBezTo>
                  <a:lnTo>
                    <a:pt x="44554" y="623648"/>
                  </a:lnTo>
                  <a:cubicBezTo>
                    <a:pt x="19948" y="623648"/>
                    <a:pt x="0" y="603701"/>
                    <a:pt x="0" y="579094"/>
                  </a:cubicBezTo>
                  <a:lnTo>
                    <a:pt x="0" y="44554"/>
                  </a:lnTo>
                  <a:cubicBezTo>
                    <a:pt x="0" y="19948"/>
                    <a:pt x="19948" y="0"/>
                    <a:pt x="44554" y="0"/>
                  </a:cubicBezTo>
                  <a:close/>
                </a:path>
              </a:pathLst>
            </a:custGeom>
            <a:solidFill>
              <a:srgbClr val="FCF1E4"/>
            </a:solidFill>
            <a:ln w="66675" cap="rnd">
              <a:solidFill>
                <a:srgbClr val="763C00"/>
              </a:solidFill>
              <a:prstDash val="solid"/>
              <a:round/>
            </a:ln>
          </p:spPr>
        </p:sp>
        <p:sp>
          <p:nvSpPr>
            <p:cNvPr name="TextBox 52" id="52"/>
            <p:cNvSpPr txBox="true"/>
            <p:nvPr/>
          </p:nvSpPr>
          <p:spPr>
            <a:xfrm>
              <a:off x="0" y="-28575"/>
              <a:ext cx="2334024" cy="652223"/>
            </a:xfrm>
            <a:prstGeom prst="rect">
              <a:avLst/>
            </a:prstGeom>
          </p:spPr>
          <p:txBody>
            <a:bodyPr anchor="ctr" rtlCol="false" tIns="50800" lIns="50800" bIns="50800" rIns="50800"/>
            <a:lstStyle/>
            <a:p>
              <a:pPr algn="ctr">
                <a:lnSpc>
                  <a:spcPts val="3224"/>
                </a:lnSpc>
              </a:pPr>
            </a:p>
          </p:txBody>
        </p:sp>
      </p:grpSp>
      <p:sp>
        <p:nvSpPr>
          <p:cNvPr name="TextBox 53" id="53"/>
          <p:cNvSpPr txBox="true"/>
          <p:nvPr/>
        </p:nvSpPr>
        <p:spPr>
          <a:xfrm rot="0">
            <a:off x="653627" y="6141634"/>
            <a:ext cx="8516569" cy="1243965"/>
          </a:xfrm>
          <a:prstGeom prst="rect">
            <a:avLst/>
          </a:prstGeom>
        </p:spPr>
        <p:txBody>
          <a:bodyPr anchor="t" rtlCol="false" tIns="0" lIns="0" bIns="0" rIns="0">
            <a:spAutoFit/>
          </a:bodyPr>
          <a:lstStyle/>
          <a:p>
            <a:pPr algn="l" marL="518158" indent="-259079" lvl="1">
              <a:lnSpc>
                <a:spcPts val="3359"/>
              </a:lnSpc>
              <a:buFont typeface="Arial"/>
              <a:buChar char="•"/>
            </a:pPr>
            <a:r>
              <a:rPr lang="en-US" b="true" sz="2399" spc="119">
                <a:solidFill>
                  <a:srgbClr val="191919"/>
                </a:solidFill>
                <a:latin typeface="Aileron Bold"/>
                <a:ea typeface="Aileron Bold"/>
                <a:cs typeface="Aileron Bold"/>
                <a:sym typeface="Aileron Bold"/>
              </a:rPr>
              <a:t>3.1.1 : Satisfaction des utilisateurs vis-à-vis des services bancaires</a:t>
            </a:r>
          </a:p>
          <a:p>
            <a:pPr algn="l" marL="518158" indent="-259079" lvl="1">
              <a:lnSpc>
                <a:spcPts val="3359"/>
              </a:lnSpc>
              <a:buFont typeface="Arial"/>
              <a:buChar char="•"/>
            </a:pPr>
            <a:r>
              <a:rPr lang="en-US" b="true" sz="2399" spc="119">
                <a:solidFill>
                  <a:srgbClr val="191919"/>
                </a:solidFill>
                <a:latin typeface="Aileron Bold"/>
                <a:ea typeface="Aileron Bold"/>
                <a:cs typeface="Aileron Bold"/>
                <a:sym typeface="Aileron Bold"/>
              </a:rPr>
              <a:t>3.1.2 : Perception des coûts et des frais bancaires. </a:t>
            </a:r>
          </a:p>
        </p:txBody>
      </p:sp>
      <p:sp>
        <p:nvSpPr>
          <p:cNvPr name="TextBox 54" id="54"/>
          <p:cNvSpPr txBox="true"/>
          <p:nvPr/>
        </p:nvSpPr>
        <p:spPr>
          <a:xfrm rot="0">
            <a:off x="1031902" y="5698722"/>
            <a:ext cx="2130857" cy="489585"/>
          </a:xfrm>
          <a:prstGeom prst="rect">
            <a:avLst/>
          </a:prstGeom>
        </p:spPr>
        <p:txBody>
          <a:bodyPr anchor="t" rtlCol="false" tIns="0" lIns="0" bIns="0" rIns="0">
            <a:spAutoFit/>
          </a:bodyPr>
          <a:lstStyle/>
          <a:p>
            <a:pPr algn="ctr">
              <a:lnSpc>
                <a:spcPts val="3870"/>
              </a:lnSpc>
              <a:spcBef>
                <a:spcPct val="0"/>
              </a:spcBef>
            </a:pPr>
            <a:r>
              <a:rPr lang="en-US" b="true" sz="3000">
                <a:solidFill>
                  <a:srgbClr val="B31E1E"/>
                </a:solidFill>
                <a:latin typeface="Roboto Bold"/>
                <a:ea typeface="Roboto Bold"/>
                <a:cs typeface="Roboto Bold"/>
                <a:sym typeface="Roboto Bold"/>
              </a:rPr>
              <a:t>Indicateurs</a:t>
            </a:r>
          </a:p>
        </p:txBody>
      </p:sp>
      <p:grpSp>
        <p:nvGrpSpPr>
          <p:cNvPr name="Group 55" id="55"/>
          <p:cNvGrpSpPr/>
          <p:nvPr/>
        </p:nvGrpSpPr>
        <p:grpSpPr>
          <a:xfrm rot="0">
            <a:off x="9854977" y="6593264"/>
            <a:ext cx="8433023" cy="2367915"/>
            <a:chOff x="0" y="0"/>
            <a:chExt cx="2221043" cy="623648"/>
          </a:xfrm>
        </p:grpSpPr>
        <p:sp>
          <p:nvSpPr>
            <p:cNvPr name="Freeform 56" id="56"/>
            <p:cNvSpPr/>
            <p:nvPr/>
          </p:nvSpPr>
          <p:spPr>
            <a:xfrm flipH="false" flipV="false" rot="0">
              <a:off x="0" y="0"/>
              <a:ext cx="2221043" cy="623648"/>
            </a:xfrm>
            <a:custGeom>
              <a:avLst/>
              <a:gdLst/>
              <a:ahLst/>
              <a:cxnLst/>
              <a:rect r="r" b="b" t="t" l="l"/>
              <a:pathLst>
                <a:path h="623648" w="2221043">
                  <a:moveTo>
                    <a:pt x="46820" y="0"/>
                  </a:moveTo>
                  <a:lnTo>
                    <a:pt x="2174223" y="0"/>
                  </a:lnTo>
                  <a:cubicBezTo>
                    <a:pt x="2200081" y="0"/>
                    <a:pt x="2221043" y="20962"/>
                    <a:pt x="2221043" y="46820"/>
                  </a:cubicBezTo>
                  <a:lnTo>
                    <a:pt x="2221043" y="576828"/>
                  </a:lnTo>
                  <a:cubicBezTo>
                    <a:pt x="2221043" y="589246"/>
                    <a:pt x="2216110" y="601155"/>
                    <a:pt x="2207330" y="609935"/>
                  </a:cubicBezTo>
                  <a:cubicBezTo>
                    <a:pt x="2198549" y="618716"/>
                    <a:pt x="2186640" y="623648"/>
                    <a:pt x="2174223" y="623648"/>
                  </a:cubicBezTo>
                  <a:lnTo>
                    <a:pt x="46820" y="623648"/>
                  </a:lnTo>
                  <a:cubicBezTo>
                    <a:pt x="34403" y="623648"/>
                    <a:pt x="22494" y="618716"/>
                    <a:pt x="13713" y="609935"/>
                  </a:cubicBezTo>
                  <a:cubicBezTo>
                    <a:pt x="4933" y="601155"/>
                    <a:pt x="0" y="589246"/>
                    <a:pt x="0" y="576828"/>
                  </a:cubicBezTo>
                  <a:lnTo>
                    <a:pt x="0" y="46820"/>
                  </a:lnTo>
                  <a:cubicBezTo>
                    <a:pt x="0" y="34403"/>
                    <a:pt x="4933" y="22494"/>
                    <a:pt x="13713" y="13713"/>
                  </a:cubicBezTo>
                  <a:cubicBezTo>
                    <a:pt x="22494" y="4933"/>
                    <a:pt x="34403" y="0"/>
                    <a:pt x="46820" y="0"/>
                  </a:cubicBezTo>
                  <a:close/>
                </a:path>
              </a:pathLst>
            </a:custGeom>
            <a:solidFill>
              <a:srgbClr val="FCF1E4"/>
            </a:solidFill>
            <a:ln w="66675" cap="rnd">
              <a:solidFill>
                <a:srgbClr val="763C00"/>
              </a:solidFill>
              <a:prstDash val="solid"/>
              <a:round/>
            </a:ln>
          </p:spPr>
        </p:sp>
        <p:sp>
          <p:nvSpPr>
            <p:cNvPr name="TextBox 57" id="57"/>
            <p:cNvSpPr txBox="true"/>
            <p:nvPr/>
          </p:nvSpPr>
          <p:spPr>
            <a:xfrm>
              <a:off x="0" y="-28575"/>
              <a:ext cx="2221043" cy="652223"/>
            </a:xfrm>
            <a:prstGeom prst="rect">
              <a:avLst/>
            </a:prstGeom>
          </p:spPr>
          <p:txBody>
            <a:bodyPr anchor="ctr" rtlCol="false" tIns="50800" lIns="50800" bIns="50800" rIns="50800"/>
            <a:lstStyle/>
            <a:p>
              <a:pPr algn="ctr">
                <a:lnSpc>
                  <a:spcPts val="3224"/>
                </a:lnSpc>
              </a:pPr>
            </a:p>
          </p:txBody>
        </p:sp>
      </p:grpSp>
      <p:sp>
        <p:nvSpPr>
          <p:cNvPr name="TextBox 58" id="58"/>
          <p:cNvSpPr txBox="true"/>
          <p:nvPr/>
        </p:nvSpPr>
        <p:spPr>
          <a:xfrm rot="0">
            <a:off x="9748612" y="7159049"/>
            <a:ext cx="8594043" cy="1243965"/>
          </a:xfrm>
          <a:prstGeom prst="rect">
            <a:avLst/>
          </a:prstGeom>
        </p:spPr>
        <p:txBody>
          <a:bodyPr anchor="t" rtlCol="false" tIns="0" lIns="0" bIns="0" rIns="0">
            <a:spAutoFit/>
          </a:bodyPr>
          <a:lstStyle/>
          <a:p>
            <a:pPr algn="l" marL="518158" indent="-259079" lvl="1">
              <a:lnSpc>
                <a:spcPts val="3359"/>
              </a:lnSpc>
              <a:buFont typeface="Arial"/>
              <a:buChar char="•"/>
            </a:pPr>
            <a:r>
              <a:rPr lang="en-US" b="true" sz="2399" spc="119">
                <a:solidFill>
                  <a:srgbClr val="191919"/>
                </a:solidFill>
                <a:latin typeface="Aileron Bold"/>
                <a:ea typeface="Aileron Bold"/>
                <a:cs typeface="Aileron Bold"/>
                <a:sym typeface="Aileron Bold"/>
              </a:rPr>
              <a:t>3.2.1 : Principales entraves à l’accès aux services bancaires</a:t>
            </a:r>
          </a:p>
          <a:p>
            <a:pPr algn="l" marL="518158" indent="-259079" lvl="1">
              <a:lnSpc>
                <a:spcPts val="3359"/>
              </a:lnSpc>
              <a:buFont typeface="Arial"/>
              <a:buChar char="•"/>
            </a:pPr>
            <a:r>
              <a:rPr lang="en-US" b="true" sz="2399" spc="119">
                <a:solidFill>
                  <a:srgbClr val="191919"/>
                </a:solidFill>
                <a:latin typeface="Aileron Bold"/>
                <a:ea typeface="Aileron Bold"/>
                <a:cs typeface="Aileron Bold"/>
                <a:sym typeface="Aileron Bold"/>
              </a:rPr>
              <a:t>3.2.2 : Suggestions pour améliorer l’accessibilité. </a:t>
            </a:r>
          </a:p>
        </p:txBody>
      </p:sp>
      <p:sp>
        <p:nvSpPr>
          <p:cNvPr name="TextBox 59" id="59"/>
          <p:cNvSpPr txBox="true"/>
          <p:nvPr/>
        </p:nvSpPr>
        <p:spPr>
          <a:xfrm rot="0">
            <a:off x="15879248" y="6688514"/>
            <a:ext cx="2141272" cy="489585"/>
          </a:xfrm>
          <a:prstGeom prst="rect">
            <a:avLst/>
          </a:prstGeom>
        </p:spPr>
        <p:txBody>
          <a:bodyPr anchor="t" rtlCol="false" tIns="0" lIns="0" bIns="0" rIns="0">
            <a:spAutoFit/>
          </a:bodyPr>
          <a:lstStyle/>
          <a:p>
            <a:pPr algn="ctr">
              <a:lnSpc>
                <a:spcPts val="3870"/>
              </a:lnSpc>
              <a:spcBef>
                <a:spcPct val="0"/>
              </a:spcBef>
            </a:pPr>
            <a:r>
              <a:rPr lang="en-US" b="true" sz="3000">
                <a:solidFill>
                  <a:srgbClr val="B31E1E"/>
                </a:solidFill>
                <a:latin typeface="Roboto Bold"/>
                <a:ea typeface="Roboto Bold"/>
                <a:cs typeface="Roboto Bold"/>
                <a:sym typeface="Roboto Bold"/>
              </a:rPr>
              <a:t>Indicateurs</a:t>
            </a:r>
          </a:p>
        </p:txBody>
      </p:sp>
    </p:spTree>
  </p:cSld>
  <p:clrMapOvr>
    <a:masterClrMapping/>
  </p:clrMapOvr>
  <p:transition spd="slow">
    <p:push dir="l"/>
  </p:transition>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EF8535"/>
        </a:solidFill>
      </p:bgPr>
    </p:bg>
    <p:spTree>
      <p:nvGrpSpPr>
        <p:cNvPr id="1" name=""/>
        <p:cNvGrpSpPr/>
        <p:nvPr/>
      </p:nvGrpSpPr>
      <p:grpSpPr>
        <a:xfrm>
          <a:off x="0" y="0"/>
          <a:ext cx="0" cy="0"/>
          <a:chOff x="0" y="0"/>
          <a:chExt cx="0" cy="0"/>
        </a:xfrm>
      </p:grpSpPr>
      <p:grpSp>
        <p:nvGrpSpPr>
          <p:cNvPr name="Group 2" id="2"/>
          <p:cNvGrpSpPr/>
          <p:nvPr/>
        </p:nvGrpSpPr>
        <p:grpSpPr>
          <a:xfrm rot="0">
            <a:off x="10401430" y="-642826"/>
            <a:ext cx="5809027" cy="9901126"/>
            <a:chOff x="0" y="0"/>
            <a:chExt cx="660400" cy="1125611"/>
          </a:xfrm>
        </p:grpSpPr>
        <p:sp>
          <p:nvSpPr>
            <p:cNvPr name="Freeform 3" id="3"/>
            <p:cNvSpPr/>
            <p:nvPr/>
          </p:nvSpPr>
          <p:spPr>
            <a:xfrm flipH="false" flipV="false" rot="0">
              <a:off x="0" y="0"/>
              <a:ext cx="660400" cy="1125611"/>
            </a:xfrm>
            <a:custGeom>
              <a:avLst/>
              <a:gdLst/>
              <a:ahLst/>
              <a:cxnLst/>
              <a:rect r="r" b="b" t="t" l="l"/>
              <a:pathLst>
                <a:path h="1125611" w="660400">
                  <a:moveTo>
                    <a:pt x="220252" y="1106542"/>
                  </a:moveTo>
                  <a:cubicBezTo>
                    <a:pt x="254109" y="1118056"/>
                    <a:pt x="292600" y="1125611"/>
                    <a:pt x="330378" y="1125611"/>
                  </a:cubicBezTo>
                  <a:cubicBezTo>
                    <a:pt x="368157" y="1125611"/>
                    <a:pt x="404509" y="1119134"/>
                    <a:pt x="438009" y="1107620"/>
                  </a:cubicBezTo>
                  <a:cubicBezTo>
                    <a:pt x="438723" y="1107261"/>
                    <a:pt x="439435" y="1107261"/>
                    <a:pt x="440148" y="1106901"/>
                  </a:cubicBezTo>
                  <a:cubicBezTo>
                    <a:pt x="565955" y="1060846"/>
                    <a:pt x="658618" y="939232"/>
                    <a:pt x="660400" y="790160"/>
                  </a:cubicBezTo>
                  <a:lnTo>
                    <a:pt x="660400" y="0"/>
                  </a:lnTo>
                  <a:lnTo>
                    <a:pt x="0" y="0"/>
                  </a:lnTo>
                  <a:lnTo>
                    <a:pt x="0" y="789574"/>
                  </a:lnTo>
                  <a:cubicBezTo>
                    <a:pt x="1782" y="939951"/>
                    <a:pt x="93019" y="1061566"/>
                    <a:pt x="220252" y="1106542"/>
                  </a:cubicBezTo>
                  <a:close/>
                </a:path>
              </a:pathLst>
            </a:custGeom>
            <a:solidFill>
              <a:srgbClr val="763C00"/>
            </a:solidFill>
            <a:ln cap="sq">
              <a:noFill/>
              <a:prstDash val="solid"/>
              <a:miter/>
            </a:ln>
          </p:spPr>
        </p:sp>
        <p:sp>
          <p:nvSpPr>
            <p:cNvPr name="TextBox 4" id="4"/>
            <p:cNvSpPr txBox="true"/>
            <p:nvPr/>
          </p:nvSpPr>
          <p:spPr>
            <a:xfrm>
              <a:off x="0" y="-38100"/>
              <a:ext cx="660400" cy="103671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95778" y="6270394"/>
            <a:ext cx="6770715" cy="277115"/>
            <a:chOff x="0" y="0"/>
            <a:chExt cx="1783234" cy="72985"/>
          </a:xfrm>
        </p:grpSpPr>
        <p:sp>
          <p:nvSpPr>
            <p:cNvPr name="Freeform 6" id="6"/>
            <p:cNvSpPr/>
            <p:nvPr/>
          </p:nvSpPr>
          <p:spPr>
            <a:xfrm flipH="false" flipV="false" rot="0">
              <a:off x="0" y="0"/>
              <a:ext cx="1783234" cy="72985"/>
            </a:xfrm>
            <a:custGeom>
              <a:avLst/>
              <a:gdLst/>
              <a:ahLst/>
              <a:cxnLst/>
              <a:rect r="r" b="b" t="t" l="l"/>
              <a:pathLst>
                <a:path h="72985" w="1783234">
                  <a:moveTo>
                    <a:pt x="0" y="0"/>
                  </a:moveTo>
                  <a:lnTo>
                    <a:pt x="1783234" y="0"/>
                  </a:lnTo>
                  <a:lnTo>
                    <a:pt x="1783234" y="72985"/>
                  </a:lnTo>
                  <a:lnTo>
                    <a:pt x="0" y="72985"/>
                  </a:lnTo>
                  <a:close/>
                </a:path>
              </a:pathLst>
            </a:custGeom>
            <a:solidFill>
              <a:srgbClr val="F9F7DC"/>
            </a:solidFill>
          </p:spPr>
        </p:sp>
        <p:sp>
          <p:nvSpPr>
            <p:cNvPr name="TextBox 7" id="7"/>
            <p:cNvSpPr txBox="true"/>
            <p:nvPr/>
          </p:nvSpPr>
          <p:spPr>
            <a:xfrm>
              <a:off x="0" y="-38100"/>
              <a:ext cx="1783234" cy="111085"/>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8766493" y="6119771"/>
            <a:ext cx="1079400" cy="1028392"/>
          </a:xfrm>
          <a:custGeom>
            <a:avLst/>
            <a:gdLst/>
            <a:ahLst/>
            <a:cxnLst/>
            <a:rect r="r" b="b" t="t" l="l"/>
            <a:pathLst>
              <a:path h="1028392" w="1079400">
                <a:moveTo>
                  <a:pt x="0" y="0"/>
                </a:moveTo>
                <a:lnTo>
                  <a:pt x="1079400" y="0"/>
                </a:lnTo>
                <a:lnTo>
                  <a:pt x="1079400" y="1028392"/>
                </a:lnTo>
                <a:lnTo>
                  <a:pt x="0" y="10283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315409" y="4490109"/>
            <a:ext cx="3981069" cy="4114800"/>
          </a:xfrm>
          <a:custGeom>
            <a:avLst/>
            <a:gdLst/>
            <a:ahLst/>
            <a:cxnLst/>
            <a:rect r="r" b="b" t="t" l="l"/>
            <a:pathLst>
              <a:path h="4114800" w="3981069">
                <a:moveTo>
                  <a:pt x="0" y="0"/>
                </a:moveTo>
                <a:lnTo>
                  <a:pt x="3981069" y="0"/>
                </a:lnTo>
                <a:lnTo>
                  <a:pt x="398106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376227" y="3772662"/>
            <a:ext cx="7469666" cy="2164802"/>
          </a:xfrm>
          <a:prstGeom prst="rect">
            <a:avLst/>
          </a:prstGeom>
        </p:spPr>
        <p:txBody>
          <a:bodyPr anchor="t" rtlCol="false" tIns="0" lIns="0" bIns="0" rIns="0">
            <a:spAutoFit/>
          </a:bodyPr>
          <a:lstStyle/>
          <a:p>
            <a:pPr algn="l">
              <a:lnSpc>
                <a:spcPts val="7488"/>
              </a:lnSpc>
            </a:pPr>
            <a:r>
              <a:rPr lang="en-US" b="true" sz="7882" spc="-39">
                <a:solidFill>
                  <a:srgbClr val="F9F7DC"/>
                </a:solidFill>
                <a:latin typeface="Agrandir Narrow Bold"/>
                <a:ea typeface="Agrandir Narrow Bold"/>
                <a:cs typeface="Agrandir Narrow Bold"/>
                <a:sym typeface="Agrandir Narrow Bold"/>
              </a:rPr>
              <a:t>Budget et calendrier</a:t>
            </a:r>
          </a:p>
        </p:txBody>
      </p:sp>
      <p:sp>
        <p:nvSpPr>
          <p:cNvPr name="TextBox 11" id="11"/>
          <p:cNvSpPr txBox="true"/>
          <p:nvPr/>
        </p:nvSpPr>
        <p:spPr>
          <a:xfrm rot="0">
            <a:off x="2376227" y="6269588"/>
            <a:ext cx="5837816" cy="326351"/>
          </a:xfrm>
          <a:prstGeom prst="rect">
            <a:avLst/>
          </a:prstGeom>
        </p:spPr>
        <p:txBody>
          <a:bodyPr anchor="t" rtlCol="false" tIns="0" lIns="0" bIns="0" rIns="0">
            <a:spAutoFit/>
          </a:bodyPr>
          <a:lstStyle/>
          <a:p>
            <a:pPr algn="l">
              <a:lnSpc>
                <a:spcPts val="2354"/>
              </a:lnSpc>
            </a:pPr>
            <a:r>
              <a:rPr lang="en-US" b="true" sz="2478" i="true" spc="-39">
                <a:solidFill>
                  <a:srgbClr val="763C00"/>
                </a:solidFill>
                <a:latin typeface="Arimo Bold Italics"/>
                <a:ea typeface="Arimo Bold Italics"/>
                <a:cs typeface="Arimo Bold Italics"/>
                <a:sym typeface="Arimo Bold Italics"/>
              </a:rPr>
              <a:t>Dépenses et déroulement de l’enquête</a:t>
            </a:r>
          </a:p>
        </p:txBody>
      </p:sp>
      <p:sp>
        <p:nvSpPr>
          <p:cNvPr name="TextBox 12" id="12"/>
          <p:cNvSpPr txBox="true"/>
          <p:nvPr/>
        </p:nvSpPr>
        <p:spPr>
          <a:xfrm rot="0">
            <a:off x="12617956" y="1322665"/>
            <a:ext cx="1375975" cy="2559051"/>
          </a:xfrm>
          <a:prstGeom prst="rect">
            <a:avLst/>
          </a:prstGeom>
        </p:spPr>
        <p:txBody>
          <a:bodyPr anchor="t" rtlCol="false" tIns="0" lIns="0" bIns="0" rIns="0">
            <a:spAutoFit/>
          </a:bodyPr>
          <a:lstStyle/>
          <a:p>
            <a:pPr algn="just" marL="0" indent="0" lvl="0">
              <a:lnSpc>
                <a:spcPts val="19000"/>
              </a:lnSpc>
              <a:spcBef>
                <a:spcPct val="0"/>
              </a:spcBef>
            </a:pPr>
            <a:r>
              <a:rPr lang="en-US" b="true" sz="20000" spc="-100">
                <a:solidFill>
                  <a:srgbClr val="F9F7DC"/>
                </a:solidFill>
                <a:latin typeface="Museo Moderno Bold"/>
                <a:ea typeface="Museo Moderno Bold"/>
                <a:cs typeface="Museo Moderno Bold"/>
                <a:sym typeface="Museo Moderno Bold"/>
              </a:rPr>
              <a:t>5</a:t>
            </a:r>
          </a:p>
        </p:txBody>
      </p:sp>
    </p:spTree>
  </p:cSld>
  <p:clrMapOvr>
    <a:masterClrMapping/>
  </p:clrMapOvr>
  <p:transition spd="slow">
    <p:push dir="l"/>
  </p:transition>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9F7DC"/>
        </a:solidFill>
      </p:bgPr>
    </p:bg>
    <p:spTree>
      <p:nvGrpSpPr>
        <p:cNvPr id="1" name=""/>
        <p:cNvGrpSpPr/>
        <p:nvPr/>
      </p:nvGrpSpPr>
      <p:grpSpPr>
        <a:xfrm>
          <a:off x="0" y="0"/>
          <a:ext cx="0" cy="0"/>
          <a:chOff x="0" y="0"/>
          <a:chExt cx="0" cy="0"/>
        </a:xfrm>
      </p:grpSpPr>
      <p:sp>
        <p:nvSpPr>
          <p:cNvPr name="TextBox 2" id="2"/>
          <p:cNvSpPr txBox="true"/>
          <p:nvPr/>
        </p:nvSpPr>
        <p:spPr>
          <a:xfrm rot="0">
            <a:off x="6070804" y="4553931"/>
            <a:ext cx="11602559" cy="2762250"/>
          </a:xfrm>
          <a:prstGeom prst="rect">
            <a:avLst/>
          </a:prstGeom>
        </p:spPr>
        <p:txBody>
          <a:bodyPr anchor="t" rtlCol="false" tIns="0" lIns="0" bIns="0" rIns="0">
            <a:spAutoFit/>
          </a:bodyPr>
          <a:lstStyle/>
          <a:p>
            <a:pPr algn="l" marL="647700" indent="-323850" lvl="1">
              <a:lnSpc>
                <a:spcPts val="7350"/>
              </a:lnSpc>
              <a:buFont typeface="Arial"/>
              <a:buChar char="•"/>
            </a:pPr>
            <a:r>
              <a:rPr lang="en-US" b="true" sz="3000" spc="-60">
                <a:solidFill>
                  <a:srgbClr val="022E69"/>
                </a:solidFill>
                <a:latin typeface="Agrandir Narrow Bold"/>
                <a:ea typeface="Agrandir Narrow Bold"/>
                <a:cs typeface="Agrandir Narrow Bold"/>
                <a:sym typeface="Agrandir Narrow Bold"/>
              </a:rPr>
              <a:t>10 683 000 FCFA alloué au personnel (93%)</a:t>
            </a:r>
          </a:p>
          <a:p>
            <a:pPr algn="l" marL="647700" indent="-323850" lvl="1">
              <a:lnSpc>
                <a:spcPts val="7350"/>
              </a:lnSpc>
              <a:buFont typeface="Arial"/>
              <a:buChar char="•"/>
            </a:pPr>
            <a:r>
              <a:rPr lang="en-US" b="true" sz="3000" spc="-60">
                <a:solidFill>
                  <a:srgbClr val="022E69"/>
                </a:solidFill>
                <a:latin typeface="Agrandir Narrow Bold"/>
                <a:ea typeface="Agrandir Narrow Bold"/>
                <a:cs typeface="Agrandir Narrow Bold"/>
                <a:sym typeface="Agrandir Narrow Bold"/>
              </a:rPr>
              <a:t>654 500 FCFA prévus pour les dépenses de  fonctionnement (6%)</a:t>
            </a:r>
          </a:p>
          <a:p>
            <a:pPr algn="l" marL="647700" indent="-323850" lvl="1">
              <a:lnSpc>
                <a:spcPts val="7350"/>
              </a:lnSpc>
              <a:buFont typeface="Arial"/>
              <a:buChar char="•"/>
            </a:pPr>
            <a:r>
              <a:rPr lang="en-US" b="true" sz="3000" spc="-60">
                <a:solidFill>
                  <a:srgbClr val="022E69"/>
                </a:solidFill>
                <a:latin typeface="Agrandir Narrow Bold"/>
                <a:ea typeface="Agrandir Narrow Bold"/>
                <a:cs typeface="Agrandir Narrow Bold"/>
                <a:sym typeface="Agrandir Narrow Bold"/>
              </a:rPr>
              <a:t>170 000 FCFA investi en sensibilisation (1%)</a:t>
            </a:r>
          </a:p>
        </p:txBody>
      </p:sp>
      <p:sp>
        <p:nvSpPr>
          <p:cNvPr name="AutoShape 3" id="3"/>
          <p:cNvSpPr/>
          <p:nvPr/>
        </p:nvSpPr>
        <p:spPr>
          <a:xfrm>
            <a:off x="6851788" y="5631623"/>
            <a:ext cx="10821576" cy="0"/>
          </a:xfrm>
          <a:prstGeom prst="line">
            <a:avLst/>
          </a:prstGeom>
          <a:ln cap="flat" w="28575">
            <a:solidFill>
              <a:srgbClr val="022E69"/>
            </a:solidFill>
            <a:prstDash val="solid"/>
            <a:headEnd type="none" len="sm" w="sm"/>
            <a:tailEnd type="none" len="sm" w="sm"/>
          </a:ln>
        </p:spPr>
      </p:sp>
      <p:sp>
        <p:nvSpPr>
          <p:cNvPr name="AutoShape 4" id="4"/>
          <p:cNvSpPr/>
          <p:nvPr/>
        </p:nvSpPr>
        <p:spPr>
          <a:xfrm>
            <a:off x="6471308" y="6690261"/>
            <a:ext cx="10821576" cy="0"/>
          </a:xfrm>
          <a:prstGeom prst="line">
            <a:avLst/>
          </a:prstGeom>
          <a:ln cap="flat" w="28575">
            <a:solidFill>
              <a:srgbClr val="022E69"/>
            </a:solidFill>
            <a:prstDash val="solid"/>
            <a:headEnd type="none" len="sm" w="sm"/>
            <a:tailEnd type="none" len="sm" w="sm"/>
          </a:ln>
        </p:spPr>
      </p:sp>
      <p:grpSp>
        <p:nvGrpSpPr>
          <p:cNvPr name="Group 5" id="5"/>
          <p:cNvGrpSpPr/>
          <p:nvPr/>
        </p:nvGrpSpPr>
        <p:grpSpPr>
          <a:xfrm rot="0">
            <a:off x="1062945" y="-274373"/>
            <a:ext cx="5007859" cy="8920054"/>
            <a:chOff x="0" y="0"/>
            <a:chExt cx="6677145" cy="11893405"/>
          </a:xfrm>
        </p:grpSpPr>
        <p:grpSp>
          <p:nvGrpSpPr>
            <p:cNvPr name="Group 6" id="6"/>
            <p:cNvGrpSpPr/>
            <p:nvPr/>
          </p:nvGrpSpPr>
          <p:grpSpPr>
            <a:xfrm rot="0">
              <a:off x="0" y="0"/>
              <a:ext cx="6677145" cy="11893405"/>
              <a:chOff x="0" y="0"/>
              <a:chExt cx="569319" cy="1014077"/>
            </a:xfrm>
          </p:grpSpPr>
          <p:sp>
            <p:nvSpPr>
              <p:cNvPr name="Freeform 7" id="7"/>
              <p:cNvSpPr/>
              <p:nvPr/>
            </p:nvSpPr>
            <p:spPr>
              <a:xfrm flipH="false" flipV="false" rot="0">
                <a:off x="0" y="0"/>
                <a:ext cx="569319" cy="1014077"/>
              </a:xfrm>
              <a:custGeom>
                <a:avLst/>
                <a:gdLst/>
                <a:ahLst/>
                <a:cxnLst/>
                <a:rect r="r" b="b" t="t" l="l"/>
                <a:pathLst>
                  <a:path h="1014077" w="569319">
                    <a:moveTo>
                      <a:pt x="189876" y="995008"/>
                    </a:moveTo>
                    <a:cubicBezTo>
                      <a:pt x="219063" y="1006522"/>
                      <a:pt x="252246" y="1014077"/>
                      <a:pt x="284813" y="1014077"/>
                    </a:cubicBezTo>
                    <a:cubicBezTo>
                      <a:pt x="317381" y="1014077"/>
                      <a:pt x="348720" y="1007600"/>
                      <a:pt x="377600" y="996087"/>
                    </a:cubicBezTo>
                    <a:cubicBezTo>
                      <a:pt x="378215" y="995727"/>
                      <a:pt x="378829" y="995727"/>
                      <a:pt x="379444" y="995368"/>
                    </a:cubicBezTo>
                    <a:cubicBezTo>
                      <a:pt x="487900" y="949313"/>
                      <a:pt x="567783" y="827699"/>
                      <a:pt x="569319" y="681105"/>
                    </a:cubicBezTo>
                    <a:lnTo>
                      <a:pt x="569319" y="0"/>
                    </a:lnTo>
                    <a:lnTo>
                      <a:pt x="0" y="0"/>
                    </a:lnTo>
                    <a:lnTo>
                      <a:pt x="0" y="680599"/>
                    </a:lnTo>
                    <a:cubicBezTo>
                      <a:pt x="1536" y="828417"/>
                      <a:pt x="80190" y="950033"/>
                      <a:pt x="189876" y="995008"/>
                    </a:cubicBezTo>
                    <a:close/>
                  </a:path>
                </a:pathLst>
              </a:custGeom>
              <a:solidFill>
                <a:srgbClr val="C34D24"/>
              </a:solidFill>
              <a:ln w="38100" cap="sq">
                <a:solidFill>
                  <a:srgbClr val="FFFFFF"/>
                </a:solidFill>
                <a:prstDash val="solid"/>
                <a:miter/>
              </a:ln>
            </p:spPr>
          </p:sp>
          <p:sp>
            <p:nvSpPr>
              <p:cNvPr name="TextBox 8" id="8"/>
              <p:cNvSpPr txBox="true"/>
              <p:nvPr/>
            </p:nvSpPr>
            <p:spPr>
              <a:xfrm>
                <a:off x="0" y="-38100"/>
                <a:ext cx="569319" cy="925177"/>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391688" y="2560629"/>
              <a:ext cx="5893768" cy="1587830"/>
            </a:xfrm>
            <a:prstGeom prst="rect">
              <a:avLst/>
            </a:prstGeom>
          </p:spPr>
          <p:txBody>
            <a:bodyPr anchor="t" rtlCol="false" tIns="0" lIns="0" bIns="0" rIns="0">
              <a:spAutoFit/>
            </a:bodyPr>
            <a:lstStyle/>
            <a:p>
              <a:pPr algn="ctr" marL="0" indent="0" lvl="0">
                <a:lnSpc>
                  <a:spcPts val="7203"/>
                </a:lnSpc>
                <a:spcBef>
                  <a:spcPct val="0"/>
                </a:spcBef>
              </a:pPr>
              <a:r>
                <a:rPr lang="en-US" b="true" sz="7582" spc="-37">
                  <a:solidFill>
                    <a:srgbClr val="F8F9F9"/>
                  </a:solidFill>
                  <a:latin typeface="Agrandir Narrow Bold"/>
                  <a:ea typeface="Agrandir Narrow Bold"/>
                  <a:cs typeface="Agrandir Narrow Bold"/>
                  <a:sym typeface="Agrandir Narrow Bold"/>
                </a:rPr>
                <a:t>Budget</a:t>
              </a:r>
            </a:p>
          </p:txBody>
        </p:sp>
      </p:grpSp>
      <p:sp>
        <p:nvSpPr>
          <p:cNvPr name="Freeform 10" id="10"/>
          <p:cNvSpPr/>
          <p:nvPr/>
        </p:nvSpPr>
        <p:spPr>
          <a:xfrm flipH="false" flipV="false" rot="0">
            <a:off x="1475490" y="3574223"/>
            <a:ext cx="4182770" cy="4114800"/>
          </a:xfrm>
          <a:custGeom>
            <a:avLst/>
            <a:gdLst/>
            <a:ahLst/>
            <a:cxnLst/>
            <a:rect r="r" b="b" t="t" l="l"/>
            <a:pathLst>
              <a:path h="4114800" w="4182770">
                <a:moveTo>
                  <a:pt x="0" y="0"/>
                </a:moveTo>
                <a:lnTo>
                  <a:pt x="4182770" y="0"/>
                </a:lnTo>
                <a:lnTo>
                  <a:pt x="418277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6437724" y="1837111"/>
            <a:ext cx="6655989" cy="521970"/>
          </a:xfrm>
          <a:prstGeom prst="rect">
            <a:avLst/>
          </a:prstGeom>
        </p:spPr>
        <p:txBody>
          <a:bodyPr anchor="t" rtlCol="false" tIns="0" lIns="0" bIns="0" rIns="0">
            <a:spAutoFit/>
          </a:bodyPr>
          <a:lstStyle/>
          <a:p>
            <a:pPr algn="l">
              <a:lnSpc>
                <a:spcPts val="3839"/>
              </a:lnSpc>
            </a:pPr>
            <a:r>
              <a:rPr lang="en-US" sz="3999" b="true">
                <a:solidFill>
                  <a:srgbClr val="C34D24"/>
                </a:solidFill>
                <a:latin typeface="TT Interphases Bold"/>
                <a:ea typeface="TT Interphases Bold"/>
                <a:cs typeface="TT Interphases Bold"/>
                <a:sym typeface="TT Interphases Bold"/>
              </a:rPr>
              <a:t>Dépenses prévisionnelles</a:t>
            </a:r>
          </a:p>
        </p:txBody>
      </p:sp>
      <p:sp>
        <p:nvSpPr>
          <p:cNvPr name="TextBox 12" id="12"/>
          <p:cNvSpPr txBox="true"/>
          <p:nvPr/>
        </p:nvSpPr>
        <p:spPr>
          <a:xfrm rot="0">
            <a:off x="6457382" y="4065302"/>
            <a:ext cx="5373236" cy="521970"/>
          </a:xfrm>
          <a:prstGeom prst="rect">
            <a:avLst/>
          </a:prstGeom>
        </p:spPr>
        <p:txBody>
          <a:bodyPr anchor="t" rtlCol="false" tIns="0" lIns="0" bIns="0" rIns="0">
            <a:spAutoFit/>
          </a:bodyPr>
          <a:lstStyle/>
          <a:p>
            <a:pPr algn="l">
              <a:lnSpc>
                <a:spcPts val="3839"/>
              </a:lnSpc>
            </a:pPr>
            <a:r>
              <a:rPr lang="en-US" sz="3999" b="true">
                <a:solidFill>
                  <a:srgbClr val="C34D24"/>
                </a:solidFill>
                <a:latin typeface="TT Interphases Bold"/>
                <a:ea typeface="TT Interphases Bold"/>
                <a:cs typeface="TT Interphases Bold"/>
                <a:sym typeface="TT Interphases Bold"/>
              </a:rPr>
              <a:t>Dont</a:t>
            </a:r>
          </a:p>
        </p:txBody>
      </p:sp>
      <p:sp>
        <p:nvSpPr>
          <p:cNvPr name="TextBox 13" id="13"/>
          <p:cNvSpPr txBox="true"/>
          <p:nvPr/>
        </p:nvSpPr>
        <p:spPr>
          <a:xfrm rot="0">
            <a:off x="6457382" y="2430176"/>
            <a:ext cx="11610387" cy="739776"/>
          </a:xfrm>
          <a:prstGeom prst="rect">
            <a:avLst/>
          </a:prstGeom>
        </p:spPr>
        <p:txBody>
          <a:bodyPr anchor="t" rtlCol="false" tIns="0" lIns="0" bIns="0" rIns="0">
            <a:spAutoFit/>
          </a:bodyPr>
          <a:lstStyle/>
          <a:p>
            <a:pPr algn="l">
              <a:lnSpc>
                <a:spcPts val="5439"/>
              </a:lnSpc>
            </a:pPr>
            <a:r>
              <a:rPr lang="en-US" sz="3199" spc="-63" b="true">
                <a:solidFill>
                  <a:srgbClr val="022E69"/>
                </a:solidFill>
                <a:latin typeface="Agrandir Narrow Bold"/>
                <a:ea typeface="Agrandir Narrow Bold"/>
                <a:cs typeface="Agrandir Narrow Bold"/>
                <a:sym typeface="Agrandir Narrow Bold"/>
              </a:rPr>
              <a:t>Coût total estimé à 11 507 500 FCFA</a:t>
            </a:r>
          </a:p>
        </p:txBody>
      </p:sp>
    </p:spTree>
  </p:cSld>
  <p:clrMapOvr>
    <a:masterClrMapping/>
  </p:clrMapOvr>
  <p:transition spd="slow">
    <p:push dir="l"/>
  </p:transition>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sp>
        <p:nvSpPr>
          <p:cNvPr name="TextBox 2" id="2"/>
          <p:cNvSpPr txBox="true"/>
          <p:nvPr/>
        </p:nvSpPr>
        <p:spPr>
          <a:xfrm rot="0">
            <a:off x="5613354" y="752475"/>
            <a:ext cx="7061292" cy="657225"/>
          </a:xfrm>
          <a:prstGeom prst="rect">
            <a:avLst/>
          </a:prstGeom>
        </p:spPr>
        <p:txBody>
          <a:bodyPr anchor="t" rtlCol="false" tIns="0" lIns="0" bIns="0" rIns="0">
            <a:spAutoFit/>
          </a:bodyPr>
          <a:lstStyle/>
          <a:p>
            <a:pPr algn="ctr">
              <a:lnSpc>
                <a:spcPts val="4800"/>
              </a:lnSpc>
            </a:pPr>
            <a:r>
              <a:rPr lang="en-US" sz="5000" b="true">
                <a:solidFill>
                  <a:srgbClr val="323840"/>
                </a:solidFill>
                <a:latin typeface="TT Interphases Bold"/>
                <a:ea typeface="TT Interphases Bold"/>
                <a:cs typeface="TT Interphases Bold"/>
                <a:sym typeface="TT Interphases Bold"/>
              </a:rPr>
              <a:t>Calendrier prévisionnel</a:t>
            </a:r>
          </a:p>
        </p:txBody>
      </p:sp>
      <p:grpSp>
        <p:nvGrpSpPr>
          <p:cNvPr name="Group 3" id="3"/>
          <p:cNvGrpSpPr/>
          <p:nvPr/>
        </p:nvGrpSpPr>
        <p:grpSpPr>
          <a:xfrm rot="0">
            <a:off x="8598901" y="1921209"/>
            <a:ext cx="1223547" cy="248043"/>
            <a:chOff x="0" y="0"/>
            <a:chExt cx="1631396" cy="330724"/>
          </a:xfrm>
        </p:grpSpPr>
        <p:grpSp>
          <p:nvGrpSpPr>
            <p:cNvPr name="Group 4" id="4"/>
            <p:cNvGrpSpPr/>
            <p:nvPr/>
          </p:nvGrpSpPr>
          <p:grpSpPr>
            <a:xfrm rot="0">
              <a:off x="651264" y="0"/>
              <a:ext cx="330724" cy="330724"/>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300672" y="0"/>
              <a:ext cx="330724" cy="33072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0" y="0"/>
              <a:ext cx="330724" cy="33072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graphicFrame>
        <p:nvGraphicFramePr>
          <p:cNvPr name="Object 13" id="13"/>
          <p:cNvGraphicFramePr/>
          <p:nvPr/>
        </p:nvGraphicFramePr>
        <p:xfrm>
          <a:off x="646993" y="3288167"/>
          <a:ext cx="11315700" cy="4191000"/>
        </p:xfrm>
        <a:graphic>
          <a:graphicData uri="http://schemas.openxmlformats.org/presentationml/2006/ole">
            <p:oleObj imgW="13576300" imgH="64516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transition spd="slow">
    <p:push dir="l"/>
  </p:transition>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EF8535"/>
        </a:solidFill>
      </p:bgPr>
    </p:bg>
    <p:spTree>
      <p:nvGrpSpPr>
        <p:cNvPr id="1" name=""/>
        <p:cNvGrpSpPr/>
        <p:nvPr/>
      </p:nvGrpSpPr>
      <p:grpSpPr>
        <a:xfrm>
          <a:off x="0" y="0"/>
          <a:ext cx="0" cy="0"/>
          <a:chOff x="0" y="0"/>
          <a:chExt cx="0" cy="0"/>
        </a:xfrm>
      </p:grpSpPr>
      <p:grpSp>
        <p:nvGrpSpPr>
          <p:cNvPr name="Group 2" id="2"/>
          <p:cNvGrpSpPr/>
          <p:nvPr/>
        </p:nvGrpSpPr>
        <p:grpSpPr>
          <a:xfrm rot="0">
            <a:off x="10401430" y="-642826"/>
            <a:ext cx="5809027" cy="9901126"/>
            <a:chOff x="0" y="0"/>
            <a:chExt cx="660400" cy="1125611"/>
          </a:xfrm>
        </p:grpSpPr>
        <p:sp>
          <p:nvSpPr>
            <p:cNvPr name="Freeform 3" id="3"/>
            <p:cNvSpPr/>
            <p:nvPr/>
          </p:nvSpPr>
          <p:spPr>
            <a:xfrm flipH="false" flipV="false" rot="0">
              <a:off x="0" y="0"/>
              <a:ext cx="660400" cy="1125611"/>
            </a:xfrm>
            <a:custGeom>
              <a:avLst/>
              <a:gdLst/>
              <a:ahLst/>
              <a:cxnLst/>
              <a:rect r="r" b="b" t="t" l="l"/>
              <a:pathLst>
                <a:path h="1125611" w="660400">
                  <a:moveTo>
                    <a:pt x="220252" y="1106542"/>
                  </a:moveTo>
                  <a:cubicBezTo>
                    <a:pt x="254109" y="1118056"/>
                    <a:pt x="292600" y="1125611"/>
                    <a:pt x="330378" y="1125611"/>
                  </a:cubicBezTo>
                  <a:cubicBezTo>
                    <a:pt x="368157" y="1125611"/>
                    <a:pt x="404509" y="1119134"/>
                    <a:pt x="438009" y="1107620"/>
                  </a:cubicBezTo>
                  <a:cubicBezTo>
                    <a:pt x="438723" y="1107261"/>
                    <a:pt x="439435" y="1107261"/>
                    <a:pt x="440148" y="1106901"/>
                  </a:cubicBezTo>
                  <a:cubicBezTo>
                    <a:pt x="565955" y="1060846"/>
                    <a:pt x="658618" y="939232"/>
                    <a:pt x="660400" y="790160"/>
                  </a:cubicBezTo>
                  <a:lnTo>
                    <a:pt x="660400" y="0"/>
                  </a:lnTo>
                  <a:lnTo>
                    <a:pt x="0" y="0"/>
                  </a:lnTo>
                  <a:lnTo>
                    <a:pt x="0" y="789574"/>
                  </a:lnTo>
                  <a:cubicBezTo>
                    <a:pt x="1782" y="939951"/>
                    <a:pt x="93019" y="1061566"/>
                    <a:pt x="220252" y="1106542"/>
                  </a:cubicBezTo>
                  <a:close/>
                </a:path>
              </a:pathLst>
            </a:custGeom>
            <a:solidFill>
              <a:srgbClr val="763C00"/>
            </a:solidFill>
            <a:ln cap="sq">
              <a:noFill/>
              <a:prstDash val="solid"/>
              <a:miter/>
            </a:ln>
          </p:spPr>
        </p:sp>
        <p:sp>
          <p:nvSpPr>
            <p:cNvPr name="TextBox 4" id="4"/>
            <p:cNvSpPr txBox="true"/>
            <p:nvPr/>
          </p:nvSpPr>
          <p:spPr>
            <a:xfrm>
              <a:off x="0" y="-38100"/>
              <a:ext cx="660400" cy="103671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95778" y="5890749"/>
            <a:ext cx="6770715" cy="277115"/>
            <a:chOff x="0" y="0"/>
            <a:chExt cx="1783234" cy="72985"/>
          </a:xfrm>
        </p:grpSpPr>
        <p:sp>
          <p:nvSpPr>
            <p:cNvPr name="Freeform 6" id="6"/>
            <p:cNvSpPr/>
            <p:nvPr/>
          </p:nvSpPr>
          <p:spPr>
            <a:xfrm flipH="false" flipV="false" rot="0">
              <a:off x="0" y="0"/>
              <a:ext cx="1783234" cy="72985"/>
            </a:xfrm>
            <a:custGeom>
              <a:avLst/>
              <a:gdLst/>
              <a:ahLst/>
              <a:cxnLst/>
              <a:rect r="r" b="b" t="t" l="l"/>
              <a:pathLst>
                <a:path h="72985" w="1783234">
                  <a:moveTo>
                    <a:pt x="0" y="0"/>
                  </a:moveTo>
                  <a:lnTo>
                    <a:pt x="1783234" y="0"/>
                  </a:lnTo>
                  <a:lnTo>
                    <a:pt x="1783234" y="72985"/>
                  </a:lnTo>
                  <a:lnTo>
                    <a:pt x="0" y="72985"/>
                  </a:lnTo>
                  <a:close/>
                </a:path>
              </a:pathLst>
            </a:custGeom>
            <a:solidFill>
              <a:srgbClr val="F9F7DC"/>
            </a:solidFill>
          </p:spPr>
        </p:sp>
        <p:sp>
          <p:nvSpPr>
            <p:cNvPr name="TextBox 7" id="7"/>
            <p:cNvSpPr txBox="true"/>
            <p:nvPr/>
          </p:nvSpPr>
          <p:spPr>
            <a:xfrm>
              <a:off x="0" y="-38100"/>
              <a:ext cx="1783234" cy="111085"/>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8766493" y="5740126"/>
            <a:ext cx="1079400" cy="1028392"/>
          </a:xfrm>
          <a:custGeom>
            <a:avLst/>
            <a:gdLst/>
            <a:ahLst/>
            <a:cxnLst/>
            <a:rect r="r" b="b" t="t" l="l"/>
            <a:pathLst>
              <a:path h="1028392" w="1079400">
                <a:moveTo>
                  <a:pt x="0" y="0"/>
                </a:moveTo>
                <a:lnTo>
                  <a:pt x="1079400" y="0"/>
                </a:lnTo>
                <a:lnTo>
                  <a:pt x="1079400" y="1028392"/>
                </a:lnTo>
                <a:lnTo>
                  <a:pt x="0" y="10283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710931" y="4110464"/>
            <a:ext cx="3190024" cy="4114800"/>
          </a:xfrm>
          <a:custGeom>
            <a:avLst/>
            <a:gdLst/>
            <a:ahLst/>
            <a:cxnLst/>
            <a:rect r="r" b="b" t="t" l="l"/>
            <a:pathLst>
              <a:path h="4114800" w="3190024">
                <a:moveTo>
                  <a:pt x="0" y="0"/>
                </a:moveTo>
                <a:lnTo>
                  <a:pt x="3190025" y="0"/>
                </a:lnTo>
                <a:lnTo>
                  <a:pt x="319002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995778" y="4518299"/>
            <a:ext cx="7469666" cy="1221827"/>
          </a:xfrm>
          <a:prstGeom prst="rect">
            <a:avLst/>
          </a:prstGeom>
        </p:spPr>
        <p:txBody>
          <a:bodyPr anchor="t" rtlCol="false" tIns="0" lIns="0" bIns="0" rIns="0">
            <a:spAutoFit/>
          </a:bodyPr>
          <a:lstStyle/>
          <a:p>
            <a:pPr algn="l">
              <a:lnSpc>
                <a:spcPts val="7488"/>
              </a:lnSpc>
            </a:pPr>
            <a:r>
              <a:rPr lang="en-US" b="true" sz="7882" spc="-39">
                <a:solidFill>
                  <a:srgbClr val="F9F7DC"/>
                </a:solidFill>
                <a:latin typeface="Agrandir Narrow Bold"/>
                <a:ea typeface="Agrandir Narrow Bold"/>
                <a:cs typeface="Agrandir Narrow Bold"/>
                <a:sym typeface="Agrandir Narrow Bold"/>
              </a:rPr>
              <a:t>Questionnaire</a:t>
            </a:r>
          </a:p>
        </p:txBody>
      </p:sp>
      <p:sp>
        <p:nvSpPr>
          <p:cNvPr name="TextBox 11" id="11"/>
          <p:cNvSpPr txBox="true"/>
          <p:nvPr/>
        </p:nvSpPr>
        <p:spPr>
          <a:xfrm rot="0">
            <a:off x="2376227" y="5889943"/>
            <a:ext cx="4961516" cy="326351"/>
          </a:xfrm>
          <a:prstGeom prst="rect">
            <a:avLst/>
          </a:prstGeom>
        </p:spPr>
        <p:txBody>
          <a:bodyPr anchor="t" rtlCol="false" tIns="0" lIns="0" bIns="0" rIns="0">
            <a:spAutoFit/>
          </a:bodyPr>
          <a:lstStyle/>
          <a:p>
            <a:pPr algn="l">
              <a:lnSpc>
                <a:spcPts val="2354"/>
              </a:lnSpc>
            </a:pPr>
            <a:r>
              <a:rPr lang="en-US" b="true" sz="2478" i="true" spc="-39">
                <a:solidFill>
                  <a:srgbClr val="763C00"/>
                </a:solidFill>
                <a:latin typeface="Arimo Bold Italics"/>
                <a:ea typeface="Arimo Bold Italics"/>
                <a:cs typeface="Arimo Bold Italics"/>
                <a:sym typeface="Arimo Bold Italics"/>
              </a:rPr>
              <a:t>Questionnaire d’enquête</a:t>
            </a:r>
          </a:p>
        </p:txBody>
      </p:sp>
      <p:sp>
        <p:nvSpPr>
          <p:cNvPr name="TextBox 12" id="12"/>
          <p:cNvSpPr txBox="true"/>
          <p:nvPr/>
        </p:nvSpPr>
        <p:spPr>
          <a:xfrm rot="0">
            <a:off x="12617956" y="1322665"/>
            <a:ext cx="1375975" cy="2559051"/>
          </a:xfrm>
          <a:prstGeom prst="rect">
            <a:avLst/>
          </a:prstGeom>
        </p:spPr>
        <p:txBody>
          <a:bodyPr anchor="t" rtlCol="false" tIns="0" lIns="0" bIns="0" rIns="0">
            <a:spAutoFit/>
          </a:bodyPr>
          <a:lstStyle/>
          <a:p>
            <a:pPr algn="just" marL="0" indent="0" lvl="0">
              <a:lnSpc>
                <a:spcPts val="19000"/>
              </a:lnSpc>
              <a:spcBef>
                <a:spcPct val="0"/>
              </a:spcBef>
            </a:pPr>
            <a:r>
              <a:rPr lang="en-US" b="true" sz="20000" spc="-100">
                <a:solidFill>
                  <a:srgbClr val="F9F7DC"/>
                </a:solidFill>
                <a:latin typeface="Museo Moderno Bold"/>
                <a:ea typeface="Museo Moderno Bold"/>
                <a:cs typeface="Museo Moderno Bold"/>
                <a:sym typeface="Museo Moderno Bold"/>
              </a:rPr>
              <a:t>6</a:t>
            </a:r>
          </a:p>
        </p:txBody>
      </p:sp>
    </p:spTree>
  </p:cSld>
  <p:clrMapOvr>
    <a:masterClrMapping/>
  </p:clrMapOvr>
  <p:transition spd="slow">
    <p:push dir="l"/>
  </p:transition>
</p:sld>
</file>

<file path=ppt/slides/slide40.xml><?xml version="1.0" encoding="utf-8"?>
<p:sld xmlns:p="http://schemas.openxmlformats.org/presentationml/2006/main" xmlns:a="http://schemas.openxmlformats.org/drawingml/2006/main">
  <p:cSld>
    <p:bg>
      <p:bgPr>
        <a:solidFill>
          <a:srgbClr val="FCF1E4"/>
        </a:solidFill>
      </p:bgPr>
    </p:bg>
    <p:spTree>
      <p:nvGrpSpPr>
        <p:cNvPr id="1" name=""/>
        <p:cNvGrpSpPr/>
        <p:nvPr/>
      </p:nvGrpSpPr>
      <p:grpSpPr>
        <a:xfrm>
          <a:off x="0" y="0"/>
          <a:ext cx="0" cy="0"/>
          <a:chOff x="0" y="0"/>
          <a:chExt cx="0" cy="0"/>
        </a:xfrm>
      </p:grpSpPr>
      <p:grpSp>
        <p:nvGrpSpPr>
          <p:cNvPr name="Group 2" id="2"/>
          <p:cNvGrpSpPr/>
          <p:nvPr/>
        </p:nvGrpSpPr>
        <p:grpSpPr>
          <a:xfrm rot="-5400000">
            <a:off x="8920626" y="3955169"/>
            <a:ext cx="1281715" cy="373897"/>
            <a:chOff x="0" y="0"/>
            <a:chExt cx="1685364" cy="508000"/>
          </a:xfrm>
        </p:grpSpPr>
        <p:sp>
          <p:nvSpPr>
            <p:cNvPr name="Freeform 3" id="3"/>
            <p:cNvSpPr/>
            <p:nvPr/>
          </p:nvSpPr>
          <p:spPr>
            <a:xfrm flipH="false" flipV="false" rot="0">
              <a:off x="1237054" y="47936"/>
              <a:ext cx="408940" cy="395777"/>
            </a:xfrm>
            <a:custGeom>
              <a:avLst/>
              <a:gdLst/>
              <a:ahLst/>
              <a:cxnLst/>
              <a:rect r="r" b="b" t="t" l="l"/>
              <a:pathLst>
                <a:path h="395777" w="408940">
                  <a:moveTo>
                    <a:pt x="204470" y="0"/>
                  </a:moveTo>
                  <a:cubicBezTo>
                    <a:pt x="91545" y="0"/>
                    <a:pt x="0" y="88597"/>
                    <a:pt x="0" y="197888"/>
                  </a:cubicBezTo>
                  <a:cubicBezTo>
                    <a:pt x="0" y="307179"/>
                    <a:pt x="91545" y="395777"/>
                    <a:pt x="204470" y="395777"/>
                  </a:cubicBezTo>
                  <a:cubicBezTo>
                    <a:pt x="317396" y="395777"/>
                    <a:pt x="408940" y="307179"/>
                    <a:pt x="408940" y="197888"/>
                  </a:cubicBezTo>
                  <a:cubicBezTo>
                    <a:pt x="408940" y="88597"/>
                    <a:pt x="317396" y="0"/>
                    <a:pt x="204470" y="0"/>
                  </a:cubicBezTo>
                  <a:close/>
                </a:path>
              </a:pathLst>
            </a:custGeom>
            <a:solidFill>
              <a:srgbClr val="FF7A46"/>
            </a:solidFill>
          </p:spPr>
        </p:sp>
        <p:sp>
          <p:nvSpPr>
            <p:cNvPr name="Freeform 4" id="4"/>
            <p:cNvSpPr/>
            <p:nvPr/>
          </p:nvSpPr>
          <p:spPr>
            <a:xfrm flipH="false" flipV="false" rot="0">
              <a:off x="0" y="11062"/>
              <a:ext cx="1685365" cy="469525"/>
            </a:xfrm>
            <a:custGeom>
              <a:avLst/>
              <a:gdLst/>
              <a:ahLst/>
              <a:cxnLst/>
              <a:rect r="r" b="b" t="t" l="l"/>
              <a:pathLst>
                <a:path h="469525" w="1685365">
                  <a:moveTo>
                    <a:pt x="1441524" y="0"/>
                  </a:moveTo>
                  <a:cubicBezTo>
                    <a:pt x="1320874" y="0"/>
                    <a:pt x="1220544" y="86039"/>
                    <a:pt x="1201494" y="197889"/>
                  </a:cubicBezTo>
                  <a:lnTo>
                    <a:pt x="0" y="197889"/>
                  </a:lnTo>
                  <a:lnTo>
                    <a:pt x="0" y="271636"/>
                  </a:lnTo>
                  <a:lnTo>
                    <a:pt x="1202764" y="271636"/>
                  </a:lnTo>
                  <a:cubicBezTo>
                    <a:pt x="1220544" y="383486"/>
                    <a:pt x="1322144" y="469525"/>
                    <a:pt x="1442794" y="469525"/>
                  </a:cubicBezTo>
                  <a:cubicBezTo>
                    <a:pt x="1577415" y="469525"/>
                    <a:pt x="1685365" y="363820"/>
                    <a:pt x="1685365" y="234762"/>
                  </a:cubicBezTo>
                  <a:cubicBezTo>
                    <a:pt x="1685365" y="104475"/>
                    <a:pt x="1576144" y="0"/>
                    <a:pt x="1441524" y="0"/>
                  </a:cubicBezTo>
                  <a:close/>
                  <a:moveTo>
                    <a:pt x="1441524" y="395777"/>
                  </a:moveTo>
                  <a:cubicBezTo>
                    <a:pt x="1350084" y="395777"/>
                    <a:pt x="1275154" y="323259"/>
                    <a:pt x="1275154" y="234762"/>
                  </a:cubicBezTo>
                  <a:cubicBezTo>
                    <a:pt x="1275154" y="146266"/>
                    <a:pt x="1350084" y="73747"/>
                    <a:pt x="1441524" y="73747"/>
                  </a:cubicBezTo>
                  <a:cubicBezTo>
                    <a:pt x="1532965" y="73747"/>
                    <a:pt x="1607894" y="146266"/>
                    <a:pt x="1607894" y="234762"/>
                  </a:cubicBezTo>
                  <a:cubicBezTo>
                    <a:pt x="1609165" y="323259"/>
                    <a:pt x="1534234" y="395777"/>
                    <a:pt x="1441524" y="395777"/>
                  </a:cubicBezTo>
                  <a:close/>
                </a:path>
              </a:pathLst>
            </a:custGeom>
            <a:solidFill>
              <a:srgbClr val="386C9C"/>
            </a:solidFill>
          </p:spPr>
        </p:sp>
      </p:grpSp>
      <p:grpSp>
        <p:nvGrpSpPr>
          <p:cNvPr name="Group 5" id="5"/>
          <p:cNvGrpSpPr/>
          <p:nvPr/>
        </p:nvGrpSpPr>
        <p:grpSpPr>
          <a:xfrm rot="-5400000">
            <a:off x="8920626" y="5236884"/>
            <a:ext cx="1281715" cy="373897"/>
            <a:chOff x="0" y="0"/>
            <a:chExt cx="1685364" cy="508000"/>
          </a:xfrm>
        </p:grpSpPr>
        <p:sp>
          <p:nvSpPr>
            <p:cNvPr name="Freeform 6" id="6"/>
            <p:cNvSpPr/>
            <p:nvPr/>
          </p:nvSpPr>
          <p:spPr>
            <a:xfrm flipH="false" flipV="false" rot="0">
              <a:off x="1237054" y="47936"/>
              <a:ext cx="408940" cy="395777"/>
            </a:xfrm>
            <a:custGeom>
              <a:avLst/>
              <a:gdLst/>
              <a:ahLst/>
              <a:cxnLst/>
              <a:rect r="r" b="b" t="t" l="l"/>
              <a:pathLst>
                <a:path h="395777" w="408940">
                  <a:moveTo>
                    <a:pt x="204470" y="0"/>
                  </a:moveTo>
                  <a:cubicBezTo>
                    <a:pt x="91545" y="0"/>
                    <a:pt x="0" y="88597"/>
                    <a:pt x="0" y="197888"/>
                  </a:cubicBezTo>
                  <a:cubicBezTo>
                    <a:pt x="0" y="307179"/>
                    <a:pt x="91545" y="395777"/>
                    <a:pt x="204470" y="395777"/>
                  </a:cubicBezTo>
                  <a:cubicBezTo>
                    <a:pt x="317396" y="395777"/>
                    <a:pt x="408940" y="307179"/>
                    <a:pt x="408940" y="197888"/>
                  </a:cubicBezTo>
                  <a:cubicBezTo>
                    <a:pt x="408940" y="88597"/>
                    <a:pt x="317396" y="0"/>
                    <a:pt x="204470" y="0"/>
                  </a:cubicBezTo>
                  <a:close/>
                </a:path>
              </a:pathLst>
            </a:custGeom>
            <a:solidFill>
              <a:srgbClr val="308FBE"/>
            </a:solidFill>
          </p:spPr>
        </p:sp>
        <p:sp>
          <p:nvSpPr>
            <p:cNvPr name="Freeform 7" id="7"/>
            <p:cNvSpPr/>
            <p:nvPr/>
          </p:nvSpPr>
          <p:spPr>
            <a:xfrm flipH="false" flipV="false" rot="0">
              <a:off x="0" y="11062"/>
              <a:ext cx="1685365" cy="469525"/>
            </a:xfrm>
            <a:custGeom>
              <a:avLst/>
              <a:gdLst/>
              <a:ahLst/>
              <a:cxnLst/>
              <a:rect r="r" b="b" t="t" l="l"/>
              <a:pathLst>
                <a:path h="469525" w="1685365">
                  <a:moveTo>
                    <a:pt x="1441524" y="0"/>
                  </a:moveTo>
                  <a:cubicBezTo>
                    <a:pt x="1320874" y="0"/>
                    <a:pt x="1220544" y="86039"/>
                    <a:pt x="1201494" y="197889"/>
                  </a:cubicBezTo>
                  <a:lnTo>
                    <a:pt x="0" y="197889"/>
                  </a:lnTo>
                  <a:lnTo>
                    <a:pt x="0" y="271636"/>
                  </a:lnTo>
                  <a:lnTo>
                    <a:pt x="1202764" y="271636"/>
                  </a:lnTo>
                  <a:cubicBezTo>
                    <a:pt x="1220544" y="383486"/>
                    <a:pt x="1322144" y="469525"/>
                    <a:pt x="1442794" y="469525"/>
                  </a:cubicBezTo>
                  <a:cubicBezTo>
                    <a:pt x="1577415" y="469525"/>
                    <a:pt x="1685365" y="363820"/>
                    <a:pt x="1685365" y="234762"/>
                  </a:cubicBezTo>
                  <a:cubicBezTo>
                    <a:pt x="1685365" y="104475"/>
                    <a:pt x="1576144" y="0"/>
                    <a:pt x="1441524" y="0"/>
                  </a:cubicBezTo>
                  <a:close/>
                  <a:moveTo>
                    <a:pt x="1441524" y="395777"/>
                  </a:moveTo>
                  <a:cubicBezTo>
                    <a:pt x="1350084" y="395777"/>
                    <a:pt x="1275154" y="323259"/>
                    <a:pt x="1275154" y="234762"/>
                  </a:cubicBezTo>
                  <a:cubicBezTo>
                    <a:pt x="1275154" y="146266"/>
                    <a:pt x="1350084" y="73747"/>
                    <a:pt x="1441524" y="73747"/>
                  </a:cubicBezTo>
                  <a:cubicBezTo>
                    <a:pt x="1532965" y="73747"/>
                    <a:pt x="1607894" y="146266"/>
                    <a:pt x="1607894" y="234762"/>
                  </a:cubicBezTo>
                  <a:cubicBezTo>
                    <a:pt x="1609165" y="323259"/>
                    <a:pt x="1534234" y="395777"/>
                    <a:pt x="1441524" y="395777"/>
                  </a:cubicBezTo>
                  <a:close/>
                </a:path>
              </a:pathLst>
            </a:custGeom>
            <a:solidFill>
              <a:srgbClr val="386C9C"/>
            </a:solidFill>
          </p:spPr>
        </p:sp>
      </p:grpSp>
      <p:grpSp>
        <p:nvGrpSpPr>
          <p:cNvPr name="Group 8" id="8"/>
          <p:cNvGrpSpPr/>
          <p:nvPr/>
        </p:nvGrpSpPr>
        <p:grpSpPr>
          <a:xfrm rot="-5400000">
            <a:off x="8920626" y="6518599"/>
            <a:ext cx="1281715" cy="373897"/>
            <a:chOff x="0" y="0"/>
            <a:chExt cx="1685364" cy="508000"/>
          </a:xfrm>
        </p:grpSpPr>
        <p:sp>
          <p:nvSpPr>
            <p:cNvPr name="Freeform 9" id="9"/>
            <p:cNvSpPr/>
            <p:nvPr/>
          </p:nvSpPr>
          <p:spPr>
            <a:xfrm flipH="false" flipV="false" rot="0">
              <a:off x="1237054" y="47936"/>
              <a:ext cx="408940" cy="395777"/>
            </a:xfrm>
            <a:custGeom>
              <a:avLst/>
              <a:gdLst/>
              <a:ahLst/>
              <a:cxnLst/>
              <a:rect r="r" b="b" t="t" l="l"/>
              <a:pathLst>
                <a:path h="395777" w="408940">
                  <a:moveTo>
                    <a:pt x="204470" y="0"/>
                  </a:moveTo>
                  <a:cubicBezTo>
                    <a:pt x="91545" y="0"/>
                    <a:pt x="0" y="88597"/>
                    <a:pt x="0" y="197888"/>
                  </a:cubicBezTo>
                  <a:cubicBezTo>
                    <a:pt x="0" y="307179"/>
                    <a:pt x="91545" y="395777"/>
                    <a:pt x="204470" y="395777"/>
                  </a:cubicBezTo>
                  <a:cubicBezTo>
                    <a:pt x="317396" y="395777"/>
                    <a:pt x="408940" y="307179"/>
                    <a:pt x="408940" y="197888"/>
                  </a:cubicBezTo>
                  <a:cubicBezTo>
                    <a:pt x="408940" y="88597"/>
                    <a:pt x="317396" y="0"/>
                    <a:pt x="204470" y="0"/>
                  </a:cubicBezTo>
                  <a:close/>
                </a:path>
              </a:pathLst>
            </a:custGeom>
            <a:solidFill>
              <a:srgbClr val="FF7A46"/>
            </a:solidFill>
          </p:spPr>
        </p:sp>
        <p:sp>
          <p:nvSpPr>
            <p:cNvPr name="Freeform 10" id="10"/>
            <p:cNvSpPr/>
            <p:nvPr/>
          </p:nvSpPr>
          <p:spPr>
            <a:xfrm flipH="false" flipV="false" rot="0">
              <a:off x="0" y="11062"/>
              <a:ext cx="1685365" cy="469525"/>
            </a:xfrm>
            <a:custGeom>
              <a:avLst/>
              <a:gdLst/>
              <a:ahLst/>
              <a:cxnLst/>
              <a:rect r="r" b="b" t="t" l="l"/>
              <a:pathLst>
                <a:path h="469525" w="1685365">
                  <a:moveTo>
                    <a:pt x="1441524" y="0"/>
                  </a:moveTo>
                  <a:cubicBezTo>
                    <a:pt x="1320874" y="0"/>
                    <a:pt x="1220544" y="86039"/>
                    <a:pt x="1201494" y="197889"/>
                  </a:cubicBezTo>
                  <a:lnTo>
                    <a:pt x="0" y="197889"/>
                  </a:lnTo>
                  <a:lnTo>
                    <a:pt x="0" y="271636"/>
                  </a:lnTo>
                  <a:lnTo>
                    <a:pt x="1202764" y="271636"/>
                  </a:lnTo>
                  <a:cubicBezTo>
                    <a:pt x="1220544" y="383486"/>
                    <a:pt x="1322144" y="469525"/>
                    <a:pt x="1442794" y="469525"/>
                  </a:cubicBezTo>
                  <a:cubicBezTo>
                    <a:pt x="1577415" y="469525"/>
                    <a:pt x="1685365" y="363820"/>
                    <a:pt x="1685365" y="234762"/>
                  </a:cubicBezTo>
                  <a:cubicBezTo>
                    <a:pt x="1685365" y="104475"/>
                    <a:pt x="1576144" y="0"/>
                    <a:pt x="1441524" y="0"/>
                  </a:cubicBezTo>
                  <a:close/>
                  <a:moveTo>
                    <a:pt x="1441524" y="395777"/>
                  </a:moveTo>
                  <a:cubicBezTo>
                    <a:pt x="1350084" y="395777"/>
                    <a:pt x="1275154" y="323259"/>
                    <a:pt x="1275154" y="234762"/>
                  </a:cubicBezTo>
                  <a:cubicBezTo>
                    <a:pt x="1275154" y="146266"/>
                    <a:pt x="1350084" y="73747"/>
                    <a:pt x="1441524" y="73747"/>
                  </a:cubicBezTo>
                  <a:cubicBezTo>
                    <a:pt x="1532965" y="73747"/>
                    <a:pt x="1607894" y="146266"/>
                    <a:pt x="1607894" y="234762"/>
                  </a:cubicBezTo>
                  <a:cubicBezTo>
                    <a:pt x="1609165" y="323259"/>
                    <a:pt x="1534234" y="395777"/>
                    <a:pt x="1441524" y="395777"/>
                  </a:cubicBezTo>
                  <a:close/>
                </a:path>
              </a:pathLst>
            </a:custGeom>
            <a:solidFill>
              <a:srgbClr val="386C9C"/>
            </a:solidFill>
          </p:spPr>
        </p:sp>
      </p:grpSp>
      <p:grpSp>
        <p:nvGrpSpPr>
          <p:cNvPr name="Group 11" id="11"/>
          <p:cNvGrpSpPr/>
          <p:nvPr/>
        </p:nvGrpSpPr>
        <p:grpSpPr>
          <a:xfrm rot="-5400000">
            <a:off x="8920626" y="7800313"/>
            <a:ext cx="1281715" cy="373897"/>
            <a:chOff x="0" y="0"/>
            <a:chExt cx="1685364" cy="508000"/>
          </a:xfrm>
        </p:grpSpPr>
        <p:sp>
          <p:nvSpPr>
            <p:cNvPr name="Freeform 12" id="12"/>
            <p:cNvSpPr/>
            <p:nvPr/>
          </p:nvSpPr>
          <p:spPr>
            <a:xfrm flipH="false" flipV="false" rot="0">
              <a:off x="1237054" y="47936"/>
              <a:ext cx="408940" cy="395777"/>
            </a:xfrm>
            <a:custGeom>
              <a:avLst/>
              <a:gdLst/>
              <a:ahLst/>
              <a:cxnLst/>
              <a:rect r="r" b="b" t="t" l="l"/>
              <a:pathLst>
                <a:path h="395777" w="408940">
                  <a:moveTo>
                    <a:pt x="204470" y="0"/>
                  </a:moveTo>
                  <a:cubicBezTo>
                    <a:pt x="91545" y="0"/>
                    <a:pt x="0" y="88597"/>
                    <a:pt x="0" y="197888"/>
                  </a:cubicBezTo>
                  <a:cubicBezTo>
                    <a:pt x="0" y="307179"/>
                    <a:pt x="91545" y="395777"/>
                    <a:pt x="204470" y="395777"/>
                  </a:cubicBezTo>
                  <a:cubicBezTo>
                    <a:pt x="317396" y="395777"/>
                    <a:pt x="408940" y="307179"/>
                    <a:pt x="408940" y="197888"/>
                  </a:cubicBezTo>
                  <a:cubicBezTo>
                    <a:pt x="408940" y="88597"/>
                    <a:pt x="317396" y="0"/>
                    <a:pt x="204470" y="0"/>
                  </a:cubicBezTo>
                  <a:close/>
                </a:path>
              </a:pathLst>
            </a:custGeom>
            <a:solidFill>
              <a:srgbClr val="308FBE"/>
            </a:solidFill>
          </p:spPr>
        </p:sp>
        <p:sp>
          <p:nvSpPr>
            <p:cNvPr name="Freeform 13" id="13"/>
            <p:cNvSpPr/>
            <p:nvPr/>
          </p:nvSpPr>
          <p:spPr>
            <a:xfrm flipH="false" flipV="false" rot="0">
              <a:off x="0" y="11062"/>
              <a:ext cx="1685365" cy="469525"/>
            </a:xfrm>
            <a:custGeom>
              <a:avLst/>
              <a:gdLst/>
              <a:ahLst/>
              <a:cxnLst/>
              <a:rect r="r" b="b" t="t" l="l"/>
              <a:pathLst>
                <a:path h="469525" w="1685365">
                  <a:moveTo>
                    <a:pt x="1441524" y="0"/>
                  </a:moveTo>
                  <a:cubicBezTo>
                    <a:pt x="1320874" y="0"/>
                    <a:pt x="1220544" y="86039"/>
                    <a:pt x="1201494" y="197889"/>
                  </a:cubicBezTo>
                  <a:lnTo>
                    <a:pt x="0" y="197889"/>
                  </a:lnTo>
                  <a:lnTo>
                    <a:pt x="0" y="271636"/>
                  </a:lnTo>
                  <a:lnTo>
                    <a:pt x="1202764" y="271636"/>
                  </a:lnTo>
                  <a:cubicBezTo>
                    <a:pt x="1220544" y="383486"/>
                    <a:pt x="1322144" y="469525"/>
                    <a:pt x="1442794" y="469525"/>
                  </a:cubicBezTo>
                  <a:cubicBezTo>
                    <a:pt x="1577415" y="469525"/>
                    <a:pt x="1685365" y="363820"/>
                    <a:pt x="1685365" y="234762"/>
                  </a:cubicBezTo>
                  <a:cubicBezTo>
                    <a:pt x="1685365" y="104475"/>
                    <a:pt x="1576144" y="0"/>
                    <a:pt x="1441524" y="0"/>
                  </a:cubicBezTo>
                  <a:close/>
                  <a:moveTo>
                    <a:pt x="1441524" y="395777"/>
                  </a:moveTo>
                  <a:cubicBezTo>
                    <a:pt x="1350084" y="395777"/>
                    <a:pt x="1275154" y="323259"/>
                    <a:pt x="1275154" y="234762"/>
                  </a:cubicBezTo>
                  <a:cubicBezTo>
                    <a:pt x="1275154" y="146266"/>
                    <a:pt x="1350084" y="73747"/>
                    <a:pt x="1441524" y="73747"/>
                  </a:cubicBezTo>
                  <a:cubicBezTo>
                    <a:pt x="1532965" y="73747"/>
                    <a:pt x="1607894" y="146266"/>
                    <a:pt x="1607894" y="234762"/>
                  </a:cubicBezTo>
                  <a:cubicBezTo>
                    <a:pt x="1609165" y="323259"/>
                    <a:pt x="1534234" y="395777"/>
                    <a:pt x="1441524" y="395777"/>
                  </a:cubicBezTo>
                  <a:close/>
                </a:path>
              </a:pathLst>
            </a:custGeom>
            <a:solidFill>
              <a:srgbClr val="386C9C"/>
            </a:solidFill>
          </p:spPr>
        </p:sp>
      </p:grpSp>
      <p:sp>
        <p:nvSpPr>
          <p:cNvPr name="TextBox 14" id="14"/>
          <p:cNvSpPr txBox="true"/>
          <p:nvPr/>
        </p:nvSpPr>
        <p:spPr>
          <a:xfrm rot="0">
            <a:off x="11418351" y="4044947"/>
            <a:ext cx="5840949" cy="527164"/>
          </a:xfrm>
          <a:prstGeom prst="rect">
            <a:avLst/>
          </a:prstGeom>
        </p:spPr>
        <p:txBody>
          <a:bodyPr anchor="t" rtlCol="false" tIns="0" lIns="0" bIns="0" rIns="0">
            <a:spAutoFit/>
          </a:bodyPr>
          <a:lstStyle/>
          <a:p>
            <a:pPr algn="l">
              <a:lnSpc>
                <a:spcPts val="4370"/>
              </a:lnSpc>
            </a:pPr>
            <a:r>
              <a:rPr lang="en-US" sz="2913">
                <a:solidFill>
                  <a:srgbClr val="000000"/>
                </a:solidFill>
                <a:latin typeface="Roboto"/>
                <a:ea typeface="Roboto"/>
                <a:cs typeface="Roboto"/>
                <a:sym typeface="Roboto"/>
              </a:rPr>
              <a:t>Identification</a:t>
            </a:r>
          </a:p>
        </p:txBody>
      </p:sp>
      <p:sp>
        <p:nvSpPr>
          <p:cNvPr name="TextBox 15" id="15"/>
          <p:cNvSpPr txBox="true"/>
          <p:nvPr/>
        </p:nvSpPr>
        <p:spPr>
          <a:xfrm rot="0">
            <a:off x="11418351" y="3463160"/>
            <a:ext cx="5840949" cy="551679"/>
          </a:xfrm>
          <a:prstGeom prst="rect">
            <a:avLst/>
          </a:prstGeom>
        </p:spPr>
        <p:txBody>
          <a:bodyPr anchor="t" rtlCol="false" tIns="0" lIns="0" bIns="0" rIns="0">
            <a:spAutoFit/>
          </a:bodyPr>
          <a:lstStyle/>
          <a:p>
            <a:pPr algn="l" marL="0" indent="0" lvl="0">
              <a:lnSpc>
                <a:spcPts val="4386"/>
              </a:lnSpc>
              <a:spcBef>
                <a:spcPct val="0"/>
              </a:spcBef>
            </a:pPr>
            <a:r>
              <a:rPr lang="en-US" b="true" sz="3400">
                <a:solidFill>
                  <a:srgbClr val="000000"/>
                </a:solidFill>
                <a:latin typeface="Roboto Bold"/>
                <a:ea typeface="Roboto Bold"/>
                <a:cs typeface="Roboto Bold"/>
                <a:sym typeface="Roboto Bold"/>
              </a:rPr>
              <a:t>Section 0</a:t>
            </a:r>
          </a:p>
        </p:txBody>
      </p:sp>
      <p:sp>
        <p:nvSpPr>
          <p:cNvPr name="TextBox 16" id="16"/>
          <p:cNvSpPr txBox="true"/>
          <p:nvPr/>
        </p:nvSpPr>
        <p:spPr>
          <a:xfrm rot="0">
            <a:off x="11418351" y="6608377"/>
            <a:ext cx="5840949" cy="1079614"/>
          </a:xfrm>
          <a:prstGeom prst="rect">
            <a:avLst/>
          </a:prstGeom>
        </p:spPr>
        <p:txBody>
          <a:bodyPr anchor="t" rtlCol="false" tIns="0" lIns="0" bIns="0" rIns="0">
            <a:spAutoFit/>
          </a:bodyPr>
          <a:lstStyle/>
          <a:p>
            <a:pPr algn="l">
              <a:lnSpc>
                <a:spcPts val="4370"/>
              </a:lnSpc>
            </a:pPr>
            <a:r>
              <a:rPr lang="en-US" sz="2913">
                <a:solidFill>
                  <a:srgbClr val="000000"/>
                </a:solidFill>
                <a:latin typeface="Roboto"/>
                <a:ea typeface="Roboto"/>
                <a:cs typeface="Roboto"/>
                <a:sym typeface="Roboto"/>
              </a:rPr>
              <a:t>Connaissance, utilisation des services bancaires</a:t>
            </a:r>
          </a:p>
        </p:txBody>
      </p:sp>
      <p:sp>
        <p:nvSpPr>
          <p:cNvPr name="TextBox 17" id="17"/>
          <p:cNvSpPr txBox="true"/>
          <p:nvPr/>
        </p:nvSpPr>
        <p:spPr>
          <a:xfrm rot="0">
            <a:off x="11418351" y="6026590"/>
            <a:ext cx="5840949" cy="551679"/>
          </a:xfrm>
          <a:prstGeom prst="rect">
            <a:avLst/>
          </a:prstGeom>
        </p:spPr>
        <p:txBody>
          <a:bodyPr anchor="t" rtlCol="false" tIns="0" lIns="0" bIns="0" rIns="0">
            <a:spAutoFit/>
          </a:bodyPr>
          <a:lstStyle/>
          <a:p>
            <a:pPr algn="l" marL="0" indent="0" lvl="0">
              <a:lnSpc>
                <a:spcPts val="4386"/>
              </a:lnSpc>
              <a:spcBef>
                <a:spcPct val="0"/>
              </a:spcBef>
            </a:pPr>
            <a:r>
              <a:rPr lang="en-US" b="true" sz="3400">
                <a:solidFill>
                  <a:srgbClr val="000000"/>
                </a:solidFill>
                <a:latin typeface="Roboto Bold"/>
                <a:ea typeface="Roboto Bold"/>
                <a:cs typeface="Roboto Bold"/>
                <a:sym typeface="Roboto Bold"/>
              </a:rPr>
              <a:t>Section 2</a:t>
            </a:r>
          </a:p>
        </p:txBody>
      </p:sp>
      <p:sp>
        <p:nvSpPr>
          <p:cNvPr name="TextBox 18" id="18"/>
          <p:cNvSpPr txBox="true"/>
          <p:nvPr/>
        </p:nvSpPr>
        <p:spPr>
          <a:xfrm rot="0">
            <a:off x="1028700" y="5326662"/>
            <a:ext cx="6675916" cy="527164"/>
          </a:xfrm>
          <a:prstGeom prst="rect">
            <a:avLst/>
          </a:prstGeom>
        </p:spPr>
        <p:txBody>
          <a:bodyPr anchor="t" rtlCol="false" tIns="0" lIns="0" bIns="0" rIns="0">
            <a:spAutoFit/>
          </a:bodyPr>
          <a:lstStyle/>
          <a:p>
            <a:pPr algn="r">
              <a:lnSpc>
                <a:spcPts val="4370"/>
              </a:lnSpc>
            </a:pPr>
            <a:r>
              <a:rPr lang="en-US" sz="2913">
                <a:solidFill>
                  <a:srgbClr val="000000"/>
                </a:solidFill>
                <a:latin typeface="Roboto"/>
                <a:ea typeface="Roboto"/>
                <a:cs typeface="Roboto"/>
                <a:sym typeface="Roboto"/>
              </a:rPr>
              <a:t>Identification de l’enquêté</a:t>
            </a:r>
          </a:p>
        </p:txBody>
      </p:sp>
      <p:sp>
        <p:nvSpPr>
          <p:cNvPr name="TextBox 19" id="19"/>
          <p:cNvSpPr txBox="true"/>
          <p:nvPr/>
        </p:nvSpPr>
        <p:spPr>
          <a:xfrm rot="0">
            <a:off x="1028700" y="4744875"/>
            <a:ext cx="6675916" cy="551679"/>
          </a:xfrm>
          <a:prstGeom prst="rect">
            <a:avLst/>
          </a:prstGeom>
        </p:spPr>
        <p:txBody>
          <a:bodyPr anchor="t" rtlCol="false" tIns="0" lIns="0" bIns="0" rIns="0">
            <a:spAutoFit/>
          </a:bodyPr>
          <a:lstStyle/>
          <a:p>
            <a:pPr algn="r" marL="0" indent="0" lvl="0">
              <a:lnSpc>
                <a:spcPts val="4386"/>
              </a:lnSpc>
              <a:spcBef>
                <a:spcPct val="0"/>
              </a:spcBef>
            </a:pPr>
            <a:r>
              <a:rPr lang="en-US" b="true" sz="3400">
                <a:solidFill>
                  <a:srgbClr val="000000"/>
                </a:solidFill>
                <a:latin typeface="Roboto Bold"/>
                <a:ea typeface="Roboto Bold"/>
                <a:cs typeface="Roboto Bold"/>
                <a:sym typeface="Roboto Bold"/>
              </a:rPr>
              <a:t>Section 1</a:t>
            </a:r>
          </a:p>
        </p:txBody>
      </p:sp>
      <p:sp>
        <p:nvSpPr>
          <p:cNvPr name="TextBox 20" id="20"/>
          <p:cNvSpPr txBox="true"/>
          <p:nvPr/>
        </p:nvSpPr>
        <p:spPr>
          <a:xfrm rot="0">
            <a:off x="1028700" y="7890092"/>
            <a:ext cx="6675916" cy="480453"/>
          </a:xfrm>
          <a:prstGeom prst="rect">
            <a:avLst/>
          </a:prstGeom>
        </p:spPr>
        <p:txBody>
          <a:bodyPr anchor="t" rtlCol="false" tIns="0" lIns="0" bIns="0" rIns="0">
            <a:spAutoFit/>
          </a:bodyPr>
          <a:lstStyle/>
          <a:p>
            <a:pPr algn="r">
              <a:lnSpc>
                <a:spcPts val="3959"/>
              </a:lnSpc>
            </a:pPr>
            <a:r>
              <a:rPr lang="en-US" sz="2639">
                <a:solidFill>
                  <a:srgbClr val="000000"/>
                </a:solidFill>
                <a:latin typeface="Roboto"/>
                <a:ea typeface="Roboto"/>
                <a:cs typeface="Roboto"/>
                <a:sym typeface="Roboto"/>
              </a:rPr>
              <a:t>Perception des services bancaires à Dakar</a:t>
            </a:r>
          </a:p>
        </p:txBody>
      </p:sp>
      <p:sp>
        <p:nvSpPr>
          <p:cNvPr name="TextBox 21" id="21"/>
          <p:cNvSpPr txBox="true"/>
          <p:nvPr/>
        </p:nvSpPr>
        <p:spPr>
          <a:xfrm rot="0">
            <a:off x="1028700" y="7308305"/>
            <a:ext cx="6675916" cy="551679"/>
          </a:xfrm>
          <a:prstGeom prst="rect">
            <a:avLst/>
          </a:prstGeom>
        </p:spPr>
        <p:txBody>
          <a:bodyPr anchor="t" rtlCol="false" tIns="0" lIns="0" bIns="0" rIns="0">
            <a:spAutoFit/>
          </a:bodyPr>
          <a:lstStyle/>
          <a:p>
            <a:pPr algn="r" marL="0" indent="0" lvl="0">
              <a:lnSpc>
                <a:spcPts val="4386"/>
              </a:lnSpc>
              <a:spcBef>
                <a:spcPct val="0"/>
              </a:spcBef>
            </a:pPr>
            <a:r>
              <a:rPr lang="en-US" b="true" sz="3400">
                <a:solidFill>
                  <a:srgbClr val="000000"/>
                </a:solidFill>
                <a:latin typeface="Roboto Bold"/>
                <a:ea typeface="Roboto Bold"/>
                <a:cs typeface="Roboto Bold"/>
                <a:sym typeface="Roboto Bold"/>
              </a:rPr>
              <a:t>Section 3</a:t>
            </a:r>
          </a:p>
        </p:txBody>
      </p:sp>
      <p:sp>
        <p:nvSpPr>
          <p:cNvPr name="AutoShape 22" id="22"/>
          <p:cNvSpPr/>
          <p:nvPr/>
        </p:nvSpPr>
        <p:spPr>
          <a:xfrm rot="0">
            <a:off x="9715033" y="3631933"/>
            <a:ext cx="646743" cy="59484"/>
          </a:xfrm>
          <a:prstGeom prst="rect">
            <a:avLst/>
          </a:prstGeom>
          <a:solidFill>
            <a:srgbClr val="386C9C"/>
          </a:solidFill>
        </p:spPr>
      </p:sp>
      <p:sp>
        <p:nvSpPr>
          <p:cNvPr name="AutoShape 23" id="23"/>
          <p:cNvSpPr/>
          <p:nvPr/>
        </p:nvSpPr>
        <p:spPr>
          <a:xfrm rot="0">
            <a:off x="9715033" y="6206061"/>
            <a:ext cx="646743" cy="59484"/>
          </a:xfrm>
          <a:prstGeom prst="rect">
            <a:avLst/>
          </a:prstGeom>
          <a:solidFill>
            <a:srgbClr val="386C9C"/>
          </a:solidFill>
        </p:spPr>
      </p:sp>
      <p:sp>
        <p:nvSpPr>
          <p:cNvPr name="AutoShape 24" id="24"/>
          <p:cNvSpPr/>
          <p:nvPr/>
        </p:nvSpPr>
        <p:spPr>
          <a:xfrm rot="0">
            <a:off x="8736772" y="7502052"/>
            <a:ext cx="646743" cy="59484"/>
          </a:xfrm>
          <a:prstGeom prst="rect">
            <a:avLst/>
          </a:prstGeom>
          <a:solidFill>
            <a:srgbClr val="386C9C"/>
          </a:solidFill>
        </p:spPr>
      </p:sp>
      <p:sp>
        <p:nvSpPr>
          <p:cNvPr name="AutoShape 25" id="25"/>
          <p:cNvSpPr/>
          <p:nvPr/>
        </p:nvSpPr>
        <p:spPr>
          <a:xfrm rot="0">
            <a:off x="8736772" y="4938623"/>
            <a:ext cx="646743" cy="59484"/>
          </a:xfrm>
          <a:prstGeom prst="rect">
            <a:avLst/>
          </a:prstGeom>
          <a:solidFill>
            <a:srgbClr val="386C9C"/>
          </a:solidFill>
        </p:spPr>
      </p:sp>
      <p:sp>
        <p:nvSpPr>
          <p:cNvPr name="TextBox 26" id="26"/>
          <p:cNvSpPr txBox="true"/>
          <p:nvPr/>
        </p:nvSpPr>
        <p:spPr>
          <a:xfrm rot="0">
            <a:off x="5613354" y="752475"/>
            <a:ext cx="7061292" cy="657225"/>
          </a:xfrm>
          <a:prstGeom prst="rect">
            <a:avLst/>
          </a:prstGeom>
        </p:spPr>
        <p:txBody>
          <a:bodyPr anchor="t" rtlCol="false" tIns="0" lIns="0" bIns="0" rIns="0">
            <a:spAutoFit/>
          </a:bodyPr>
          <a:lstStyle/>
          <a:p>
            <a:pPr algn="ctr">
              <a:lnSpc>
                <a:spcPts val="4800"/>
              </a:lnSpc>
            </a:pPr>
            <a:r>
              <a:rPr lang="en-US" sz="5000" b="true">
                <a:solidFill>
                  <a:srgbClr val="323840"/>
                </a:solidFill>
                <a:latin typeface="TT Interphases Bold"/>
                <a:ea typeface="TT Interphases Bold"/>
                <a:cs typeface="TT Interphases Bold"/>
                <a:sym typeface="TT Interphases Bold"/>
              </a:rPr>
              <a:t>Questionnaire</a:t>
            </a:r>
          </a:p>
        </p:txBody>
      </p:sp>
      <p:grpSp>
        <p:nvGrpSpPr>
          <p:cNvPr name="Group 27" id="27"/>
          <p:cNvGrpSpPr/>
          <p:nvPr/>
        </p:nvGrpSpPr>
        <p:grpSpPr>
          <a:xfrm rot="0">
            <a:off x="8598901" y="1921209"/>
            <a:ext cx="1223547" cy="248043"/>
            <a:chOff x="0" y="0"/>
            <a:chExt cx="1631396" cy="330724"/>
          </a:xfrm>
        </p:grpSpPr>
        <p:grpSp>
          <p:nvGrpSpPr>
            <p:cNvPr name="Group 28" id="28"/>
            <p:cNvGrpSpPr/>
            <p:nvPr/>
          </p:nvGrpSpPr>
          <p:grpSpPr>
            <a:xfrm rot="0">
              <a:off x="651264" y="0"/>
              <a:ext cx="330724" cy="330724"/>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31" id="31"/>
            <p:cNvGrpSpPr/>
            <p:nvPr/>
          </p:nvGrpSpPr>
          <p:grpSpPr>
            <a:xfrm rot="0">
              <a:off x="1300672" y="0"/>
              <a:ext cx="330724" cy="330724"/>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34" id="34"/>
            <p:cNvGrpSpPr/>
            <p:nvPr/>
          </p:nvGrpSpPr>
          <p:grpSpPr>
            <a:xfrm rot="0">
              <a:off x="0" y="0"/>
              <a:ext cx="330724" cy="330724"/>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sp>
          <p:sp>
            <p:nvSpPr>
              <p:cNvPr name="TextBox 36" id="3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spTree>
  </p:cSld>
  <p:clrMapOvr>
    <a:masterClrMapping/>
  </p:clrMapOvr>
  <p:transition spd="slow">
    <p:push dir="l"/>
  </p:transition>
</p:sld>
</file>

<file path=ppt/slides/slide41.xml><?xml version="1.0" encoding="utf-8"?>
<p:sld xmlns:p="http://schemas.openxmlformats.org/presentationml/2006/main" xmlns:a="http://schemas.openxmlformats.org/drawingml/2006/main">
  <p:cSld>
    <p:bg>
      <p:bgPr>
        <a:solidFill>
          <a:srgbClr val="EF8535"/>
        </a:solidFill>
      </p:bgPr>
    </p:bg>
    <p:spTree>
      <p:nvGrpSpPr>
        <p:cNvPr id="1" name=""/>
        <p:cNvGrpSpPr/>
        <p:nvPr/>
      </p:nvGrpSpPr>
      <p:grpSpPr>
        <a:xfrm>
          <a:off x="0" y="0"/>
          <a:ext cx="0" cy="0"/>
          <a:chOff x="0" y="0"/>
          <a:chExt cx="0" cy="0"/>
        </a:xfrm>
      </p:grpSpPr>
      <p:grpSp>
        <p:nvGrpSpPr>
          <p:cNvPr name="Group 2" id="2"/>
          <p:cNvGrpSpPr/>
          <p:nvPr/>
        </p:nvGrpSpPr>
        <p:grpSpPr>
          <a:xfrm rot="-10800000">
            <a:off x="0" y="-2498358"/>
            <a:ext cx="18288000" cy="9901126"/>
            <a:chOff x="0" y="0"/>
            <a:chExt cx="2079074" cy="1125611"/>
          </a:xfrm>
        </p:grpSpPr>
        <p:sp>
          <p:nvSpPr>
            <p:cNvPr name="Freeform 3" id="3"/>
            <p:cNvSpPr/>
            <p:nvPr/>
          </p:nvSpPr>
          <p:spPr>
            <a:xfrm flipH="false" flipV="false" rot="0">
              <a:off x="0" y="0"/>
              <a:ext cx="2079074" cy="1125611"/>
            </a:xfrm>
            <a:custGeom>
              <a:avLst/>
              <a:gdLst/>
              <a:ahLst/>
              <a:cxnLst/>
              <a:rect r="r" b="b" t="t" l="l"/>
              <a:pathLst>
                <a:path h="1125611" w="2079074">
                  <a:moveTo>
                    <a:pt x="693399" y="1106542"/>
                  </a:moveTo>
                  <a:cubicBezTo>
                    <a:pt x="799988" y="1118056"/>
                    <a:pt x="921166" y="1125611"/>
                    <a:pt x="1040097" y="1125611"/>
                  </a:cubicBezTo>
                  <a:cubicBezTo>
                    <a:pt x="1159032" y="1125611"/>
                    <a:pt x="1273477" y="1119134"/>
                    <a:pt x="1378942" y="1107620"/>
                  </a:cubicBezTo>
                  <a:cubicBezTo>
                    <a:pt x="1381189" y="1107261"/>
                    <a:pt x="1383432" y="1107261"/>
                    <a:pt x="1385675" y="1106901"/>
                  </a:cubicBezTo>
                  <a:cubicBezTo>
                    <a:pt x="1781742" y="1060846"/>
                    <a:pt x="2073464" y="939232"/>
                    <a:pt x="2079074" y="790160"/>
                  </a:cubicBezTo>
                  <a:lnTo>
                    <a:pt x="2079074" y="0"/>
                  </a:lnTo>
                  <a:lnTo>
                    <a:pt x="0" y="0"/>
                  </a:lnTo>
                  <a:lnTo>
                    <a:pt x="0" y="789574"/>
                  </a:lnTo>
                  <a:cubicBezTo>
                    <a:pt x="5610" y="939951"/>
                    <a:pt x="292843" y="1061566"/>
                    <a:pt x="693399" y="1106542"/>
                  </a:cubicBezTo>
                  <a:close/>
                </a:path>
              </a:pathLst>
            </a:custGeom>
            <a:solidFill>
              <a:srgbClr val="763C00"/>
            </a:solidFill>
            <a:ln cap="sq">
              <a:noFill/>
              <a:prstDash val="solid"/>
              <a:miter/>
            </a:ln>
          </p:spPr>
        </p:sp>
        <p:sp>
          <p:nvSpPr>
            <p:cNvPr name="TextBox 4" id="4"/>
            <p:cNvSpPr txBox="true"/>
            <p:nvPr/>
          </p:nvSpPr>
          <p:spPr>
            <a:xfrm>
              <a:off x="0" y="-38100"/>
              <a:ext cx="2079074" cy="1036711"/>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5234117" y="4419600"/>
            <a:ext cx="7819766" cy="1409700"/>
          </a:xfrm>
          <a:prstGeom prst="rect">
            <a:avLst/>
          </a:prstGeom>
        </p:spPr>
        <p:txBody>
          <a:bodyPr anchor="t" rtlCol="false" tIns="0" lIns="0" bIns="0" rIns="0">
            <a:spAutoFit/>
          </a:bodyPr>
          <a:lstStyle/>
          <a:p>
            <a:pPr algn="l">
              <a:lnSpc>
                <a:spcPts val="8550"/>
              </a:lnSpc>
            </a:pPr>
            <a:r>
              <a:rPr lang="en-US" b="true" sz="9000" spc="-44">
                <a:solidFill>
                  <a:srgbClr val="F9F7DC"/>
                </a:solidFill>
                <a:latin typeface="Agrandir Narrow Bold"/>
                <a:ea typeface="Agrandir Narrow Bold"/>
                <a:cs typeface="Agrandir Narrow Bold"/>
                <a:sym typeface="Agrandir Narrow Bold"/>
              </a:rPr>
              <a:t>En conclusion...</a:t>
            </a:r>
          </a:p>
        </p:txBody>
      </p:sp>
    </p:spTree>
  </p:cSld>
  <p:clrMapOvr>
    <a:masterClrMapping/>
  </p:clrMapOvr>
  <p:transition spd="slow">
    <p:push dir="l"/>
  </p:transition>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1725121" y="-2583082"/>
            <a:ext cx="8371329" cy="8371296"/>
            <a:chOff x="0" y="0"/>
            <a:chExt cx="6350000" cy="6349975"/>
          </a:xfrm>
        </p:grpSpPr>
        <p:sp>
          <p:nvSpPr>
            <p:cNvPr name="Freeform 3" id="3"/>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38888" t="0" r="-38888" b="0"/>
              </a:stretch>
            </a:blipFill>
          </p:spPr>
        </p:sp>
      </p:grpSp>
      <p:sp>
        <p:nvSpPr>
          <p:cNvPr name="Freeform 4" id="4"/>
          <p:cNvSpPr/>
          <p:nvPr/>
        </p:nvSpPr>
        <p:spPr>
          <a:xfrm flipH="false" flipV="false" rot="5400000">
            <a:off x="-325123" y="7237781"/>
            <a:ext cx="3366703" cy="3366703"/>
          </a:xfrm>
          <a:custGeom>
            <a:avLst/>
            <a:gdLst/>
            <a:ahLst/>
            <a:cxnLst/>
            <a:rect r="r" b="b" t="t" l="l"/>
            <a:pathLst>
              <a:path h="3366703" w="3366703">
                <a:moveTo>
                  <a:pt x="0" y="0"/>
                </a:moveTo>
                <a:lnTo>
                  <a:pt x="3366702" y="0"/>
                </a:lnTo>
                <a:lnTo>
                  <a:pt x="3366702" y="3366703"/>
                </a:lnTo>
                <a:lnTo>
                  <a:pt x="0" y="33667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2235224" y="3882411"/>
            <a:ext cx="1261089" cy="1261089"/>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34D24"/>
            </a:solidFill>
          </p:spPr>
        </p:sp>
      </p:grpSp>
      <p:grpSp>
        <p:nvGrpSpPr>
          <p:cNvPr name="Group 7" id="7"/>
          <p:cNvGrpSpPr/>
          <p:nvPr/>
        </p:nvGrpSpPr>
        <p:grpSpPr>
          <a:xfrm rot="0">
            <a:off x="1004018" y="1986652"/>
            <a:ext cx="11231206" cy="1895759"/>
            <a:chOff x="0" y="0"/>
            <a:chExt cx="2958013" cy="499295"/>
          </a:xfrm>
        </p:grpSpPr>
        <p:sp>
          <p:nvSpPr>
            <p:cNvPr name="Freeform 8" id="8"/>
            <p:cNvSpPr/>
            <p:nvPr/>
          </p:nvSpPr>
          <p:spPr>
            <a:xfrm flipH="false" flipV="false" rot="0">
              <a:off x="0" y="0"/>
              <a:ext cx="2958013" cy="499295"/>
            </a:xfrm>
            <a:custGeom>
              <a:avLst/>
              <a:gdLst/>
              <a:ahLst/>
              <a:cxnLst/>
              <a:rect r="r" b="b" t="t" l="l"/>
              <a:pathLst>
                <a:path h="499295" w="2958013">
                  <a:moveTo>
                    <a:pt x="35155" y="0"/>
                  </a:moveTo>
                  <a:lnTo>
                    <a:pt x="2922858" y="0"/>
                  </a:lnTo>
                  <a:cubicBezTo>
                    <a:pt x="2942274" y="0"/>
                    <a:pt x="2958013" y="15740"/>
                    <a:pt x="2958013" y="35155"/>
                  </a:cubicBezTo>
                  <a:lnTo>
                    <a:pt x="2958013" y="464139"/>
                  </a:lnTo>
                  <a:cubicBezTo>
                    <a:pt x="2958013" y="483555"/>
                    <a:pt x="2942274" y="499295"/>
                    <a:pt x="2922858" y="499295"/>
                  </a:cubicBezTo>
                  <a:lnTo>
                    <a:pt x="35155" y="499295"/>
                  </a:lnTo>
                  <a:cubicBezTo>
                    <a:pt x="15740" y="499295"/>
                    <a:pt x="0" y="483555"/>
                    <a:pt x="0" y="464139"/>
                  </a:cubicBezTo>
                  <a:lnTo>
                    <a:pt x="0" y="35155"/>
                  </a:lnTo>
                  <a:cubicBezTo>
                    <a:pt x="0" y="15740"/>
                    <a:pt x="15740" y="0"/>
                    <a:pt x="35155" y="0"/>
                  </a:cubicBezTo>
                  <a:close/>
                </a:path>
              </a:pathLst>
            </a:custGeom>
            <a:solidFill>
              <a:srgbClr val="B31E1E"/>
            </a:solidFill>
          </p:spPr>
        </p:sp>
        <p:sp>
          <p:nvSpPr>
            <p:cNvPr name="TextBox 9" id="9"/>
            <p:cNvSpPr txBox="true"/>
            <p:nvPr/>
          </p:nvSpPr>
          <p:spPr>
            <a:xfrm>
              <a:off x="0" y="-38100"/>
              <a:ext cx="2958013" cy="537395"/>
            </a:xfrm>
            <a:prstGeom prst="rect">
              <a:avLst/>
            </a:prstGeom>
          </p:spPr>
          <p:txBody>
            <a:bodyPr anchor="ctr" rtlCol="false" tIns="50800" lIns="50800" bIns="50800" rIns="50800"/>
            <a:lstStyle/>
            <a:p>
              <a:pPr algn="ctr">
                <a:lnSpc>
                  <a:spcPts val="2318"/>
                </a:lnSpc>
              </a:pPr>
            </a:p>
          </p:txBody>
        </p:sp>
      </p:grpSp>
      <p:sp>
        <p:nvSpPr>
          <p:cNvPr name="TextBox 10" id="10"/>
          <p:cNvSpPr txBox="true"/>
          <p:nvPr/>
        </p:nvSpPr>
        <p:spPr>
          <a:xfrm rot="0">
            <a:off x="1396305" y="1939027"/>
            <a:ext cx="5247957" cy="501015"/>
          </a:xfrm>
          <a:prstGeom prst="rect">
            <a:avLst/>
          </a:prstGeom>
        </p:spPr>
        <p:txBody>
          <a:bodyPr anchor="t" rtlCol="false" tIns="0" lIns="0" bIns="0" rIns="0">
            <a:spAutoFit/>
          </a:bodyPr>
          <a:lstStyle/>
          <a:p>
            <a:pPr algn="l" marL="0" indent="0" lvl="0">
              <a:lnSpc>
                <a:spcPts val="3930"/>
              </a:lnSpc>
              <a:spcBef>
                <a:spcPct val="0"/>
              </a:spcBef>
            </a:pPr>
            <a:r>
              <a:rPr lang="en-US" b="true" sz="3000">
                <a:solidFill>
                  <a:srgbClr val="F9F7DC"/>
                </a:solidFill>
                <a:latin typeface="Roboto Bold"/>
                <a:ea typeface="Roboto Bold"/>
                <a:cs typeface="Roboto Bold"/>
                <a:sym typeface="Roboto Bold"/>
              </a:rPr>
              <a:t>Pour les autorités publiques</a:t>
            </a:r>
          </a:p>
        </p:txBody>
      </p:sp>
      <p:sp>
        <p:nvSpPr>
          <p:cNvPr name="TextBox 11" id="11"/>
          <p:cNvSpPr txBox="true"/>
          <p:nvPr/>
        </p:nvSpPr>
        <p:spPr>
          <a:xfrm rot="0">
            <a:off x="1028700" y="663401"/>
            <a:ext cx="5983168" cy="939165"/>
          </a:xfrm>
          <a:prstGeom prst="rect">
            <a:avLst/>
          </a:prstGeom>
        </p:spPr>
        <p:txBody>
          <a:bodyPr anchor="t" rtlCol="false" tIns="0" lIns="0" bIns="0" rIns="0">
            <a:spAutoFit/>
          </a:bodyPr>
          <a:lstStyle/>
          <a:p>
            <a:pPr algn="l">
              <a:lnSpc>
                <a:spcPts val="7380"/>
              </a:lnSpc>
            </a:pPr>
            <a:r>
              <a:rPr lang="en-US" sz="6000" b="true">
                <a:solidFill>
                  <a:srgbClr val="000000"/>
                </a:solidFill>
                <a:latin typeface="Roboto Bold"/>
                <a:ea typeface="Roboto Bold"/>
                <a:cs typeface="Roboto Bold"/>
                <a:sym typeface="Roboto Bold"/>
              </a:rPr>
              <a:t>Portée de l’étude</a:t>
            </a:r>
          </a:p>
        </p:txBody>
      </p:sp>
      <p:sp>
        <p:nvSpPr>
          <p:cNvPr name="TextBox 12" id="12"/>
          <p:cNvSpPr txBox="true"/>
          <p:nvPr/>
        </p:nvSpPr>
        <p:spPr>
          <a:xfrm rot="0">
            <a:off x="1358228" y="2363842"/>
            <a:ext cx="9546615" cy="106680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F9F7DC"/>
                </a:solidFill>
                <a:latin typeface="Roboto"/>
                <a:ea typeface="Roboto"/>
                <a:cs typeface="Roboto"/>
                <a:sym typeface="Roboto"/>
              </a:rPr>
              <a:t>Appréciation du niveau de connaissance bancaire </a:t>
            </a:r>
          </a:p>
          <a:p>
            <a:pPr algn="l" marL="647700" indent="-323850" lvl="1">
              <a:lnSpc>
                <a:spcPts val="4200"/>
              </a:lnSpc>
              <a:buFont typeface="Arial"/>
              <a:buChar char="•"/>
            </a:pPr>
            <a:r>
              <a:rPr lang="en-US" sz="3000">
                <a:solidFill>
                  <a:srgbClr val="F9F7DC"/>
                </a:solidFill>
                <a:latin typeface="Roboto"/>
                <a:ea typeface="Roboto"/>
                <a:cs typeface="Roboto"/>
                <a:sym typeface="Roboto"/>
              </a:rPr>
              <a:t>Orientation des politiques d’inclusion financière</a:t>
            </a:r>
          </a:p>
        </p:txBody>
      </p:sp>
      <p:grpSp>
        <p:nvGrpSpPr>
          <p:cNvPr name="Group 13" id="13"/>
          <p:cNvGrpSpPr/>
          <p:nvPr/>
        </p:nvGrpSpPr>
        <p:grpSpPr>
          <a:xfrm rot="0">
            <a:off x="1028700" y="4512956"/>
            <a:ext cx="11231206" cy="1895759"/>
            <a:chOff x="0" y="0"/>
            <a:chExt cx="2958013" cy="499295"/>
          </a:xfrm>
        </p:grpSpPr>
        <p:sp>
          <p:nvSpPr>
            <p:cNvPr name="Freeform 14" id="14"/>
            <p:cNvSpPr/>
            <p:nvPr/>
          </p:nvSpPr>
          <p:spPr>
            <a:xfrm flipH="false" flipV="false" rot="0">
              <a:off x="0" y="0"/>
              <a:ext cx="2958013" cy="499295"/>
            </a:xfrm>
            <a:custGeom>
              <a:avLst/>
              <a:gdLst/>
              <a:ahLst/>
              <a:cxnLst/>
              <a:rect r="r" b="b" t="t" l="l"/>
              <a:pathLst>
                <a:path h="499295" w="2958013">
                  <a:moveTo>
                    <a:pt x="35155" y="0"/>
                  </a:moveTo>
                  <a:lnTo>
                    <a:pt x="2922858" y="0"/>
                  </a:lnTo>
                  <a:cubicBezTo>
                    <a:pt x="2942274" y="0"/>
                    <a:pt x="2958013" y="15740"/>
                    <a:pt x="2958013" y="35155"/>
                  </a:cubicBezTo>
                  <a:lnTo>
                    <a:pt x="2958013" y="464139"/>
                  </a:lnTo>
                  <a:cubicBezTo>
                    <a:pt x="2958013" y="483555"/>
                    <a:pt x="2942274" y="499295"/>
                    <a:pt x="2922858" y="499295"/>
                  </a:cubicBezTo>
                  <a:lnTo>
                    <a:pt x="35155" y="499295"/>
                  </a:lnTo>
                  <a:cubicBezTo>
                    <a:pt x="15740" y="499295"/>
                    <a:pt x="0" y="483555"/>
                    <a:pt x="0" y="464139"/>
                  </a:cubicBezTo>
                  <a:lnTo>
                    <a:pt x="0" y="35155"/>
                  </a:lnTo>
                  <a:cubicBezTo>
                    <a:pt x="0" y="15740"/>
                    <a:pt x="15740" y="0"/>
                    <a:pt x="35155" y="0"/>
                  </a:cubicBezTo>
                  <a:close/>
                </a:path>
              </a:pathLst>
            </a:custGeom>
            <a:solidFill>
              <a:srgbClr val="B31E1E"/>
            </a:solidFill>
          </p:spPr>
        </p:sp>
        <p:sp>
          <p:nvSpPr>
            <p:cNvPr name="TextBox 15" id="15"/>
            <p:cNvSpPr txBox="true"/>
            <p:nvPr/>
          </p:nvSpPr>
          <p:spPr>
            <a:xfrm>
              <a:off x="0" y="-38100"/>
              <a:ext cx="2958013" cy="537395"/>
            </a:xfrm>
            <a:prstGeom prst="rect">
              <a:avLst/>
            </a:prstGeom>
          </p:spPr>
          <p:txBody>
            <a:bodyPr anchor="ctr" rtlCol="false" tIns="50800" lIns="50800" bIns="50800" rIns="50800"/>
            <a:lstStyle/>
            <a:p>
              <a:pPr algn="ctr">
                <a:lnSpc>
                  <a:spcPts val="2318"/>
                </a:lnSpc>
              </a:pPr>
            </a:p>
          </p:txBody>
        </p:sp>
      </p:grpSp>
      <p:sp>
        <p:nvSpPr>
          <p:cNvPr name="TextBox 16" id="16"/>
          <p:cNvSpPr txBox="true"/>
          <p:nvPr/>
        </p:nvSpPr>
        <p:spPr>
          <a:xfrm rot="0">
            <a:off x="1420988" y="4465331"/>
            <a:ext cx="6088198" cy="501015"/>
          </a:xfrm>
          <a:prstGeom prst="rect">
            <a:avLst/>
          </a:prstGeom>
        </p:spPr>
        <p:txBody>
          <a:bodyPr anchor="t" rtlCol="false" tIns="0" lIns="0" bIns="0" rIns="0">
            <a:spAutoFit/>
          </a:bodyPr>
          <a:lstStyle/>
          <a:p>
            <a:pPr algn="l" marL="0" indent="0" lvl="0">
              <a:lnSpc>
                <a:spcPts val="3930"/>
              </a:lnSpc>
              <a:spcBef>
                <a:spcPct val="0"/>
              </a:spcBef>
            </a:pPr>
            <a:r>
              <a:rPr lang="en-US" b="true" sz="3000">
                <a:solidFill>
                  <a:srgbClr val="F9F7DC"/>
                </a:solidFill>
                <a:latin typeface="Roboto Bold"/>
                <a:ea typeface="Roboto Bold"/>
                <a:cs typeface="Roboto Bold"/>
                <a:sym typeface="Roboto Bold"/>
              </a:rPr>
              <a:t>Pour les établissements bancaires</a:t>
            </a:r>
          </a:p>
        </p:txBody>
      </p:sp>
      <p:sp>
        <p:nvSpPr>
          <p:cNvPr name="TextBox 17" id="17"/>
          <p:cNvSpPr txBox="true"/>
          <p:nvPr/>
        </p:nvSpPr>
        <p:spPr>
          <a:xfrm rot="0">
            <a:off x="1396305" y="4808515"/>
            <a:ext cx="9546615" cy="160020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F9F7DC"/>
                </a:solidFill>
                <a:latin typeface="Roboto"/>
                <a:ea typeface="Roboto"/>
                <a:cs typeface="Roboto"/>
                <a:sym typeface="Roboto"/>
              </a:rPr>
              <a:t>Compréhension du profil des usagers potentiels</a:t>
            </a:r>
          </a:p>
          <a:p>
            <a:pPr algn="l" marL="647700" indent="-323850" lvl="1">
              <a:lnSpc>
                <a:spcPts val="4200"/>
              </a:lnSpc>
              <a:buFont typeface="Arial"/>
              <a:buChar char="•"/>
            </a:pPr>
            <a:r>
              <a:rPr lang="en-US" sz="3000">
                <a:solidFill>
                  <a:srgbClr val="F9F7DC"/>
                </a:solidFill>
                <a:latin typeface="Roboto"/>
                <a:ea typeface="Roboto"/>
                <a:cs typeface="Roboto"/>
                <a:sym typeface="Roboto"/>
              </a:rPr>
              <a:t>Adaptation des offres aux réalités urbaines</a:t>
            </a:r>
          </a:p>
          <a:p>
            <a:pPr algn="l" marL="647700" indent="-323850" lvl="1">
              <a:lnSpc>
                <a:spcPts val="4200"/>
              </a:lnSpc>
              <a:buFont typeface="Arial"/>
              <a:buChar char="•"/>
            </a:pPr>
            <a:r>
              <a:rPr lang="en-US" sz="3000">
                <a:solidFill>
                  <a:srgbClr val="F9F7DC"/>
                </a:solidFill>
                <a:latin typeface="Roboto"/>
                <a:ea typeface="Roboto"/>
                <a:cs typeface="Roboto"/>
                <a:sym typeface="Roboto"/>
              </a:rPr>
              <a:t>Amélioration de la relation client</a:t>
            </a:r>
          </a:p>
        </p:txBody>
      </p:sp>
      <p:grpSp>
        <p:nvGrpSpPr>
          <p:cNvPr name="Group 18" id="18"/>
          <p:cNvGrpSpPr/>
          <p:nvPr/>
        </p:nvGrpSpPr>
        <p:grpSpPr>
          <a:xfrm rot="0">
            <a:off x="1004018" y="7025373"/>
            <a:ext cx="11231206" cy="1895759"/>
            <a:chOff x="0" y="0"/>
            <a:chExt cx="2958013" cy="499295"/>
          </a:xfrm>
        </p:grpSpPr>
        <p:sp>
          <p:nvSpPr>
            <p:cNvPr name="Freeform 19" id="19"/>
            <p:cNvSpPr/>
            <p:nvPr/>
          </p:nvSpPr>
          <p:spPr>
            <a:xfrm flipH="false" flipV="false" rot="0">
              <a:off x="0" y="0"/>
              <a:ext cx="2958013" cy="499295"/>
            </a:xfrm>
            <a:custGeom>
              <a:avLst/>
              <a:gdLst/>
              <a:ahLst/>
              <a:cxnLst/>
              <a:rect r="r" b="b" t="t" l="l"/>
              <a:pathLst>
                <a:path h="499295" w="2958013">
                  <a:moveTo>
                    <a:pt x="35155" y="0"/>
                  </a:moveTo>
                  <a:lnTo>
                    <a:pt x="2922858" y="0"/>
                  </a:lnTo>
                  <a:cubicBezTo>
                    <a:pt x="2942274" y="0"/>
                    <a:pt x="2958013" y="15740"/>
                    <a:pt x="2958013" y="35155"/>
                  </a:cubicBezTo>
                  <a:lnTo>
                    <a:pt x="2958013" y="464139"/>
                  </a:lnTo>
                  <a:cubicBezTo>
                    <a:pt x="2958013" y="483555"/>
                    <a:pt x="2942274" y="499295"/>
                    <a:pt x="2922858" y="499295"/>
                  </a:cubicBezTo>
                  <a:lnTo>
                    <a:pt x="35155" y="499295"/>
                  </a:lnTo>
                  <a:cubicBezTo>
                    <a:pt x="15740" y="499295"/>
                    <a:pt x="0" y="483555"/>
                    <a:pt x="0" y="464139"/>
                  </a:cubicBezTo>
                  <a:lnTo>
                    <a:pt x="0" y="35155"/>
                  </a:lnTo>
                  <a:cubicBezTo>
                    <a:pt x="0" y="15740"/>
                    <a:pt x="15740" y="0"/>
                    <a:pt x="35155" y="0"/>
                  </a:cubicBezTo>
                  <a:close/>
                </a:path>
              </a:pathLst>
            </a:custGeom>
            <a:solidFill>
              <a:srgbClr val="B31E1E"/>
            </a:solidFill>
          </p:spPr>
        </p:sp>
        <p:sp>
          <p:nvSpPr>
            <p:cNvPr name="TextBox 20" id="20"/>
            <p:cNvSpPr txBox="true"/>
            <p:nvPr/>
          </p:nvSpPr>
          <p:spPr>
            <a:xfrm>
              <a:off x="0" y="-38100"/>
              <a:ext cx="2958013" cy="537395"/>
            </a:xfrm>
            <a:prstGeom prst="rect">
              <a:avLst/>
            </a:prstGeom>
          </p:spPr>
          <p:txBody>
            <a:bodyPr anchor="ctr" rtlCol="false" tIns="50800" lIns="50800" bIns="50800" rIns="50800"/>
            <a:lstStyle/>
            <a:p>
              <a:pPr algn="ctr">
                <a:lnSpc>
                  <a:spcPts val="2318"/>
                </a:lnSpc>
              </a:pPr>
            </a:p>
          </p:txBody>
        </p:sp>
      </p:grpSp>
      <p:sp>
        <p:nvSpPr>
          <p:cNvPr name="TextBox 21" id="21"/>
          <p:cNvSpPr txBox="true"/>
          <p:nvPr/>
        </p:nvSpPr>
        <p:spPr>
          <a:xfrm rot="0">
            <a:off x="1396305" y="6977748"/>
            <a:ext cx="5247957" cy="501015"/>
          </a:xfrm>
          <a:prstGeom prst="rect">
            <a:avLst/>
          </a:prstGeom>
        </p:spPr>
        <p:txBody>
          <a:bodyPr anchor="t" rtlCol="false" tIns="0" lIns="0" bIns="0" rIns="0">
            <a:spAutoFit/>
          </a:bodyPr>
          <a:lstStyle/>
          <a:p>
            <a:pPr algn="l" marL="0" indent="0" lvl="0">
              <a:lnSpc>
                <a:spcPts val="3930"/>
              </a:lnSpc>
              <a:spcBef>
                <a:spcPct val="0"/>
              </a:spcBef>
            </a:pPr>
            <a:r>
              <a:rPr lang="en-US" b="true" sz="3000">
                <a:solidFill>
                  <a:srgbClr val="F9F7DC"/>
                </a:solidFill>
                <a:latin typeface="Roboto Bold"/>
                <a:ea typeface="Roboto Bold"/>
                <a:cs typeface="Roboto Bold"/>
                <a:sym typeface="Roboto Bold"/>
              </a:rPr>
              <a:t>Pour les populations</a:t>
            </a:r>
          </a:p>
        </p:txBody>
      </p:sp>
      <p:sp>
        <p:nvSpPr>
          <p:cNvPr name="TextBox 22" id="22"/>
          <p:cNvSpPr txBox="true"/>
          <p:nvPr/>
        </p:nvSpPr>
        <p:spPr>
          <a:xfrm rot="0">
            <a:off x="1358228" y="7320932"/>
            <a:ext cx="9546615" cy="160020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F9F7DC"/>
                </a:solidFill>
                <a:latin typeface="Roboto"/>
                <a:ea typeface="Roboto"/>
                <a:cs typeface="Roboto"/>
                <a:sym typeface="Roboto"/>
              </a:rPr>
              <a:t>Réflexion sur leur rapport aux services bancaires</a:t>
            </a:r>
          </a:p>
          <a:p>
            <a:pPr algn="l" marL="647700" indent="-323850" lvl="1">
              <a:lnSpc>
                <a:spcPts val="4200"/>
              </a:lnSpc>
              <a:buFont typeface="Arial"/>
              <a:buChar char="•"/>
            </a:pPr>
            <a:r>
              <a:rPr lang="en-US" sz="3000">
                <a:solidFill>
                  <a:srgbClr val="F9F7DC"/>
                </a:solidFill>
                <a:latin typeface="Roboto"/>
                <a:ea typeface="Roboto"/>
                <a:cs typeface="Roboto"/>
                <a:sym typeface="Roboto"/>
              </a:rPr>
              <a:t>Information sur les services disponibles</a:t>
            </a:r>
          </a:p>
          <a:p>
            <a:pPr algn="l" marL="647700" indent="-323850" lvl="1">
              <a:lnSpc>
                <a:spcPts val="4200"/>
              </a:lnSpc>
              <a:buFont typeface="Arial"/>
              <a:buChar char="•"/>
            </a:pPr>
            <a:r>
              <a:rPr lang="en-US" sz="3000">
                <a:solidFill>
                  <a:srgbClr val="F9F7DC"/>
                </a:solidFill>
                <a:latin typeface="Roboto"/>
                <a:ea typeface="Roboto"/>
                <a:cs typeface="Roboto"/>
                <a:sym typeface="Roboto"/>
              </a:rPr>
              <a:t>Sensibilisation à l’inclusion financière</a:t>
            </a:r>
          </a:p>
        </p:txBody>
      </p:sp>
    </p:spTree>
  </p:cSld>
  <p:clrMapOvr>
    <a:masterClrMapping/>
  </p:clrMapOvr>
  <p:transition spd="slow">
    <p:push dir="l"/>
  </p:transition>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CF1E4"/>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1725121" y="-2583082"/>
            <a:ext cx="8371329" cy="8371296"/>
            <a:chOff x="0" y="0"/>
            <a:chExt cx="6350000" cy="6349975"/>
          </a:xfrm>
        </p:grpSpPr>
        <p:sp>
          <p:nvSpPr>
            <p:cNvPr name="Freeform 3" id="3"/>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38888" t="0" r="-38888" b="0"/>
              </a:stretch>
            </a:blipFill>
          </p:spPr>
        </p:sp>
      </p:grpSp>
      <p:sp>
        <p:nvSpPr>
          <p:cNvPr name="Freeform 4" id="4"/>
          <p:cNvSpPr/>
          <p:nvPr/>
        </p:nvSpPr>
        <p:spPr>
          <a:xfrm flipH="false" flipV="false" rot="5400000">
            <a:off x="-325123" y="7237781"/>
            <a:ext cx="3366703" cy="3366703"/>
          </a:xfrm>
          <a:custGeom>
            <a:avLst/>
            <a:gdLst/>
            <a:ahLst/>
            <a:cxnLst/>
            <a:rect r="r" b="b" t="t" l="l"/>
            <a:pathLst>
              <a:path h="3366703" w="3366703">
                <a:moveTo>
                  <a:pt x="0" y="0"/>
                </a:moveTo>
                <a:lnTo>
                  <a:pt x="3366702" y="0"/>
                </a:lnTo>
                <a:lnTo>
                  <a:pt x="3366702" y="3366703"/>
                </a:lnTo>
                <a:lnTo>
                  <a:pt x="0" y="33667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2235224" y="3882411"/>
            <a:ext cx="1261089" cy="1261089"/>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34D24"/>
            </a:solidFill>
          </p:spPr>
        </p:sp>
      </p:grpSp>
      <p:sp>
        <p:nvSpPr>
          <p:cNvPr name="TextBox 7" id="7"/>
          <p:cNvSpPr txBox="true"/>
          <p:nvPr/>
        </p:nvSpPr>
        <p:spPr>
          <a:xfrm rot="0">
            <a:off x="1028700" y="663401"/>
            <a:ext cx="11837068" cy="939165"/>
          </a:xfrm>
          <a:prstGeom prst="rect">
            <a:avLst/>
          </a:prstGeom>
        </p:spPr>
        <p:txBody>
          <a:bodyPr anchor="t" rtlCol="false" tIns="0" lIns="0" bIns="0" rIns="0">
            <a:spAutoFit/>
          </a:bodyPr>
          <a:lstStyle/>
          <a:p>
            <a:pPr algn="l">
              <a:lnSpc>
                <a:spcPts val="7380"/>
              </a:lnSpc>
            </a:pPr>
            <a:r>
              <a:rPr lang="en-US" sz="6000" b="true">
                <a:solidFill>
                  <a:srgbClr val="000000"/>
                </a:solidFill>
                <a:latin typeface="Roboto Bold"/>
                <a:ea typeface="Roboto Bold"/>
                <a:cs typeface="Roboto Bold"/>
                <a:sym typeface="Roboto Bold"/>
              </a:rPr>
              <a:t>Contribution à la SNIF 2022-2026</a:t>
            </a:r>
          </a:p>
        </p:txBody>
      </p:sp>
      <p:grpSp>
        <p:nvGrpSpPr>
          <p:cNvPr name="Group 8" id="8"/>
          <p:cNvGrpSpPr/>
          <p:nvPr/>
        </p:nvGrpSpPr>
        <p:grpSpPr>
          <a:xfrm rot="0">
            <a:off x="1028700" y="3982751"/>
            <a:ext cx="13988089" cy="3610926"/>
            <a:chOff x="0" y="0"/>
            <a:chExt cx="2958013" cy="763590"/>
          </a:xfrm>
        </p:grpSpPr>
        <p:sp>
          <p:nvSpPr>
            <p:cNvPr name="Freeform 9" id="9"/>
            <p:cNvSpPr/>
            <p:nvPr/>
          </p:nvSpPr>
          <p:spPr>
            <a:xfrm flipH="false" flipV="false" rot="0">
              <a:off x="0" y="0"/>
              <a:ext cx="2958013" cy="763590"/>
            </a:xfrm>
            <a:custGeom>
              <a:avLst/>
              <a:gdLst/>
              <a:ahLst/>
              <a:cxnLst/>
              <a:rect r="r" b="b" t="t" l="l"/>
              <a:pathLst>
                <a:path h="763590" w="2958013">
                  <a:moveTo>
                    <a:pt x="28227" y="0"/>
                  </a:moveTo>
                  <a:lnTo>
                    <a:pt x="2929786" y="0"/>
                  </a:lnTo>
                  <a:cubicBezTo>
                    <a:pt x="2945376" y="0"/>
                    <a:pt x="2958013" y="12638"/>
                    <a:pt x="2958013" y="28227"/>
                  </a:cubicBezTo>
                  <a:lnTo>
                    <a:pt x="2958013" y="735363"/>
                  </a:lnTo>
                  <a:cubicBezTo>
                    <a:pt x="2958013" y="750953"/>
                    <a:pt x="2945376" y="763590"/>
                    <a:pt x="2929786" y="763590"/>
                  </a:cubicBezTo>
                  <a:lnTo>
                    <a:pt x="28227" y="763590"/>
                  </a:lnTo>
                  <a:cubicBezTo>
                    <a:pt x="20741" y="763590"/>
                    <a:pt x="13561" y="760616"/>
                    <a:pt x="8267" y="755323"/>
                  </a:cubicBezTo>
                  <a:cubicBezTo>
                    <a:pt x="2974" y="750029"/>
                    <a:pt x="0" y="742850"/>
                    <a:pt x="0" y="735363"/>
                  </a:cubicBezTo>
                  <a:lnTo>
                    <a:pt x="0" y="28227"/>
                  </a:lnTo>
                  <a:cubicBezTo>
                    <a:pt x="0" y="12638"/>
                    <a:pt x="12638" y="0"/>
                    <a:pt x="28227" y="0"/>
                  </a:cubicBezTo>
                  <a:close/>
                </a:path>
              </a:pathLst>
            </a:custGeom>
            <a:solidFill>
              <a:srgbClr val="B31E1E"/>
            </a:solidFill>
          </p:spPr>
        </p:sp>
        <p:sp>
          <p:nvSpPr>
            <p:cNvPr name="TextBox 10" id="10"/>
            <p:cNvSpPr txBox="true"/>
            <p:nvPr/>
          </p:nvSpPr>
          <p:spPr>
            <a:xfrm>
              <a:off x="0" y="-38100"/>
              <a:ext cx="2958013" cy="801690"/>
            </a:xfrm>
            <a:prstGeom prst="rect">
              <a:avLst/>
            </a:prstGeom>
          </p:spPr>
          <p:txBody>
            <a:bodyPr anchor="ctr" rtlCol="false" tIns="63270" lIns="63270" bIns="63270" rIns="63270"/>
            <a:lstStyle/>
            <a:p>
              <a:pPr algn="ctr">
                <a:lnSpc>
                  <a:spcPts val="2318"/>
                </a:lnSpc>
              </a:pPr>
            </a:p>
          </p:txBody>
        </p:sp>
      </p:grpSp>
      <p:sp>
        <p:nvSpPr>
          <p:cNvPr name="TextBox 11" id="11"/>
          <p:cNvSpPr txBox="true"/>
          <p:nvPr/>
        </p:nvSpPr>
        <p:spPr>
          <a:xfrm rot="0">
            <a:off x="1473458" y="4533472"/>
            <a:ext cx="12022854" cy="2462402"/>
          </a:xfrm>
          <a:prstGeom prst="rect">
            <a:avLst/>
          </a:prstGeom>
        </p:spPr>
        <p:txBody>
          <a:bodyPr anchor="t" rtlCol="false" tIns="0" lIns="0" bIns="0" rIns="0">
            <a:spAutoFit/>
          </a:bodyPr>
          <a:lstStyle/>
          <a:p>
            <a:pPr algn="l" marL="806689" indent="-403345" lvl="1">
              <a:lnSpc>
                <a:spcPts val="4894"/>
              </a:lnSpc>
              <a:buFont typeface="Arial"/>
              <a:buChar char="•"/>
            </a:pPr>
            <a:r>
              <a:rPr lang="en-US" b="true" sz="3736">
                <a:solidFill>
                  <a:srgbClr val="F9F7DC"/>
                </a:solidFill>
                <a:latin typeface="Roboto Bold"/>
                <a:ea typeface="Roboto Bold"/>
                <a:cs typeface="Roboto Bold"/>
                <a:sym typeface="Roboto Bold"/>
              </a:rPr>
              <a:t>Données empiriques pour les décideurs </a:t>
            </a:r>
          </a:p>
          <a:p>
            <a:pPr algn="l" marL="806689" indent="-403345" lvl="1">
              <a:lnSpc>
                <a:spcPts val="4894"/>
              </a:lnSpc>
              <a:buFont typeface="Arial"/>
              <a:buChar char="•"/>
            </a:pPr>
            <a:r>
              <a:rPr lang="en-US" b="true" sz="3736">
                <a:solidFill>
                  <a:srgbClr val="F9F7DC"/>
                </a:solidFill>
                <a:latin typeface="Roboto Bold"/>
                <a:ea typeface="Roboto Bold"/>
                <a:cs typeface="Roboto Bold"/>
                <a:sym typeface="Roboto Bold"/>
              </a:rPr>
              <a:t>Identification des leviers d’action </a:t>
            </a:r>
          </a:p>
          <a:p>
            <a:pPr algn="l" marL="806689" indent="-403345" lvl="1">
              <a:lnSpc>
                <a:spcPts val="4894"/>
              </a:lnSpc>
              <a:buFont typeface="Arial"/>
              <a:buChar char="•"/>
            </a:pPr>
            <a:r>
              <a:rPr lang="en-US" b="true" sz="3736">
                <a:solidFill>
                  <a:srgbClr val="F9F7DC"/>
                </a:solidFill>
                <a:latin typeface="Roboto Bold"/>
                <a:ea typeface="Roboto Bold"/>
                <a:cs typeface="Roboto Bold"/>
                <a:sym typeface="Roboto Bold"/>
              </a:rPr>
              <a:t>Support à l’objectif de 65% d’accès </a:t>
            </a:r>
          </a:p>
          <a:p>
            <a:pPr algn="l" marL="806689" indent="-403345" lvl="1">
              <a:lnSpc>
                <a:spcPts val="4894"/>
              </a:lnSpc>
              <a:buFont typeface="Arial"/>
              <a:buChar char="•"/>
            </a:pPr>
            <a:r>
              <a:rPr lang="en-US" b="true" sz="3736">
                <a:solidFill>
                  <a:srgbClr val="F9F7DC"/>
                </a:solidFill>
                <a:latin typeface="Roboto Bold"/>
                <a:ea typeface="Roboto Bold"/>
                <a:cs typeface="Roboto Bold"/>
                <a:sym typeface="Roboto Bold"/>
              </a:rPr>
              <a:t>Construction d’une économie inclusive et durable</a:t>
            </a:r>
          </a:p>
        </p:txBody>
      </p:sp>
    </p:spTree>
  </p:cSld>
  <p:clrMapOvr>
    <a:masterClrMapping/>
  </p:clrMapOvr>
  <p:transition spd="slow">
    <p:push dir="l"/>
  </p:transition>
</p:sld>
</file>

<file path=ppt/slides/slide44.xml><?xml version="1.0" encoding="utf-8"?>
<p:sld xmlns:p="http://schemas.openxmlformats.org/presentationml/2006/main" xmlns:a="http://schemas.openxmlformats.org/drawingml/2006/main">
  <p:cSld>
    <p:bg>
      <p:bgPr>
        <a:solidFill>
          <a:srgbClr val="EF8535"/>
        </a:solidFill>
      </p:bgPr>
    </p:bg>
    <p:spTree>
      <p:nvGrpSpPr>
        <p:cNvPr id="1" name=""/>
        <p:cNvGrpSpPr/>
        <p:nvPr/>
      </p:nvGrpSpPr>
      <p:grpSpPr>
        <a:xfrm>
          <a:off x="0" y="0"/>
          <a:ext cx="0" cy="0"/>
          <a:chOff x="0" y="0"/>
          <a:chExt cx="0" cy="0"/>
        </a:xfrm>
      </p:grpSpPr>
      <p:grpSp>
        <p:nvGrpSpPr>
          <p:cNvPr name="Group 2" id="2"/>
          <p:cNvGrpSpPr/>
          <p:nvPr/>
        </p:nvGrpSpPr>
        <p:grpSpPr>
          <a:xfrm rot="-10800000">
            <a:off x="0" y="-2498358"/>
            <a:ext cx="18288000" cy="9901126"/>
            <a:chOff x="0" y="0"/>
            <a:chExt cx="2079074" cy="1125611"/>
          </a:xfrm>
        </p:grpSpPr>
        <p:sp>
          <p:nvSpPr>
            <p:cNvPr name="Freeform 3" id="3"/>
            <p:cNvSpPr/>
            <p:nvPr/>
          </p:nvSpPr>
          <p:spPr>
            <a:xfrm flipH="false" flipV="false" rot="0">
              <a:off x="0" y="0"/>
              <a:ext cx="2079074" cy="1125611"/>
            </a:xfrm>
            <a:custGeom>
              <a:avLst/>
              <a:gdLst/>
              <a:ahLst/>
              <a:cxnLst/>
              <a:rect r="r" b="b" t="t" l="l"/>
              <a:pathLst>
                <a:path h="1125611" w="2079074">
                  <a:moveTo>
                    <a:pt x="693399" y="1106542"/>
                  </a:moveTo>
                  <a:cubicBezTo>
                    <a:pt x="799988" y="1118056"/>
                    <a:pt x="921166" y="1125611"/>
                    <a:pt x="1040097" y="1125611"/>
                  </a:cubicBezTo>
                  <a:cubicBezTo>
                    <a:pt x="1159032" y="1125611"/>
                    <a:pt x="1273477" y="1119134"/>
                    <a:pt x="1378942" y="1107620"/>
                  </a:cubicBezTo>
                  <a:cubicBezTo>
                    <a:pt x="1381189" y="1107261"/>
                    <a:pt x="1383432" y="1107261"/>
                    <a:pt x="1385675" y="1106901"/>
                  </a:cubicBezTo>
                  <a:cubicBezTo>
                    <a:pt x="1781742" y="1060846"/>
                    <a:pt x="2073464" y="939232"/>
                    <a:pt x="2079074" y="790160"/>
                  </a:cubicBezTo>
                  <a:lnTo>
                    <a:pt x="2079074" y="0"/>
                  </a:lnTo>
                  <a:lnTo>
                    <a:pt x="0" y="0"/>
                  </a:lnTo>
                  <a:lnTo>
                    <a:pt x="0" y="789574"/>
                  </a:lnTo>
                  <a:cubicBezTo>
                    <a:pt x="5610" y="939951"/>
                    <a:pt x="292843" y="1061566"/>
                    <a:pt x="693399" y="1106542"/>
                  </a:cubicBezTo>
                  <a:close/>
                </a:path>
              </a:pathLst>
            </a:custGeom>
            <a:solidFill>
              <a:srgbClr val="763C00"/>
            </a:solidFill>
            <a:ln cap="sq">
              <a:noFill/>
              <a:prstDash val="solid"/>
              <a:miter/>
            </a:ln>
          </p:spPr>
        </p:sp>
        <p:sp>
          <p:nvSpPr>
            <p:cNvPr name="TextBox 4" id="4"/>
            <p:cNvSpPr txBox="true"/>
            <p:nvPr/>
          </p:nvSpPr>
          <p:spPr>
            <a:xfrm>
              <a:off x="0" y="-38100"/>
              <a:ext cx="2079074" cy="1036711"/>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748405" y="4419600"/>
            <a:ext cx="12791190" cy="1409700"/>
          </a:xfrm>
          <a:prstGeom prst="rect">
            <a:avLst/>
          </a:prstGeom>
        </p:spPr>
        <p:txBody>
          <a:bodyPr anchor="t" rtlCol="false" tIns="0" lIns="0" bIns="0" rIns="0">
            <a:spAutoFit/>
          </a:bodyPr>
          <a:lstStyle/>
          <a:p>
            <a:pPr algn="l">
              <a:lnSpc>
                <a:spcPts val="8550"/>
              </a:lnSpc>
            </a:pPr>
            <a:r>
              <a:rPr lang="en-US" b="true" sz="9000" spc="-44">
                <a:solidFill>
                  <a:srgbClr val="F9F7DC"/>
                </a:solidFill>
                <a:latin typeface="Agrandir Narrow Bold"/>
                <a:ea typeface="Agrandir Narrow Bold"/>
                <a:cs typeface="Agrandir Narrow Bold"/>
                <a:sym typeface="Agrandir Narrow Bold"/>
              </a:rPr>
              <a:t>Merci de votre attention</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DAGuTKNVzR8</dc:identifier>
  <dcterms:modified xsi:type="dcterms:W3CDTF">2011-08-01T06:04:30Z</dcterms:modified>
  <cp:revision>1</cp:revision>
  <dc:title>Présentation Méthodologie d'enquête</dc:title>
</cp:coreProperties>
</file>