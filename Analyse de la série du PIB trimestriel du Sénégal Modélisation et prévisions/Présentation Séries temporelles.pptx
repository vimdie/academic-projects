
<file path=[Content_Types].xml><?xml version="1.0" encoding="utf-8"?>
<Types xmlns="http://schemas.openxmlformats.org/package/2006/content-types">
  <Default Extension="bin" ContentType="application/vnd.openxmlformats-officedocument.oleObject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vml" ContentType="application/vnd.openxmlformats-officedocument.vmlDrawin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44"/>
  </p:notesMasterIdLst>
  <p:sldIdLst>
    <p:sldId id="256" r:id="rId2"/>
    <p:sldId id="263" r:id="rId3"/>
    <p:sldId id="264" r:id="rId4"/>
    <p:sldId id="265" r:id="rId5"/>
    <p:sldId id="266" r:id="rId6"/>
    <p:sldId id="267" r:id="rId7"/>
    <p:sldId id="268" r:id="rId8"/>
    <p:sldId id="269" r:id="rId9"/>
    <p:sldId id="270" r:id="rId10"/>
    <p:sldId id="271" r:id="rId11"/>
    <p:sldId id="272" r:id="rId12"/>
    <p:sldId id="273" r:id="rId13"/>
    <p:sldId id="274" r:id="rId14"/>
    <p:sldId id="275" r:id="rId15"/>
    <p:sldId id="276" r:id="rId16"/>
    <p:sldId id="277" r:id="rId17"/>
    <p:sldId id="278" r:id="rId18"/>
    <p:sldId id="279" r:id="rId19"/>
    <p:sldId id="280" r:id="rId20"/>
    <p:sldId id="281" r:id="rId21"/>
    <p:sldId id="282" r:id="rId22"/>
    <p:sldId id="283" r:id="rId23"/>
    <p:sldId id="284" r:id="rId24"/>
    <p:sldId id="285" r:id="rId25"/>
    <p:sldId id="286" r:id="rId26"/>
    <p:sldId id="287" r:id="rId27"/>
    <p:sldId id="288" r:id="rId28"/>
    <p:sldId id="289" r:id="rId29"/>
    <p:sldId id="290" r:id="rId30"/>
    <p:sldId id="291" r:id="rId31"/>
    <p:sldId id="292" r:id="rId32"/>
    <p:sldId id="293" r:id="rId33"/>
    <p:sldId id="294" r:id="rId34"/>
    <p:sldId id="295" r:id="rId35"/>
    <p:sldId id="296" r:id="rId36"/>
    <p:sldId id="297" r:id="rId37"/>
    <p:sldId id="298" r:id="rId38"/>
    <p:sldId id="299" r:id="rId39"/>
    <p:sldId id="300" r:id="rId40"/>
    <p:sldId id="301" r:id="rId41"/>
    <p:sldId id="302" r:id="rId42"/>
    <p:sldId id="303" r:id="rId43"/>
  </p:sldIdLst>
  <p:sldSz cx="18288000" cy="10287000"/>
  <p:notesSz cx="6858000" cy="9144000"/>
  <p:embeddedFontLst>
    <p:embeddedFont>
      <p:font typeface="Aileron" panose="020B0604020202020204" charset="0"/>
      <p:regular r:id="rId45"/>
    </p:embeddedFont>
    <p:embeddedFont>
      <p:font typeface="Aileron Bold" panose="020B0604020202020204" charset="0"/>
      <p:regular r:id="rId46"/>
    </p:embeddedFont>
    <p:embeddedFont>
      <p:font typeface="Aileron Bold Italics" panose="020B0604020202020204" charset="0"/>
      <p:regular r:id="rId47"/>
    </p:embeddedFont>
    <p:embeddedFont>
      <p:font typeface="Aileron Heavy" panose="020B0604020202020204" charset="0"/>
      <p:regular r:id="rId48"/>
    </p:embeddedFont>
    <p:embeddedFont>
      <p:font typeface="Aileron Ultra-Bold" panose="020B0604020202020204" charset="0"/>
      <p:regular r:id="rId49"/>
    </p:embeddedFont>
    <p:embeddedFont>
      <p:font typeface="Barlow" panose="00000500000000000000" pitchFamily="2" charset="0"/>
      <p:regular r:id="rId50"/>
    </p:embeddedFont>
    <p:embeddedFont>
      <p:font typeface="Barlow Bold" panose="00000800000000000000" charset="0"/>
      <p:regular r:id="rId51"/>
    </p:embeddedFont>
    <p:embeddedFont>
      <p:font typeface="Barlow Semi-Bold" panose="020B0604020202020204" charset="0"/>
      <p:regular r:id="rId52"/>
    </p:embeddedFont>
    <p:embeddedFont>
      <p:font typeface="Calibri" panose="020F0502020204030204" pitchFamily="34" charset="0"/>
      <p:regular r:id="rId53"/>
      <p:bold r:id="rId54"/>
      <p:italic r:id="rId55"/>
      <p:boldItalic r:id="rId56"/>
    </p:embeddedFont>
    <p:embeddedFont>
      <p:font typeface="Kaftus" panose="020B0604020202020204" charset="0"/>
      <p:regular r:id="rId57"/>
    </p:embeddedFont>
    <p:embeddedFont>
      <p:font typeface="Open Sans 1 Bold" panose="020B0604020202020204" charset="0"/>
      <p:regular r:id="rId58"/>
    </p:embeddedFont>
    <p:embeddedFont>
      <p:font typeface="Open Sans 1 Bold Italics" panose="020B0604020202020204" charset="0"/>
      <p:regular r:id="rId59"/>
    </p:embeddedFont>
    <p:embeddedFont>
      <p:font typeface="Open Sans 1 Italics" panose="020B0604020202020204" charset="0"/>
      <p:regular r:id="rId60"/>
    </p:embeddedFont>
    <p:embeddedFont>
      <p:font typeface="Sergio Trendy" panose="020B0604020202020204" charset="0"/>
      <p:regular r:id="rId61"/>
    </p:embeddedFont>
    <p:embeddedFont>
      <p:font typeface="Telegraf" panose="020B0604020202020204" charset="0"/>
      <p:regular r:id="rId62"/>
    </p:embeddedFont>
    <p:embeddedFont>
      <p:font typeface="Telegraf Bold" panose="020B0604020202020204" charset="0"/>
      <p:regular r:id="rId6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39" d="100"/>
          <a:sy n="39" d="100"/>
        </p:scale>
        <p:origin x="940" y="5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font" Target="fonts/font3.fntdata"/><Relationship Id="rId50" Type="http://schemas.openxmlformats.org/officeDocument/2006/relationships/font" Target="fonts/font6.fntdata"/><Relationship Id="rId55" Type="http://schemas.openxmlformats.org/officeDocument/2006/relationships/font" Target="fonts/font11.fntdata"/><Relationship Id="rId63" Type="http://schemas.openxmlformats.org/officeDocument/2006/relationships/font" Target="fonts/font19.fnt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font" Target="fonts/font1.fntdata"/><Relationship Id="rId53" Type="http://schemas.openxmlformats.org/officeDocument/2006/relationships/font" Target="fonts/font9.fntdata"/><Relationship Id="rId58" Type="http://schemas.openxmlformats.org/officeDocument/2006/relationships/font" Target="fonts/font14.fntdata"/><Relationship Id="rId66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font" Target="fonts/font17.fntdata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font" Target="fonts/font4.fntdata"/><Relationship Id="rId56" Type="http://schemas.openxmlformats.org/officeDocument/2006/relationships/font" Target="fonts/font12.fntdata"/><Relationship Id="rId64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font" Target="fonts/font7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font" Target="fonts/font2.fntdata"/><Relationship Id="rId59" Type="http://schemas.openxmlformats.org/officeDocument/2006/relationships/font" Target="fonts/font15.fntdata"/><Relationship Id="rId67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font" Target="fonts/font10.fntdata"/><Relationship Id="rId62" Type="http://schemas.openxmlformats.org/officeDocument/2006/relationships/font" Target="fonts/font18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font" Target="fonts/font5.fntdata"/><Relationship Id="rId57" Type="http://schemas.openxmlformats.org/officeDocument/2006/relationships/font" Target="fonts/font13.fntdata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notesMaster" Target="notesMasters/notesMaster1.xml"/><Relationship Id="rId52" Type="http://schemas.openxmlformats.org/officeDocument/2006/relationships/font" Target="fonts/font8.fntdata"/><Relationship Id="rId60" Type="http://schemas.openxmlformats.org/officeDocument/2006/relationships/font" Target="fonts/font16.fntdata"/><Relationship Id="rId65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28.png"/></Relationships>
</file>

<file path=ppt/drawings/_rels/vmlDrawing2.vml.rels><?xml version="1.0" encoding="UTF-8" standalone="yes"?>
<Relationships xmlns="http://schemas.openxmlformats.org/package/2006/relationships"><Relationship Id="rId1" Type="http://schemas.openxmlformats.org/officeDocument/2006/relationships/image" Target="../media/image55.png"/></Relationships>
</file>

<file path=ppt/drawings/_rels/vmlDrawing3.vml.rels><?xml version="1.0" encoding="UTF-8" standalone="yes"?>
<Relationships xmlns="http://schemas.openxmlformats.org/package/2006/relationships"><Relationship Id="rId1" Type="http://schemas.openxmlformats.org/officeDocument/2006/relationships/image" Target="../media/image61.png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08.09.2026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‹N°›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Capusl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2.sv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10" Type="http://schemas.openxmlformats.org/officeDocument/2006/relationships/image" Target="../media/image9.sv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.svg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7" Type="http://schemas.openxmlformats.org/officeDocument/2006/relationships/image" Target="../media/image13.sv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png"/><Relationship Id="rId5" Type="http://schemas.openxmlformats.org/officeDocument/2006/relationships/image" Target="../media/image2.svg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.svg"/><Relationship Id="rId4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7.svg"/><Relationship Id="rId7" Type="http://schemas.openxmlformats.org/officeDocument/2006/relationships/image" Target="../media/image21.sv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0.png"/><Relationship Id="rId11" Type="http://schemas.openxmlformats.org/officeDocument/2006/relationships/image" Target="../media/image25.svg"/><Relationship Id="rId5" Type="http://schemas.openxmlformats.org/officeDocument/2006/relationships/image" Target="../media/image19.svg"/><Relationship Id="rId10" Type="http://schemas.openxmlformats.org/officeDocument/2006/relationships/image" Target="../media/image24.png"/><Relationship Id="rId4" Type="http://schemas.openxmlformats.org/officeDocument/2006/relationships/image" Target="../media/image18.png"/><Relationship Id="rId9" Type="http://schemas.openxmlformats.org/officeDocument/2006/relationships/image" Target="../media/image23.sv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7.svg"/><Relationship Id="rId7" Type="http://schemas.openxmlformats.org/officeDocument/2006/relationships/image" Target="../media/image21.sv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0.png"/><Relationship Id="rId11" Type="http://schemas.openxmlformats.org/officeDocument/2006/relationships/image" Target="../media/image25.svg"/><Relationship Id="rId5" Type="http://schemas.openxmlformats.org/officeDocument/2006/relationships/image" Target="../media/image19.svg"/><Relationship Id="rId10" Type="http://schemas.openxmlformats.org/officeDocument/2006/relationships/image" Target="../media/image24.png"/><Relationship Id="rId4" Type="http://schemas.openxmlformats.org/officeDocument/2006/relationships/image" Target="../media/image18.png"/><Relationship Id="rId9" Type="http://schemas.openxmlformats.org/officeDocument/2006/relationships/image" Target="../media/image23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eg"/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.svg"/><Relationship Id="rId4" Type="http://schemas.openxmlformats.org/officeDocument/2006/relationships/image" Target="../media/image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slideLayout" Target="../slideLayouts/slideLayout7.xml"/><Relationship Id="rId1" Type="http://schemas.openxmlformats.org/officeDocument/2006/relationships/vmlDrawing" Target="../drawings/vmlDrawing1.vml"/><Relationship Id="rId4" Type="http://schemas.openxmlformats.org/officeDocument/2006/relationships/image" Target="../media/image2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eg"/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.svg"/><Relationship Id="rId4" Type="http://schemas.openxmlformats.org/officeDocument/2006/relationships/image" Target="../media/image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1.sv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sv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sv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sv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sv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8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sv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9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sv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0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eg"/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.svg"/><Relationship Id="rId4" Type="http://schemas.openxmlformats.org/officeDocument/2006/relationships/image" Target="../media/image1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eg"/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.svg"/><Relationship Id="rId4" Type="http://schemas.openxmlformats.org/officeDocument/2006/relationships/image" Target="../media/image1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sv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5.svg"/><Relationship Id="rId4" Type="http://schemas.openxmlformats.org/officeDocument/2006/relationships/image" Target="../media/image44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sv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7.svg"/><Relationship Id="rId4" Type="http://schemas.openxmlformats.org/officeDocument/2006/relationships/image" Target="../media/image46.png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0.png"/><Relationship Id="rId3" Type="http://schemas.openxmlformats.org/officeDocument/2006/relationships/image" Target="../media/image49.svg"/><Relationship Id="rId7" Type="http://schemas.openxmlformats.org/officeDocument/2006/relationships/image" Target="../media/image21.sv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0.png"/><Relationship Id="rId11" Type="http://schemas.openxmlformats.org/officeDocument/2006/relationships/image" Target="../media/image53.svg"/><Relationship Id="rId5" Type="http://schemas.openxmlformats.org/officeDocument/2006/relationships/image" Target="../media/image19.svg"/><Relationship Id="rId10" Type="http://schemas.openxmlformats.org/officeDocument/2006/relationships/image" Target="../media/image52.png"/><Relationship Id="rId4" Type="http://schemas.openxmlformats.org/officeDocument/2006/relationships/image" Target="../media/image18.png"/><Relationship Id="rId9" Type="http://schemas.openxmlformats.org/officeDocument/2006/relationships/image" Target="../media/image51.sv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eg"/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.svg"/><Relationship Id="rId4" Type="http://schemas.openxmlformats.org/officeDocument/2006/relationships/image" Target="../media/image1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7.xml"/><Relationship Id="rId1" Type="http://schemas.openxmlformats.org/officeDocument/2006/relationships/vmlDrawing" Target="../drawings/vmlDrawing2.vml"/><Relationship Id="rId4" Type="http://schemas.openxmlformats.org/officeDocument/2006/relationships/image" Target="../media/image55.png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eg"/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.svg"/><Relationship Id="rId4" Type="http://schemas.openxmlformats.org/officeDocument/2006/relationships/image" Target="../media/image1.png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0.png"/><Relationship Id="rId3" Type="http://schemas.openxmlformats.org/officeDocument/2006/relationships/image" Target="../media/image49.svg"/><Relationship Id="rId7" Type="http://schemas.openxmlformats.org/officeDocument/2006/relationships/image" Target="../media/image21.sv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0.png"/><Relationship Id="rId11" Type="http://schemas.openxmlformats.org/officeDocument/2006/relationships/image" Target="../media/image58.svg"/><Relationship Id="rId5" Type="http://schemas.openxmlformats.org/officeDocument/2006/relationships/image" Target="../media/image19.svg"/><Relationship Id="rId10" Type="http://schemas.openxmlformats.org/officeDocument/2006/relationships/image" Target="../media/image57.png"/><Relationship Id="rId4" Type="http://schemas.openxmlformats.org/officeDocument/2006/relationships/image" Target="../media/image18.png"/><Relationship Id="rId9" Type="http://schemas.openxmlformats.org/officeDocument/2006/relationships/image" Target="../media/image51.sv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eg"/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.svg"/><Relationship Id="rId4" Type="http://schemas.openxmlformats.org/officeDocument/2006/relationships/image" Target="../media/image1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Layout" Target="../slideLayouts/slideLayout7.xml"/><Relationship Id="rId1" Type="http://schemas.openxmlformats.org/officeDocument/2006/relationships/vmlDrawing" Target="../drawings/vmlDrawing3.vml"/><Relationship Id="rId4" Type="http://schemas.openxmlformats.org/officeDocument/2006/relationships/image" Target="../media/image61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jpeg"/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.svg"/><Relationship Id="rId4" Type="http://schemas.openxmlformats.org/officeDocument/2006/relationships/image" Target="../media/image1.png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1471508">
            <a:off x="9009800" y="430384"/>
            <a:ext cx="2160993" cy="11212989"/>
            <a:chOff x="0" y="0"/>
            <a:chExt cx="597206" cy="30987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597206" cy="3098791"/>
            </a:xfrm>
            <a:custGeom>
              <a:avLst/>
              <a:gdLst/>
              <a:ahLst/>
              <a:cxnLst/>
              <a:rect l="l" t="t" r="r" b="b"/>
              <a:pathLst>
                <a:path w="597206" h="3098791">
                  <a:moveTo>
                    <a:pt x="0" y="0"/>
                  </a:moveTo>
                  <a:lnTo>
                    <a:pt x="597206" y="0"/>
                  </a:lnTo>
                  <a:lnTo>
                    <a:pt x="597206" y="3098791"/>
                  </a:lnTo>
                  <a:lnTo>
                    <a:pt x="0" y="3098791"/>
                  </a:lnTo>
                  <a:close/>
                </a:path>
              </a:pathLst>
            </a:custGeom>
            <a:solidFill>
              <a:srgbClr val="8DE8E8">
                <a:alpha val="23922"/>
              </a:srgbClr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597206" cy="3136892"/>
            </a:xfrm>
            <a:prstGeom prst="rect">
              <a:avLst/>
            </a:prstGeom>
          </p:spPr>
          <p:txBody>
            <a:bodyPr lIns="35873" tIns="35873" rIns="35873" bIns="35873" rtlCol="0" anchor="ctr"/>
            <a:lstStyle/>
            <a:p>
              <a:pPr algn="ctr">
                <a:lnSpc>
                  <a:spcPts val="1384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10090296" y="2957228"/>
            <a:ext cx="1960747" cy="1960747"/>
          </a:xfrm>
          <a:custGeom>
            <a:avLst/>
            <a:gdLst/>
            <a:ahLst/>
            <a:cxnLst/>
            <a:rect l="l" t="t" r="r" b="b"/>
            <a:pathLst>
              <a:path w="1960747" h="1960747">
                <a:moveTo>
                  <a:pt x="0" y="0"/>
                </a:moveTo>
                <a:lnTo>
                  <a:pt x="1960747" y="0"/>
                </a:lnTo>
                <a:lnTo>
                  <a:pt x="1960747" y="1960747"/>
                </a:lnTo>
                <a:lnTo>
                  <a:pt x="0" y="196074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46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6" name="Group 6"/>
          <p:cNvGrpSpPr/>
          <p:nvPr/>
        </p:nvGrpSpPr>
        <p:grpSpPr>
          <a:xfrm rot="1471508">
            <a:off x="13168964" y="-57316"/>
            <a:ext cx="2160993" cy="11212989"/>
            <a:chOff x="0" y="0"/>
            <a:chExt cx="597206" cy="3098792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97206" cy="3098791"/>
            </a:xfrm>
            <a:custGeom>
              <a:avLst/>
              <a:gdLst/>
              <a:ahLst/>
              <a:cxnLst/>
              <a:rect l="l" t="t" r="r" b="b"/>
              <a:pathLst>
                <a:path w="597206" h="3098791">
                  <a:moveTo>
                    <a:pt x="0" y="0"/>
                  </a:moveTo>
                  <a:lnTo>
                    <a:pt x="597206" y="0"/>
                  </a:lnTo>
                  <a:lnTo>
                    <a:pt x="597206" y="3098791"/>
                  </a:lnTo>
                  <a:lnTo>
                    <a:pt x="0" y="3098791"/>
                  </a:lnTo>
                  <a:close/>
                </a:path>
              </a:pathLst>
            </a:custGeom>
            <a:solidFill>
              <a:srgbClr val="8DE8E8">
                <a:alpha val="23922"/>
              </a:srgbClr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597206" cy="3136892"/>
            </a:xfrm>
            <a:prstGeom prst="rect">
              <a:avLst/>
            </a:prstGeom>
          </p:spPr>
          <p:txBody>
            <a:bodyPr lIns="35873" tIns="35873" rIns="35873" bIns="35873" rtlCol="0" anchor="ctr"/>
            <a:lstStyle/>
            <a:p>
              <a:pPr algn="ctr">
                <a:lnSpc>
                  <a:spcPts val="1384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 rot="-5987456">
            <a:off x="9412670" y="2178073"/>
            <a:ext cx="10518155" cy="10518113"/>
            <a:chOff x="0" y="0"/>
            <a:chExt cx="6350000" cy="6349975"/>
          </a:xfrm>
        </p:grpSpPr>
        <p:sp>
          <p:nvSpPr>
            <p:cNvPr id="10" name="Freeform 10"/>
            <p:cNvSpPr/>
            <p:nvPr/>
          </p:nvSpPr>
          <p:spPr>
            <a:xfrm rot="-119315">
              <a:off x="-58934" y="-58936"/>
              <a:ext cx="6467869" cy="6467845"/>
            </a:xfrm>
            <a:custGeom>
              <a:avLst/>
              <a:gdLst/>
              <a:ahLst/>
              <a:cxnLst/>
              <a:rect l="l" t="t" r="r" b="b"/>
              <a:pathLst>
                <a:path w="6467869" h="6467845">
                  <a:moveTo>
                    <a:pt x="6407021" y="3344136"/>
                  </a:moveTo>
                  <a:cubicBezTo>
                    <a:pt x="6346176" y="5096506"/>
                    <a:pt x="4876180" y="6467845"/>
                    <a:pt x="3123760" y="6406999"/>
                  </a:cubicBezTo>
                  <a:cubicBezTo>
                    <a:pt x="1371314" y="6346151"/>
                    <a:pt x="0" y="4876157"/>
                    <a:pt x="60845" y="3123787"/>
                  </a:cubicBezTo>
                  <a:cubicBezTo>
                    <a:pt x="121693" y="1371328"/>
                    <a:pt x="1591662" y="0"/>
                    <a:pt x="3344108" y="60848"/>
                  </a:cubicBezTo>
                  <a:cubicBezTo>
                    <a:pt x="5096554" y="121696"/>
                    <a:pt x="6467869" y="1591678"/>
                    <a:pt x="6407021" y="3344136"/>
                  </a:cubicBezTo>
                  <a:close/>
                </a:path>
              </a:pathLst>
            </a:custGeom>
            <a:blipFill>
              <a:blip r:embed="rId4"/>
              <a:stretch>
                <a:fillRect l="-42535" t="-1704" r="-42535" b="-1704"/>
              </a:stretch>
            </a:blipFill>
          </p:spPr>
        </p:sp>
      </p:grpSp>
      <p:grpSp>
        <p:nvGrpSpPr>
          <p:cNvPr id="11" name="Group 11"/>
          <p:cNvGrpSpPr/>
          <p:nvPr/>
        </p:nvGrpSpPr>
        <p:grpSpPr>
          <a:xfrm>
            <a:off x="9840001" y="3270042"/>
            <a:ext cx="2125200" cy="2125200"/>
            <a:chOff x="0" y="0"/>
            <a:chExt cx="812800" cy="8128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97B2"/>
            </a:solidFill>
            <a:ln w="28575" cap="sq">
              <a:solidFill>
                <a:srgbClr val="FFFFFF"/>
              </a:solidFill>
              <a:prstDash val="solid"/>
              <a:miter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35873" tIns="35873" rIns="35873" bIns="35873" rtlCol="0" anchor="ctr"/>
            <a:lstStyle/>
            <a:p>
              <a:pPr algn="ctr">
                <a:lnSpc>
                  <a:spcPts val="1384"/>
                </a:lnSpc>
              </a:pPr>
              <a:endParaRPr/>
            </a:p>
          </p:txBody>
        </p:sp>
      </p:grpSp>
      <p:sp>
        <p:nvSpPr>
          <p:cNvPr id="14" name="Freeform 14"/>
          <p:cNvSpPr/>
          <p:nvPr/>
        </p:nvSpPr>
        <p:spPr>
          <a:xfrm>
            <a:off x="13895039" y="1442645"/>
            <a:ext cx="1960747" cy="1960747"/>
          </a:xfrm>
          <a:custGeom>
            <a:avLst/>
            <a:gdLst/>
            <a:ahLst/>
            <a:cxnLst/>
            <a:rect l="l" t="t" r="r" b="b"/>
            <a:pathLst>
              <a:path w="1960747" h="1960747">
                <a:moveTo>
                  <a:pt x="0" y="0"/>
                </a:moveTo>
                <a:lnTo>
                  <a:pt x="1960746" y="0"/>
                </a:lnTo>
                <a:lnTo>
                  <a:pt x="1960746" y="1960746"/>
                </a:lnTo>
                <a:lnTo>
                  <a:pt x="0" y="196074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46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15" name="Group 15"/>
          <p:cNvGrpSpPr/>
          <p:nvPr/>
        </p:nvGrpSpPr>
        <p:grpSpPr>
          <a:xfrm>
            <a:off x="13895039" y="1382343"/>
            <a:ext cx="2081350" cy="2081350"/>
            <a:chOff x="0" y="0"/>
            <a:chExt cx="812800" cy="81280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97B2"/>
            </a:solidFill>
            <a:ln w="28575" cap="sq">
              <a:solidFill>
                <a:srgbClr val="FFFFFF"/>
              </a:solidFill>
              <a:prstDash val="solid"/>
              <a:miter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35873" tIns="35873" rIns="35873" bIns="35873" rtlCol="0" anchor="ctr"/>
            <a:lstStyle/>
            <a:p>
              <a:pPr algn="ctr">
                <a:lnSpc>
                  <a:spcPts val="1384"/>
                </a:lnSpc>
              </a:pPr>
              <a:endParaRPr/>
            </a:p>
          </p:txBody>
        </p:sp>
      </p:grpSp>
      <p:sp>
        <p:nvSpPr>
          <p:cNvPr id="18" name="Freeform 18"/>
          <p:cNvSpPr/>
          <p:nvPr/>
        </p:nvSpPr>
        <p:spPr>
          <a:xfrm>
            <a:off x="8487975" y="6904485"/>
            <a:ext cx="1960747" cy="1960747"/>
          </a:xfrm>
          <a:custGeom>
            <a:avLst/>
            <a:gdLst/>
            <a:ahLst/>
            <a:cxnLst/>
            <a:rect l="l" t="t" r="r" b="b"/>
            <a:pathLst>
              <a:path w="1960747" h="1960747">
                <a:moveTo>
                  <a:pt x="0" y="0"/>
                </a:moveTo>
                <a:lnTo>
                  <a:pt x="1960746" y="0"/>
                </a:lnTo>
                <a:lnTo>
                  <a:pt x="1960746" y="1960747"/>
                </a:lnTo>
                <a:lnTo>
                  <a:pt x="0" y="196074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46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19" name="Group 19"/>
          <p:cNvGrpSpPr/>
          <p:nvPr/>
        </p:nvGrpSpPr>
        <p:grpSpPr>
          <a:xfrm>
            <a:off x="8594965" y="7260071"/>
            <a:ext cx="1998229" cy="1998229"/>
            <a:chOff x="0" y="0"/>
            <a:chExt cx="812800" cy="81280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97B2"/>
            </a:solidFill>
            <a:ln w="28575" cap="sq">
              <a:solidFill>
                <a:srgbClr val="FFFFFF"/>
              </a:solidFill>
              <a:prstDash val="solid"/>
              <a:miter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35873" tIns="35873" rIns="35873" bIns="35873" rtlCol="0" anchor="ctr"/>
            <a:lstStyle/>
            <a:p>
              <a:pPr algn="ctr">
                <a:lnSpc>
                  <a:spcPts val="1384"/>
                </a:lnSpc>
              </a:pPr>
              <a:endParaRPr/>
            </a:p>
          </p:txBody>
        </p:sp>
      </p:grpSp>
      <p:sp>
        <p:nvSpPr>
          <p:cNvPr id="22" name="Freeform 22"/>
          <p:cNvSpPr/>
          <p:nvPr/>
        </p:nvSpPr>
        <p:spPr>
          <a:xfrm>
            <a:off x="10286811" y="3718972"/>
            <a:ext cx="1231579" cy="1227340"/>
          </a:xfrm>
          <a:custGeom>
            <a:avLst/>
            <a:gdLst/>
            <a:ahLst/>
            <a:cxnLst/>
            <a:rect l="l" t="t" r="r" b="b"/>
            <a:pathLst>
              <a:path w="1231579" h="1227340">
                <a:moveTo>
                  <a:pt x="0" y="0"/>
                </a:moveTo>
                <a:lnTo>
                  <a:pt x="1231580" y="0"/>
                </a:lnTo>
                <a:lnTo>
                  <a:pt x="1231580" y="1227340"/>
                </a:lnTo>
                <a:lnTo>
                  <a:pt x="0" y="122734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23" name="Freeform 23"/>
          <p:cNvSpPr/>
          <p:nvPr/>
        </p:nvSpPr>
        <p:spPr>
          <a:xfrm>
            <a:off x="14283624" y="1728602"/>
            <a:ext cx="1304180" cy="1304180"/>
          </a:xfrm>
          <a:custGeom>
            <a:avLst/>
            <a:gdLst/>
            <a:ahLst/>
            <a:cxnLst/>
            <a:rect l="l" t="t" r="r" b="b"/>
            <a:pathLst>
              <a:path w="1304180" h="1304180">
                <a:moveTo>
                  <a:pt x="0" y="0"/>
                </a:moveTo>
                <a:lnTo>
                  <a:pt x="1304180" y="0"/>
                </a:lnTo>
                <a:lnTo>
                  <a:pt x="1304180" y="1304180"/>
                </a:lnTo>
                <a:lnTo>
                  <a:pt x="0" y="130418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24" name="Freeform 24"/>
          <p:cNvSpPr/>
          <p:nvPr/>
        </p:nvSpPr>
        <p:spPr>
          <a:xfrm>
            <a:off x="8802912" y="7593750"/>
            <a:ext cx="1330872" cy="1330872"/>
          </a:xfrm>
          <a:custGeom>
            <a:avLst/>
            <a:gdLst/>
            <a:ahLst/>
            <a:cxnLst/>
            <a:rect l="l" t="t" r="r" b="b"/>
            <a:pathLst>
              <a:path w="1330872" h="1330872">
                <a:moveTo>
                  <a:pt x="0" y="0"/>
                </a:moveTo>
                <a:lnTo>
                  <a:pt x="1330872" y="0"/>
                </a:lnTo>
                <a:lnTo>
                  <a:pt x="1330872" y="1330871"/>
                </a:lnTo>
                <a:lnTo>
                  <a:pt x="0" y="1330871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a:blipFill>
        </p:spPr>
      </p:sp>
      <p:sp>
        <p:nvSpPr>
          <p:cNvPr id="25" name="TextBox 25"/>
          <p:cNvSpPr txBox="1"/>
          <p:nvPr/>
        </p:nvSpPr>
        <p:spPr>
          <a:xfrm>
            <a:off x="13895039" y="9079921"/>
            <a:ext cx="3664650" cy="8203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231"/>
              </a:lnSpc>
              <a:spcBef>
                <a:spcPct val="0"/>
              </a:spcBef>
            </a:pPr>
            <a:r>
              <a:rPr lang="en-US" sz="4451" b="1">
                <a:solidFill>
                  <a:srgbClr val="024854"/>
                </a:solidFill>
                <a:latin typeface="Telegraf Bold"/>
                <a:ea typeface="Telegraf Bold"/>
                <a:cs typeface="Telegraf Bold"/>
                <a:sym typeface="Telegraf Bold"/>
              </a:rPr>
              <a:t>2024/2025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028700" y="2053524"/>
            <a:ext cx="8887377" cy="513398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086"/>
              </a:lnSpc>
              <a:spcBef>
                <a:spcPct val="0"/>
              </a:spcBef>
            </a:pPr>
            <a:r>
              <a:rPr lang="en-US" sz="5775" b="1">
                <a:solidFill>
                  <a:srgbClr val="0097B2"/>
                </a:solidFill>
                <a:latin typeface="Telegraf Bold"/>
                <a:ea typeface="Telegraf Bold"/>
                <a:cs typeface="Telegraf Bold"/>
                <a:sym typeface="Telegraf Bold"/>
              </a:rPr>
              <a:t>Analyse rigoureuse de la série du PIB trimestriel du Sénégal, modélisation et prévisions 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2734871" y="2552025"/>
            <a:ext cx="5175292" cy="818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231"/>
              </a:lnSpc>
              <a:spcBef>
                <a:spcPct val="0"/>
              </a:spcBef>
            </a:pPr>
            <a:endParaRPr/>
          </a:p>
        </p:txBody>
      </p:sp>
      <p:grpSp>
        <p:nvGrpSpPr>
          <p:cNvPr id="28" name="Group 28"/>
          <p:cNvGrpSpPr/>
          <p:nvPr/>
        </p:nvGrpSpPr>
        <p:grpSpPr>
          <a:xfrm>
            <a:off x="880714" y="8677171"/>
            <a:ext cx="8587634" cy="1267723"/>
            <a:chOff x="0" y="0"/>
            <a:chExt cx="11450179" cy="1690297"/>
          </a:xfrm>
        </p:grpSpPr>
        <p:sp>
          <p:nvSpPr>
            <p:cNvPr id="29" name="TextBox 29"/>
            <p:cNvSpPr txBox="1"/>
            <p:nvPr/>
          </p:nvSpPr>
          <p:spPr>
            <a:xfrm>
              <a:off x="0" y="47625"/>
              <a:ext cx="6309802" cy="67987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823"/>
                </a:lnSpc>
              </a:pPr>
              <a:r>
                <a:rPr lang="en-US" sz="3641" i="1">
                  <a:solidFill>
                    <a:srgbClr val="024854"/>
                  </a:solidFill>
                  <a:latin typeface="Open Sans 1 Italics"/>
                  <a:ea typeface="Open Sans 1 Italics"/>
                  <a:cs typeface="Open Sans 1 Italics"/>
                  <a:sym typeface="Open Sans 1 Italics"/>
                </a:rPr>
                <a:t>Sous la supervision de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0" y="841513"/>
              <a:ext cx="11450179" cy="84878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4768"/>
                </a:lnSpc>
              </a:pPr>
              <a:r>
                <a:rPr lang="en-US" sz="4541" b="1" i="1">
                  <a:solidFill>
                    <a:srgbClr val="1C6976"/>
                  </a:solidFill>
                  <a:latin typeface="Open Sans 1 Bold Italics"/>
                  <a:ea typeface="Open Sans 1 Bold Italics"/>
                  <a:cs typeface="Open Sans 1 Bold Italics"/>
                  <a:sym typeface="Open Sans 1 Bold Italics"/>
                </a:rPr>
                <a:t>Thierno Ibrahima Barry, ISE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62576">
            <a:off x="-103677" y="2443112"/>
            <a:ext cx="6056770" cy="5801474"/>
            <a:chOff x="0" y="0"/>
            <a:chExt cx="6350000" cy="6082343"/>
          </a:xfrm>
        </p:grpSpPr>
        <p:sp>
          <p:nvSpPr>
            <p:cNvPr id="3" name="Freeform 3"/>
            <p:cNvSpPr/>
            <p:nvPr/>
          </p:nvSpPr>
          <p:spPr>
            <a:xfrm rot="-119315">
              <a:off x="-56370" y="-59016"/>
              <a:ext cx="6462740" cy="6200375"/>
            </a:xfrm>
            <a:custGeom>
              <a:avLst/>
              <a:gdLst/>
              <a:ahLst/>
              <a:cxnLst/>
              <a:rect l="l" t="t" r="r" b="b"/>
              <a:pathLst>
                <a:path w="6462740" h="6200375">
                  <a:moveTo>
                    <a:pt x="6404457" y="3210399"/>
                  </a:moveTo>
                  <a:cubicBezTo>
                    <a:pt x="6346176" y="4888912"/>
                    <a:pt x="4878260" y="6200375"/>
                    <a:pt x="3125839" y="6139528"/>
                  </a:cubicBezTo>
                  <a:cubicBezTo>
                    <a:pt x="1373394" y="6078680"/>
                    <a:pt x="0" y="4668563"/>
                    <a:pt x="58281" y="2990050"/>
                  </a:cubicBezTo>
                  <a:cubicBezTo>
                    <a:pt x="116564" y="1311452"/>
                    <a:pt x="1584455" y="0"/>
                    <a:pt x="3336901" y="60848"/>
                  </a:cubicBezTo>
                  <a:cubicBezTo>
                    <a:pt x="5089346" y="121695"/>
                    <a:pt x="6462740" y="1531801"/>
                    <a:pt x="6404457" y="3210399"/>
                  </a:cubicBezTo>
                  <a:close/>
                </a:path>
              </a:pathLst>
            </a:custGeom>
            <a:blipFill>
              <a:blip r:embed="rId2"/>
              <a:stretch>
                <a:fillRect l="-38770" t="-1777" r="-38770" b="-1777"/>
              </a:stretch>
            </a:blipFill>
          </p:spPr>
        </p:sp>
      </p:grpSp>
      <p:grpSp>
        <p:nvGrpSpPr>
          <p:cNvPr id="12" name="Group 12"/>
          <p:cNvGrpSpPr/>
          <p:nvPr/>
        </p:nvGrpSpPr>
        <p:grpSpPr>
          <a:xfrm rot="5294022">
            <a:off x="5312417" y="4521730"/>
            <a:ext cx="1126129" cy="1178224"/>
            <a:chOff x="0" y="0"/>
            <a:chExt cx="776862" cy="8128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776862" cy="812800"/>
            </a:xfrm>
            <a:custGeom>
              <a:avLst/>
              <a:gdLst/>
              <a:ahLst/>
              <a:cxnLst/>
              <a:rect l="l" t="t" r="r" b="b"/>
              <a:pathLst>
                <a:path w="776862" h="812800">
                  <a:moveTo>
                    <a:pt x="388431" y="0"/>
                  </a:moveTo>
                  <a:cubicBezTo>
                    <a:pt x="173906" y="0"/>
                    <a:pt x="0" y="181951"/>
                    <a:pt x="0" y="406400"/>
                  </a:cubicBezTo>
                  <a:cubicBezTo>
                    <a:pt x="0" y="630849"/>
                    <a:pt x="173906" y="812800"/>
                    <a:pt x="388431" y="812800"/>
                  </a:cubicBezTo>
                  <a:cubicBezTo>
                    <a:pt x="602956" y="812800"/>
                    <a:pt x="776862" y="630849"/>
                    <a:pt x="776862" y="406400"/>
                  </a:cubicBezTo>
                  <a:cubicBezTo>
                    <a:pt x="776862" y="181951"/>
                    <a:pt x="602956" y="0"/>
                    <a:pt x="388431" y="0"/>
                  </a:cubicBezTo>
                  <a:close/>
                </a:path>
              </a:pathLst>
            </a:custGeom>
            <a:solidFill>
              <a:srgbClr val="0097B2"/>
            </a:solidFill>
            <a:ln w="28575" cap="sq">
              <a:solidFill>
                <a:srgbClr val="FFFFFF"/>
              </a:solidFill>
              <a:prstDash val="solid"/>
              <a:miter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72831" y="38100"/>
              <a:ext cx="631200" cy="698500"/>
            </a:xfrm>
            <a:prstGeom prst="rect">
              <a:avLst/>
            </a:prstGeom>
          </p:spPr>
          <p:txBody>
            <a:bodyPr lIns="25103" tIns="25103" rIns="25103" bIns="25103" rtlCol="0" anchor="ctr"/>
            <a:lstStyle/>
            <a:p>
              <a:pPr algn="ctr">
                <a:lnSpc>
                  <a:spcPts val="1384"/>
                </a:lnSpc>
              </a:pPr>
              <a:endParaRPr/>
            </a:p>
          </p:txBody>
        </p:sp>
      </p:grpSp>
      <p:sp>
        <p:nvSpPr>
          <p:cNvPr id="15" name="TextBox 15"/>
          <p:cNvSpPr txBox="1"/>
          <p:nvPr/>
        </p:nvSpPr>
        <p:spPr>
          <a:xfrm>
            <a:off x="6553200" y="4898394"/>
            <a:ext cx="7072956" cy="4231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37"/>
              </a:lnSpc>
            </a:pPr>
            <a:r>
              <a:rPr lang="en-US" sz="3178" b="1" dirty="0" err="1">
                <a:solidFill>
                  <a:srgbClr val="1C6976"/>
                </a:solidFill>
                <a:latin typeface="Open Sans 1 Bold"/>
                <a:ea typeface="Open Sans 1 Bold"/>
                <a:cs typeface="Open Sans 1 Bold"/>
                <a:sym typeface="Open Sans 1 Bold"/>
              </a:rPr>
              <a:t>Ndeye</a:t>
            </a:r>
            <a:r>
              <a:rPr lang="en-US" sz="3178" b="1" dirty="0">
                <a:solidFill>
                  <a:srgbClr val="1C6976"/>
                </a:solidFill>
                <a:latin typeface="Open Sans 1 Bold"/>
                <a:ea typeface="Open Sans 1 Bold"/>
                <a:cs typeface="Open Sans 1 Bold"/>
                <a:sym typeface="Open Sans 1 Bold"/>
              </a:rPr>
              <a:t> </a:t>
            </a:r>
            <a:r>
              <a:rPr lang="en-US" sz="3178" b="1" dirty="0" err="1">
                <a:solidFill>
                  <a:srgbClr val="1C6976"/>
                </a:solidFill>
                <a:latin typeface="Open Sans 1 Bold"/>
                <a:ea typeface="Open Sans 1 Bold"/>
                <a:cs typeface="Open Sans 1 Bold"/>
                <a:sym typeface="Open Sans 1 Bold"/>
              </a:rPr>
              <a:t>Ramatoulaye</a:t>
            </a:r>
            <a:r>
              <a:rPr lang="en-US" sz="3178" b="1" dirty="0">
                <a:solidFill>
                  <a:srgbClr val="1C6976"/>
                </a:solidFill>
                <a:latin typeface="Open Sans 1 Bold"/>
                <a:ea typeface="Open Sans 1 Bold"/>
                <a:cs typeface="Open Sans 1 Bold"/>
                <a:sym typeface="Open Sans 1 Bold"/>
              </a:rPr>
              <a:t> </a:t>
            </a:r>
            <a:r>
              <a:rPr lang="en-US" sz="3178" b="1" dirty="0" err="1">
                <a:solidFill>
                  <a:srgbClr val="1C6976"/>
                </a:solidFill>
                <a:latin typeface="Open Sans 1 Bold"/>
                <a:ea typeface="Open Sans 1 Bold"/>
                <a:cs typeface="Open Sans 1 Bold"/>
                <a:sym typeface="Open Sans 1 Bold"/>
              </a:rPr>
              <a:t>Ndoye</a:t>
            </a:r>
            <a:r>
              <a:rPr lang="en-US" sz="3178" b="1" dirty="0">
                <a:solidFill>
                  <a:srgbClr val="1C6976"/>
                </a:solidFill>
                <a:latin typeface="Open Sans 1 Bold"/>
                <a:ea typeface="Open Sans 1 Bold"/>
                <a:cs typeface="Open Sans 1 Bold"/>
                <a:sym typeface="Open Sans 1 Bold"/>
              </a:rPr>
              <a:t> FALL</a:t>
            </a:r>
          </a:p>
        </p:txBody>
      </p:sp>
      <p:grpSp>
        <p:nvGrpSpPr>
          <p:cNvPr id="16" name="Group 16"/>
          <p:cNvGrpSpPr/>
          <p:nvPr/>
        </p:nvGrpSpPr>
        <p:grpSpPr>
          <a:xfrm>
            <a:off x="11228585" y="1028700"/>
            <a:ext cx="5905963" cy="1392427"/>
            <a:chOff x="0" y="0"/>
            <a:chExt cx="7874617" cy="1856570"/>
          </a:xfrm>
        </p:grpSpPr>
        <p:grpSp>
          <p:nvGrpSpPr>
            <p:cNvPr id="17" name="Group 17"/>
            <p:cNvGrpSpPr/>
            <p:nvPr/>
          </p:nvGrpSpPr>
          <p:grpSpPr>
            <a:xfrm rot="1471508">
              <a:off x="225077" y="32097"/>
              <a:ext cx="409715" cy="1173520"/>
              <a:chOff x="0" y="0"/>
              <a:chExt cx="106268" cy="304376"/>
            </a:xfrm>
          </p:grpSpPr>
          <p:sp>
            <p:nvSpPr>
              <p:cNvPr id="18" name="Freeform 18"/>
              <p:cNvSpPr/>
              <p:nvPr/>
            </p:nvSpPr>
            <p:spPr>
              <a:xfrm>
                <a:off x="0" y="0"/>
                <a:ext cx="106268" cy="304376"/>
              </a:xfrm>
              <a:custGeom>
                <a:avLst/>
                <a:gdLst/>
                <a:ahLst/>
                <a:cxnLst/>
                <a:rect l="l" t="t" r="r" b="b"/>
                <a:pathLst>
                  <a:path w="106268" h="304376">
                    <a:moveTo>
                      <a:pt x="0" y="0"/>
                    </a:moveTo>
                    <a:lnTo>
                      <a:pt x="106268" y="0"/>
                    </a:lnTo>
                    <a:lnTo>
                      <a:pt x="106268" y="304376"/>
                    </a:lnTo>
                    <a:lnTo>
                      <a:pt x="0" y="304376"/>
                    </a:lnTo>
                    <a:close/>
                  </a:path>
                </a:pathLst>
              </a:custGeom>
              <a:solidFill>
                <a:srgbClr val="0097B2"/>
              </a:solidFill>
            </p:spPr>
          </p:sp>
          <p:sp>
            <p:nvSpPr>
              <p:cNvPr id="19" name="TextBox 19"/>
              <p:cNvSpPr txBox="1"/>
              <p:nvPr/>
            </p:nvSpPr>
            <p:spPr>
              <a:xfrm>
                <a:off x="0" y="-57150"/>
                <a:ext cx="106268" cy="361526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1960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grpSp>
          <p:nvGrpSpPr>
            <p:cNvPr id="20" name="Group 20"/>
            <p:cNvGrpSpPr/>
            <p:nvPr/>
          </p:nvGrpSpPr>
          <p:grpSpPr>
            <a:xfrm rot="1471508">
              <a:off x="494755" y="650953"/>
              <a:ext cx="409715" cy="1173520"/>
              <a:chOff x="0" y="0"/>
              <a:chExt cx="106268" cy="304376"/>
            </a:xfrm>
          </p:grpSpPr>
          <p:sp>
            <p:nvSpPr>
              <p:cNvPr id="21" name="Freeform 21"/>
              <p:cNvSpPr/>
              <p:nvPr/>
            </p:nvSpPr>
            <p:spPr>
              <a:xfrm>
                <a:off x="0" y="0"/>
                <a:ext cx="106268" cy="304376"/>
              </a:xfrm>
              <a:custGeom>
                <a:avLst/>
                <a:gdLst/>
                <a:ahLst/>
                <a:cxnLst/>
                <a:rect l="l" t="t" r="r" b="b"/>
                <a:pathLst>
                  <a:path w="106268" h="304376">
                    <a:moveTo>
                      <a:pt x="0" y="0"/>
                    </a:moveTo>
                    <a:lnTo>
                      <a:pt x="106268" y="0"/>
                    </a:lnTo>
                    <a:lnTo>
                      <a:pt x="106268" y="304376"/>
                    </a:lnTo>
                    <a:lnTo>
                      <a:pt x="0" y="304376"/>
                    </a:lnTo>
                    <a:close/>
                  </a:path>
                </a:pathLst>
              </a:custGeom>
              <a:solidFill>
                <a:srgbClr val="0097B2"/>
              </a:solidFill>
            </p:spPr>
          </p:sp>
          <p:sp>
            <p:nvSpPr>
              <p:cNvPr id="22" name="TextBox 22"/>
              <p:cNvSpPr txBox="1"/>
              <p:nvPr/>
            </p:nvSpPr>
            <p:spPr>
              <a:xfrm>
                <a:off x="0" y="-57150"/>
                <a:ext cx="106268" cy="361526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1960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sp>
          <p:nvSpPr>
            <p:cNvPr id="23" name="TextBox 23"/>
            <p:cNvSpPr txBox="1"/>
            <p:nvPr/>
          </p:nvSpPr>
          <p:spPr>
            <a:xfrm>
              <a:off x="1664633" y="260962"/>
              <a:ext cx="6209984" cy="88053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5299"/>
                </a:lnSpc>
                <a:spcBef>
                  <a:spcPct val="0"/>
                </a:spcBef>
              </a:pPr>
              <a:r>
                <a:rPr lang="en-US" sz="3785" b="1">
                  <a:solidFill>
                    <a:srgbClr val="329A87"/>
                  </a:solidFill>
                  <a:latin typeface="Telegraf Bold"/>
                  <a:ea typeface="Telegraf Bold"/>
                  <a:cs typeface="Telegraf Bold"/>
                  <a:sym typeface="Telegraf Bold"/>
                </a:rPr>
                <a:t>Séries temporelles</a:t>
              </a:r>
            </a:p>
          </p:txBody>
        </p:sp>
      </p:grpSp>
    </p:spTree>
  </p:cSld>
  <p:clrMapOvr>
    <a:masterClrMapping/>
  </p:clrMapOvr>
  <p:transition>
    <p:cover dir="rd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59284" y="-3564050"/>
            <a:ext cx="3381440" cy="9185501"/>
            <a:chOff x="0" y="0"/>
            <a:chExt cx="4508587" cy="12247335"/>
          </a:xfrm>
        </p:grpSpPr>
        <p:grpSp>
          <p:nvGrpSpPr>
            <p:cNvPr id="3" name="Group 3"/>
            <p:cNvGrpSpPr/>
            <p:nvPr/>
          </p:nvGrpSpPr>
          <p:grpSpPr>
            <a:xfrm rot="-5400000">
              <a:off x="-3869374" y="3869374"/>
              <a:ext cx="12247335" cy="4508587"/>
              <a:chOff x="0" y="0"/>
              <a:chExt cx="1103964" cy="406400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17780" y="22860"/>
                <a:ext cx="1078564" cy="360680"/>
              </a:xfrm>
              <a:custGeom>
                <a:avLst/>
                <a:gdLst/>
                <a:ahLst/>
                <a:cxnLst/>
                <a:rect l="l" t="t" r="r" b="b"/>
                <a:pathLst>
                  <a:path w="1078564" h="360680">
                    <a:moveTo>
                      <a:pt x="1078564" y="180340"/>
                    </a:moveTo>
                    <a:cubicBezTo>
                      <a:pt x="1078564" y="81280"/>
                      <a:pt x="998554" y="0"/>
                      <a:pt x="898224" y="0"/>
                    </a:cubicBezTo>
                    <a:lnTo>
                      <a:pt x="172720" y="0"/>
                    </a:lnTo>
                    <a:lnTo>
                      <a:pt x="172720" y="1270"/>
                    </a:lnTo>
                    <a:cubicBezTo>
                      <a:pt x="76200" y="5080"/>
                      <a:pt x="0" y="83820"/>
                      <a:pt x="0" y="180340"/>
                    </a:cubicBezTo>
                    <a:cubicBezTo>
                      <a:pt x="0" y="276860"/>
                      <a:pt x="77470" y="355600"/>
                      <a:pt x="172720" y="359410"/>
                    </a:cubicBezTo>
                    <a:lnTo>
                      <a:pt x="172720" y="360680"/>
                    </a:lnTo>
                    <a:lnTo>
                      <a:pt x="898224" y="360680"/>
                    </a:lnTo>
                    <a:cubicBezTo>
                      <a:pt x="997284" y="360680"/>
                      <a:pt x="1078564" y="279400"/>
                      <a:pt x="1078564" y="180340"/>
                    </a:cubicBezTo>
                    <a:close/>
                  </a:path>
                </a:pathLst>
              </a:custGeom>
              <a:solidFill>
                <a:srgbClr val="41C1BA"/>
              </a:solidFill>
            </p:spPr>
          </p:sp>
        </p:grpSp>
        <p:sp>
          <p:nvSpPr>
            <p:cNvPr id="5" name="TextBox 5"/>
            <p:cNvSpPr txBox="1"/>
            <p:nvPr/>
          </p:nvSpPr>
          <p:spPr>
            <a:xfrm>
              <a:off x="1372192" y="10305142"/>
              <a:ext cx="1546983" cy="13049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8398"/>
                </a:lnSpc>
              </a:pPr>
              <a:r>
                <a:rPr lang="en-US" sz="6998" spc="699">
                  <a:solidFill>
                    <a:srgbClr val="365B6D"/>
                  </a:solidFill>
                  <a:latin typeface="Sergio Trendy"/>
                  <a:ea typeface="Sergio Trendy"/>
                  <a:cs typeface="Sergio Trendy"/>
                  <a:sym typeface="Sergio Trendy"/>
                </a:rPr>
                <a:t>1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492555" y="7582752"/>
              <a:ext cx="3279166" cy="14668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4500"/>
                </a:lnSpc>
              </a:pPr>
              <a:r>
                <a:rPr lang="en-US" sz="3000" b="1">
                  <a:solidFill>
                    <a:srgbClr val="191919"/>
                  </a:solidFill>
                  <a:latin typeface="Aileron Bold"/>
                  <a:ea typeface="Aileron Bold"/>
                  <a:cs typeface="Aileron Bold"/>
                  <a:sym typeface="Aileron Bold"/>
                </a:rPr>
                <a:t>Contexte et justifications</a:t>
              </a:r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0801470" y="5448576"/>
            <a:ext cx="3381440" cy="9185501"/>
            <a:chOff x="0" y="0"/>
            <a:chExt cx="4508587" cy="12247335"/>
          </a:xfrm>
        </p:grpSpPr>
        <p:grpSp>
          <p:nvGrpSpPr>
            <p:cNvPr id="8" name="Group 8"/>
            <p:cNvGrpSpPr/>
            <p:nvPr/>
          </p:nvGrpSpPr>
          <p:grpSpPr>
            <a:xfrm rot="5400000">
              <a:off x="-3869374" y="3869374"/>
              <a:ext cx="12247335" cy="4508587"/>
              <a:chOff x="0" y="0"/>
              <a:chExt cx="1103964" cy="406400"/>
            </a:xfrm>
          </p:grpSpPr>
          <p:sp>
            <p:nvSpPr>
              <p:cNvPr id="9" name="Freeform 9"/>
              <p:cNvSpPr/>
              <p:nvPr/>
            </p:nvSpPr>
            <p:spPr>
              <a:xfrm>
                <a:off x="17780" y="22860"/>
                <a:ext cx="1078564" cy="360680"/>
              </a:xfrm>
              <a:custGeom>
                <a:avLst/>
                <a:gdLst/>
                <a:ahLst/>
                <a:cxnLst/>
                <a:rect l="l" t="t" r="r" b="b"/>
                <a:pathLst>
                  <a:path w="1078564" h="360680">
                    <a:moveTo>
                      <a:pt x="1078564" y="180340"/>
                    </a:moveTo>
                    <a:cubicBezTo>
                      <a:pt x="1078564" y="81280"/>
                      <a:pt x="998554" y="0"/>
                      <a:pt x="898224" y="0"/>
                    </a:cubicBezTo>
                    <a:lnTo>
                      <a:pt x="172720" y="0"/>
                    </a:lnTo>
                    <a:lnTo>
                      <a:pt x="172720" y="1270"/>
                    </a:lnTo>
                    <a:cubicBezTo>
                      <a:pt x="76200" y="5080"/>
                      <a:pt x="0" y="83820"/>
                      <a:pt x="0" y="180340"/>
                    </a:cubicBezTo>
                    <a:cubicBezTo>
                      <a:pt x="0" y="276860"/>
                      <a:pt x="77470" y="355600"/>
                      <a:pt x="172720" y="359410"/>
                    </a:cubicBezTo>
                    <a:lnTo>
                      <a:pt x="172720" y="360680"/>
                    </a:lnTo>
                    <a:lnTo>
                      <a:pt x="898224" y="360680"/>
                    </a:lnTo>
                    <a:cubicBezTo>
                      <a:pt x="997284" y="360680"/>
                      <a:pt x="1078564" y="279400"/>
                      <a:pt x="1078564" y="180340"/>
                    </a:cubicBezTo>
                    <a:close/>
                  </a:path>
                </a:pathLst>
              </a:custGeom>
              <a:solidFill>
                <a:srgbClr val="62DDD6"/>
              </a:solidFill>
            </p:spPr>
          </p:sp>
        </p:grpSp>
        <p:sp>
          <p:nvSpPr>
            <p:cNvPr id="10" name="TextBox 10"/>
            <p:cNvSpPr txBox="1"/>
            <p:nvPr/>
          </p:nvSpPr>
          <p:spPr>
            <a:xfrm>
              <a:off x="1480802" y="624919"/>
              <a:ext cx="1546983" cy="13049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8398"/>
                </a:lnSpc>
              </a:pPr>
              <a:r>
                <a:rPr lang="en-US" sz="6998" spc="699">
                  <a:solidFill>
                    <a:srgbClr val="365B6D"/>
                  </a:solidFill>
                  <a:latin typeface="Sergio Trendy"/>
                  <a:ea typeface="Sergio Trendy"/>
                  <a:cs typeface="Sergio Trendy"/>
                  <a:sym typeface="Sergio Trendy"/>
                </a:rPr>
                <a:t>9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558800" y="1908302"/>
              <a:ext cx="3279166" cy="37528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4500"/>
                </a:lnSpc>
              </a:pPr>
              <a:r>
                <a:rPr lang="en-US" sz="3000" b="1">
                  <a:solidFill>
                    <a:srgbClr val="191919"/>
                  </a:solidFill>
                  <a:latin typeface="Aileron Bold"/>
                  <a:ea typeface="Aileron Bold"/>
                  <a:cs typeface="Aileron Bold"/>
                  <a:sym typeface="Aileron Bold"/>
                </a:rPr>
                <a:t>Comparaison avec les résultats d’un lissage exponentiel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4182910" y="-5779985"/>
            <a:ext cx="3381440" cy="11401436"/>
            <a:chOff x="0" y="0"/>
            <a:chExt cx="4508587" cy="15201914"/>
          </a:xfrm>
        </p:grpSpPr>
        <p:grpSp>
          <p:nvGrpSpPr>
            <p:cNvPr id="13" name="Group 13"/>
            <p:cNvGrpSpPr/>
            <p:nvPr/>
          </p:nvGrpSpPr>
          <p:grpSpPr>
            <a:xfrm rot="-5400000">
              <a:off x="-5346664" y="5346664"/>
              <a:ext cx="15201914" cy="4508587"/>
              <a:chOff x="0" y="0"/>
              <a:chExt cx="1370287" cy="406400"/>
            </a:xfrm>
          </p:grpSpPr>
          <p:sp>
            <p:nvSpPr>
              <p:cNvPr id="14" name="Freeform 14"/>
              <p:cNvSpPr/>
              <p:nvPr/>
            </p:nvSpPr>
            <p:spPr>
              <a:xfrm>
                <a:off x="17780" y="22860"/>
                <a:ext cx="1344887" cy="360680"/>
              </a:xfrm>
              <a:custGeom>
                <a:avLst/>
                <a:gdLst/>
                <a:ahLst/>
                <a:cxnLst/>
                <a:rect l="l" t="t" r="r" b="b"/>
                <a:pathLst>
                  <a:path w="1344887" h="360680">
                    <a:moveTo>
                      <a:pt x="1344887" y="180340"/>
                    </a:moveTo>
                    <a:cubicBezTo>
                      <a:pt x="1344887" y="81280"/>
                      <a:pt x="1264877" y="0"/>
                      <a:pt x="1164547" y="0"/>
                    </a:cubicBezTo>
                    <a:lnTo>
                      <a:pt x="172720" y="0"/>
                    </a:lnTo>
                    <a:lnTo>
                      <a:pt x="172720" y="1270"/>
                    </a:lnTo>
                    <a:cubicBezTo>
                      <a:pt x="76200" y="5080"/>
                      <a:pt x="0" y="83820"/>
                      <a:pt x="0" y="180340"/>
                    </a:cubicBezTo>
                    <a:cubicBezTo>
                      <a:pt x="0" y="276860"/>
                      <a:pt x="77470" y="355600"/>
                      <a:pt x="172720" y="359410"/>
                    </a:cubicBezTo>
                    <a:lnTo>
                      <a:pt x="172720" y="360680"/>
                    </a:lnTo>
                    <a:lnTo>
                      <a:pt x="1164547" y="360680"/>
                    </a:lnTo>
                    <a:cubicBezTo>
                      <a:pt x="1263607" y="360680"/>
                      <a:pt x="1344887" y="279400"/>
                      <a:pt x="1344887" y="180340"/>
                    </a:cubicBezTo>
                    <a:close/>
                  </a:path>
                </a:pathLst>
              </a:custGeom>
              <a:solidFill>
                <a:srgbClr val="41C1BA">
                  <a:alpha val="80000"/>
                </a:srgbClr>
              </a:solidFill>
            </p:spPr>
          </p:sp>
        </p:grpSp>
        <p:sp>
          <p:nvSpPr>
            <p:cNvPr id="15" name="TextBox 15"/>
            <p:cNvSpPr txBox="1"/>
            <p:nvPr/>
          </p:nvSpPr>
          <p:spPr>
            <a:xfrm>
              <a:off x="1480802" y="13259722"/>
              <a:ext cx="1546983" cy="13049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8398"/>
                </a:lnSpc>
              </a:pPr>
              <a:r>
                <a:rPr lang="en-US" sz="6998" spc="699">
                  <a:solidFill>
                    <a:srgbClr val="365B6D"/>
                  </a:solidFill>
                  <a:latin typeface="Sergio Trendy"/>
                  <a:ea typeface="Sergio Trendy"/>
                  <a:cs typeface="Sergio Trendy"/>
                  <a:sym typeface="Sergio Trendy"/>
                </a:rPr>
                <a:t>5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58800" y="9394332"/>
              <a:ext cx="3279166" cy="37528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4500"/>
                </a:lnSpc>
              </a:pPr>
              <a:r>
                <a:rPr lang="en-US" sz="3000" b="1">
                  <a:solidFill>
                    <a:srgbClr val="191919"/>
                  </a:solidFill>
                  <a:latin typeface="Aileron Bold"/>
                  <a:ea typeface="Aileron Bold"/>
                  <a:cs typeface="Aileron Bold"/>
                  <a:sym typeface="Aileron Bold"/>
                </a:rPr>
                <a:t>Préparation des données et visualisation de la série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10801470" y="-5278550"/>
            <a:ext cx="3381440" cy="10900001"/>
            <a:chOff x="0" y="0"/>
            <a:chExt cx="4508587" cy="14533335"/>
          </a:xfrm>
        </p:grpSpPr>
        <p:grpSp>
          <p:nvGrpSpPr>
            <p:cNvPr id="18" name="Group 18"/>
            <p:cNvGrpSpPr/>
            <p:nvPr/>
          </p:nvGrpSpPr>
          <p:grpSpPr>
            <a:xfrm rot="-5400000">
              <a:off x="-5012374" y="5012374"/>
              <a:ext cx="14533335" cy="4508587"/>
              <a:chOff x="0" y="0"/>
              <a:chExt cx="1310022" cy="406400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17780" y="22860"/>
                <a:ext cx="1284622" cy="360680"/>
              </a:xfrm>
              <a:custGeom>
                <a:avLst/>
                <a:gdLst/>
                <a:ahLst/>
                <a:cxnLst/>
                <a:rect l="l" t="t" r="r" b="b"/>
                <a:pathLst>
                  <a:path w="1284622" h="360680">
                    <a:moveTo>
                      <a:pt x="1284622" y="180340"/>
                    </a:moveTo>
                    <a:cubicBezTo>
                      <a:pt x="1284622" y="81280"/>
                      <a:pt x="1204612" y="0"/>
                      <a:pt x="1104282" y="0"/>
                    </a:cubicBezTo>
                    <a:lnTo>
                      <a:pt x="172720" y="0"/>
                    </a:lnTo>
                    <a:lnTo>
                      <a:pt x="172720" y="1270"/>
                    </a:lnTo>
                    <a:cubicBezTo>
                      <a:pt x="76200" y="5080"/>
                      <a:pt x="0" y="83820"/>
                      <a:pt x="0" y="180340"/>
                    </a:cubicBezTo>
                    <a:cubicBezTo>
                      <a:pt x="0" y="276860"/>
                      <a:pt x="77470" y="355600"/>
                      <a:pt x="172720" y="359410"/>
                    </a:cubicBezTo>
                    <a:lnTo>
                      <a:pt x="172720" y="360680"/>
                    </a:lnTo>
                    <a:lnTo>
                      <a:pt x="1104282" y="360680"/>
                    </a:lnTo>
                    <a:cubicBezTo>
                      <a:pt x="1203342" y="360680"/>
                      <a:pt x="1284622" y="279400"/>
                      <a:pt x="1284622" y="180340"/>
                    </a:cubicBezTo>
                    <a:close/>
                  </a:path>
                </a:pathLst>
              </a:custGeom>
              <a:solidFill>
                <a:srgbClr val="59DBC3">
                  <a:alpha val="84706"/>
                </a:srgbClr>
              </a:solidFill>
            </p:spPr>
          </p:sp>
        </p:grpSp>
        <p:sp>
          <p:nvSpPr>
            <p:cNvPr id="20" name="TextBox 20"/>
            <p:cNvSpPr txBox="1"/>
            <p:nvPr/>
          </p:nvSpPr>
          <p:spPr>
            <a:xfrm>
              <a:off x="1536700" y="12597305"/>
              <a:ext cx="1546983" cy="13049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8398"/>
                </a:lnSpc>
              </a:pPr>
              <a:r>
                <a:rPr lang="en-US" sz="6998" spc="699">
                  <a:solidFill>
                    <a:srgbClr val="365B6D"/>
                  </a:solidFill>
                  <a:latin typeface="Sergio Trendy"/>
                  <a:ea typeface="Sergio Trendy"/>
                  <a:cs typeface="Sergio Trendy"/>
                  <a:sym typeface="Sergio Trendy"/>
                </a:rPr>
                <a:t>4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560764" y="10249752"/>
              <a:ext cx="3577703" cy="7048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4500"/>
                </a:lnSpc>
              </a:pPr>
              <a:r>
                <a:rPr lang="en-US" sz="3000" b="1">
                  <a:solidFill>
                    <a:srgbClr val="191919"/>
                  </a:solidFill>
                  <a:latin typeface="Aileron Bold"/>
                  <a:ea typeface="Aileron Bold"/>
                  <a:cs typeface="Aileron Bold"/>
                  <a:sym typeface="Aileron Bold"/>
                </a:rPr>
                <a:t>Méthodologie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7420030" y="-4707050"/>
            <a:ext cx="3381440" cy="10328501"/>
            <a:chOff x="0" y="0"/>
            <a:chExt cx="4508587" cy="13771335"/>
          </a:xfrm>
        </p:grpSpPr>
        <p:grpSp>
          <p:nvGrpSpPr>
            <p:cNvPr id="23" name="Group 23"/>
            <p:cNvGrpSpPr/>
            <p:nvPr/>
          </p:nvGrpSpPr>
          <p:grpSpPr>
            <a:xfrm rot="-5400000">
              <a:off x="-4631374" y="4631374"/>
              <a:ext cx="13771335" cy="4508587"/>
              <a:chOff x="0" y="0"/>
              <a:chExt cx="1241336" cy="406400"/>
            </a:xfrm>
          </p:grpSpPr>
          <p:sp>
            <p:nvSpPr>
              <p:cNvPr id="24" name="Freeform 24"/>
              <p:cNvSpPr/>
              <p:nvPr/>
            </p:nvSpPr>
            <p:spPr>
              <a:xfrm>
                <a:off x="17780" y="22860"/>
                <a:ext cx="1215936" cy="360680"/>
              </a:xfrm>
              <a:custGeom>
                <a:avLst/>
                <a:gdLst/>
                <a:ahLst/>
                <a:cxnLst/>
                <a:rect l="l" t="t" r="r" b="b"/>
                <a:pathLst>
                  <a:path w="1215936" h="360680">
                    <a:moveTo>
                      <a:pt x="1215936" y="180340"/>
                    </a:moveTo>
                    <a:cubicBezTo>
                      <a:pt x="1215936" y="81280"/>
                      <a:pt x="1135926" y="0"/>
                      <a:pt x="1035596" y="0"/>
                    </a:cubicBezTo>
                    <a:lnTo>
                      <a:pt x="172720" y="0"/>
                    </a:lnTo>
                    <a:lnTo>
                      <a:pt x="172720" y="1270"/>
                    </a:lnTo>
                    <a:cubicBezTo>
                      <a:pt x="76200" y="5080"/>
                      <a:pt x="0" y="83820"/>
                      <a:pt x="0" y="180340"/>
                    </a:cubicBezTo>
                    <a:cubicBezTo>
                      <a:pt x="0" y="276860"/>
                      <a:pt x="77470" y="355600"/>
                      <a:pt x="172720" y="359410"/>
                    </a:cubicBezTo>
                    <a:lnTo>
                      <a:pt x="172720" y="360680"/>
                    </a:lnTo>
                    <a:lnTo>
                      <a:pt x="1035596" y="360680"/>
                    </a:lnTo>
                    <a:cubicBezTo>
                      <a:pt x="1134656" y="360680"/>
                      <a:pt x="1215936" y="279400"/>
                      <a:pt x="1215936" y="180340"/>
                    </a:cubicBezTo>
                    <a:close/>
                  </a:path>
                </a:pathLst>
              </a:custGeom>
              <a:solidFill>
                <a:srgbClr val="86EAE9">
                  <a:alpha val="89804"/>
                </a:srgbClr>
              </a:solidFill>
            </p:spPr>
          </p:sp>
        </p:grpSp>
        <p:sp>
          <p:nvSpPr>
            <p:cNvPr id="25" name="TextBox 25"/>
            <p:cNvSpPr txBox="1"/>
            <p:nvPr/>
          </p:nvSpPr>
          <p:spPr>
            <a:xfrm>
              <a:off x="1475691" y="11829142"/>
              <a:ext cx="1546983" cy="13049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8398"/>
                </a:lnSpc>
              </a:pPr>
              <a:r>
                <a:rPr lang="en-US" sz="6998" spc="699">
                  <a:solidFill>
                    <a:srgbClr val="365B6D"/>
                  </a:solidFill>
                  <a:latin typeface="Sergio Trendy"/>
                  <a:ea typeface="Sergio Trendy"/>
                  <a:cs typeface="Sergio Trendy"/>
                  <a:sym typeface="Sergio Trendy"/>
                </a:rPr>
                <a:t>3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17555" y="9106752"/>
              <a:ext cx="3279166" cy="14668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4500"/>
                </a:lnSpc>
              </a:pPr>
              <a:r>
                <a:rPr lang="en-US" sz="3000" b="1">
                  <a:solidFill>
                    <a:srgbClr val="191919"/>
                  </a:solidFill>
                  <a:latin typeface="Aileron Bold"/>
                  <a:ea typeface="Aileron Bold"/>
                  <a:cs typeface="Aileron Bold"/>
                  <a:sym typeface="Aileron Bold"/>
                </a:rPr>
                <a:t>Présentation de la base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4038590" y="-4135550"/>
            <a:ext cx="3381440" cy="9757001"/>
            <a:chOff x="0" y="0"/>
            <a:chExt cx="4508587" cy="13009335"/>
          </a:xfrm>
        </p:grpSpPr>
        <p:grpSp>
          <p:nvGrpSpPr>
            <p:cNvPr id="28" name="Group 28"/>
            <p:cNvGrpSpPr/>
            <p:nvPr/>
          </p:nvGrpSpPr>
          <p:grpSpPr>
            <a:xfrm rot="-5400000">
              <a:off x="-4250374" y="4250374"/>
              <a:ext cx="13009335" cy="4508587"/>
              <a:chOff x="0" y="0"/>
              <a:chExt cx="1172650" cy="406400"/>
            </a:xfrm>
          </p:grpSpPr>
          <p:sp>
            <p:nvSpPr>
              <p:cNvPr id="29" name="Freeform 29"/>
              <p:cNvSpPr/>
              <p:nvPr/>
            </p:nvSpPr>
            <p:spPr>
              <a:xfrm>
                <a:off x="17780" y="22860"/>
                <a:ext cx="1147250" cy="360680"/>
              </a:xfrm>
              <a:custGeom>
                <a:avLst/>
                <a:gdLst/>
                <a:ahLst/>
                <a:cxnLst/>
                <a:rect l="l" t="t" r="r" b="b"/>
                <a:pathLst>
                  <a:path w="1147250" h="360680">
                    <a:moveTo>
                      <a:pt x="1147250" y="180340"/>
                    </a:moveTo>
                    <a:cubicBezTo>
                      <a:pt x="1147250" y="81280"/>
                      <a:pt x="1067240" y="0"/>
                      <a:pt x="966910" y="0"/>
                    </a:cubicBezTo>
                    <a:lnTo>
                      <a:pt x="172720" y="0"/>
                    </a:lnTo>
                    <a:lnTo>
                      <a:pt x="172720" y="1270"/>
                    </a:lnTo>
                    <a:cubicBezTo>
                      <a:pt x="76200" y="5080"/>
                      <a:pt x="0" y="83820"/>
                      <a:pt x="0" y="180340"/>
                    </a:cubicBezTo>
                    <a:cubicBezTo>
                      <a:pt x="0" y="276860"/>
                      <a:pt x="77470" y="355600"/>
                      <a:pt x="172720" y="359410"/>
                    </a:cubicBezTo>
                    <a:lnTo>
                      <a:pt x="172720" y="360680"/>
                    </a:lnTo>
                    <a:lnTo>
                      <a:pt x="966910" y="360680"/>
                    </a:lnTo>
                    <a:cubicBezTo>
                      <a:pt x="1065970" y="360680"/>
                      <a:pt x="1147250" y="279400"/>
                      <a:pt x="1147250" y="180340"/>
                    </a:cubicBezTo>
                    <a:close/>
                  </a:path>
                </a:pathLst>
              </a:custGeom>
              <a:solidFill>
                <a:srgbClr val="62DDD6">
                  <a:alpha val="94902"/>
                </a:srgbClr>
              </a:solidFill>
            </p:spPr>
          </p:sp>
        </p:grpSp>
        <p:sp>
          <p:nvSpPr>
            <p:cNvPr id="30" name="TextBox 30"/>
            <p:cNvSpPr txBox="1"/>
            <p:nvPr/>
          </p:nvSpPr>
          <p:spPr>
            <a:xfrm>
              <a:off x="1539203" y="11067142"/>
              <a:ext cx="1546983" cy="13049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8398"/>
                </a:lnSpc>
              </a:pPr>
              <a:r>
                <a:rPr lang="en-US" sz="6998" spc="699">
                  <a:solidFill>
                    <a:srgbClr val="365B6D"/>
                  </a:solidFill>
                  <a:latin typeface="Sergio Trendy"/>
                  <a:ea typeface="Sergio Trendy"/>
                  <a:cs typeface="Sergio Trendy"/>
                  <a:sym typeface="Sergio Trendy"/>
                </a:rPr>
                <a:t>2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73112" y="8344752"/>
              <a:ext cx="3279166" cy="14668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4500"/>
                </a:lnSpc>
              </a:pPr>
              <a:r>
                <a:rPr lang="en-US" sz="3000" b="1">
                  <a:solidFill>
                    <a:srgbClr val="191919"/>
                  </a:solidFill>
                  <a:latin typeface="Aileron Bold"/>
                  <a:ea typeface="Aileron Bold"/>
                  <a:cs typeface="Aileron Bold"/>
                  <a:sym typeface="Aileron Bold"/>
                </a:rPr>
                <a:t>Cadre conceptuel</a:t>
              </a:r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7422164" y="5448576"/>
            <a:ext cx="3381440" cy="9757001"/>
            <a:chOff x="0" y="0"/>
            <a:chExt cx="4508587" cy="13009335"/>
          </a:xfrm>
        </p:grpSpPr>
        <p:grpSp>
          <p:nvGrpSpPr>
            <p:cNvPr id="33" name="Group 33"/>
            <p:cNvGrpSpPr/>
            <p:nvPr/>
          </p:nvGrpSpPr>
          <p:grpSpPr>
            <a:xfrm rot="5400000">
              <a:off x="-4250374" y="4250374"/>
              <a:ext cx="13009335" cy="4508587"/>
              <a:chOff x="0" y="0"/>
              <a:chExt cx="1172650" cy="406400"/>
            </a:xfrm>
          </p:grpSpPr>
          <p:sp>
            <p:nvSpPr>
              <p:cNvPr id="34" name="Freeform 34"/>
              <p:cNvSpPr/>
              <p:nvPr/>
            </p:nvSpPr>
            <p:spPr>
              <a:xfrm>
                <a:off x="17780" y="22860"/>
                <a:ext cx="1147250" cy="360680"/>
              </a:xfrm>
              <a:custGeom>
                <a:avLst/>
                <a:gdLst/>
                <a:ahLst/>
                <a:cxnLst/>
                <a:rect l="l" t="t" r="r" b="b"/>
                <a:pathLst>
                  <a:path w="1147250" h="360680">
                    <a:moveTo>
                      <a:pt x="1147250" y="180340"/>
                    </a:moveTo>
                    <a:cubicBezTo>
                      <a:pt x="1147250" y="81280"/>
                      <a:pt x="1067240" y="0"/>
                      <a:pt x="966910" y="0"/>
                    </a:cubicBezTo>
                    <a:lnTo>
                      <a:pt x="172720" y="0"/>
                    </a:lnTo>
                    <a:lnTo>
                      <a:pt x="172720" y="1270"/>
                    </a:lnTo>
                    <a:cubicBezTo>
                      <a:pt x="76200" y="5080"/>
                      <a:pt x="0" y="83820"/>
                      <a:pt x="0" y="180340"/>
                    </a:cubicBezTo>
                    <a:cubicBezTo>
                      <a:pt x="0" y="276860"/>
                      <a:pt x="77470" y="355600"/>
                      <a:pt x="172720" y="359410"/>
                    </a:cubicBezTo>
                    <a:lnTo>
                      <a:pt x="172720" y="360680"/>
                    </a:lnTo>
                    <a:lnTo>
                      <a:pt x="966910" y="360680"/>
                    </a:lnTo>
                    <a:cubicBezTo>
                      <a:pt x="1065970" y="360680"/>
                      <a:pt x="1147250" y="279400"/>
                      <a:pt x="1147250" y="180340"/>
                    </a:cubicBezTo>
                    <a:close/>
                  </a:path>
                </a:pathLst>
              </a:custGeom>
              <a:solidFill>
                <a:srgbClr val="41C1BA">
                  <a:alpha val="94902"/>
                </a:srgbClr>
              </a:solidFill>
            </p:spPr>
          </p:sp>
        </p:grpSp>
        <p:sp>
          <p:nvSpPr>
            <p:cNvPr id="35" name="TextBox 35"/>
            <p:cNvSpPr txBox="1"/>
            <p:nvPr/>
          </p:nvSpPr>
          <p:spPr>
            <a:xfrm rot="-10800000">
              <a:off x="604469" y="2798431"/>
              <a:ext cx="3279166" cy="73864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4318"/>
                </a:lnSpc>
              </a:pPr>
              <a:endParaRPr/>
            </a:p>
          </p:txBody>
        </p:sp>
        <p:sp>
          <p:nvSpPr>
            <p:cNvPr id="36" name="TextBox 36"/>
            <p:cNvSpPr txBox="1"/>
            <p:nvPr/>
          </p:nvSpPr>
          <p:spPr>
            <a:xfrm rot="-10800000">
              <a:off x="604469" y="2145525"/>
              <a:ext cx="3279166" cy="51145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14"/>
                </a:lnSpc>
              </a:pPr>
              <a:endParaRPr/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1573279" y="624919"/>
              <a:ext cx="1546983" cy="13049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8398"/>
                </a:lnSpc>
              </a:pPr>
              <a:r>
                <a:rPr lang="en-US" sz="6998" spc="699">
                  <a:solidFill>
                    <a:srgbClr val="365B6D"/>
                  </a:solidFill>
                  <a:latin typeface="Sergio Trendy"/>
                  <a:ea typeface="Sergio Trendy"/>
                  <a:cs typeface="Sergio Trendy"/>
                  <a:sym typeface="Sergio Trendy"/>
                </a:rPr>
                <a:t>8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673100" y="3127502"/>
              <a:ext cx="3279166" cy="7048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4500"/>
                </a:lnSpc>
              </a:pPr>
              <a:r>
                <a:rPr lang="en-US" sz="3000" b="1">
                  <a:solidFill>
                    <a:srgbClr val="191919"/>
                  </a:solidFill>
                  <a:latin typeface="Aileron Bold"/>
                  <a:ea typeface="Aileron Bold"/>
                  <a:cs typeface="Aileron Bold"/>
                  <a:sym typeface="Aileron Bold"/>
                </a:rPr>
                <a:t>Prévisions</a:t>
              </a:r>
            </a:p>
          </p:txBody>
        </p:sp>
      </p:grpSp>
      <p:grpSp>
        <p:nvGrpSpPr>
          <p:cNvPr id="39" name="Group 39"/>
          <p:cNvGrpSpPr/>
          <p:nvPr/>
        </p:nvGrpSpPr>
        <p:grpSpPr>
          <a:xfrm>
            <a:off x="4040724" y="5448576"/>
            <a:ext cx="3381440" cy="10328501"/>
            <a:chOff x="0" y="0"/>
            <a:chExt cx="4508587" cy="13771335"/>
          </a:xfrm>
        </p:grpSpPr>
        <p:grpSp>
          <p:nvGrpSpPr>
            <p:cNvPr id="40" name="Group 40"/>
            <p:cNvGrpSpPr/>
            <p:nvPr/>
          </p:nvGrpSpPr>
          <p:grpSpPr>
            <a:xfrm rot="5400000">
              <a:off x="-4631374" y="4631374"/>
              <a:ext cx="13771335" cy="4508587"/>
              <a:chOff x="0" y="0"/>
              <a:chExt cx="1241336" cy="406400"/>
            </a:xfrm>
          </p:grpSpPr>
          <p:sp>
            <p:nvSpPr>
              <p:cNvPr id="41" name="Freeform 41"/>
              <p:cNvSpPr/>
              <p:nvPr/>
            </p:nvSpPr>
            <p:spPr>
              <a:xfrm>
                <a:off x="17780" y="22860"/>
                <a:ext cx="1215936" cy="360680"/>
              </a:xfrm>
              <a:custGeom>
                <a:avLst/>
                <a:gdLst/>
                <a:ahLst/>
                <a:cxnLst/>
                <a:rect l="l" t="t" r="r" b="b"/>
                <a:pathLst>
                  <a:path w="1215936" h="360680">
                    <a:moveTo>
                      <a:pt x="1215936" y="180340"/>
                    </a:moveTo>
                    <a:cubicBezTo>
                      <a:pt x="1215936" y="81280"/>
                      <a:pt x="1135926" y="0"/>
                      <a:pt x="1035596" y="0"/>
                    </a:cubicBezTo>
                    <a:lnTo>
                      <a:pt x="172720" y="0"/>
                    </a:lnTo>
                    <a:lnTo>
                      <a:pt x="172720" y="1270"/>
                    </a:lnTo>
                    <a:cubicBezTo>
                      <a:pt x="76200" y="5080"/>
                      <a:pt x="0" y="83820"/>
                      <a:pt x="0" y="180340"/>
                    </a:cubicBezTo>
                    <a:cubicBezTo>
                      <a:pt x="0" y="276860"/>
                      <a:pt x="77470" y="355600"/>
                      <a:pt x="172720" y="359410"/>
                    </a:cubicBezTo>
                    <a:lnTo>
                      <a:pt x="172720" y="360680"/>
                    </a:lnTo>
                    <a:lnTo>
                      <a:pt x="1035596" y="360680"/>
                    </a:lnTo>
                    <a:cubicBezTo>
                      <a:pt x="1134656" y="360680"/>
                      <a:pt x="1215936" y="279400"/>
                      <a:pt x="1215936" y="180340"/>
                    </a:cubicBezTo>
                    <a:close/>
                  </a:path>
                </a:pathLst>
              </a:custGeom>
              <a:solidFill>
                <a:srgbClr val="41C1BA">
                  <a:alpha val="89804"/>
                </a:srgbClr>
              </a:solidFill>
            </p:spPr>
          </p:sp>
        </p:grpSp>
        <p:sp>
          <p:nvSpPr>
            <p:cNvPr id="42" name="TextBox 42"/>
            <p:cNvSpPr txBox="1"/>
            <p:nvPr/>
          </p:nvSpPr>
          <p:spPr>
            <a:xfrm>
              <a:off x="1522290" y="624919"/>
              <a:ext cx="1546983" cy="13049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8398"/>
                </a:lnSpc>
              </a:pPr>
              <a:r>
                <a:rPr lang="en-US" sz="6998" spc="699">
                  <a:solidFill>
                    <a:srgbClr val="365B6D"/>
                  </a:solidFill>
                  <a:latin typeface="Sergio Trendy"/>
                  <a:ea typeface="Sergio Trendy"/>
                  <a:cs typeface="Sergio Trendy"/>
                  <a:sym typeface="Sergio Trendy"/>
                </a:rPr>
                <a:t>7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606755" y="1941181"/>
              <a:ext cx="3279166" cy="29908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4500"/>
                </a:lnSpc>
              </a:pPr>
              <a:r>
                <a:rPr lang="en-US" sz="3000" b="1">
                  <a:solidFill>
                    <a:srgbClr val="191919"/>
                  </a:solidFill>
                  <a:latin typeface="Aileron Bold"/>
                  <a:ea typeface="Aileron Bold"/>
                  <a:cs typeface="Aileron Bold"/>
                  <a:sym typeface="Aileron Bold"/>
                </a:rPr>
                <a:t>Analyse de la série à partir de ses composantes</a:t>
              </a:r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659284" y="5448576"/>
            <a:ext cx="3381440" cy="10900001"/>
            <a:chOff x="0" y="0"/>
            <a:chExt cx="4508587" cy="14533335"/>
          </a:xfrm>
        </p:grpSpPr>
        <p:grpSp>
          <p:nvGrpSpPr>
            <p:cNvPr id="45" name="Group 45"/>
            <p:cNvGrpSpPr/>
            <p:nvPr/>
          </p:nvGrpSpPr>
          <p:grpSpPr>
            <a:xfrm rot="5400000">
              <a:off x="-5012374" y="5012374"/>
              <a:ext cx="14533335" cy="4508587"/>
              <a:chOff x="0" y="0"/>
              <a:chExt cx="1310022" cy="406400"/>
            </a:xfrm>
          </p:grpSpPr>
          <p:sp>
            <p:nvSpPr>
              <p:cNvPr id="46" name="Freeform 46"/>
              <p:cNvSpPr/>
              <p:nvPr/>
            </p:nvSpPr>
            <p:spPr>
              <a:xfrm>
                <a:off x="17780" y="22860"/>
                <a:ext cx="1284622" cy="360680"/>
              </a:xfrm>
              <a:custGeom>
                <a:avLst/>
                <a:gdLst/>
                <a:ahLst/>
                <a:cxnLst/>
                <a:rect l="l" t="t" r="r" b="b"/>
                <a:pathLst>
                  <a:path w="1284622" h="360680">
                    <a:moveTo>
                      <a:pt x="1284622" y="180340"/>
                    </a:moveTo>
                    <a:cubicBezTo>
                      <a:pt x="1284622" y="81280"/>
                      <a:pt x="1204612" y="0"/>
                      <a:pt x="1104282" y="0"/>
                    </a:cubicBezTo>
                    <a:lnTo>
                      <a:pt x="172720" y="0"/>
                    </a:lnTo>
                    <a:lnTo>
                      <a:pt x="172720" y="1270"/>
                    </a:lnTo>
                    <a:cubicBezTo>
                      <a:pt x="76200" y="5080"/>
                      <a:pt x="0" y="83820"/>
                      <a:pt x="0" y="180340"/>
                    </a:cubicBezTo>
                    <a:cubicBezTo>
                      <a:pt x="0" y="276860"/>
                      <a:pt x="77470" y="355600"/>
                      <a:pt x="172720" y="359410"/>
                    </a:cubicBezTo>
                    <a:lnTo>
                      <a:pt x="172720" y="360680"/>
                    </a:lnTo>
                    <a:lnTo>
                      <a:pt x="1104282" y="360680"/>
                    </a:lnTo>
                    <a:cubicBezTo>
                      <a:pt x="1203342" y="360680"/>
                      <a:pt x="1284622" y="279400"/>
                      <a:pt x="1284622" y="180340"/>
                    </a:cubicBezTo>
                    <a:close/>
                  </a:path>
                </a:pathLst>
              </a:custGeom>
              <a:solidFill>
                <a:srgbClr val="59DBC3">
                  <a:alpha val="84706"/>
                </a:srgbClr>
              </a:solidFill>
            </p:spPr>
          </p:sp>
        </p:grpSp>
        <p:sp>
          <p:nvSpPr>
            <p:cNvPr id="47" name="TextBox 47"/>
            <p:cNvSpPr txBox="1"/>
            <p:nvPr/>
          </p:nvSpPr>
          <p:spPr>
            <a:xfrm>
              <a:off x="1480802" y="624919"/>
              <a:ext cx="1546983" cy="13049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8398"/>
                </a:lnSpc>
              </a:pPr>
              <a:r>
                <a:rPr lang="en-US" sz="6998" spc="699">
                  <a:solidFill>
                    <a:srgbClr val="365B6D"/>
                  </a:solidFill>
                  <a:latin typeface="Sergio Trendy"/>
                  <a:ea typeface="Sergio Trendy"/>
                  <a:cs typeface="Sergio Trendy"/>
                  <a:sym typeface="Sergio Trendy"/>
                </a:rPr>
                <a:t>6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670267" y="2703181"/>
              <a:ext cx="3279166" cy="14668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4500"/>
                </a:lnSpc>
              </a:pPr>
              <a:r>
                <a:rPr lang="en-US" sz="3000" b="1">
                  <a:solidFill>
                    <a:srgbClr val="191919"/>
                  </a:solidFill>
                  <a:latin typeface="Aileron Bold"/>
                  <a:ea typeface="Aileron Bold"/>
                  <a:cs typeface="Aileron Bold"/>
                  <a:sym typeface="Aileron Bold"/>
                </a:rPr>
                <a:t>Choix du modèle</a:t>
              </a:r>
            </a:p>
          </p:txBody>
        </p:sp>
      </p:grpSp>
      <p:grpSp>
        <p:nvGrpSpPr>
          <p:cNvPr id="49" name="Group 49"/>
          <p:cNvGrpSpPr/>
          <p:nvPr/>
        </p:nvGrpSpPr>
        <p:grpSpPr>
          <a:xfrm>
            <a:off x="14182910" y="5448576"/>
            <a:ext cx="3381440" cy="11401436"/>
            <a:chOff x="0" y="0"/>
            <a:chExt cx="4508587" cy="15201914"/>
          </a:xfrm>
        </p:grpSpPr>
        <p:grpSp>
          <p:nvGrpSpPr>
            <p:cNvPr id="50" name="Group 50"/>
            <p:cNvGrpSpPr/>
            <p:nvPr/>
          </p:nvGrpSpPr>
          <p:grpSpPr>
            <a:xfrm rot="5400000">
              <a:off x="-5346664" y="5346664"/>
              <a:ext cx="15201914" cy="4508587"/>
              <a:chOff x="0" y="0"/>
              <a:chExt cx="1370287" cy="406400"/>
            </a:xfrm>
          </p:grpSpPr>
          <p:sp>
            <p:nvSpPr>
              <p:cNvPr id="51" name="Freeform 51"/>
              <p:cNvSpPr/>
              <p:nvPr/>
            </p:nvSpPr>
            <p:spPr>
              <a:xfrm>
                <a:off x="17780" y="22860"/>
                <a:ext cx="1344887" cy="360680"/>
              </a:xfrm>
              <a:custGeom>
                <a:avLst/>
                <a:gdLst/>
                <a:ahLst/>
                <a:cxnLst/>
                <a:rect l="l" t="t" r="r" b="b"/>
                <a:pathLst>
                  <a:path w="1344887" h="360680">
                    <a:moveTo>
                      <a:pt x="1344887" y="180340"/>
                    </a:moveTo>
                    <a:cubicBezTo>
                      <a:pt x="1344887" y="81280"/>
                      <a:pt x="1264877" y="0"/>
                      <a:pt x="1164547" y="0"/>
                    </a:cubicBezTo>
                    <a:lnTo>
                      <a:pt x="172720" y="0"/>
                    </a:lnTo>
                    <a:lnTo>
                      <a:pt x="172720" y="1270"/>
                    </a:lnTo>
                    <a:cubicBezTo>
                      <a:pt x="76200" y="5080"/>
                      <a:pt x="0" y="83820"/>
                      <a:pt x="0" y="180340"/>
                    </a:cubicBezTo>
                    <a:cubicBezTo>
                      <a:pt x="0" y="276860"/>
                      <a:pt x="77470" y="355600"/>
                      <a:pt x="172720" y="359410"/>
                    </a:cubicBezTo>
                    <a:lnTo>
                      <a:pt x="172720" y="360680"/>
                    </a:lnTo>
                    <a:lnTo>
                      <a:pt x="1164547" y="360680"/>
                    </a:lnTo>
                    <a:cubicBezTo>
                      <a:pt x="1263607" y="360680"/>
                      <a:pt x="1344887" y="279400"/>
                      <a:pt x="1344887" y="180340"/>
                    </a:cubicBezTo>
                    <a:close/>
                  </a:path>
                </a:pathLst>
              </a:custGeom>
              <a:solidFill>
                <a:srgbClr val="8DE8E8">
                  <a:alpha val="80000"/>
                </a:srgbClr>
              </a:solidFill>
            </p:spPr>
          </p:sp>
        </p:grpSp>
        <p:sp>
          <p:nvSpPr>
            <p:cNvPr id="52" name="TextBox 52"/>
            <p:cNvSpPr txBox="1"/>
            <p:nvPr/>
          </p:nvSpPr>
          <p:spPr>
            <a:xfrm rot="-10800000">
              <a:off x="506101" y="2798431"/>
              <a:ext cx="3279166" cy="73864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4318"/>
                </a:lnSpc>
              </a:pPr>
              <a:endParaRPr/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1445547" y="624919"/>
              <a:ext cx="1546983" cy="13049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8398"/>
                </a:lnSpc>
              </a:pPr>
              <a:r>
                <a:rPr lang="en-US" sz="6998" spc="699">
                  <a:solidFill>
                    <a:srgbClr val="365B6D"/>
                  </a:solidFill>
                  <a:latin typeface="Sergio Trendy"/>
                  <a:ea typeface="Sergio Trendy"/>
                  <a:cs typeface="Sergio Trendy"/>
                  <a:sym typeface="Sergio Trendy"/>
                </a:rPr>
                <a:t>10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619820" y="3084181"/>
              <a:ext cx="3279166" cy="7048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4500"/>
                </a:lnSpc>
              </a:pPr>
              <a:r>
                <a:rPr lang="en-US" sz="3000" b="1">
                  <a:solidFill>
                    <a:srgbClr val="191919"/>
                  </a:solidFill>
                  <a:latin typeface="Aileron Bold"/>
                  <a:ea typeface="Aileron Bold"/>
                  <a:cs typeface="Aileron Bold"/>
                  <a:sym typeface="Aileron Bold"/>
                </a:rPr>
                <a:t>Conclusions</a:t>
              </a:r>
            </a:p>
          </p:txBody>
        </p:sp>
      </p:grpSp>
    </p:spTree>
  </p:cSld>
  <p:clrMapOvr>
    <a:masterClrMapping/>
  </p:clrMapOvr>
  <p:transition>
    <p:push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1471508">
            <a:off x="7442248" y="-3517885"/>
            <a:ext cx="2160993" cy="11665743"/>
            <a:chOff x="0" y="0"/>
            <a:chExt cx="597206" cy="322391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597206" cy="3223913"/>
            </a:xfrm>
            <a:custGeom>
              <a:avLst/>
              <a:gdLst/>
              <a:ahLst/>
              <a:cxnLst/>
              <a:rect l="l" t="t" r="r" b="b"/>
              <a:pathLst>
                <a:path w="597206" h="3223913">
                  <a:moveTo>
                    <a:pt x="0" y="0"/>
                  </a:moveTo>
                  <a:lnTo>
                    <a:pt x="597206" y="0"/>
                  </a:lnTo>
                  <a:lnTo>
                    <a:pt x="597206" y="3223913"/>
                  </a:lnTo>
                  <a:lnTo>
                    <a:pt x="0" y="3223913"/>
                  </a:lnTo>
                  <a:close/>
                </a:path>
              </a:pathLst>
            </a:custGeom>
            <a:solidFill>
              <a:srgbClr val="D5DADA">
                <a:alpha val="23922"/>
              </a:srgbClr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597206" cy="3262013"/>
            </a:xfrm>
            <a:prstGeom prst="rect">
              <a:avLst/>
            </a:prstGeom>
          </p:spPr>
          <p:txBody>
            <a:bodyPr lIns="35873" tIns="35873" rIns="35873" bIns="35873" rtlCol="0" anchor="ctr"/>
            <a:lstStyle/>
            <a:p>
              <a:pPr algn="ctr">
                <a:lnSpc>
                  <a:spcPts val="1384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 rot="1471508">
            <a:off x="7842796" y="1744300"/>
            <a:ext cx="2160993" cy="11212989"/>
            <a:chOff x="0" y="0"/>
            <a:chExt cx="597206" cy="3098792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597206" cy="3098791"/>
            </a:xfrm>
            <a:custGeom>
              <a:avLst/>
              <a:gdLst/>
              <a:ahLst/>
              <a:cxnLst/>
              <a:rect l="l" t="t" r="r" b="b"/>
              <a:pathLst>
                <a:path w="597206" h="3098791">
                  <a:moveTo>
                    <a:pt x="0" y="0"/>
                  </a:moveTo>
                  <a:lnTo>
                    <a:pt x="597206" y="0"/>
                  </a:lnTo>
                  <a:lnTo>
                    <a:pt x="597206" y="3098791"/>
                  </a:lnTo>
                  <a:lnTo>
                    <a:pt x="0" y="3098791"/>
                  </a:lnTo>
                  <a:close/>
                </a:path>
              </a:pathLst>
            </a:custGeom>
            <a:solidFill>
              <a:srgbClr val="D5DADA">
                <a:alpha val="23922"/>
              </a:srgbClr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597206" cy="3136892"/>
            </a:xfrm>
            <a:prstGeom prst="rect">
              <a:avLst/>
            </a:prstGeom>
          </p:spPr>
          <p:txBody>
            <a:bodyPr lIns="35873" tIns="35873" rIns="35873" bIns="35873" rtlCol="0" anchor="ctr"/>
            <a:lstStyle/>
            <a:p>
              <a:pPr algn="ctr">
                <a:lnSpc>
                  <a:spcPts val="1384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1015140" y="5027944"/>
            <a:ext cx="10518155" cy="10518113"/>
            <a:chOff x="0" y="0"/>
            <a:chExt cx="6350000" cy="6349975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6350000" cy="6349975"/>
            </a:xfrm>
            <a:custGeom>
              <a:avLst/>
              <a:gdLst/>
              <a:ahLst/>
              <a:cxnLst/>
              <a:rect l="l" t="t" r="r" b="b"/>
              <a:pathLst>
                <a:path w="6350000" h="6349975">
                  <a:moveTo>
                    <a:pt x="6350000" y="3175025"/>
                  </a:moveTo>
                  <a:cubicBezTo>
                    <a:pt x="6350000" y="4928451"/>
                    <a:pt x="4928476" y="6349975"/>
                    <a:pt x="3175000" y="6349975"/>
                  </a:cubicBezTo>
                  <a:cubicBezTo>
                    <a:pt x="1421498" y="6349975"/>
                    <a:pt x="0" y="4928451"/>
                    <a:pt x="0" y="3175025"/>
                  </a:cubicBezTo>
                  <a:cubicBezTo>
                    <a:pt x="0" y="1421511"/>
                    <a:pt x="1421498" y="0"/>
                    <a:pt x="3175000" y="0"/>
                  </a:cubicBezTo>
                  <a:cubicBezTo>
                    <a:pt x="4928502" y="0"/>
                    <a:pt x="6350000" y="1421511"/>
                    <a:pt x="6350000" y="3175025"/>
                  </a:cubicBezTo>
                  <a:close/>
                </a:path>
              </a:pathLst>
            </a:custGeom>
            <a:blipFill>
              <a:blip r:embed="rId2"/>
              <a:stretch>
                <a:fillRect l="-25471" r="-25471"/>
              </a:stretch>
            </a:blipFill>
          </p:spPr>
        </p:sp>
      </p:grpSp>
      <p:grpSp>
        <p:nvGrpSpPr>
          <p:cNvPr id="10" name="Group 10"/>
          <p:cNvGrpSpPr/>
          <p:nvPr/>
        </p:nvGrpSpPr>
        <p:grpSpPr>
          <a:xfrm>
            <a:off x="11800842" y="5813625"/>
            <a:ext cx="8946750" cy="8946750"/>
            <a:chOff x="0" y="0"/>
            <a:chExt cx="812800" cy="8128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04775" cap="sq">
              <a:solidFill>
                <a:srgbClr val="FFFFFF"/>
              </a:solidFill>
              <a:prstDash val="solid"/>
              <a:miter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35873" tIns="35873" rIns="35873" bIns="35873" rtlCol="0" anchor="ctr"/>
            <a:lstStyle/>
            <a:p>
              <a:pPr algn="ctr">
                <a:lnSpc>
                  <a:spcPts val="1384"/>
                </a:lnSpc>
              </a:pPr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-4524129" y="-3792316"/>
            <a:ext cx="10518155" cy="10518113"/>
            <a:chOff x="0" y="0"/>
            <a:chExt cx="6350000" cy="6349975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6350000" cy="6349975"/>
            </a:xfrm>
            <a:custGeom>
              <a:avLst/>
              <a:gdLst/>
              <a:ahLst/>
              <a:cxnLst/>
              <a:rect l="l" t="t" r="r" b="b"/>
              <a:pathLst>
                <a:path w="6350000" h="6349975">
                  <a:moveTo>
                    <a:pt x="6350000" y="3175025"/>
                  </a:moveTo>
                  <a:cubicBezTo>
                    <a:pt x="6350000" y="4928451"/>
                    <a:pt x="4928476" y="6349975"/>
                    <a:pt x="3175000" y="6349975"/>
                  </a:cubicBezTo>
                  <a:cubicBezTo>
                    <a:pt x="1421498" y="6349975"/>
                    <a:pt x="0" y="4928451"/>
                    <a:pt x="0" y="3175025"/>
                  </a:cubicBezTo>
                  <a:cubicBezTo>
                    <a:pt x="0" y="1421511"/>
                    <a:pt x="1421498" y="0"/>
                    <a:pt x="3175000" y="0"/>
                  </a:cubicBezTo>
                  <a:cubicBezTo>
                    <a:pt x="4928502" y="0"/>
                    <a:pt x="6350000" y="1421511"/>
                    <a:pt x="6350000" y="3175025"/>
                  </a:cubicBezTo>
                  <a:close/>
                </a:path>
              </a:pathLst>
            </a:custGeom>
            <a:blipFill>
              <a:blip r:embed="rId3"/>
              <a:stretch>
                <a:fillRect l="-25471" r="-25471"/>
              </a:stretch>
            </a:blipFill>
          </p:spPr>
        </p:sp>
      </p:grpSp>
      <p:grpSp>
        <p:nvGrpSpPr>
          <p:cNvPr id="15" name="Group 15"/>
          <p:cNvGrpSpPr/>
          <p:nvPr/>
        </p:nvGrpSpPr>
        <p:grpSpPr>
          <a:xfrm>
            <a:off x="-3738427" y="-3006635"/>
            <a:ext cx="8946750" cy="8946750"/>
            <a:chOff x="0" y="0"/>
            <a:chExt cx="812800" cy="81280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04775" cap="sq">
              <a:solidFill>
                <a:srgbClr val="FFFFFF"/>
              </a:solidFill>
              <a:prstDash val="solid"/>
              <a:miter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35873" tIns="35873" rIns="35873" bIns="35873" rtlCol="0" anchor="ctr"/>
            <a:lstStyle/>
            <a:p>
              <a:pPr algn="ctr">
                <a:lnSpc>
                  <a:spcPts val="1384"/>
                </a:lnSpc>
              </a:pPr>
              <a:endParaRPr/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4872773" y="3729254"/>
            <a:ext cx="10153157" cy="1734271"/>
            <a:chOff x="0" y="0"/>
            <a:chExt cx="1552428" cy="265172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552428" cy="265172"/>
            </a:xfrm>
            <a:custGeom>
              <a:avLst/>
              <a:gdLst/>
              <a:ahLst/>
              <a:cxnLst/>
              <a:rect l="l" t="t" r="r" b="b"/>
              <a:pathLst>
                <a:path w="1552428" h="265172">
                  <a:moveTo>
                    <a:pt x="12963" y="0"/>
                  </a:moveTo>
                  <a:lnTo>
                    <a:pt x="1539466" y="0"/>
                  </a:lnTo>
                  <a:cubicBezTo>
                    <a:pt x="1542904" y="0"/>
                    <a:pt x="1546201" y="1366"/>
                    <a:pt x="1548632" y="3797"/>
                  </a:cubicBezTo>
                  <a:cubicBezTo>
                    <a:pt x="1551063" y="6228"/>
                    <a:pt x="1552428" y="9525"/>
                    <a:pt x="1552428" y="12963"/>
                  </a:cubicBezTo>
                  <a:lnTo>
                    <a:pt x="1552428" y="252209"/>
                  </a:lnTo>
                  <a:cubicBezTo>
                    <a:pt x="1552428" y="255647"/>
                    <a:pt x="1551063" y="258944"/>
                    <a:pt x="1548632" y="261375"/>
                  </a:cubicBezTo>
                  <a:cubicBezTo>
                    <a:pt x="1546201" y="263806"/>
                    <a:pt x="1542904" y="265172"/>
                    <a:pt x="1539466" y="265172"/>
                  </a:cubicBezTo>
                  <a:lnTo>
                    <a:pt x="12963" y="265172"/>
                  </a:lnTo>
                  <a:cubicBezTo>
                    <a:pt x="9525" y="265172"/>
                    <a:pt x="6228" y="263806"/>
                    <a:pt x="3797" y="261375"/>
                  </a:cubicBezTo>
                  <a:cubicBezTo>
                    <a:pt x="1366" y="258944"/>
                    <a:pt x="0" y="255647"/>
                    <a:pt x="0" y="252209"/>
                  </a:cubicBezTo>
                  <a:lnTo>
                    <a:pt x="0" y="12963"/>
                  </a:lnTo>
                  <a:cubicBezTo>
                    <a:pt x="0" y="9525"/>
                    <a:pt x="1366" y="6228"/>
                    <a:pt x="3797" y="3797"/>
                  </a:cubicBezTo>
                  <a:cubicBezTo>
                    <a:pt x="6228" y="1366"/>
                    <a:pt x="9525" y="0"/>
                    <a:pt x="12963" y="0"/>
                  </a:cubicBezTo>
                  <a:close/>
                </a:path>
              </a:pathLst>
            </a:custGeom>
            <a:solidFill>
              <a:srgbClr val="FAFAFA"/>
            </a:solidFill>
            <a:ln w="28575" cap="sq">
              <a:solidFill>
                <a:srgbClr val="0097B2"/>
              </a:solidFill>
              <a:prstDash val="solid"/>
              <a:miter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0" y="-57150"/>
              <a:ext cx="1552428" cy="32232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  <a:endParaRPr/>
            </a:p>
          </p:txBody>
        </p:sp>
      </p:grpSp>
      <p:sp>
        <p:nvSpPr>
          <p:cNvPr id="21" name="TextBox 21"/>
          <p:cNvSpPr txBox="1"/>
          <p:nvPr/>
        </p:nvSpPr>
        <p:spPr>
          <a:xfrm>
            <a:off x="5994026" y="3760202"/>
            <a:ext cx="9031905" cy="10030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782"/>
              </a:lnSpc>
              <a:spcBef>
                <a:spcPct val="0"/>
              </a:spcBef>
            </a:pPr>
            <a:r>
              <a:rPr lang="en-US" sz="5558" b="1">
                <a:solidFill>
                  <a:srgbClr val="329A87"/>
                </a:solidFill>
                <a:latin typeface="Telegraf Bold"/>
                <a:ea typeface="Telegraf Bold"/>
                <a:cs typeface="Telegraf Bold"/>
                <a:sym typeface="Telegraf Bold"/>
              </a:rPr>
              <a:t>Contexte et justifications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5994026" y="4489057"/>
            <a:ext cx="6794376" cy="782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056"/>
              </a:lnSpc>
              <a:spcBef>
                <a:spcPct val="0"/>
              </a:spcBef>
            </a:pPr>
            <a:r>
              <a:rPr lang="en-US" sz="4326">
                <a:solidFill>
                  <a:srgbClr val="000000"/>
                </a:solidFill>
                <a:latin typeface="Telegraf"/>
                <a:ea typeface="Telegraf"/>
                <a:cs typeface="Telegraf"/>
                <a:sym typeface="Telegraf"/>
              </a:rPr>
              <a:t>Objectifs de l’étude</a:t>
            </a:r>
          </a:p>
        </p:txBody>
      </p:sp>
      <p:sp>
        <p:nvSpPr>
          <p:cNvPr id="23" name="Freeform 23"/>
          <p:cNvSpPr/>
          <p:nvPr/>
        </p:nvSpPr>
        <p:spPr>
          <a:xfrm>
            <a:off x="4067426" y="3633090"/>
            <a:ext cx="1926599" cy="1926599"/>
          </a:xfrm>
          <a:custGeom>
            <a:avLst/>
            <a:gdLst/>
            <a:ahLst/>
            <a:cxnLst/>
            <a:rect l="l" t="t" r="r" b="b"/>
            <a:pathLst>
              <a:path w="1926599" h="1926599">
                <a:moveTo>
                  <a:pt x="0" y="0"/>
                </a:moveTo>
                <a:lnTo>
                  <a:pt x="1926600" y="0"/>
                </a:lnTo>
                <a:lnTo>
                  <a:pt x="1926600" y="1926599"/>
                </a:lnTo>
                <a:lnTo>
                  <a:pt x="0" y="192659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46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grpSp>
        <p:nvGrpSpPr>
          <p:cNvPr id="24" name="Group 24"/>
          <p:cNvGrpSpPr/>
          <p:nvPr/>
        </p:nvGrpSpPr>
        <p:grpSpPr>
          <a:xfrm>
            <a:off x="4252211" y="3817875"/>
            <a:ext cx="1557029" cy="1557029"/>
            <a:chOff x="0" y="0"/>
            <a:chExt cx="812800" cy="812800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97B2"/>
            </a:solidFill>
            <a:ln cap="sq">
              <a:noFill/>
              <a:prstDash val="solid"/>
              <a:miter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  <a:endParaRPr/>
            </a:p>
          </p:txBody>
        </p:sp>
      </p:grpSp>
      <p:sp>
        <p:nvSpPr>
          <p:cNvPr id="27" name="TextBox 27"/>
          <p:cNvSpPr txBox="1"/>
          <p:nvPr/>
        </p:nvSpPr>
        <p:spPr>
          <a:xfrm>
            <a:off x="4357484" y="3784937"/>
            <a:ext cx="1346483" cy="13943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785"/>
              </a:lnSpc>
              <a:spcBef>
                <a:spcPct val="0"/>
              </a:spcBef>
            </a:pPr>
            <a:r>
              <a:rPr lang="en-US" sz="7703" b="1">
                <a:solidFill>
                  <a:srgbClr val="FFFFFF"/>
                </a:solidFill>
                <a:latin typeface="Telegraf Bold"/>
                <a:ea typeface="Telegraf Bold"/>
                <a:cs typeface="Telegraf Bold"/>
                <a:sym typeface="Telegraf Bold"/>
              </a:rPr>
              <a:t>1</a:t>
            </a:r>
          </a:p>
        </p:txBody>
      </p:sp>
    </p:spTree>
  </p:cSld>
  <p:clrMapOvr>
    <a:masterClrMapping/>
  </p:clrMapOvr>
  <p:transition spd="slow">
    <p:cover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9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028700" y="885825"/>
            <a:ext cx="7573238" cy="8565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594"/>
              </a:lnSpc>
              <a:spcBef>
                <a:spcPct val="0"/>
              </a:spcBef>
            </a:pPr>
            <a:r>
              <a:rPr lang="en-US" sz="4710" b="1">
                <a:solidFill>
                  <a:srgbClr val="000000"/>
                </a:solidFill>
                <a:latin typeface="Telegraf Bold"/>
                <a:ea typeface="Telegraf Bold"/>
                <a:cs typeface="Telegraf Bold"/>
                <a:sym typeface="Telegraf Bold"/>
              </a:rPr>
              <a:t>Contexte de l'étude</a:t>
            </a:r>
          </a:p>
        </p:txBody>
      </p:sp>
      <p:grpSp>
        <p:nvGrpSpPr>
          <p:cNvPr id="3" name="Group 3"/>
          <p:cNvGrpSpPr/>
          <p:nvPr/>
        </p:nvGrpSpPr>
        <p:grpSpPr>
          <a:xfrm rot="1471508">
            <a:off x="7442248" y="-3517885"/>
            <a:ext cx="2160993" cy="11665743"/>
            <a:chOff x="0" y="0"/>
            <a:chExt cx="597206" cy="3223913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597206" cy="3223913"/>
            </a:xfrm>
            <a:custGeom>
              <a:avLst/>
              <a:gdLst/>
              <a:ahLst/>
              <a:cxnLst/>
              <a:rect l="l" t="t" r="r" b="b"/>
              <a:pathLst>
                <a:path w="597206" h="3223913">
                  <a:moveTo>
                    <a:pt x="0" y="0"/>
                  </a:moveTo>
                  <a:lnTo>
                    <a:pt x="597206" y="0"/>
                  </a:lnTo>
                  <a:lnTo>
                    <a:pt x="597206" y="3223913"/>
                  </a:lnTo>
                  <a:lnTo>
                    <a:pt x="0" y="3223913"/>
                  </a:lnTo>
                  <a:close/>
                </a:path>
              </a:pathLst>
            </a:custGeom>
            <a:solidFill>
              <a:srgbClr val="D5DADA">
                <a:alpha val="23922"/>
              </a:srgbClr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597206" cy="3262013"/>
            </a:xfrm>
            <a:prstGeom prst="rect">
              <a:avLst/>
            </a:prstGeom>
          </p:spPr>
          <p:txBody>
            <a:bodyPr lIns="35873" tIns="35873" rIns="35873" bIns="35873" rtlCol="0" anchor="ctr"/>
            <a:lstStyle/>
            <a:p>
              <a:pPr algn="ctr">
                <a:lnSpc>
                  <a:spcPts val="1384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 rot="1471508">
            <a:off x="7842796" y="1744300"/>
            <a:ext cx="2160993" cy="11212989"/>
            <a:chOff x="0" y="0"/>
            <a:chExt cx="597206" cy="3098792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97206" cy="3098791"/>
            </a:xfrm>
            <a:custGeom>
              <a:avLst/>
              <a:gdLst/>
              <a:ahLst/>
              <a:cxnLst/>
              <a:rect l="l" t="t" r="r" b="b"/>
              <a:pathLst>
                <a:path w="597206" h="3098791">
                  <a:moveTo>
                    <a:pt x="0" y="0"/>
                  </a:moveTo>
                  <a:lnTo>
                    <a:pt x="597206" y="0"/>
                  </a:lnTo>
                  <a:lnTo>
                    <a:pt x="597206" y="3098791"/>
                  </a:lnTo>
                  <a:lnTo>
                    <a:pt x="0" y="3098791"/>
                  </a:lnTo>
                  <a:close/>
                </a:path>
              </a:pathLst>
            </a:custGeom>
            <a:solidFill>
              <a:srgbClr val="D5DADA">
                <a:alpha val="23922"/>
              </a:srgbClr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597206" cy="3136892"/>
            </a:xfrm>
            <a:prstGeom prst="rect">
              <a:avLst/>
            </a:prstGeom>
          </p:spPr>
          <p:txBody>
            <a:bodyPr lIns="35873" tIns="35873" rIns="35873" bIns="35873" rtlCol="0" anchor="ctr"/>
            <a:lstStyle/>
            <a:p>
              <a:pPr algn="ctr">
                <a:lnSpc>
                  <a:spcPts val="1384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9" name="Freeform 9"/>
          <p:cNvSpPr/>
          <p:nvPr/>
        </p:nvSpPr>
        <p:spPr>
          <a:xfrm>
            <a:off x="3387697" y="4551352"/>
            <a:ext cx="1105344" cy="1105344"/>
          </a:xfrm>
          <a:custGeom>
            <a:avLst/>
            <a:gdLst/>
            <a:ahLst/>
            <a:cxnLst/>
            <a:rect l="l" t="t" r="r" b="b"/>
            <a:pathLst>
              <a:path w="1105344" h="1105344">
                <a:moveTo>
                  <a:pt x="0" y="0"/>
                </a:moveTo>
                <a:lnTo>
                  <a:pt x="1105344" y="0"/>
                </a:lnTo>
                <a:lnTo>
                  <a:pt x="1105344" y="1105343"/>
                </a:lnTo>
                <a:lnTo>
                  <a:pt x="0" y="110534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8128514" y="4464409"/>
            <a:ext cx="2172022" cy="2172022"/>
          </a:xfrm>
          <a:custGeom>
            <a:avLst/>
            <a:gdLst/>
            <a:ahLst/>
            <a:cxnLst/>
            <a:rect l="l" t="t" r="r" b="b"/>
            <a:pathLst>
              <a:path w="2172022" h="2172022">
                <a:moveTo>
                  <a:pt x="0" y="0"/>
                </a:moveTo>
                <a:lnTo>
                  <a:pt x="2172022" y="0"/>
                </a:lnTo>
                <a:lnTo>
                  <a:pt x="2172022" y="2172022"/>
                </a:lnTo>
                <a:lnTo>
                  <a:pt x="0" y="217202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46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grpSp>
        <p:nvGrpSpPr>
          <p:cNvPr id="11" name="Group 11"/>
          <p:cNvGrpSpPr/>
          <p:nvPr/>
        </p:nvGrpSpPr>
        <p:grpSpPr>
          <a:xfrm>
            <a:off x="8336838" y="4672733"/>
            <a:ext cx="1755374" cy="1755374"/>
            <a:chOff x="0" y="0"/>
            <a:chExt cx="812800" cy="8128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97B2"/>
            </a:solidFill>
            <a:ln w="38100" cap="sq">
              <a:solidFill>
                <a:srgbClr val="FFFFFF"/>
              </a:solidFill>
              <a:prstDash val="solid"/>
              <a:miter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  <a:endParaRPr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4436553" y="7397135"/>
            <a:ext cx="9395845" cy="16186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33"/>
              </a:lnSpc>
              <a:spcBef>
                <a:spcPct val="0"/>
              </a:spcBef>
            </a:pPr>
            <a:r>
              <a:rPr lang="en-US" sz="3023">
                <a:solidFill>
                  <a:srgbClr val="024854"/>
                </a:solidFill>
                <a:latin typeface="Telegraf"/>
                <a:ea typeface="Telegraf"/>
                <a:cs typeface="Telegraf"/>
                <a:sym typeface="Telegraf"/>
              </a:rPr>
              <a:t>Analyser rigoureusement l’évolution du PIB du Sénégal à fréquence trimestrielle, pour modéliser sa structure et prévoir son évolution future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6314870" y="6581646"/>
            <a:ext cx="5658261" cy="6440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26"/>
              </a:lnSpc>
              <a:spcBef>
                <a:spcPct val="0"/>
              </a:spcBef>
            </a:pPr>
            <a:r>
              <a:rPr lang="en-US" sz="3519">
                <a:solidFill>
                  <a:srgbClr val="000000"/>
                </a:solidFill>
                <a:latin typeface="Telegraf"/>
                <a:ea typeface="Telegraf"/>
                <a:cs typeface="Telegraf"/>
                <a:sym typeface="Telegraf"/>
              </a:rPr>
              <a:t>Objectif défini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3310731" y="2219737"/>
            <a:ext cx="11647488" cy="5193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23"/>
              </a:lnSpc>
              <a:spcBef>
                <a:spcPct val="0"/>
              </a:spcBef>
            </a:pPr>
            <a:r>
              <a:rPr lang="en-US" sz="2802" b="1">
                <a:solidFill>
                  <a:srgbClr val="1C6976"/>
                </a:solidFill>
                <a:latin typeface="Telegraf Bold"/>
                <a:ea typeface="Telegraf Bold"/>
                <a:cs typeface="Telegraf Bold"/>
                <a:sym typeface="Telegraf Bold"/>
              </a:rPr>
              <a:t>La période 2008–2024 est marquée par des événements majeurs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290014" y="2768959"/>
            <a:ext cx="4323051" cy="11239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500"/>
              </a:lnSpc>
            </a:pPr>
            <a:r>
              <a:rPr lang="en-US" sz="3000" b="1">
                <a:solidFill>
                  <a:srgbClr val="191919"/>
                </a:solidFill>
                <a:latin typeface="Aileron Bold"/>
                <a:ea typeface="Aileron Bold"/>
                <a:cs typeface="Aileron Bold"/>
                <a:sym typeface="Aileron Bold"/>
              </a:rPr>
              <a:t>Crise financière mondiale (2008–2009)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3023785" y="2768959"/>
            <a:ext cx="2459375" cy="11239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500"/>
              </a:lnSpc>
            </a:pPr>
            <a:r>
              <a:rPr lang="en-US" sz="3000" b="1">
                <a:solidFill>
                  <a:srgbClr val="191919"/>
                </a:solidFill>
                <a:latin typeface="Aileron Bold"/>
                <a:ea typeface="Aileron Bold"/>
                <a:cs typeface="Aileron Bold"/>
                <a:sym typeface="Aileron Bold"/>
              </a:rPr>
              <a:t>Pandémie de COVID-19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6776436" y="2768959"/>
            <a:ext cx="4735127" cy="11239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500"/>
              </a:lnSpc>
            </a:pPr>
            <a:r>
              <a:rPr lang="en-US" sz="3000" b="1">
                <a:solidFill>
                  <a:srgbClr val="191919"/>
                </a:solidFill>
                <a:latin typeface="Aileron Bold"/>
                <a:ea typeface="Aileron Bold"/>
                <a:cs typeface="Aileron Bold"/>
                <a:sym typeface="Aileron Bold"/>
              </a:rPr>
              <a:t>Lancement du Plan Sénégal Émergent (2014)</a:t>
            </a:r>
          </a:p>
        </p:txBody>
      </p:sp>
      <p:sp>
        <p:nvSpPr>
          <p:cNvPr id="20" name="Freeform 20"/>
          <p:cNvSpPr/>
          <p:nvPr/>
        </p:nvSpPr>
        <p:spPr>
          <a:xfrm>
            <a:off x="8661853" y="4997748"/>
            <a:ext cx="1105344" cy="1105344"/>
          </a:xfrm>
          <a:custGeom>
            <a:avLst/>
            <a:gdLst/>
            <a:ahLst/>
            <a:cxnLst/>
            <a:rect l="l" t="t" r="r" b="b"/>
            <a:pathLst>
              <a:path w="1105344" h="1105344">
                <a:moveTo>
                  <a:pt x="0" y="0"/>
                </a:moveTo>
                <a:lnTo>
                  <a:pt x="1105344" y="0"/>
                </a:lnTo>
                <a:lnTo>
                  <a:pt x="1105344" y="1105344"/>
                </a:lnTo>
                <a:lnTo>
                  <a:pt x="0" y="110534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21" name="Freeform 21"/>
          <p:cNvSpPr/>
          <p:nvPr/>
        </p:nvSpPr>
        <p:spPr>
          <a:xfrm>
            <a:off x="2725475" y="297514"/>
            <a:ext cx="12837050" cy="9691972"/>
          </a:xfrm>
          <a:custGeom>
            <a:avLst/>
            <a:gdLst/>
            <a:ahLst/>
            <a:cxnLst/>
            <a:rect l="l" t="t" r="r" b="b"/>
            <a:pathLst>
              <a:path w="12837050" h="9691972">
                <a:moveTo>
                  <a:pt x="0" y="0"/>
                </a:moveTo>
                <a:lnTo>
                  <a:pt x="12837050" y="0"/>
                </a:lnTo>
                <a:lnTo>
                  <a:pt x="12837050" y="9691972"/>
                </a:lnTo>
                <a:lnTo>
                  <a:pt x="0" y="9691972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9999"/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</p:spTree>
  </p:cSld>
  <p:clrMapOvr>
    <a:masterClrMapping/>
  </p:clrMapOvr>
  <p:transition spd="slow">
    <p:push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1471508">
            <a:off x="7442248" y="-3517885"/>
            <a:ext cx="2160993" cy="11665743"/>
            <a:chOff x="0" y="0"/>
            <a:chExt cx="597206" cy="322391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597206" cy="3223913"/>
            </a:xfrm>
            <a:custGeom>
              <a:avLst/>
              <a:gdLst/>
              <a:ahLst/>
              <a:cxnLst/>
              <a:rect l="l" t="t" r="r" b="b"/>
              <a:pathLst>
                <a:path w="597206" h="3223913">
                  <a:moveTo>
                    <a:pt x="0" y="0"/>
                  </a:moveTo>
                  <a:lnTo>
                    <a:pt x="597206" y="0"/>
                  </a:lnTo>
                  <a:lnTo>
                    <a:pt x="597206" y="3223913"/>
                  </a:lnTo>
                  <a:lnTo>
                    <a:pt x="0" y="3223913"/>
                  </a:lnTo>
                  <a:close/>
                </a:path>
              </a:pathLst>
            </a:custGeom>
            <a:solidFill>
              <a:srgbClr val="D5DADA">
                <a:alpha val="23922"/>
              </a:srgbClr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597206" cy="3262013"/>
            </a:xfrm>
            <a:prstGeom prst="rect">
              <a:avLst/>
            </a:prstGeom>
          </p:spPr>
          <p:txBody>
            <a:bodyPr lIns="35873" tIns="35873" rIns="35873" bIns="35873" rtlCol="0" anchor="ctr"/>
            <a:lstStyle/>
            <a:p>
              <a:pPr algn="ctr">
                <a:lnSpc>
                  <a:spcPts val="1384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 rot="1471508">
            <a:off x="7842796" y="1744300"/>
            <a:ext cx="2160993" cy="11212989"/>
            <a:chOff x="0" y="0"/>
            <a:chExt cx="597206" cy="3098792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597206" cy="3098791"/>
            </a:xfrm>
            <a:custGeom>
              <a:avLst/>
              <a:gdLst/>
              <a:ahLst/>
              <a:cxnLst/>
              <a:rect l="l" t="t" r="r" b="b"/>
              <a:pathLst>
                <a:path w="597206" h="3098791">
                  <a:moveTo>
                    <a:pt x="0" y="0"/>
                  </a:moveTo>
                  <a:lnTo>
                    <a:pt x="597206" y="0"/>
                  </a:lnTo>
                  <a:lnTo>
                    <a:pt x="597206" y="3098791"/>
                  </a:lnTo>
                  <a:lnTo>
                    <a:pt x="0" y="3098791"/>
                  </a:lnTo>
                  <a:close/>
                </a:path>
              </a:pathLst>
            </a:custGeom>
            <a:solidFill>
              <a:srgbClr val="D5DADA">
                <a:alpha val="23922"/>
              </a:srgbClr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597206" cy="3136892"/>
            </a:xfrm>
            <a:prstGeom prst="rect">
              <a:avLst/>
            </a:prstGeom>
          </p:spPr>
          <p:txBody>
            <a:bodyPr lIns="35873" tIns="35873" rIns="35873" bIns="35873" rtlCol="0" anchor="ctr"/>
            <a:lstStyle/>
            <a:p>
              <a:pPr algn="ctr">
                <a:lnSpc>
                  <a:spcPts val="1384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1015140" y="5027944"/>
            <a:ext cx="10518155" cy="10518113"/>
            <a:chOff x="0" y="0"/>
            <a:chExt cx="6350000" cy="6349975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6350000" cy="6349975"/>
            </a:xfrm>
            <a:custGeom>
              <a:avLst/>
              <a:gdLst/>
              <a:ahLst/>
              <a:cxnLst/>
              <a:rect l="l" t="t" r="r" b="b"/>
              <a:pathLst>
                <a:path w="6350000" h="6349975">
                  <a:moveTo>
                    <a:pt x="6350000" y="3175025"/>
                  </a:moveTo>
                  <a:cubicBezTo>
                    <a:pt x="6350000" y="4928451"/>
                    <a:pt x="4928476" y="6349975"/>
                    <a:pt x="3175000" y="6349975"/>
                  </a:cubicBezTo>
                  <a:cubicBezTo>
                    <a:pt x="1421498" y="6349975"/>
                    <a:pt x="0" y="4928451"/>
                    <a:pt x="0" y="3175025"/>
                  </a:cubicBezTo>
                  <a:cubicBezTo>
                    <a:pt x="0" y="1421511"/>
                    <a:pt x="1421498" y="0"/>
                    <a:pt x="3175000" y="0"/>
                  </a:cubicBezTo>
                  <a:cubicBezTo>
                    <a:pt x="4928502" y="0"/>
                    <a:pt x="6350000" y="1421511"/>
                    <a:pt x="6350000" y="3175025"/>
                  </a:cubicBezTo>
                  <a:close/>
                </a:path>
              </a:pathLst>
            </a:custGeom>
            <a:blipFill>
              <a:blip r:embed="rId2"/>
              <a:stretch>
                <a:fillRect l="-25471" r="-25471"/>
              </a:stretch>
            </a:blipFill>
          </p:spPr>
        </p:sp>
      </p:grpSp>
      <p:grpSp>
        <p:nvGrpSpPr>
          <p:cNvPr id="10" name="Group 10"/>
          <p:cNvGrpSpPr/>
          <p:nvPr/>
        </p:nvGrpSpPr>
        <p:grpSpPr>
          <a:xfrm>
            <a:off x="11800842" y="5813625"/>
            <a:ext cx="8946750" cy="8946750"/>
            <a:chOff x="0" y="0"/>
            <a:chExt cx="812800" cy="8128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04775" cap="sq">
              <a:solidFill>
                <a:srgbClr val="FFFFFF"/>
              </a:solidFill>
              <a:prstDash val="solid"/>
              <a:miter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35873" tIns="35873" rIns="35873" bIns="35873" rtlCol="0" anchor="ctr"/>
            <a:lstStyle/>
            <a:p>
              <a:pPr algn="ctr">
                <a:lnSpc>
                  <a:spcPts val="1384"/>
                </a:lnSpc>
              </a:pPr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-4524129" y="-3792316"/>
            <a:ext cx="10518155" cy="10518113"/>
            <a:chOff x="0" y="0"/>
            <a:chExt cx="6350000" cy="6349975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6350000" cy="6349975"/>
            </a:xfrm>
            <a:custGeom>
              <a:avLst/>
              <a:gdLst/>
              <a:ahLst/>
              <a:cxnLst/>
              <a:rect l="l" t="t" r="r" b="b"/>
              <a:pathLst>
                <a:path w="6350000" h="6349975">
                  <a:moveTo>
                    <a:pt x="6350000" y="3175025"/>
                  </a:moveTo>
                  <a:cubicBezTo>
                    <a:pt x="6350000" y="4928451"/>
                    <a:pt x="4928476" y="6349975"/>
                    <a:pt x="3175000" y="6349975"/>
                  </a:cubicBezTo>
                  <a:cubicBezTo>
                    <a:pt x="1421498" y="6349975"/>
                    <a:pt x="0" y="4928451"/>
                    <a:pt x="0" y="3175025"/>
                  </a:cubicBezTo>
                  <a:cubicBezTo>
                    <a:pt x="0" y="1421511"/>
                    <a:pt x="1421498" y="0"/>
                    <a:pt x="3175000" y="0"/>
                  </a:cubicBezTo>
                  <a:cubicBezTo>
                    <a:pt x="4928502" y="0"/>
                    <a:pt x="6350000" y="1421511"/>
                    <a:pt x="6350000" y="3175025"/>
                  </a:cubicBezTo>
                  <a:close/>
                </a:path>
              </a:pathLst>
            </a:custGeom>
            <a:blipFill>
              <a:blip r:embed="rId3"/>
              <a:stretch>
                <a:fillRect l="-24906" r="-24906"/>
              </a:stretch>
            </a:blipFill>
          </p:spPr>
        </p:sp>
      </p:grpSp>
      <p:grpSp>
        <p:nvGrpSpPr>
          <p:cNvPr id="15" name="Group 15"/>
          <p:cNvGrpSpPr/>
          <p:nvPr/>
        </p:nvGrpSpPr>
        <p:grpSpPr>
          <a:xfrm>
            <a:off x="-3738427" y="-3006635"/>
            <a:ext cx="8946750" cy="8946750"/>
            <a:chOff x="0" y="0"/>
            <a:chExt cx="812800" cy="81280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04775" cap="sq">
              <a:solidFill>
                <a:srgbClr val="FFFFFF"/>
              </a:solidFill>
              <a:prstDash val="solid"/>
              <a:miter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35873" tIns="35873" rIns="35873" bIns="35873" rtlCol="0" anchor="ctr"/>
            <a:lstStyle/>
            <a:p>
              <a:pPr algn="ctr">
                <a:lnSpc>
                  <a:spcPts val="1384"/>
                </a:lnSpc>
              </a:pPr>
              <a:endParaRPr/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4872773" y="3729254"/>
            <a:ext cx="9283384" cy="1734271"/>
            <a:chOff x="0" y="0"/>
            <a:chExt cx="1419439" cy="265172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419439" cy="265172"/>
            </a:xfrm>
            <a:custGeom>
              <a:avLst/>
              <a:gdLst/>
              <a:ahLst/>
              <a:cxnLst/>
              <a:rect l="l" t="t" r="r" b="b"/>
              <a:pathLst>
                <a:path w="1419439" h="265172">
                  <a:moveTo>
                    <a:pt x="14177" y="0"/>
                  </a:moveTo>
                  <a:lnTo>
                    <a:pt x="1405262" y="0"/>
                  </a:lnTo>
                  <a:cubicBezTo>
                    <a:pt x="1409022" y="0"/>
                    <a:pt x="1412628" y="1494"/>
                    <a:pt x="1415287" y="4152"/>
                  </a:cubicBezTo>
                  <a:cubicBezTo>
                    <a:pt x="1417946" y="6811"/>
                    <a:pt x="1419439" y="10417"/>
                    <a:pt x="1419439" y="14177"/>
                  </a:cubicBezTo>
                  <a:lnTo>
                    <a:pt x="1419439" y="250995"/>
                  </a:lnTo>
                  <a:cubicBezTo>
                    <a:pt x="1419439" y="254755"/>
                    <a:pt x="1417946" y="258361"/>
                    <a:pt x="1415287" y="261019"/>
                  </a:cubicBezTo>
                  <a:cubicBezTo>
                    <a:pt x="1412628" y="263678"/>
                    <a:pt x="1409022" y="265172"/>
                    <a:pt x="1405262" y="265172"/>
                  </a:cubicBezTo>
                  <a:lnTo>
                    <a:pt x="14177" y="265172"/>
                  </a:lnTo>
                  <a:cubicBezTo>
                    <a:pt x="10417" y="265172"/>
                    <a:pt x="6811" y="263678"/>
                    <a:pt x="4152" y="261019"/>
                  </a:cubicBezTo>
                  <a:cubicBezTo>
                    <a:pt x="1494" y="258361"/>
                    <a:pt x="0" y="254755"/>
                    <a:pt x="0" y="250995"/>
                  </a:cubicBezTo>
                  <a:lnTo>
                    <a:pt x="0" y="14177"/>
                  </a:lnTo>
                  <a:cubicBezTo>
                    <a:pt x="0" y="10417"/>
                    <a:pt x="1494" y="6811"/>
                    <a:pt x="4152" y="4152"/>
                  </a:cubicBezTo>
                  <a:cubicBezTo>
                    <a:pt x="6811" y="1494"/>
                    <a:pt x="10417" y="0"/>
                    <a:pt x="14177" y="0"/>
                  </a:cubicBezTo>
                  <a:close/>
                </a:path>
              </a:pathLst>
            </a:custGeom>
            <a:solidFill>
              <a:srgbClr val="FAFAFA"/>
            </a:solidFill>
            <a:ln w="28575" cap="sq">
              <a:solidFill>
                <a:srgbClr val="0097B2"/>
              </a:solidFill>
              <a:prstDash val="solid"/>
              <a:miter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0" y="-57150"/>
              <a:ext cx="1419439" cy="32232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  <a:endParaRPr/>
            </a:p>
          </p:txBody>
        </p:sp>
      </p:grpSp>
      <p:sp>
        <p:nvSpPr>
          <p:cNvPr id="21" name="TextBox 21"/>
          <p:cNvSpPr txBox="1"/>
          <p:nvPr/>
        </p:nvSpPr>
        <p:spPr>
          <a:xfrm>
            <a:off x="5994026" y="3760202"/>
            <a:ext cx="8162131" cy="10030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782"/>
              </a:lnSpc>
              <a:spcBef>
                <a:spcPct val="0"/>
              </a:spcBef>
            </a:pPr>
            <a:r>
              <a:rPr lang="en-US" sz="5558" b="1">
                <a:solidFill>
                  <a:srgbClr val="329A87"/>
                </a:solidFill>
                <a:latin typeface="Telegraf Bold"/>
                <a:ea typeface="Telegraf Bold"/>
                <a:cs typeface="Telegraf Bold"/>
                <a:sym typeface="Telegraf Bold"/>
              </a:rPr>
              <a:t>Cadre conceptuel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5994026" y="4489057"/>
            <a:ext cx="8162131" cy="782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056"/>
              </a:lnSpc>
              <a:spcBef>
                <a:spcPct val="0"/>
              </a:spcBef>
            </a:pPr>
            <a:r>
              <a:rPr lang="en-US" sz="4326">
                <a:solidFill>
                  <a:srgbClr val="000000"/>
                </a:solidFill>
                <a:latin typeface="Telegraf"/>
                <a:ea typeface="Telegraf"/>
                <a:cs typeface="Telegraf"/>
                <a:sym typeface="Telegraf"/>
              </a:rPr>
              <a:t>Définitions des mots-clés</a:t>
            </a:r>
          </a:p>
        </p:txBody>
      </p:sp>
      <p:sp>
        <p:nvSpPr>
          <p:cNvPr id="23" name="Freeform 23"/>
          <p:cNvSpPr/>
          <p:nvPr/>
        </p:nvSpPr>
        <p:spPr>
          <a:xfrm>
            <a:off x="4067426" y="3633090"/>
            <a:ext cx="1926599" cy="1926599"/>
          </a:xfrm>
          <a:custGeom>
            <a:avLst/>
            <a:gdLst/>
            <a:ahLst/>
            <a:cxnLst/>
            <a:rect l="l" t="t" r="r" b="b"/>
            <a:pathLst>
              <a:path w="1926599" h="1926599">
                <a:moveTo>
                  <a:pt x="0" y="0"/>
                </a:moveTo>
                <a:lnTo>
                  <a:pt x="1926600" y="0"/>
                </a:lnTo>
                <a:lnTo>
                  <a:pt x="1926600" y="1926599"/>
                </a:lnTo>
                <a:lnTo>
                  <a:pt x="0" y="192659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46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grpSp>
        <p:nvGrpSpPr>
          <p:cNvPr id="24" name="Group 24"/>
          <p:cNvGrpSpPr/>
          <p:nvPr/>
        </p:nvGrpSpPr>
        <p:grpSpPr>
          <a:xfrm>
            <a:off x="4252211" y="3817875"/>
            <a:ext cx="1557029" cy="1557029"/>
            <a:chOff x="0" y="0"/>
            <a:chExt cx="812800" cy="812800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97B2"/>
            </a:solidFill>
            <a:ln cap="sq">
              <a:noFill/>
              <a:prstDash val="solid"/>
              <a:miter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  <a:endParaRPr/>
            </a:p>
          </p:txBody>
        </p:sp>
      </p:grpSp>
      <p:sp>
        <p:nvSpPr>
          <p:cNvPr id="27" name="TextBox 27"/>
          <p:cNvSpPr txBox="1"/>
          <p:nvPr/>
        </p:nvSpPr>
        <p:spPr>
          <a:xfrm>
            <a:off x="4357484" y="3784937"/>
            <a:ext cx="1346483" cy="13943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785"/>
              </a:lnSpc>
              <a:spcBef>
                <a:spcPct val="0"/>
              </a:spcBef>
            </a:pPr>
            <a:r>
              <a:rPr lang="en-US" sz="7703" b="1">
                <a:solidFill>
                  <a:srgbClr val="FFFFFF"/>
                </a:solidFill>
                <a:latin typeface="Telegraf Bold"/>
                <a:ea typeface="Telegraf Bold"/>
                <a:cs typeface="Telegraf Bold"/>
                <a:sym typeface="Telegraf Bold"/>
              </a:rPr>
              <a:t>2</a:t>
            </a:r>
          </a:p>
        </p:txBody>
      </p:sp>
    </p:spTree>
  </p:cSld>
  <p:clrMapOvr>
    <a:masterClrMapping/>
  </p:clrMapOvr>
  <p:transition spd="slow">
    <p:cover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697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664993" y="2600325"/>
            <a:ext cx="4096628" cy="7686675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3" name="AutoShape 3"/>
          <p:cNvSpPr/>
          <p:nvPr/>
        </p:nvSpPr>
        <p:spPr>
          <a:xfrm>
            <a:off x="4952122" y="2600325"/>
            <a:ext cx="4096628" cy="7686675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4" name="AutoShape 4"/>
          <p:cNvSpPr/>
          <p:nvPr/>
        </p:nvSpPr>
        <p:spPr>
          <a:xfrm>
            <a:off x="9239250" y="2600325"/>
            <a:ext cx="4096628" cy="7686675"/>
          </a:xfrm>
          <a:prstGeom prst="rect">
            <a:avLst/>
          </a:prstGeom>
          <a:solidFill>
            <a:srgbClr val="FFFFFF"/>
          </a:solidFill>
        </p:spPr>
      </p:sp>
      <p:grpSp>
        <p:nvGrpSpPr>
          <p:cNvPr id="5" name="Group 5"/>
          <p:cNvGrpSpPr/>
          <p:nvPr/>
        </p:nvGrpSpPr>
        <p:grpSpPr>
          <a:xfrm>
            <a:off x="4867374" y="810166"/>
            <a:ext cx="4266123" cy="4266123"/>
            <a:chOff x="0" y="0"/>
            <a:chExt cx="5688164" cy="5688164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5688164" cy="5688164"/>
            </a:xfrm>
            <a:custGeom>
              <a:avLst/>
              <a:gdLst/>
              <a:ahLst/>
              <a:cxnLst/>
              <a:rect l="l" t="t" r="r" b="b"/>
              <a:pathLst>
                <a:path w="5688164" h="5688164">
                  <a:moveTo>
                    <a:pt x="0" y="0"/>
                  </a:moveTo>
                  <a:lnTo>
                    <a:pt x="5688164" y="0"/>
                  </a:lnTo>
                  <a:lnTo>
                    <a:pt x="5688164" y="5688164"/>
                  </a:lnTo>
                  <a:lnTo>
                    <a:pt x="0" y="568816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7" name="Freeform 7"/>
            <p:cNvSpPr/>
            <p:nvPr/>
          </p:nvSpPr>
          <p:spPr>
            <a:xfrm>
              <a:off x="153216" y="153216"/>
              <a:ext cx="5381733" cy="5381733"/>
            </a:xfrm>
            <a:custGeom>
              <a:avLst/>
              <a:gdLst/>
              <a:ahLst/>
              <a:cxnLst/>
              <a:rect l="l" t="t" r="r" b="b"/>
              <a:pathLst>
                <a:path w="5381733" h="5381733">
                  <a:moveTo>
                    <a:pt x="0" y="0"/>
                  </a:moveTo>
                  <a:lnTo>
                    <a:pt x="5381733" y="0"/>
                  </a:lnTo>
                  <a:lnTo>
                    <a:pt x="5381733" y="5381733"/>
                  </a:lnTo>
                  <a:lnTo>
                    <a:pt x="0" y="53817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</p:sp>
      </p:grpSp>
      <p:grpSp>
        <p:nvGrpSpPr>
          <p:cNvPr id="8" name="Group 8"/>
          <p:cNvGrpSpPr/>
          <p:nvPr/>
        </p:nvGrpSpPr>
        <p:grpSpPr>
          <a:xfrm>
            <a:off x="623862" y="812065"/>
            <a:ext cx="4179770" cy="4179770"/>
            <a:chOff x="0" y="0"/>
            <a:chExt cx="5573026" cy="5573026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5573026" cy="5573026"/>
            </a:xfrm>
            <a:custGeom>
              <a:avLst/>
              <a:gdLst/>
              <a:ahLst/>
              <a:cxnLst/>
              <a:rect l="l" t="t" r="r" b="b"/>
              <a:pathLst>
                <a:path w="5573026" h="5573026">
                  <a:moveTo>
                    <a:pt x="0" y="0"/>
                  </a:moveTo>
                  <a:lnTo>
                    <a:pt x="5573026" y="0"/>
                  </a:lnTo>
                  <a:lnTo>
                    <a:pt x="5573026" y="5573026"/>
                  </a:lnTo>
                  <a:lnTo>
                    <a:pt x="0" y="557302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10" name="Freeform 10"/>
            <p:cNvSpPr/>
            <p:nvPr/>
          </p:nvSpPr>
          <p:spPr>
            <a:xfrm>
              <a:off x="150114" y="150114"/>
              <a:ext cx="5272798" cy="5272798"/>
            </a:xfrm>
            <a:custGeom>
              <a:avLst/>
              <a:gdLst/>
              <a:ahLst/>
              <a:cxnLst/>
              <a:rect l="l" t="t" r="r" b="b"/>
              <a:pathLst>
                <a:path w="5272798" h="5272798">
                  <a:moveTo>
                    <a:pt x="0" y="0"/>
                  </a:moveTo>
                  <a:lnTo>
                    <a:pt x="5272798" y="0"/>
                  </a:lnTo>
                  <a:lnTo>
                    <a:pt x="5272798" y="5272798"/>
                  </a:lnTo>
                  <a:lnTo>
                    <a:pt x="0" y="527279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</p:sp>
      </p:grpSp>
      <p:grpSp>
        <p:nvGrpSpPr>
          <p:cNvPr id="11" name="Group 11"/>
          <p:cNvGrpSpPr/>
          <p:nvPr/>
        </p:nvGrpSpPr>
        <p:grpSpPr>
          <a:xfrm>
            <a:off x="9144000" y="856372"/>
            <a:ext cx="4287128" cy="4287128"/>
            <a:chOff x="0" y="0"/>
            <a:chExt cx="5716171" cy="5716171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5716171" cy="5716171"/>
            </a:xfrm>
            <a:custGeom>
              <a:avLst/>
              <a:gdLst/>
              <a:ahLst/>
              <a:cxnLst/>
              <a:rect l="l" t="t" r="r" b="b"/>
              <a:pathLst>
                <a:path w="5716171" h="5716171">
                  <a:moveTo>
                    <a:pt x="0" y="0"/>
                  </a:moveTo>
                  <a:lnTo>
                    <a:pt x="5716171" y="0"/>
                  </a:lnTo>
                  <a:lnTo>
                    <a:pt x="5716171" y="5716171"/>
                  </a:lnTo>
                  <a:lnTo>
                    <a:pt x="0" y="57161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13" name="Freeform 13"/>
            <p:cNvSpPr/>
            <p:nvPr/>
          </p:nvSpPr>
          <p:spPr>
            <a:xfrm>
              <a:off x="153970" y="153970"/>
              <a:ext cx="5408231" cy="5408231"/>
            </a:xfrm>
            <a:custGeom>
              <a:avLst/>
              <a:gdLst/>
              <a:ahLst/>
              <a:cxnLst/>
              <a:rect l="l" t="t" r="r" b="b"/>
              <a:pathLst>
                <a:path w="5408231" h="5408231">
                  <a:moveTo>
                    <a:pt x="0" y="0"/>
                  </a:moveTo>
                  <a:lnTo>
                    <a:pt x="5408231" y="0"/>
                  </a:lnTo>
                  <a:lnTo>
                    <a:pt x="5408231" y="5408231"/>
                  </a:lnTo>
                  <a:lnTo>
                    <a:pt x="0" y="540823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</p:sp>
      </p:grpSp>
      <p:sp>
        <p:nvSpPr>
          <p:cNvPr id="14" name="TextBox 14"/>
          <p:cNvSpPr txBox="1"/>
          <p:nvPr/>
        </p:nvSpPr>
        <p:spPr>
          <a:xfrm>
            <a:off x="1664178" y="2601913"/>
            <a:ext cx="2098258" cy="7207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00"/>
              </a:lnSpc>
            </a:pPr>
            <a:r>
              <a:rPr lang="en-US" sz="5000" b="1">
                <a:solidFill>
                  <a:srgbClr val="2C92D5"/>
                </a:solidFill>
                <a:latin typeface="Aileron Heavy"/>
                <a:ea typeface="Aileron Heavy"/>
                <a:cs typeface="Aileron Heavy"/>
                <a:sym typeface="Aileron Heavy"/>
              </a:rPr>
              <a:t>PIB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5324036" y="2333627"/>
            <a:ext cx="3352800" cy="12573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49"/>
              </a:lnSpc>
            </a:pPr>
            <a:r>
              <a:rPr lang="en-US" sz="4499" b="1">
                <a:solidFill>
                  <a:srgbClr val="E41D25"/>
                </a:solidFill>
                <a:latin typeface="Aileron Heavy"/>
                <a:ea typeface="Aileron Heavy"/>
                <a:cs typeface="Aileron Heavy"/>
                <a:sym typeface="Aileron Heavy"/>
              </a:rPr>
              <a:t>Série temporelle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9525439" y="2643190"/>
            <a:ext cx="3623017" cy="638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49"/>
              </a:lnSpc>
            </a:pPr>
            <a:r>
              <a:rPr lang="en-US" sz="4499" b="1">
                <a:solidFill>
                  <a:srgbClr val="DFA612"/>
                </a:solidFill>
                <a:latin typeface="Aileron Heavy"/>
                <a:ea typeface="Aileron Heavy"/>
                <a:cs typeface="Aileron Heavy"/>
                <a:sym typeface="Aileron Heavy"/>
              </a:rPr>
              <a:t>Saisonnalité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932572" y="5187315"/>
            <a:ext cx="3562350" cy="41737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52"/>
              </a:lnSpc>
            </a:pPr>
            <a:r>
              <a:rPr lang="en-US" sz="2180" b="1" spc="109">
                <a:solidFill>
                  <a:srgbClr val="191919"/>
                </a:solidFill>
                <a:latin typeface="Aileron Bold"/>
                <a:ea typeface="Aileron Bold"/>
                <a:cs typeface="Aileron Bold"/>
                <a:sym typeface="Aileron Bold"/>
              </a:rPr>
              <a:t>Indicateur économique qui mesure la valeur totale des biens et services produits à l’intérieur d’un pays au cours d’une période donnée</a:t>
            </a:r>
          </a:p>
          <a:p>
            <a:pPr algn="ctr">
              <a:lnSpc>
                <a:spcPts val="3052"/>
              </a:lnSpc>
            </a:pPr>
            <a:r>
              <a:rPr lang="en-US" sz="2180" b="1" spc="109">
                <a:solidFill>
                  <a:srgbClr val="191919"/>
                </a:solidFill>
                <a:latin typeface="Aileron Bold"/>
                <a:ea typeface="Aileron Bold"/>
                <a:cs typeface="Aileron Bold"/>
                <a:sym typeface="Aileron Bold"/>
              </a:rPr>
              <a:t>Référence centrale pour évaluer la croissance et la santé économique d’une nation.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5219261" y="5744528"/>
            <a:ext cx="3562350" cy="30307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52"/>
              </a:lnSpc>
            </a:pPr>
            <a:r>
              <a:rPr lang="en-US" sz="2180" b="1" spc="109">
                <a:solidFill>
                  <a:srgbClr val="191919"/>
                </a:solidFill>
                <a:latin typeface="Aileron Bold"/>
                <a:ea typeface="Aileron Bold"/>
                <a:cs typeface="Aileron Bold"/>
                <a:sym typeface="Aileron Bold"/>
              </a:rPr>
              <a:t>Suite d’observations chiffrées et indexées par le temps, généralement à intervalles réguliers (jours, mois, trimestres, années), qui rend compte de l’évolution d’un phénomène 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9525439" y="5516880"/>
            <a:ext cx="3524250" cy="34118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45"/>
              </a:lnSpc>
            </a:pPr>
            <a:r>
              <a:rPr lang="en-US" sz="2175" b="1" spc="108">
                <a:solidFill>
                  <a:srgbClr val="191919"/>
                </a:solidFill>
                <a:latin typeface="Aileron Bold"/>
                <a:ea typeface="Aileron Bold"/>
                <a:cs typeface="Aileron Bold"/>
                <a:sym typeface="Aileron Bold"/>
              </a:rPr>
              <a:t>Composante relativement régulière de période intra-annuelle et traduit des variations saisonnières (ou conjoncturelles) qui se répètent à l’identique aux mêmes périodes de chaque année</a:t>
            </a:r>
          </a:p>
        </p:txBody>
      </p:sp>
      <p:sp>
        <p:nvSpPr>
          <p:cNvPr id="20" name="AutoShape 20"/>
          <p:cNvSpPr/>
          <p:nvPr/>
        </p:nvSpPr>
        <p:spPr>
          <a:xfrm>
            <a:off x="13526378" y="2600325"/>
            <a:ext cx="4096628" cy="7686675"/>
          </a:xfrm>
          <a:prstGeom prst="rect">
            <a:avLst/>
          </a:prstGeom>
          <a:solidFill>
            <a:srgbClr val="FFFFFF"/>
          </a:solidFill>
        </p:spPr>
      </p:sp>
      <p:grpSp>
        <p:nvGrpSpPr>
          <p:cNvPr id="21" name="Group 21"/>
          <p:cNvGrpSpPr/>
          <p:nvPr/>
        </p:nvGrpSpPr>
        <p:grpSpPr>
          <a:xfrm>
            <a:off x="13433723" y="943477"/>
            <a:ext cx="4281938" cy="4281938"/>
            <a:chOff x="0" y="0"/>
            <a:chExt cx="5709251" cy="5709251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5709251" cy="5709251"/>
            </a:xfrm>
            <a:custGeom>
              <a:avLst/>
              <a:gdLst/>
              <a:ahLst/>
              <a:cxnLst/>
              <a:rect l="l" t="t" r="r" b="b"/>
              <a:pathLst>
                <a:path w="5709251" h="5709251">
                  <a:moveTo>
                    <a:pt x="0" y="0"/>
                  </a:moveTo>
                  <a:lnTo>
                    <a:pt x="5709251" y="0"/>
                  </a:lnTo>
                  <a:lnTo>
                    <a:pt x="5709251" y="5709251"/>
                  </a:lnTo>
                  <a:lnTo>
                    <a:pt x="0" y="570925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23" name="Freeform 23"/>
            <p:cNvSpPr/>
            <p:nvPr/>
          </p:nvSpPr>
          <p:spPr>
            <a:xfrm>
              <a:off x="153784" y="153784"/>
              <a:ext cx="5401684" cy="5401684"/>
            </a:xfrm>
            <a:custGeom>
              <a:avLst/>
              <a:gdLst/>
              <a:ahLst/>
              <a:cxnLst/>
              <a:rect l="l" t="t" r="r" b="b"/>
              <a:pathLst>
                <a:path w="5401684" h="5401684">
                  <a:moveTo>
                    <a:pt x="0" y="0"/>
                  </a:moveTo>
                  <a:lnTo>
                    <a:pt x="5401684" y="0"/>
                  </a:lnTo>
                  <a:lnTo>
                    <a:pt x="5401684" y="5401684"/>
                  </a:lnTo>
                  <a:lnTo>
                    <a:pt x="0" y="54016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</p:sp>
      </p:grpSp>
      <p:sp>
        <p:nvSpPr>
          <p:cNvPr id="24" name="TextBox 24"/>
          <p:cNvSpPr txBox="1"/>
          <p:nvPr/>
        </p:nvSpPr>
        <p:spPr>
          <a:xfrm>
            <a:off x="14023167" y="2699898"/>
            <a:ext cx="3103050" cy="638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49"/>
              </a:lnSpc>
            </a:pPr>
            <a:r>
              <a:rPr lang="en-US" sz="4499" b="1">
                <a:solidFill>
                  <a:srgbClr val="86EAE9"/>
                </a:solidFill>
                <a:latin typeface="Aileron Heavy"/>
                <a:ea typeface="Aileron Heavy"/>
                <a:cs typeface="Aileron Heavy"/>
                <a:sym typeface="Aileron Heavy"/>
              </a:rPr>
              <a:t>Tendance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3793078" y="5517007"/>
            <a:ext cx="3562350" cy="34117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52"/>
              </a:lnSpc>
            </a:pPr>
            <a:r>
              <a:rPr lang="en-US" sz="2180" b="1" spc="109">
                <a:solidFill>
                  <a:srgbClr val="191919"/>
                </a:solidFill>
                <a:latin typeface="Aileron Bold"/>
                <a:ea typeface="Aileron Bold"/>
                <a:cs typeface="Aileron Bold"/>
                <a:sym typeface="Aileron Bold"/>
              </a:rPr>
              <a:t> Composante déterministe qui donne le comportement de la variable observée sur le long terme, généralement représentée par des formes analytiques simples</a:t>
            </a:r>
          </a:p>
        </p:txBody>
      </p:sp>
    </p:spTree>
  </p:cSld>
  <p:clrMapOvr>
    <a:masterClrMapping/>
  </p:clrMapOvr>
  <p:transition spd="slow">
    <p:push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697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664993" y="2600325"/>
            <a:ext cx="4096628" cy="7686675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3" name="AutoShape 3"/>
          <p:cNvSpPr/>
          <p:nvPr/>
        </p:nvSpPr>
        <p:spPr>
          <a:xfrm>
            <a:off x="4952122" y="2600325"/>
            <a:ext cx="4096628" cy="7686675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4" name="AutoShape 4"/>
          <p:cNvSpPr/>
          <p:nvPr/>
        </p:nvSpPr>
        <p:spPr>
          <a:xfrm>
            <a:off x="9239250" y="2600325"/>
            <a:ext cx="4096628" cy="7686675"/>
          </a:xfrm>
          <a:prstGeom prst="rect">
            <a:avLst/>
          </a:prstGeom>
          <a:solidFill>
            <a:srgbClr val="FFFFFF"/>
          </a:solidFill>
        </p:spPr>
      </p:sp>
      <p:grpSp>
        <p:nvGrpSpPr>
          <p:cNvPr id="5" name="Group 5"/>
          <p:cNvGrpSpPr/>
          <p:nvPr/>
        </p:nvGrpSpPr>
        <p:grpSpPr>
          <a:xfrm>
            <a:off x="4847347" y="856372"/>
            <a:ext cx="4287128" cy="4287128"/>
            <a:chOff x="0" y="0"/>
            <a:chExt cx="5716171" cy="5716171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5716171" cy="5716171"/>
            </a:xfrm>
            <a:custGeom>
              <a:avLst/>
              <a:gdLst/>
              <a:ahLst/>
              <a:cxnLst/>
              <a:rect l="l" t="t" r="r" b="b"/>
              <a:pathLst>
                <a:path w="5716171" h="5716171">
                  <a:moveTo>
                    <a:pt x="0" y="0"/>
                  </a:moveTo>
                  <a:lnTo>
                    <a:pt x="5716171" y="0"/>
                  </a:lnTo>
                  <a:lnTo>
                    <a:pt x="5716171" y="5716171"/>
                  </a:lnTo>
                  <a:lnTo>
                    <a:pt x="0" y="57161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7" name="Freeform 7"/>
            <p:cNvSpPr/>
            <p:nvPr/>
          </p:nvSpPr>
          <p:spPr>
            <a:xfrm>
              <a:off x="153970" y="153970"/>
              <a:ext cx="5408231" cy="5408231"/>
            </a:xfrm>
            <a:custGeom>
              <a:avLst/>
              <a:gdLst/>
              <a:ahLst/>
              <a:cxnLst/>
              <a:rect l="l" t="t" r="r" b="b"/>
              <a:pathLst>
                <a:path w="5408231" h="5408231">
                  <a:moveTo>
                    <a:pt x="0" y="0"/>
                  </a:moveTo>
                  <a:lnTo>
                    <a:pt x="5408231" y="0"/>
                  </a:lnTo>
                  <a:lnTo>
                    <a:pt x="5408231" y="5408231"/>
                  </a:lnTo>
                  <a:lnTo>
                    <a:pt x="0" y="540823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</p:sp>
      </p:grpSp>
      <p:grpSp>
        <p:nvGrpSpPr>
          <p:cNvPr id="8" name="Group 8"/>
          <p:cNvGrpSpPr/>
          <p:nvPr/>
        </p:nvGrpSpPr>
        <p:grpSpPr>
          <a:xfrm>
            <a:off x="514620" y="810773"/>
            <a:ext cx="4332727" cy="4332727"/>
            <a:chOff x="0" y="0"/>
            <a:chExt cx="5776969" cy="5776969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5776969" cy="5776969"/>
            </a:xfrm>
            <a:custGeom>
              <a:avLst/>
              <a:gdLst/>
              <a:ahLst/>
              <a:cxnLst/>
              <a:rect l="l" t="t" r="r" b="b"/>
              <a:pathLst>
                <a:path w="5776969" h="5776969">
                  <a:moveTo>
                    <a:pt x="0" y="0"/>
                  </a:moveTo>
                  <a:lnTo>
                    <a:pt x="5776969" y="0"/>
                  </a:lnTo>
                  <a:lnTo>
                    <a:pt x="5776969" y="5776969"/>
                  </a:lnTo>
                  <a:lnTo>
                    <a:pt x="0" y="57769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10" name="Freeform 10"/>
            <p:cNvSpPr/>
            <p:nvPr/>
          </p:nvSpPr>
          <p:spPr>
            <a:xfrm>
              <a:off x="155608" y="155608"/>
              <a:ext cx="5465753" cy="5465753"/>
            </a:xfrm>
            <a:custGeom>
              <a:avLst/>
              <a:gdLst/>
              <a:ahLst/>
              <a:cxnLst/>
              <a:rect l="l" t="t" r="r" b="b"/>
              <a:pathLst>
                <a:path w="5465753" h="5465753">
                  <a:moveTo>
                    <a:pt x="0" y="0"/>
                  </a:moveTo>
                  <a:lnTo>
                    <a:pt x="5465753" y="0"/>
                  </a:lnTo>
                  <a:lnTo>
                    <a:pt x="5465753" y="5465753"/>
                  </a:lnTo>
                  <a:lnTo>
                    <a:pt x="0" y="54657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</p:sp>
      </p:grpSp>
      <p:grpSp>
        <p:nvGrpSpPr>
          <p:cNvPr id="11" name="Group 11"/>
          <p:cNvGrpSpPr/>
          <p:nvPr/>
        </p:nvGrpSpPr>
        <p:grpSpPr>
          <a:xfrm>
            <a:off x="9048750" y="761122"/>
            <a:ext cx="4382378" cy="4382378"/>
            <a:chOff x="0" y="0"/>
            <a:chExt cx="5843171" cy="5843171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5843171" cy="5843171"/>
            </a:xfrm>
            <a:custGeom>
              <a:avLst/>
              <a:gdLst/>
              <a:ahLst/>
              <a:cxnLst/>
              <a:rect l="l" t="t" r="r" b="b"/>
              <a:pathLst>
                <a:path w="5843171" h="5843171">
                  <a:moveTo>
                    <a:pt x="0" y="0"/>
                  </a:moveTo>
                  <a:lnTo>
                    <a:pt x="5843171" y="0"/>
                  </a:lnTo>
                  <a:lnTo>
                    <a:pt x="5843171" y="5843171"/>
                  </a:lnTo>
                  <a:lnTo>
                    <a:pt x="0" y="58431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13" name="Freeform 13"/>
            <p:cNvSpPr/>
            <p:nvPr/>
          </p:nvSpPr>
          <p:spPr>
            <a:xfrm>
              <a:off x="157391" y="157391"/>
              <a:ext cx="5528389" cy="5528389"/>
            </a:xfrm>
            <a:custGeom>
              <a:avLst/>
              <a:gdLst/>
              <a:ahLst/>
              <a:cxnLst/>
              <a:rect l="l" t="t" r="r" b="b"/>
              <a:pathLst>
                <a:path w="5528389" h="5528389">
                  <a:moveTo>
                    <a:pt x="0" y="0"/>
                  </a:moveTo>
                  <a:lnTo>
                    <a:pt x="5528389" y="0"/>
                  </a:lnTo>
                  <a:lnTo>
                    <a:pt x="5528389" y="5528389"/>
                  </a:lnTo>
                  <a:lnTo>
                    <a:pt x="0" y="552838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</p:sp>
      </p:grpSp>
      <p:sp>
        <p:nvSpPr>
          <p:cNvPr id="14" name="TextBox 14"/>
          <p:cNvSpPr txBox="1"/>
          <p:nvPr/>
        </p:nvSpPr>
        <p:spPr>
          <a:xfrm>
            <a:off x="1631854" y="2381906"/>
            <a:ext cx="2098258" cy="1276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50"/>
              </a:lnSpc>
            </a:pPr>
            <a:r>
              <a:rPr lang="en-US" sz="4500" b="1">
                <a:solidFill>
                  <a:srgbClr val="2C92D5"/>
                </a:solidFill>
                <a:latin typeface="Aileron Heavy"/>
                <a:ea typeface="Aileron Heavy"/>
                <a:cs typeface="Aileron Heavy"/>
                <a:sym typeface="Aileron Heavy"/>
              </a:rPr>
              <a:t>Série CVS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5324036" y="2367537"/>
            <a:ext cx="3352800" cy="12573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49"/>
              </a:lnSpc>
            </a:pPr>
            <a:r>
              <a:rPr lang="en-US" sz="4499" b="1">
                <a:solidFill>
                  <a:srgbClr val="E41D25"/>
                </a:solidFill>
                <a:latin typeface="Aileron Heavy"/>
                <a:ea typeface="Aileron Heavy"/>
                <a:cs typeface="Aileron Heavy"/>
                <a:sym typeface="Aileron Heavy"/>
              </a:rPr>
              <a:t>Désaisonna-lisation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9048750" y="2479040"/>
            <a:ext cx="4383476" cy="12573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49"/>
              </a:lnSpc>
            </a:pPr>
            <a:r>
              <a:rPr lang="en-US" sz="4499" b="1">
                <a:solidFill>
                  <a:srgbClr val="DFA612"/>
                </a:solidFill>
                <a:latin typeface="Aileron Heavy"/>
                <a:ea typeface="Aileron Heavy"/>
                <a:cs typeface="Aileron Heavy"/>
                <a:sym typeface="Aileron Heavy"/>
              </a:rPr>
              <a:t>Décomposition de série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932133" y="6010323"/>
            <a:ext cx="3562350" cy="33375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40"/>
              </a:lnSpc>
            </a:pPr>
            <a:r>
              <a:rPr lang="en-US" sz="2100" b="1" spc="105">
                <a:solidFill>
                  <a:srgbClr val="191919"/>
                </a:solidFill>
                <a:latin typeface="Aileron Bold"/>
                <a:ea typeface="Aileron Bold"/>
                <a:cs typeface="Aileron Bold"/>
                <a:sym typeface="Aileron Bold"/>
              </a:rPr>
              <a:t>Série Corrigée des Variations Saisonnières utilisée pour faire des comparaisons inter temporelles afin d’appréhender l’évolution du phénomène sans tenir compte de la périodicité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5219261" y="6413945"/>
            <a:ext cx="3562350" cy="22231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40"/>
              </a:lnSpc>
            </a:pPr>
            <a:r>
              <a:rPr lang="en-US" sz="2100" b="1" spc="105">
                <a:solidFill>
                  <a:srgbClr val="191919"/>
                </a:solidFill>
                <a:latin typeface="Aileron Bold"/>
                <a:ea typeface="Aileron Bold"/>
                <a:cs typeface="Aileron Bold"/>
                <a:sym typeface="Aileron Bold"/>
              </a:rPr>
              <a:t>Eliminer ou neutraliser la composante saisonnière </a:t>
            </a:r>
            <a:r>
              <a:rPr lang="en-US" sz="2100" b="1" i="1" spc="105">
                <a:solidFill>
                  <a:srgbClr val="191919"/>
                </a:solidFill>
                <a:latin typeface="Aileron Bold Italics"/>
                <a:ea typeface="Aileron Bold Italics"/>
                <a:cs typeface="Aileron Bold Italics"/>
                <a:sym typeface="Aileron Bold Italics"/>
              </a:rPr>
              <a:t>S</a:t>
            </a:r>
            <a:r>
              <a:rPr lang="en-US" sz="2100" b="1" spc="105">
                <a:solidFill>
                  <a:srgbClr val="191919"/>
                </a:solidFill>
                <a:latin typeface="Aileron Bold"/>
                <a:ea typeface="Aileron Bold"/>
                <a:cs typeface="Aileron Bold"/>
                <a:sym typeface="Aileron Bold"/>
              </a:rPr>
              <a:t>t​ d’une série temporelle afin de mieux analyser la tendance et les variations irrégulières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9525439" y="6010323"/>
            <a:ext cx="3524250" cy="33375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40"/>
              </a:lnSpc>
            </a:pPr>
            <a:r>
              <a:rPr lang="en-US" sz="2100" b="1" spc="105">
                <a:solidFill>
                  <a:srgbClr val="191919"/>
                </a:solidFill>
                <a:latin typeface="Aileron Bold"/>
                <a:ea typeface="Aileron Bold"/>
                <a:cs typeface="Aileron Bold"/>
                <a:sym typeface="Aileron Bold"/>
              </a:rPr>
              <a:t>Processus statistique qui consiste à diviser une série chronologique en plusieurs composantes pour mieux comprendre ses différents aspects</a:t>
            </a:r>
          </a:p>
          <a:p>
            <a:pPr algn="ctr">
              <a:lnSpc>
                <a:spcPts val="2940"/>
              </a:lnSpc>
            </a:pPr>
            <a:r>
              <a:rPr lang="en-US" sz="2100" b="1" spc="105">
                <a:solidFill>
                  <a:srgbClr val="191919"/>
                </a:solidFill>
                <a:latin typeface="Aileron Bold"/>
                <a:ea typeface="Aileron Bold"/>
                <a:cs typeface="Aileron Bold"/>
                <a:sym typeface="Aileron Bold"/>
              </a:rPr>
              <a:t>Réalisée selon différents modèles: additif ou multiplicatif</a:t>
            </a:r>
          </a:p>
        </p:txBody>
      </p:sp>
      <p:sp>
        <p:nvSpPr>
          <p:cNvPr id="20" name="AutoShape 20"/>
          <p:cNvSpPr/>
          <p:nvPr/>
        </p:nvSpPr>
        <p:spPr>
          <a:xfrm>
            <a:off x="13526378" y="2600325"/>
            <a:ext cx="4096628" cy="7686675"/>
          </a:xfrm>
          <a:prstGeom prst="rect">
            <a:avLst/>
          </a:prstGeom>
          <a:solidFill>
            <a:srgbClr val="FFFFFF"/>
          </a:solidFill>
        </p:spPr>
      </p:sp>
      <p:grpSp>
        <p:nvGrpSpPr>
          <p:cNvPr id="21" name="Group 21"/>
          <p:cNvGrpSpPr/>
          <p:nvPr/>
        </p:nvGrpSpPr>
        <p:grpSpPr>
          <a:xfrm>
            <a:off x="13432226" y="858567"/>
            <a:ext cx="4284933" cy="4284933"/>
            <a:chOff x="0" y="0"/>
            <a:chExt cx="5713243" cy="5713243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5713243" cy="5713243"/>
            </a:xfrm>
            <a:custGeom>
              <a:avLst/>
              <a:gdLst/>
              <a:ahLst/>
              <a:cxnLst/>
              <a:rect l="l" t="t" r="r" b="b"/>
              <a:pathLst>
                <a:path w="5713243" h="5713243">
                  <a:moveTo>
                    <a:pt x="0" y="0"/>
                  </a:moveTo>
                  <a:lnTo>
                    <a:pt x="5713243" y="0"/>
                  </a:lnTo>
                  <a:lnTo>
                    <a:pt x="5713243" y="5713243"/>
                  </a:lnTo>
                  <a:lnTo>
                    <a:pt x="0" y="57132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23" name="Freeform 23"/>
            <p:cNvSpPr/>
            <p:nvPr/>
          </p:nvSpPr>
          <p:spPr>
            <a:xfrm>
              <a:off x="153891" y="153891"/>
              <a:ext cx="5405461" cy="5405461"/>
            </a:xfrm>
            <a:custGeom>
              <a:avLst/>
              <a:gdLst/>
              <a:ahLst/>
              <a:cxnLst/>
              <a:rect l="l" t="t" r="r" b="b"/>
              <a:pathLst>
                <a:path w="5405461" h="5405461">
                  <a:moveTo>
                    <a:pt x="0" y="0"/>
                  </a:moveTo>
                  <a:lnTo>
                    <a:pt x="5405461" y="0"/>
                  </a:lnTo>
                  <a:lnTo>
                    <a:pt x="5405461" y="5405461"/>
                  </a:lnTo>
                  <a:lnTo>
                    <a:pt x="0" y="54054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</p:sp>
      </p:grpSp>
      <p:sp>
        <p:nvSpPr>
          <p:cNvPr id="24" name="TextBox 24"/>
          <p:cNvSpPr txBox="1"/>
          <p:nvPr/>
        </p:nvSpPr>
        <p:spPr>
          <a:xfrm>
            <a:off x="14077200" y="2788603"/>
            <a:ext cx="2994985" cy="638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49"/>
              </a:lnSpc>
            </a:pPr>
            <a:r>
              <a:rPr lang="en-US" sz="4499" b="1">
                <a:solidFill>
                  <a:srgbClr val="86EAE9"/>
                </a:solidFill>
                <a:latin typeface="Aileron Heavy"/>
                <a:ea typeface="Aileron Heavy"/>
                <a:cs typeface="Aileron Heavy"/>
                <a:sym typeface="Aileron Heavy"/>
              </a:rPr>
              <a:t>Prévision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3793517" y="5453110"/>
            <a:ext cx="3562350" cy="44519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40"/>
              </a:lnSpc>
            </a:pPr>
            <a:r>
              <a:rPr lang="en-US" sz="2100" b="1" spc="105">
                <a:solidFill>
                  <a:srgbClr val="191919"/>
                </a:solidFill>
                <a:latin typeface="Aileron Bold"/>
                <a:ea typeface="Aileron Bold"/>
                <a:cs typeface="Aileron Bold"/>
                <a:sym typeface="Aileron Bold"/>
              </a:rPr>
              <a:t>Estimation des valeurs futures d’une série temporelle sur la base des observations passées et des structures identifiées en intégrant les composantes essentielles telles que la tendance, la saisonnalité à l’aide de méthodes statistiques et mathématiques</a:t>
            </a:r>
          </a:p>
        </p:txBody>
      </p:sp>
    </p:spTree>
  </p:cSld>
  <p:clrMapOvr>
    <a:masterClrMapping/>
  </p:clrMapOvr>
  <p:transition spd="slow">
    <p:push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1471508">
            <a:off x="7442248" y="-3517885"/>
            <a:ext cx="2160993" cy="11665743"/>
            <a:chOff x="0" y="0"/>
            <a:chExt cx="597206" cy="322391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597206" cy="3223913"/>
            </a:xfrm>
            <a:custGeom>
              <a:avLst/>
              <a:gdLst/>
              <a:ahLst/>
              <a:cxnLst/>
              <a:rect l="l" t="t" r="r" b="b"/>
              <a:pathLst>
                <a:path w="597206" h="3223913">
                  <a:moveTo>
                    <a:pt x="0" y="0"/>
                  </a:moveTo>
                  <a:lnTo>
                    <a:pt x="597206" y="0"/>
                  </a:lnTo>
                  <a:lnTo>
                    <a:pt x="597206" y="3223913"/>
                  </a:lnTo>
                  <a:lnTo>
                    <a:pt x="0" y="3223913"/>
                  </a:lnTo>
                  <a:close/>
                </a:path>
              </a:pathLst>
            </a:custGeom>
            <a:solidFill>
              <a:srgbClr val="D5DADA">
                <a:alpha val="23922"/>
              </a:srgbClr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597206" cy="3262013"/>
            </a:xfrm>
            <a:prstGeom prst="rect">
              <a:avLst/>
            </a:prstGeom>
          </p:spPr>
          <p:txBody>
            <a:bodyPr lIns="35873" tIns="35873" rIns="35873" bIns="35873" rtlCol="0" anchor="ctr"/>
            <a:lstStyle/>
            <a:p>
              <a:pPr algn="ctr">
                <a:lnSpc>
                  <a:spcPts val="1384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 rot="1471508">
            <a:off x="7842796" y="1744300"/>
            <a:ext cx="2160993" cy="11212989"/>
            <a:chOff x="0" y="0"/>
            <a:chExt cx="597206" cy="3098792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597206" cy="3098791"/>
            </a:xfrm>
            <a:custGeom>
              <a:avLst/>
              <a:gdLst/>
              <a:ahLst/>
              <a:cxnLst/>
              <a:rect l="l" t="t" r="r" b="b"/>
              <a:pathLst>
                <a:path w="597206" h="3098791">
                  <a:moveTo>
                    <a:pt x="0" y="0"/>
                  </a:moveTo>
                  <a:lnTo>
                    <a:pt x="597206" y="0"/>
                  </a:lnTo>
                  <a:lnTo>
                    <a:pt x="597206" y="3098791"/>
                  </a:lnTo>
                  <a:lnTo>
                    <a:pt x="0" y="3098791"/>
                  </a:lnTo>
                  <a:close/>
                </a:path>
              </a:pathLst>
            </a:custGeom>
            <a:solidFill>
              <a:srgbClr val="D5DADA">
                <a:alpha val="23922"/>
              </a:srgbClr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597206" cy="3136892"/>
            </a:xfrm>
            <a:prstGeom prst="rect">
              <a:avLst/>
            </a:prstGeom>
          </p:spPr>
          <p:txBody>
            <a:bodyPr lIns="35873" tIns="35873" rIns="35873" bIns="35873" rtlCol="0" anchor="ctr"/>
            <a:lstStyle/>
            <a:p>
              <a:pPr algn="ctr">
                <a:lnSpc>
                  <a:spcPts val="1384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1015140" y="5027944"/>
            <a:ext cx="10518155" cy="10518113"/>
            <a:chOff x="0" y="0"/>
            <a:chExt cx="6350000" cy="6349975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6350000" cy="6349975"/>
            </a:xfrm>
            <a:custGeom>
              <a:avLst/>
              <a:gdLst/>
              <a:ahLst/>
              <a:cxnLst/>
              <a:rect l="l" t="t" r="r" b="b"/>
              <a:pathLst>
                <a:path w="6350000" h="6349975">
                  <a:moveTo>
                    <a:pt x="6350000" y="3175025"/>
                  </a:moveTo>
                  <a:cubicBezTo>
                    <a:pt x="6350000" y="4928451"/>
                    <a:pt x="4928476" y="6349975"/>
                    <a:pt x="3175000" y="6349975"/>
                  </a:cubicBezTo>
                  <a:cubicBezTo>
                    <a:pt x="1421498" y="6349975"/>
                    <a:pt x="0" y="4928451"/>
                    <a:pt x="0" y="3175025"/>
                  </a:cubicBezTo>
                  <a:cubicBezTo>
                    <a:pt x="0" y="1421511"/>
                    <a:pt x="1421498" y="0"/>
                    <a:pt x="3175000" y="0"/>
                  </a:cubicBezTo>
                  <a:cubicBezTo>
                    <a:pt x="4928502" y="0"/>
                    <a:pt x="6350000" y="1421511"/>
                    <a:pt x="6350000" y="3175025"/>
                  </a:cubicBezTo>
                  <a:close/>
                </a:path>
              </a:pathLst>
            </a:custGeom>
            <a:blipFill>
              <a:blip r:embed="rId2"/>
              <a:stretch>
                <a:fillRect l="-25471" r="-25471"/>
              </a:stretch>
            </a:blipFill>
          </p:spPr>
        </p:sp>
      </p:grpSp>
      <p:grpSp>
        <p:nvGrpSpPr>
          <p:cNvPr id="10" name="Group 10"/>
          <p:cNvGrpSpPr/>
          <p:nvPr/>
        </p:nvGrpSpPr>
        <p:grpSpPr>
          <a:xfrm>
            <a:off x="11800842" y="5813625"/>
            <a:ext cx="8946750" cy="8946750"/>
            <a:chOff x="0" y="0"/>
            <a:chExt cx="812800" cy="8128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04775" cap="sq">
              <a:solidFill>
                <a:srgbClr val="FFFFFF"/>
              </a:solidFill>
              <a:prstDash val="solid"/>
              <a:miter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35873" tIns="35873" rIns="35873" bIns="35873" rtlCol="0" anchor="ctr"/>
            <a:lstStyle/>
            <a:p>
              <a:pPr algn="ctr">
                <a:lnSpc>
                  <a:spcPts val="1384"/>
                </a:lnSpc>
              </a:pPr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-4524129" y="-3792316"/>
            <a:ext cx="10518155" cy="10518113"/>
            <a:chOff x="0" y="0"/>
            <a:chExt cx="6350000" cy="6349975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6350000" cy="6349975"/>
            </a:xfrm>
            <a:custGeom>
              <a:avLst/>
              <a:gdLst/>
              <a:ahLst/>
              <a:cxnLst/>
              <a:rect l="l" t="t" r="r" b="b"/>
              <a:pathLst>
                <a:path w="6350000" h="6349975">
                  <a:moveTo>
                    <a:pt x="6350000" y="3175025"/>
                  </a:moveTo>
                  <a:cubicBezTo>
                    <a:pt x="6350000" y="4928451"/>
                    <a:pt x="4928476" y="6349975"/>
                    <a:pt x="3175000" y="6349975"/>
                  </a:cubicBezTo>
                  <a:cubicBezTo>
                    <a:pt x="1421498" y="6349975"/>
                    <a:pt x="0" y="4928451"/>
                    <a:pt x="0" y="3175025"/>
                  </a:cubicBezTo>
                  <a:cubicBezTo>
                    <a:pt x="0" y="1421511"/>
                    <a:pt x="1421498" y="0"/>
                    <a:pt x="3175000" y="0"/>
                  </a:cubicBezTo>
                  <a:cubicBezTo>
                    <a:pt x="4928502" y="0"/>
                    <a:pt x="6350000" y="1421511"/>
                    <a:pt x="6350000" y="3175025"/>
                  </a:cubicBezTo>
                  <a:close/>
                </a:path>
              </a:pathLst>
            </a:custGeom>
            <a:blipFill>
              <a:blip r:embed="rId3"/>
              <a:stretch>
                <a:fillRect l="-25471" r="-25471"/>
              </a:stretch>
            </a:blipFill>
          </p:spPr>
        </p:sp>
      </p:grpSp>
      <p:grpSp>
        <p:nvGrpSpPr>
          <p:cNvPr id="15" name="Group 15"/>
          <p:cNvGrpSpPr/>
          <p:nvPr/>
        </p:nvGrpSpPr>
        <p:grpSpPr>
          <a:xfrm>
            <a:off x="-3738427" y="-3006635"/>
            <a:ext cx="8946750" cy="8946750"/>
            <a:chOff x="0" y="0"/>
            <a:chExt cx="812800" cy="81280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04775" cap="sq">
              <a:solidFill>
                <a:srgbClr val="FFFFFF"/>
              </a:solidFill>
              <a:prstDash val="solid"/>
              <a:miter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35873" tIns="35873" rIns="35873" bIns="35873" rtlCol="0" anchor="ctr"/>
            <a:lstStyle/>
            <a:p>
              <a:pPr algn="ctr">
                <a:lnSpc>
                  <a:spcPts val="1384"/>
                </a:lnSpc>
              </a:pPr>
              <a:endParaRPr/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4872773" y="3729254"/>
            <a:ext cx="9603851" cy="1734271"/>
            <a:chOff x="0" y="0"/>
            <a:chExt cx="1468439" cy="265172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468439" cy="265172"/>
            </a:xfrm>
            <a:custGeom>
              <a:avLst/>
              <a:gdLst/>
              <a:ahLst/>
              <a:cxnLst/>
              <a:rect l="l" t="t" r="r" b="b"/>
              <a:pathLst>
                <a:path w="1468439" h="265172">
                  <a:moveTo>
                    <a:pt x="13704" y="0"/>
                  </a:moveTo>
                  <a:lnTo>
                    <a:pt x="1454735" y="0"/>
                  </a:lnTo>
                  <a:cubicBezTo>
                    <a:pt x="1462303" y="0"/>
                    <a:pt x="1468439" y="6136"/>
                    <a:pt x="1468439" y="13704"/>
                  </a:cubicBezTo>
                  <a:lnTo>
                    <a:pt x="1468439" y="251468"/>
                  </a:lnTo>
                  <a:cubicBezTo>
                    <a:pt x="1468439" y="255102"/>
                    <a:pt x="1466995" y="258588"/>
                    <a:pt x="1464425" y="261158"/>
                  </a:cubicBezTo>
                  <a:cubicBezTo>
                    <a:pt x="1461855" y="263728"/>
                    <a:pt x="1458370" y="265172"/>
                    <a:pt x="1454735" y="265172"/>
                  </a:cubicBezTo>
                  <a:lnTo>
                    <a:pt x="13704" y="265172"/>
                  </a:lnTo>
                  <a:cubicBezTo>
                    <a:pt x="6136" y="265172"/>
                    <a:pt x="0" y="259036"/>
                    <a:pt x="0" y="251468"/>
                  </a:cubicBezTo>
                  <a:lnTo>
                    <a:pt x="0" y="13704"/>
                  </a:lnTo>
                  <a:cubicBezTo>
                    <a:pt x="0" y="6136"/>
                    <a:pt x="6136" y="0"/>
                    <a:pt x="13704" y="0"/>
                  </a:cubicBezTo>
                  <a:close/>
                </a:path>
              </a:pathLst>
            </a:custGeom>
            <a:solidFill>
              <a:srgbClr val="FAFAFA"/>
            </a:solidFill>
            <a:ln w="28575" cap="sq">
              <a:solidFill>
                <a:srgbClr val="0097B2"/>
              </a:solidFill>
              <a:prstDash val="solid"/>
              <a:miter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0" y="-57150"/>
              <a:ext cx="1468439" cy="32232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  <a:endParaRPr/>
            </a:p>
          </p:txBody>
        </p:sp>
      </p:grpSp>
      <p:sp>
        <p:nvSpPr>
          <p:cNvPr id="21" name="TextBox 21"/>
          <p:cNvSpPr txBox="1"/>
          <p:nvPr/>
        </p:nvSpPr>
        <p:spPr>
          <a:xfrm>
            <a:off x="5994026" y="3760202"/>
            <a:ext cx="8482599" cy="10030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782"/>
              </a:lnSpc>
              <a:spcBef>
                <a:spcPct val="0"/>
              </a:spcBef>
            </a:pPr>
            <a:r>
              <a:rPr lang="en-US" sz="5558" b="1">
                <a:solidFill>
                  <a:srgbClr val="329A87"/>
                </a:solidFill>
                <a:latin typeface="Telegraf Bold"/>
                <a:ea typeface="Telegraf Bold"/>
                <a:cs typeface="Telegraf Bold"/>
                <a:sym typeface="Telegraf Bold"/>
              </a:rPr>
              <a:t>Présentation de la base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5994026" y="4489057"/>
            <a:ext cx="8162131" cy="782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056"/>
              </a:lnSpc>
              <a:spcBef>
                <a:spcPct val="0"/>
              </a:spcBef>
            </a:pPr>
            <a:r>
              <a:rPr lang="en-US" sz="4326">
                <a:solidFill>
                  <a:srgbClr val="000000"/>
                </a:solidFill>
                <a:latin typeface="Telegraf"/>
                <a:ea typeface="Telegraf"/>
                <a:cs typeface="Telegraf"/>
                <a:sym typeface="Telegraf"/>
              </a:rPr>
              <a:t>Série brute</a:t>
            </a:r>
          </a:p>
        </p:txBody>
      </p:sp>
      <p:sp>
        <p:nvSpPr>
          <p:cNvPr id="23" name="Freeform 23"/>
          <p:cNvSpPr/>
          <p:nvPr/>
        </p:nvSpPr>
        <p:spPr>
          <a:xfrm>
            <a:off x="4067426" y="3633090"/>
            <a:ext cx="1926599" cy="1926599"/>
          </a:xfrm>
          <a:custGeom>
            <a:avLst/>
            <a:gdLst/>
            <a:ahLst/>
            <a:cxnLst/>
            <a:rect l="l" t="t" r="r" b="b"/>
            <a:pathLst>
              <a:path w="1926599" h="1926599">
                <a:moveTo>
                  <a:pt x="0" y="0"/>
                </a:moveTo>
                <a:lnTo>
                  <a:pt x="1926600" y="0"/>
                </a:lnTo>
                <a:lnTo>
                  <a:pt x="1926600" y="1926599"/>
                </a:lnTo>
                <a:lnTo>
                  <a:pt x="0" y="192659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46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grpSp>
        <p:nvGrpSpPr>
          <p:cNvPr id="24" name="Group 24"/>
          <p:cNvGrpSpPr/>
          <p:nvPr/>
        </p:nvGrpSpPr>
        <p:grpSpPr>
          <a:xfrm>
            <a:off x="4252211" y="3817875"/>
            <a:ext cx="1557029" cy="1557029"/>
            <a:chOff x="0" y="0"/>
            <a:chExt cx="812800" cy="812800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97B2"/>
            </a:solidFill>
            <a:ln cap="sq">
              <a:noFill/>
              <a:prstDash val="solid"/>
              <a:miter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  <a:endParaRPr/>
            </a:p>
          </p:txBody>
        </p:sp>
      </p:grpSp>
      <p:sp>
        <p:nvSpPr>
          <p:cNvPr id="27" name="TextBox 27"/>
          <p:cNvSpPr txBox="1"/>
          <p:nvPr/>
        </p:nvSpPr>
        <p:spPr>
          <a:xfrm>
            <a:off x="4357484" y="3784937"/>
            <a:ext cx="1346483" cy="13943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785"/>
              </a:lnSpc>
              <a:spcBef>
                <a:spcPct val="0"/>
              </a:spcBef>
            </a:pPr>
            <a:r>
              <a:rPr lang="en-US" sz="7703" b="1">
                <a:solidFill>
                  <a:srgbClr val="FFFFFF"/>
                </a:solidFill>
                <a:latin typeface="Telegraf Bold"/>
                <a:ea typeface="Telegraf Bold"/>
                <a:cs typeface="Telegraf Bold"/>
                <a:sym typeface="Telegraf Bold"/>
              </a:rPr>
              <a:t>3</a:t>
            </a:r>
          </a:p>
        </p:txBody>
      </p:sp>
    </p:spTree>
  </p:cSld>
  <p:clrMapOvr>
    <a:masterClrMapping/>
  </p:clrMapOvr>
  <p:transition spd="slow">
    <p:cover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112621" y="192807"/>
            <a:ext cx="16062759" cy="644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900"/>
              </a:lnSpc>
              <a:spcBef>
                <a:spcPct val="0"/>
              </a:spcBef>
            </a:pPr>
            <a:r>
              <a:rPr lang="en-US" sz="3500" b="1">
                <a:solidFill>
                  <a:srgbClr val="1C6976"/>
                </a:solidFill>
                <a:latin typeface="Telegraf Bold"/>
                <a:ea typeface="Telegraf Bold"/>
                <a:cs typeface="Telegraf Bold"/>
                <a:sym typeface="Telegraf Bold"/>
              </a:rPr>
              <a:t>Evolution de la série du PIB trimestriel du Sénégal (en milliards de FCFA)</a:t>
            </a:r>
          </a:p>
        </p:txBody>
      </p:sp>
      <p:graphicFrame>
        <p:nvGraphicFramePr>
          <p:cNvPr id="3" name="Object 3"/>
          <p:cNvGraphicFramePr/>
          <p:nvPr/>
        </p:nvGraphicFramePr>
        <p:xfrm>
          <a:off x="1383045" y="1028700"/>
          <a:ext cx="6286500" cy="7543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6" name="Worksheet" r:id="rId3" imgW="7785100" imgH="9042400" progId="Excel.Sheet.12">
                  <p:embed/>
                </p:oleObj>
              </mc:Choice>
              <mc:Fallback>
                <p:oleObj name="Worksheet" r:id="rId3" imgW="7785100" imgH="9042400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383045" y="1028700"/>
                        <a:ext cx="6286500" cy="75438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ransition spd="slow">
    <p:cover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1471508">
            <a:off x="7442248" y="-3517885"/>
            <a:ext cx="2160993" cy="11665743"/>
            <a:chOff x="0" y="0"/>
            <a:chExt cx="597206" cy="322391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597206" cy="3223913"/>
            </a:xfrm>
            <a:custGeom>
              <a:avLst/>
              <a:gdLst/>
              <a:ahLst/>
              <a:cxnLst/>
              <a:rect l="l" t="t" r="r" b="b"/>
              <a:pathLst>
                <a:path w="597206" h="3223913">
                  <a:moveTo>
                    <a:pt x="0" y="0"/>
                  </a:moveTo>
                  <a:lnTo>
                    <a:pt x="597206" y="0"/>
                  </a:lnTo>
                  <a:lnTo>
                    <a:pt x="597206" y="3223913"/>
                  </a:lnTo>
                  <a:lnTo>
                    <a:pt x="0" y="3223913"/>
                  </a:lnTo>
                  <a:close/>
                </a:path>
              </a:pathLst>
            </a:custGeom>
            <a:solidFill>
              <a:srgbClr val="D5DADA">
                <a:alpha val="23922"/>
              </a:srgbClr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597206" cy="3262013"/>
            </a:xfrm>
            <a:prstGeom prst="rect">
              <a:avLst/>
            </a:prstGeom>
          </p:spPr>
          <p:txBody>
            <a:bodyPr lIns="35873" tIns="35873" rIns="35873" bIns="35873" rtlCol="0" anchor="ctr"/>
            <a:lstStyle/>
            <a:p>
              <a:pPr algn="ctr">
                <a:lnSpc>
                  <a:spcPts val="1384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 rot="1471508">
            <a:off x="7842796" y="1744300"/>
            <a:ext cx="2160993" cy="11212989"/>
            <a:chOff x="0" y="0"/>
            <a:chExt cx="597206" cy="3098792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597206" cy="3098791"/>
            </a:xfrm>
            <a:custGeom>
              <a:avLst/>
              <a:gdLst/>
              <a:ahLst/>
              <a:cxnLst/>
              <a:rect l="l" t="t" r="r" b="b"/>
              <a:pathLst>
                <a:path w="597206" h="3098791">
                  <a:moveTo>
                    <a:pt x="0" y="0"/>
                  </a:moveTo>
                  <a:lnTo>
                    <a:pt x="597206" y="0"/>
                  </a:lnTo>
                  <a:lnTo>
                    <a:pt x="597206" y="3098791"/>
                  </a:lnTo>
                  <a:lnTo>
                    <a:pt x="0" y="3098791"/>
                  </a:lnTo>
                  <a:close/>
                </a:path>
              </a:pathLst>
            </a:custGeom>
            <a:solidFill>
              <a:srgbClr val="D5DADA">
                <a:alpha val="23922"/>
              </a:srgbClr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597206" cy="3136892"/>
            </a:xfrm>
            <a:prstGeom prst="rect">
              <a:avLst/>
            </a:prstGeom>
          </p:spPr>
          <p:txBody>
            <a:bodyPr lIns="35873" tIns="35873" rIns="35873" bIns="35873" rtlCol="0" anchor="ctr"/>
            <a:lstStyle/>
            <a:p>
              <a:pPr algn="ctr">
                <a:lnSpc>
                  <a:spcPts val="1384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1015140" y="5027944"/>
            <a:ext cx="10518155" cy="10518113"/>
            <a:chOff x="0" y="0"/>
            <a:chExt cx="6350000" cy="6349975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6350000" cy="6349975"/>
            </a:xfrm>
            <a:custGeom>
              <a:avLst/>
              <a:gdLst/>
              <a:ahLst/>
              <a:cxnLst/>
              <a:rect l="l" t="t" r="r" b="b"/>
              <a:pathLst>
                <a:path w="6350000" h="6349975">
                  <a:moveTo>
                    <a:pt x="6350000" y="3175025"/>
                  </a:moveTo>
                  <a:cubicBezTo>
                    <a:pt x="6350000" y="4928451"/>
                    <a:pt x="4928476" y="6349975"/>
                    <a:pt x="3175000" y="6349975"/>
                  </a:cubicBezTo>
                  <a:cubicBezTo>
                    <a:pt x="1421498" y="6349975"/>
                    <a:pt x="0" y="4928451"/>
                    <a:pt x="0" y="3175025"/>
                  </a:cubicBezTo>
                  <a:cubicBezTo>
                    <a:pt x="0" y="1421511"/>
                    <a:pt x="1421498" y="0"/>
                    <a:pt x="3175000" y="0"/>
                  </a:cubicBezTo>
                  <a:cubicBezTo>
                    <a:pt x="4928502" y="0"/>
                    <a:pt x="6350000" y="1421511"/>
                    <a:pt x="6350000" y="3175025"/>
                  </a:cubicBezTo>
                  <a:close/>
                </a:path>
              </a:pathLst>
            </a:custGeom>
            <a:blipFill>
              <a:blip r:embed="rId2"/>
              <a:stretch>
                <a:fillRect l="-25471" r="-25471"/>
              </a:stretch>
            </a:blipFill>
          </p:spPr>
        </p:sp>
      </p:grpSp>
      <p:grpSp>
        <p:nvGrpSpPr>
          <p:cNvPr id="10" name="Group 10"/>
          <p:cNvGrpSpPr/>
          <p:nvPr/>
        </p:nvGrpSpPr>
        <p:grpSpPr>
          <a:xfrm>
            <a:off x="11800842" y="5813625"/>
            <a:ext cx="8946750" cy="8946750"/>
            <a:chOff x="0" y="0"/>
            <a:chExt cx="812800" cy="8128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04775" cap="sq">
              <a:solidFill>
                <a:srgbClr val="FFFFFF"/>
              </a:solidFill>
              <a:prstDash val="solid"/>
              <a:miter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35873" tIns="35873" rIns="35873" bIns="35873" rtlCol="0" anchor="ctr"/>
            <a:lstStyle/>
            <a:p>
              <a:pPr algn="ctr">
                <a:lnSpc>
                  <a:spcPts val="1384"/>
                </a:lnSpc>
              </a:pPr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-4524129" y="-3792316"/>
            <a:ext cx="10518155" cy="10518113"/>
            <a:chOff x="0" y="0"/>
            <a:chExt cx="6350000" cy="6349975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6350000" cy="6349975"/>
            </a:xfrm>
            <a:custGeom>
              <a:avLst/>
              <a:gdLst/>
              <a:ahLst/>
              <a:cxnLst/>
              <a:rect l="l" t="t" r="r" b="b"/>
              <a:pathLst>
                <a:path w="6350000" h="6349975">
                  <a:moveTo>
                    <a:pt x="6350000" y="3175025"/>
                  </a:moveTo>
                  <a:cubicBezTo>
                    <a:pt x="6350000" y="4928451"/>
                    <a:pt x="4928476" y="6349975"/>
                    <a:pt x="3175000" y="6349975"/>
                  </a:cubicBezTo>
                  <a:cubicBezTo>
                    <a:pt x="1421498" y="6349975"/>
                    <a:pt x="0" y="4928451"/>
                    <a:pt x="0" y="3175025"/>
                  </a:cubicBezTo>
                  <a:cubicBezTo>
                    <a:pt x="0" y="1421511"/>
                    <a:pt x="1421498" y="0"/>
                    <a:pt x="3175000" y="0"/>
                  </a:cubicBezTo>
                  <a:cubicBezTo>
                    <a:pt x="4928502" y="0"/>
                    <a:pt x="6350000" y="1421511"/>
                    <a:pt x="6350000" y="3175025"/>
                  </a:cubicBezTo>
                  <a:close/>
                </a:path>
              </a:pathLst>
            </a:custGeom>
            <a:blipFill>
              <a:blip r:embed="rId3"/>
              <a:stretch>
                <a:fillRect l="-25471" r="-25471"/>
              </a:stretch>
            </a:blipFill>
          </p:spPr>
        </p:sp>
      </p:grpSp>
      <p:grpSp>
        <p:nvGrpSpPr>
          <p:cNvPr id="15" name="Group 15"/>
          <p:cNvGrpSpPr/>
          <p:nvPr/>
        </p:nvGrpSpPr>
        <p:grpSpPr>
          <a:xfrm>
            <a:off x="-3738427" y="-3006635"/>
            <a:ext cx="8946750" cy="8946750"/>
            <a:chOff x="0" y="0"/>
            <a:chExt cx="812800" cy="81280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04775" cap="sq">
              <a:solidFill>
                <a:srgbClr val="FFFFFF"/>
              </a:solidFill>
              <a:prstDash val="solid"/>
              <a:miter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35873" tIns="35873" rIns="35873" bIns="35873" rtlCol="0" anchor="ctr"/>
            <a:lstStyle/>
            <a:p>
              <a:pPr algn="ctr">
                <a:lnSpc>
                  <a:spcPts val="1384"/>
                </a:lnSpc>
              </a:pPr>
              <a:endParaRPr/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4872773" y="3729254"/>
            <a:ext cx="9283384" cy="1734271"/>
            <a:chOff x="0" y="0"/>
            <a:chExt cx="1419439" cy="265172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419439" cy="265172"/>
            </a:xfrm>
            <a:custGeom>
              <a:avLst/>
              <a:gdLst/>
              <a:ahLst/>
              <a:cxnLst/>
              <a:rect l="l" t="t" r="r" b="b"/>
              <a:pathLst>
                <a:path w="1419439" h="265172">
                  <a:moveTo>
                    <a:pt x="14177" y="0"/>
                  </a:moveTo>
                  <a:lnTo>
                    <a:pt x="1405262" y="0"/>
                  </a:lnTo>
                  <a:cubicBezTo>
                    <a:pt x="1409022" y="0"/>
                    <a:pt x="1412628" y="1494"/>
                    <a:pt x="1415287" y="4152"/>
                  </a:cubicBezTo>
                  <a:cubicBezTo>
                    <a:pt x="1417946" y="6811"/>
                    <a:pt x="1419439" y="10417"/>
                    <a:pt x="1419439" y="14177"/>
                  </a:cubicBezTo>
                  <a:lnTo>
                    <a:pt x="1419439" y="250995"/>
                  </a:lnTo>
                  <a:cubicBezTo>
                    <a:pt x="1419439" y="254755"/>
                    <a:pt x="1417946" y="258361"/>
                    <a:pt x="1415287" y="261019"/>
                  </a:cubicBezTo>
                  <a:cubicBezTo>
                    <a:pt x="1412628" y="263678"/>
                    <a:pt x="1409022" y="265172"/>
                    <a:pt x="1405262" y="265172"/>
                  </a:cubicBezTo>
                  <a:lnTo>
                    <a:pt x="14177" y="265172"/>
                  </a:lnTo>
                  <a:cubicBezTo>
                    <a:pt x="10417" y="265172"/>
                    <a:pt x="6811" y="263678"/>
                    <a:pt x="4152" y="261019"/>
                  </a:cubicBezTo>
                  <a:cubicBezTo>
                    <a:pt x="1494" y="258361"/>
                    <a:pt x="0" y="254755"/>
                    <a:pt x="0" y="250995"/>
                  </a:cubicBezTo>
                  <a:lnTo>
                    <a:pt x="0" y="14177"/>
                  </a:lnTo>
                  <a:cubicBezTo>
                    <a:pt x="0" y="10417"/>
                    <a:pt x="1494" y="6811"/>
                    <a:pt x="4152" y="4152"/>
                  </a:cubicBezTo>
                  <a:cubicBezTo>
                    <a:pt x="6811" y="1494"/>
                    <a:pt x="10417" y="0"/>
                    <a:pt x="14177" y="0"/>
                  </a:cubicBezTo>
                  <a:close/>
                </a:path>
              </a:pathLst>
            </a:custGeom>
            <a:solidFill>
              <a:srgbClr val="FAFAFA"/>
            </a:solidFill>
            <a:ln w="28575" cap="sq">
              <a:solidFill>
                <a:srgbClr val="0097B2"/>
              </a:solidFill>
              <a:prstDash val="solid"/>
              <a:miter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0" y="-57150"/>
              <a:ext cx="1419439" cy="32232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  <a:endParaRPr/>
            </a:p>
          </p:txBody>
        </p:sp>
      </p:grpSp>
      <p:sp>
        <p:nvSpPr>
          <p:cNvPr id="21" name="TextBox 21"/>
          <p:cNvSpPr txBox="1"/>
          <p:nvPr/>
        </p:nvSpPr>
        <p:spPr>
          <a:xfrm>
            <a:off x="5994026" y="3760202"/>
            <a:ext cx="8162131" cy="10030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782"/>
              </a:lnSpc>
              <a:spcBef>
                <a:spcPct val="0"/>
              </a:spcBef>
            </a:pPr>
            <a:r>
              <a:rPr lang="en-US" sz="5558" b="1">
                <a:solidFill>
                  <a:srgbClr val="329A87"/>
                </a:solidFill>
                <a:latin typeface="Telegraf Bold"/>
                <a:ea typeface="Telegraf Bold"/>
                <a:cs typeface="Telegraf Bold"/>
                <a:sym typeface="Telegraf Bold"/>
              </a:rPr>
              <a:t>Méthodologie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5994026" y="4489057"/>
            <a:ext cx="8162131" cy="782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056"/>
              </a:lnSpc>
              <a:spcBef>
                <a:spcPct val="0"/>
              </a:spcBef>
            </a:pPr>
            <a:r>
              <a:rPr lang="en-US" sz="4326">
                <a:solidFill>
                  <a:srgbClr val="000000"/>
                </a:solidFill>
                <a:latin typeface="Telegraf"/>
                <a:ea typeface="Telegraf"/>
                <a:cs typeface="Telegraf"/>
                <a:sym typeface="Telegraf"/>
              </a:rPr>
              <a:t>Etapes de l’analyse du PIB</a:t>
            </a:r>
          </a:p>
        </p:txBody>
      </p:sp>
      <p:sp>
        <p:nvSpPr>
          <p:cNvPr id="23" name="Freeform 23"/>
          <p:cNvSpPr/>
          <p:nvPr/>
        </p:nvSpPr>
        <p:spPr>
          <a:xfrm>
            <a:off x="4067426" y="3633090"/>
            <a:ext cx="1926599" cy="1926599"/>
          </a:xfrm>
          <a:custGeom>
            <a:avLst/>
            <a:gdLst/>
            <a:ahLst/>
            <a:cxnLst/>
            <a:rect l="l" t="t" r="r" b="b"/>
            <a:pathLst>
              <a:path w="1926599" h="1926599">
                <a:moveTo>
                  <a:pt x="0" y="0"/>
                </a:moveTo>
                <a:lnTo>
                  <a:pt x="1926600" y="0"/>
                </a:lnTo>
                <a:lnTo>
                  <a:pt x="1926600" y="1926599"/>
                </a:lnTo>
                <a:lnTo>
                  <a:pt x="0" y="192659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46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grpSp>
        <p:nvGrpSpPr>
          <p:cNvPr id="24" name="Group 24"/>
          <p:cNvGrpSpPr/>
          <p:nvPr/>
        </p:nvGrpSpPr>
        <p:grpSpPr>
          <a:xfrm>
            <a:off x="4252211" y="3817875"/>
            <a:ext cx="1557029" cy="1557029"/>
            <a:chOff x="0" y="0"/>
            <a:chExt cx="812800" cy="812800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97B2"/>
            </a:solidFill>
            <a:ln cap="sq">
              <a:noFill/>
              <a:prstDash val="solid"/>
              <a:miter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  <a:endParaRPr/>
            </a:p>
          </p:txBody>
        </p:sp>
      </p:grpSp>
      <p:sp>
        <p:nvSpPr>
          <p:cNvPr id="27" name="TextBox 27"/>
          <p:cNvSpPr txBox="1"/>
          <p:nvPr/>
        </p:nvSpPr>
        <p:spPr>
          <a:xfrm>
            <a:off x="4357484" y="3784937"/>
            <a:ext cx="1346483" cy="13943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785"/>
              </a:lnSpc>
              <a:spcBef>
                <a:spcPct val="0"/>
              </a:spcBef>
            </a:pPr>
            <a:r>
              <a:rPr lang="en-US" sz="7703" b="1">
                <a:solidFill>
                  <a:srgbClr val="FFFFFF"/>
                </a:solidFill>
                <a:latin typeface="Telegraf Bold"/>
                <a:ea typeface="Telegraf Bold"/>
                <a:cs typeface="Telegraf Bold"/>
                <a:sym typeface="Telegraf Bold"/>
              </a:rPr>
              <a:t>4</a:t>
            </a:r>
          </a:p>
        </p:txBody>
      </p:sp>
    </p:spTree>
  </p:cSld>
  <p:clrMapOvr>
    <a:masterClrMapping/>
  </p:clrMapOvr>
  <p:transition spd="slow">
    <p:push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99636" y="652506"/>
            <a:ext cx="8541823" cy="8541823"/>
          </a:xfrm>
          <a:prstGeom prst="rect">
            <a:avLst/>
          </a:prstGeom>
        </p:spPr>
      </p:pic>
      <p:sp>
        <p:nvSpPr>
          <p:cNvPr id="3" name="Freeform 3"/>
          <p:cNvSpPr/>
          <p:nvPr/>
        </p:nvSpPr>
        <p:spPr>
          <a:xfrm>
            <a:off x="9469004" y="1851342"/>
            <a:ext cx="6051674" cy="6051674"/>
          </a:xfrm>
          <a:custGeom>
            <a:avLst/>
            <a:gdLst/>
            <a:ahLst/>
            <a:cxnLst/>
            <a:rect l="l" t="t" r="r" b="b"/>
            <a:pathLst>
              <a:path w="6051674" h="6051674">
                <a:moveTo>
                  <a:pt x="0" y="0"/>
                </a:moveTo>
                <a:lnTo>
                  <a:pt x="6051674" y="0"/>
                </a:lnTo>
                <a:lnTo>
                  <a:pt x="6051674" y="6051674"/>
                </a:lnTo>
                <a:lnTo>
                  <a:pt x="0" y="6051674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4" name="TextBox 4"/>
          <p:cNvSpPr txBox="1"/>
          <p:nvPr/>
        </p:nvSpPr>
        <p:spPr>
          <a:xfrm>
            <a:off x="10513284" y="4637601"/>
            <a:ext cx="3963116" cy="5878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16"/>
              </a:lnSpc>
            </a:pPr>
            <a:r>
              <a:rPr lang="en-US" sz="3600" b="1" spc="107">
                <a:solidFill>
                  <a:srgbClr val="365B6D"/>
                </a:solidFill>
                <a:latin typeface="Aileron Ultra-Bold"/>
                <a:ea typeface="Aileron Ultra-Bold"/>
                <a:cs typeface="Aileron Ultra-Bold"/>
                <a:sym typeface="Aileron Ultra-Bold"/>
              </a:rPr>
              <a:t>MÉTHODOLOGIE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651170" y="1950994"/>
            <a:ext cx="445592" cy="8477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299"/>
              </a:lnSpc>
            </a:pPr>
            <a:r>
              <a:rPr lang="en-US" sz="4499" spc="584">
                <a:solidFill>
                  <a:srgbClr val="F7F7F7"/>
                </a:solidFill>
                <a:latin typeface="Kaftus"/>
                <a:ea typeface="Kaftus"/>
                <a:cs typeface="Kaftus"/>
                <a:sym typeface="Kaftus"/>
              </a:rPr>
              <a:t>1</a:t>
            </a:r>
          </a:p>
        </p:txBody>
      </p:sp>
      <p:sp>
        <p:nvSpPr>
          <p:cNvPr id="6" name="AutoShape 6"/>
          <p:cNvSpPr/>
          <p:nvPr/>
        </p:nvSpPr>
        <p:spPr>
          <a:xfrm>
            <a:off x="1028700" y="1197941"/>
            <a:ext cx="6202838" cy="1137904"/>
          </a:xfrm>
          <a:prstGeom prst="rect">
            <a:avLst/>
          </a:prstGeom>
          <a:solidFill>
            <a:srgbClr val="1D4355"/>
          </a:solidFill>
        </p:spPr>
      </p:sp>
      <p:sp>
        <p:nvSpPr>
          <p:cNvPr id="7" name="TextBox 7"/>
          <p:cNvSpPr txBox="1"/>
          <p:nvPr/>
        </p:nvSpPr>
        <p:spPr>
          <a:xfrm>
            <a:off x="1268623" y="1275754"/>
            <a:ext cx="3837454" cy="9156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08"/>
              </a:lnSpc>
            </a:pPr>
            <a:r>
              <a:rPr lang="en-US" sz="2577" b="1" spc="335">
                <a:solidFill>
                  <a:srgbClr val="F7F7F7"/>
                </a:solidFill>
                <a:latin typeface="Aileron Bold"/>
                <a:ea typeface="Aileron Bold"/>
                <a:cs typeface="Aileron Bold"/>
                <a:sym typeface="Aileron Bold"/>
              </a:rPr>
              <a:t>PRÉPARATION DES DONNÉES</a:t>
            </a:r>
          </a:p>
        </p:txBody>
      </p:sp>
      <p:sp>
        <p:nvSpPr>
          <p:cNvPr id="8" name="AutoShape 8"/>
          <p:cNvSpPr/>
          <p:nvPr/>
        </p:nvSpPr>
        <p:spPr>
          <a:xfrm>
            <a:off x="1028700" y="2548255"/>
            <a:ext cx="6202838" cy="1137904"/>
          </a:xfrm>
          <a:prstGeom prst="rect">
            <a:avLst/>
          </a:prstGeom>
          <a:solidFill>
            <a:srgbClr val="289DD2"/>
          </a:solidFill>
        </p:spPr>
      </p:sp>
      <p:sp>
        <p:nvSpPr>
          <p:cNvPr id="9" name="AutoShape 9"/>
          <p:cNvSpPr/>
          <p:nvPr/>
        </p:nvSpPr>
        <p:spPr>
          <a:xfrm>
            <a:off x="1028700" y="3898569"/>
            <a:ext cx="6202838" cy="1137904"/>
          </a:xfrm>
          <a:prstGeom prst="rect">
            <a:avLst/>
          </a:prstGeom>
          <a:solidFill>
            <a:srgbClr val="62DDD6"/>
          </a:solidFill>
        </p:spPr>
      </p:sp>
      <p:sp>
        <p:nvSpPr>
          <p:cNvPr id="10" name="AutoShape 10"/>
          <p:cNvSpPr/>
          <p:nvPr/>
        </p:nvSpPr>
        <p:spPr>
          <a:xfrm>
            <a:off x="1028700" y="5248883"/>
            <a:ext cx="6202838" cy="1137904"/>
          </a:xfrm>
          <a:prstGeom prst="rect">
            <a:avLst/>
          </a:prstGeom>
          <a:solidFill>
            <a:srgbClr val="39B6AF"/>
          </a:solidFill>
        </p:spPr>
      </p:sp>
      <p:sp>
        <p:nvSpPr>
          <p:cNvPr id="11" name="AutoShape 11"/>
          <p:cNvSpPr/>
          <p:nvPr/>
        </p:nvSpPr>
        <p:spPr>
          <a:xfrm>
            <a:off x="1028700" y="6599197"/>
            <a:ext cx="6202838" cy="1137904"/>
          </a:xfrm>
          <a:prstGeom prst="rect">
            <a:avLst/>
          </a:prstGeom>
          <a:solidFill>
            <a:srgbClr val="4F7486"/>
          </a:solidFill>
        </p:spPr>
      </p:sp>
      <p:sp>
        <p:nvSpPr>
          <p:cNvPr id="12" name="AutoShape 12"/>
          <p:cNvSpPr/>
          <p:nvPr/>
        </p:nvSpPr>
        <p:spPr>
          <a:xfrm>
            <a:off x="1028700" y="7949511"/>
            <a:ext cx="6202838" cy="1137904"/>
          </a:xfrm>
          <a:prstGeom prst="rect">
            <a:avLst/>
          </a:prstGeom>
          <a:solidFill>
            <a:srgbClr val="6C9286"/>
          </a:solidFill>
        </p:spPr>
      </p:sp>
      <p:sp>
        <p:nvSpPr>
          <p:cNvPr id="13" name="TextBox 13"/>
          <p:cNvSpPr txBox="1"/>
          <p:nvPr/>
        </p:nvSpPr>
        <p:spPr>
          <a:xfrm>
            <a:off x="1268623" y="2626068"/>
            <a:ext cx="3837454" cy="9156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08"/>
              </a:lnSpc>
            </a:pPr>
            <a:r>
              <a:rPr lang="en-US" sz="2577" b="1" spc="335">
                <a:solidFill>
                  <a:srgbClr val="F7F7F7"/>
                </a:solidFill>
                <a:latin typeface="Aileron Bold"/>
                <a:ea typeface="Aileron Bold"/>
                <a:cs typeface="Aileron Bold"/>
                <a:sym typeface="Aileron Bold"/>
              </a:rPr>
              <a:t>VISUALISATION DE LA SÉRIE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268623" y="4204982"/>
            <a:ext cx="3837454" cy="458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08"/>
              </a:lnSpc>
            </a:pPr>
            <a:r>
              <a:rPr lang="en-US" sz="2577" b="1" spc="335">
                <a:solidFill>
                  <a:srgbClr val="F7F7F7"/>
                </a:solidFill>
                <a:latin typeface="Aileron Bold"/>
                <a:ea typeface="Aileron Bold"/>
                <a:cs typeface="Aileron Bold"/>
                <a:sym typeface="Aileron Bold"/>
              </a:rPr>
              <a:t>CHOIX DU MODÈLE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268623" y="5326696"/>
            <a:ext cx="5397792" cy="9156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08"/>
              </a:lnSpc>
            </a:pPr>
            <a:r>
              <a:rPr lang="en-US" sz="2577" b="1" spc="335">
                <a:solidFill>
                  <a:srgbClr val="F7F7F7"/>
                </a:solidFill>
                <a:latin typeface="Aileron Bold"/>
                <a:ea typeface="Aileron Bold"/>
                <a:cs typeface="Aileron Bold"/>
                <a:sym typeface="Aileron Bold"/>
              </a:rPr>
              <a:t>ANALYSE DE LA SÉRIE À PARTIR DES COMPOSANTES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268623" y="6905610"/>
            <a:ext cx="3837454" cy="458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08"/>
              </a:lnSpc>
            </a:pPr>
            <a:r>
              <a:rPr lang="en-US" sz="2577" b="1" spc="335">
                <a:solidFill>
                  <a:srgbClr val="F7F7F7"/>
                </a:solidFill>
                <a:latin typeface="Aileron Bold"/>
                <a:ea typeface="Aileron Bold"/>
                <a:cs typeface="Aileron Bold"/>
                <a:sym typeface="Aileron Bold"/>
              </a:rPr>
              <a:t>PRÉVISION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268623" y="7855851"/>
            <a:ext cx="4785313" cy="12721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82"/>
              </a:lnSpc>
            </a:pPr>
            <a:r>
              <a:rPr lang="en-US" sz="2416" b="1" spc="314">
                <a:solidFill>
                  <a:srgbClr val="F7F7F7"/>
                </a:solidFill>
                <a:latin typeface="Aileron Bold"/>
                <a:ea typeface="Aileron Bold"/>
                <a:cs typeface="Aileron Bold"/>
                <a:sym typeface="Aileron Bold"/>
              </a:rPr>
              <a:t>COMPARAISON AVEC LES RÉSULTATS DU LISSAGE EXPONENTIEL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6405373" y="1170685"/>
            <a:ext cx="522083" cy="9923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381"/>
              </a:lnSpc>
            </a:pPr>
            <a:r>
              <a:rPr lang="en-US" sz="5272" spc="685">
                <a:solidFill>
                  <a:srgbClr val="F7F7F7"/>
                </a:solidFill>
                <a:latin typeface="Kaftus"/>
                <a:ea typeface="Kaftus"/>
                <a:cs typeface="Kaftus"/>
                <a:sym typeface="Kaftus"/>
              </a:rPr>
              <a:t>1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6405373" y="6577364"/>
            <a:ext cx="522083" cy="9923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381"/>
              </a:lnSpc>
            </a:pPr>
            <a:r>
              <a:rPr lang="en-US" sz="5272" spc="685">
                <a:solidFill>
                  <a:srgbClr val="F7F7F7"/>
                </a:solidFill>
                <a:latin typeface="Kaftus"/>
                <a:ea typeface="Kaftus"/>
                <a:cs typeface="Kaftus"/>
                <a:sym typeface="Kaftus"/>
              </a:rPr>
              <a:t>5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6405373" y="2520998"/>
            <a:ext cx="522083" cy="9923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381"/>
              </a:lnSpc>
            </a:pPr>
            <a:r>
              <a:rPr lang="en-US" sz="5272" spc="685">
                <a:solidFill>
                  <a:srgbClr val="F7F7F7"/>
                </a:solidFill>
                <a:latin typeface="Kaftus"/>
                <a:ea typeface="Kaftus"/>
                <a:cs typeface="Kaftus"/>
                <a:sym typeface="Kaftus"/>
              </a:rPr>
              <a:t>2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6405373" y="3865888"/>
            <a:ext cx="522083" cy="9923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381"/>
              </a:lnSpc>
            </a:pPr>
            <a:r>
              <a:rPr lang="en-US" sz="5272" spc="685">
                <a:solidFill>
                  <a:srgbClr val="F7F7F7"/>
                </a:solidFill>
                <a:latin typeface="Kaftus"/>
                <a:ea typeface="Kaftus"/>
                <a:cs typeface="Kaftus"/>
                <a:sym typeface="Kaftus"/>
              </a:rPr>
              <a:t>3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6405373" y="5048858"/>
            <a:ext cx="522083" cy="9923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381"/>
              </a:lnSpc>
            </a:pPr>
            <a:r>
              <a:rPr lang="en-US" sz="5272" spc="685">
                <a:solidFill>
                  <a:srgbClr val="F7F7F7"/>
                </a:solidFill>
                <a:latin typeface="Kaftus"/>
                <a:ea typeface="Kaftus"/>
                <a:cs typeface="Kaftus"/>
                <a:sym typeface="Kaftus"/>
              </a:rPr>
              <a:t>4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6405373" y="7927678"/>
            <a:ext cx="522083" cy="9923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381"/>
              </a:lnSpc>
            </a:pPr>
            <a:r>
              <a:rPr lang="en-US" sz="5272" spc="685">
                <a:solidFill>
                  <a:srgbClr val="F7F7F7"/>
                </a:solidFill>
                <a:latin typeface="Kaftus"/>
                <a:ea typeface="Kaftus"/>
                <a:cs typeface="Kaftus"/>
                <a:sym typeface="Kaftus"/>
              </a:rPr>
              <a:t>6</a:t>
            </a:r>
          </a:p>
        </p:txBody>
      </p:sp>
    </p:spTree>
  </p:cSld>
  <p:clrMapOvr>
    <a:masterClrMapping/>
  </p:clrMapOvr>
  <p:transition spd="slow">
    <p:push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9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7384115" y="4912535"/>
            <a:ext cx="3519769" cy="4866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98"/>
              </a:lnSpc>
            </a:pPr>
            <a:r>
              <a:rPr lang="en-US" sz="3052" b="1" spc="91">
                <a:solidFill>
                  <a:srgbClr val="365B6D"/>
                </a:solidFill>
                <a:latin typeface="Aileron Ultra-Bold"/>
                <a:ea typeface="Aileron Ultra-Bold"/>
                <a:cs typeface="Aileron Ultra-Bold"/>
                <a:sym typeface="Aileron Ultra-Bold"/>
              </a:rPr>
              <a:t>MÉTHODOLOGIE</a:t>
            </a:r>
          </a:p>
        </p:txBody>
      </p:sp>
      <p:grpSp>
        <p:nvGrpSpPr>
          <p:cNvPr id="3" name="Group 3"/>
          <p:cNvGrpSpPr/>
          <p:nvPr/>
        </p:nvGrpSpPr>
        <p:grpSpPr>
          <a:xfrm>
            <a:off x="5488608" y="1514767"/>
            <a:ext cx="7310785" cy="7310785"/>
            <a:chOff x="0" y="0"/>
            <a:chExt cx="9747713" cy="9747713"/>
          </a:xfrm>
        </p:grpSpPr>
        <p:pic>
          <p:nvPicPr>
            <p:cNvPr id="4" name="Picture 4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-974771" y="-974771"/>
              <a:ext cx="11697256" cy="11697256"/>
            </a:xfrm>
            <a:prstGeom prst="rect">
              <a:avLst/>
            </a:prstGeom>
          </p:spPr>
        </p:pic>
        <p:sp>
          <p:nvSpPr>
            <p:cNvPr id="5" name="TextBox 5"/>
            <p:cNvSpPr txBox="1"/>
            <p:nvPr/>
          </p:nvSpPr>
          <p:spPr>
            <a:xfrm>
              <a:off x="6266033" y="866616"/>
              <a:ext cx="696111" cy="125651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7381"/>
                </a:lnSpc>
              </a:pPr>
              <a:r>
                <a:rPr lang="en-US" sz="5272" spc="685">
                  <a:solidFill>
                    <a:srgbClr val="F7F7F7"/>
                  </a:solidFill>
                  <a:latin typeface="Kaftus"/>
                  <a:ea typeface="Kaftus"/>
                  <a:cs typeface="Kaftus"/>
                  <a:sym typeface="Kaftus"/>
                </a:rPr>
                <a:t>1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8102668" y="4085617"/>
              <a:ext cx="696111" cy="125651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7381"/>
                </a:lnSpc>
              </a:pPr>
              <a:r>
                <a:rPr lang="en-US" sz="5272" spc="685">
                  <a:solidFill>
                    <a:srgbClr val="F7F7F7"/>
                  </a:solidFill>
                  <a:latin typeface="Kaftus"/>
                  <a:ea typeface="Kaftus"/>
                  <a:cs typeface="Kaftus"/>
                  <a:sym typeface="Kaftus"/>
                </a:rPr>
                <a:t>2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266033" y="7318795"/>
              <a:ext cx="696111" cy="125651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7381"/>
                </a:lnSpc>
              </a:pPr>
              <a:r>
                <a:rPr lang="en-US" sz="5272" spc="685">
                  <a:solidFill>
                    <a:srgbClr val="F7F7F7"/>
                  </a:solidFill>
                  <a:latin typeface="Kaftus"/>
                  <a:ea typeface="Kaftus"/>
                  <a:cs typeface="Kaftus"/>
                  <a:sym typeface="Kaftus"/>
                </a:rPr>
                <a:t>3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2407291" y="7294475"/>
              <a:ext cx="696111" cy="125651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7381"/>
                </a:lnSpc>
              </a:pPr>
              <a:r>
                <a:rPr lang="en-US" sz="5272" spc="685">
                  <a:solidFill>
                    <a:srgbClr val="F7F7F7"/>
                  </a:solidFill>
                  <a:latin typeface="Kaftus"/>
                  <a:ea typeface="Kaftus"/>
                  <a:cs typeface="Kaftus"/>
                  <a:sym typeface="Kaftus"/>
                </a:rPr>
                <a:t>4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049992" y="4091521"/>
              <a:ext cx="696111" cy="125651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7381"/>
                </a:lnSpc>
              </a:pPr>
              <a:r>
                <a:rPr lang="en-US" sz="5272" spc="685">
                  <a:solidFill>
                    <a:srgbClr val="F7F7F7"/>
                  </a:solidFill>
                  <a:latin typeface="Kaftus"/>
                  <a:ea typeface="Kaftus"/>
                  <a:cs typeface="Kaftus"/>
                  <a:sym typeface="Kaftus"/>
                </a:rPr>
                <a:t>5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2755347" y="866616"/>
              <a:ext cx="696111" cy="125651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7381"/>
                </a:lnSpc>
              </a:pPr>
              <a:r>
                <a:rPr lang="en-US" sz="5272" spc="685">
                  <a:solidFill>
                    <a:srgbClr val="F7F7F7"/>
                  </a:solidFill>
                  <a:latin typeface="Kaftus"/>
                  <a:ea typeface="Kaftus"/>
                  <a:cs typeface="Kaftus"/>
                  <a:sym typeface="Kaftus"/>
                </a:rPr>
                <a:t>6</a:t>
              </a:r>
            </a:p>
          </p:txBody>
        </p:sp>
      </p:grpSp>
    </p:spTree>
  </p:cSld>
  <p:clrMapOvr>
    <a:masterClrMapping/>
  </p:clrMapOvr>
  <p:transition>
    <p:push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9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028700" y="2217840"/>
            <a:ext cx="385386" cy="385386"/>
          </a:xfrm>
          <a:custGeom>
            <a:avLst/>
            <a:gdLst/>
            <a:ahLst/>
            <a:cxnLst/>
            <a:rect l="l" t="t" r="r" b="b"/>
            <a:pathLst>
              <a:path w="385386" h="385386">
                <a:moveTo>
                  <a:pt x="0" y="0"/>
                </a:moveTo>
                <a:lnTo>
                  <a:pt x="385386" y="0"/>
                </a:lnTo>
                <a:lnTo>
                  <a:pt x="385386" y="385386"/>
                </a:lnTo>
                <a:lnTo>
                  <a:pt x="0" y="38538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pic>
        <p:nvPicPr>
          <p:cNvPr id="3" name="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33534" y="555758"/>
            <a:ext cx="8772942" cy="8772942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1028700" y="926884"/>
            <a:ext cx="6107037" cy="5878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16"/>
              </a:lnSpc>
            </a:pPr>
            <a:r>
              <a:rPr lang="en-US" sz="3600" b="1" spc="107">
                <a:solidFill>
                  <a:srgbClr val="365B6D"/>
                </a:solidFill>
                <a:latin typeface="Aileron Ultra-Bold"/>
                <a:ea typeface="Aileron Ultra-Bold"/>
                <a:cs typeface="Aileron Ultra-Bold"/>
                <a:sym typeface="Aileron Ultra-Bold"/>
              </a:rPr>
              <a:t>MÉTHODOLOGIE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4064138" y="1886792"/>
            <a:ext cx="522083" cy="9923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381"/>
              </a:lnSpc>
            </a:pPr>
            <a:r>
              <a:rPr lang="en-US" sz="5272" spc="685">
                <a:solidFill>
                  <a:srgbClr val="F7F7F7"/>
                </a:solidFill>
                <a:latin typeface="Kaftus"/>
                <a:ea typeface="Kaftus"/>
                <a:cs typeface="Kaftus"/>
                <a:sym typeface="Kaftus"/>
              </a:rPr>
              <a:t>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5441614" y="4301043"/>
            <a:ext cx="522083" cy="9923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381"/>
              </a:lnSpc>
            </a:pPr>
            <a:r>
              <a:rPr lang="en-US" sz="5272" spc="685">
                <a:solidFill>
                  <a:srgbClr val="F7F7F7"/>
                </a:solidFill>
                <a:latin typeface="Kaftus"/>
                <a:ea typeface="Kaftus"/>
                <a:cs typeface="Kaftus"/>
                <a:sym typeface="Kaftus"/>
              </a:rPr>
              <a:t>2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4064138" y="6725927"/>
            <a:ext cx="522083" cy="9923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381"/>
              </a:lnSpc>
            </a:pPr>
            <a:r>
              <a:rPr lang="en-US" sz="5272" spc="685">
                <a:solidFill>
                  <a:srgbClr val="F7F7F7"/>
                </a:solidFill>
                <a:latin typeface="Kaftus"/>
                <a:ea typeface="Kaftus"/>
                <a:cs typeface="Kaftus"/>
                <a:sym typeface="Kaftus"/>
              </a:rPr>
              <a:t>3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1170082" y="6707687"/>
            <a:ext cx="522083" cy="9923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381"/>
              </a:lnSpc>
            </a:pPr>
            <a:r>
              <a:rPr lang="en-US" sz="5272" spc="685">
                <a:solidFill>
                  <a:srgbClr val="F7F7F7"/>
                </a:solidFill>
                <a:latin typeface="Kaftus"/>
                <a:ea typeface="Kaftus"/>
                <a:cs typeface="Kaftus"/>
                <a:sym typeface="Kaftus"/>
              </a:rPr>
              <a:t>4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0152107" y="4305471"/>
            <a:ext cx="522083" cy="9923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381"/>
              </a:lnSpc>
            </a:pPr>
            <a:r>
              <a:rPr lang="en-US" sz="5272" spc="685">
                <a:solidFill>
                  <a:srgbClr val="F7F7F7"/>
                </a:solidFill>
                <a:latin typeface="Kaftus"/>
                <a:ea typeface="Kaftus"/>
                <a:cs typeface="Kaftus"/>
                <a:sym typeface="Kaftus"/>
              </a:rPr>
              <a:t>5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1431124" y="1886792"/>
            <a:ext cx="522083" cy="9923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381"/>
              </a:lnSpc>
            </a:pPr>
            <a:r>
              <a:rPr lang="en-US" sz="5272" spc="685">
                <a:solidFill>
                  <a:srgbClr val="F7F7F7"/>
                </a:solidFill>
                <a:latin typeface="Kaftus"/>
                <a:ea typeface="Kaftus"/>
                <a:cs typeface="Kaftus"/>
                <a:sym typeface="Kaftus"/>
              </a:rPr>
              <a:t>6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641202" y="1972396"/>
            <a:ext cx="6839755" cy="7524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776"/>
              </a:lnSpc>
              <a:spcBef>
                <a:spcPct val="0"/>
              </a:spcBef>
            </a:pPr>
            <a:r>
              <a:rPr lang="en-US" sz="4126" b="1">
                <a:solidFill>
                  <a:srgbClr val="024854"/>
                </a:solidFill>
                <a:latin typeface="Telegraf Bold"/>
                <a:ea typeface="Telegraf Bold"/>
                <a:cs typeface="Telegraf Bold"/>
                <a:sym typeface="Telegraf Bold"/>
              </a:rPr>
              <a:t>Préparation des données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028700" y="3851609"/>
            <a:ext cx="8771947" cy="27686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420"/>
              </a:lnSpc>
            </a:pPr>
            <a:r>
              <a:rPr lang="en-US" sz="3871">
                <a:solidFill>
                  <a:srgbClr val="191919"/>
                </a:solidFill>
                <a:latin typeface="Telegraf"/>
                <a:ea typeface="Telegraf"/>
                <a:cs typeface="Telegraf"/>
                <a:sym typeface="Telegraf"/>
              </a:rPr>
              <a:t>Nettoyage, structuration et harmonisation du format des données trimestrielles du PIB pour une analyse cohérente</a:t>
            </a:r>
          </a:p>
        </p:txBody>
      </p:sp>
    </p:spTree>
  </p:cSld>
  <p:clrMapOvr>
    <a:masterClrMapping/>
  </p:clrMapOvr>
  <p:transition spd="slow">
    <p:push dir="r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9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028700" y="2217840"/>
            <a:ext cx="385386" cy="385386"/>
          </a:xfrm>
          <a:custGeom>
            <a:avLst/>
            <a:gdLst/>
            <a:ahLst/>
            <a:cxnLst/>
            <a:rect l="l" t="t" r="r" b="b"/>
            <a:pathLst>
              <a:path w="385386" h="385386">
                <a:moveTo>
                  <a:pt x="0" y="0"/>
                </a:moveTo>
                <a:lnTo>
                  <a:pt x="385386" y="0"/>
                </a:lnTo>
                <a:lnTo>
                  <a:pt x="385386" y="385386"/>
                </a:lnTo>
                <a:lnTo>
                  <a:pt x="0" y="38538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pic>
        <p:nvPicPr>
          <p:cNvPr id="3" name="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33534" y="555758"/>
            <a:ext cx="8772942" cy="8772942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1028700" y="926884"/>
            <a:ext cx="6107037" cy="5878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16"/>
              </a:lnSpc>
            </a:pPr>
            <a:r>
              <a:rPr lang="en-US" sz="3600" b="1" spc="107">
                <a:solidFill>
                  <a:srgbClr val="365B6D"/>
                </a:solidFill>
                <a:latin typeface="Aileron Ultra-Bold"/>
                <a:ea typeface="Aileron Ultra-Bold"/>
                <a:cs typeface="Aileron Ultra-Bold"/>
                <a:sym typeface="Aileron Ultra-Bold"/>
              </a:rPr>
              <a:t>MÉTHODOLOGIE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4064138" y="1886792"/>
            <a:ext cx="522083" cy="9923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381"/>
              </a:lnSpc>
            </a:pPr>
            <a:r>
              <a:rPr lang="en-US" sz="5272" spc="685">
                <a:solidFill>
                  <a:srgbClr val="F7F7F7"/>
                </a:solidFill>
                <a:latin typeface="Kaftus"/>
                <a:ea typeface="Kaftus"/>
                <a:cs typeface="Kaftus"/>
                <a:sym typeface="Kaftus"/>
              </a:rPr>
              <a:t>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5441614" y="4301043"/>
            <a:ext cx="522083" cy="9923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381"/>
              </a:lnSpc>
            </a:pPr>
            <a:r>
              <a:rPr lang="en-US" sz="5272" spc="685">
                <a:solidFill>
                  <a:srgbClr val="F7F7F7"/>
                </a:solidFill>
                <a:latin typeface="Kaftus"/>
                <a:ea typeface="Kaftus"/>
                <a:cs typeface="Kaftus"/>
                <a:sym typeface="Kaftus"/>
              </a:rPr>
              <a:t>2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4064138" y="6725927"/>
            <a:ext cx="522083" cy="9923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381"/>
              </a:lnSpc>
            </a:pPr>
            <a:r>
              <a:rPr lang="en-US" sz="5272" spc="685">
                <a:solidFill>
                  <a:srgbClr val="F7F7F7"/>
                </a:solidFill>
                <a:latin typeface="Kaftus"/>
                <a:ea typeface="Kaftus"/>
                <a:cs typeface="Kaftus"/>
                <a:sym typeface="Kaftus"/>
              </a:rPr>
              <a:t>3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1170082" y="6707687"/>
            <a:ext cx="522083" cy="9923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381"/>
              </a:lnSpc>
            </a:pPr>
            <a:r>
              <a:rPr lang="en-US" sz="5272" spc="685">
                <a:solidFill>
                  <a:srgbClr val="F7F7F7"/>
                </a:solidFill>
                <a:latin typeface="Kaftus"/>
                <a:ea typeface="Kaftus"/>
                <a:cs typeface="Kaftus"/>
                <a:sym typeface="Kaftus"/>
              </a:rPr>
              <a:t>4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0152107" y="4305471"/>
            <a:ext cx="522083" cy="9923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381"/>
              </a:lnSpc>
            </a:pPr>
            <a:r>
              <a:rPr lang="en-US" sz="5272" spc="685">
                <a:solidFill>
                  <a:srgbClr val="F7F7F7"/>
                </a:solidFill>
                <a:latin typeface="Kaftus"/>
                <a:ea typeface="Kaftus"/>
                <a:cs typeface="Kaftus"/>
                <a:sym typeface="Kaftus"/>
              </a:rPr>
              <a:t>5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1431124" y="1886792"/>
            <a:ext cx="522083" cy="9923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381"/>
              </a:lnSpc>
            </a:pPr>
            <a:r>
              <a:rPr lang="en-US" sz="5272" spc="685">
                <a:solidFill>
                  <a:srgbClr val="F7F7F7"/>
                </a:solidFill>
                <a:latin typeface="Kaftus"/>
                <a:ea typeface="Kaftus"/>
                <a:cs typeface="Kaftus"/>
                <a:sym typeface="Kaftus"/>
              </a:rPr>
              <a:t>6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641202" y="1972396"/>
            <a:ext cx="6839755" cy="7524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776"/>
              </a:lnSpc>
              <a:spcBef>
                <a:spcPct val="0"/>
              </a:spcBef>
            </a:pPr>
            <a:r>
              <a:rPr lang="en-US" sz="4126" b="1">
                <a:solidFill>
                  <a:srgbClr val="024854"/>
                </a:solidFill>
                <a:latin typeface="Telegraf Bold"/>
                <a:ea typeface="Telegraf Bold"/>
                <a:cs typeface="Telegraf Bold"/>
                <a:sym typeface="Telegraf Bold"/>
              </a:rPr>
              <a:t>Visualisation de la série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028700" y="3851609"/>
            <a:ext cx="8771947" cy="27686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420"/>
              </a:lnSpc>
            </a:pPr>
            <a:r>
              <a:rPr lang="en-US" sz="3871">
                <a:solidFill>
                  <a:srgbClr val="191919"/>
                </a:solidFill>
                <a:latin typeface="Telegraf"/>
                <a:ea typeface="Telegraf"/>
                <a:cs typeface="Telegraf"/>
                <a:sym typeface="Telegraf"/>
              </a:rPr>
              <a:t>Représentation graphique pour identifier les tendances générales, les fluctuations saisonnières et les ruptures éventuelles</a:t>
            </a:r>
          </a:p>
        </p:txBody>
      </p:sp>
    </p:spTree>
  </p:cSld>
  <p:clrMapOvr>
    <a:masterClrMapping/>
  </p:clrMapOvr>
  <p:transition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9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028700" y="2217840"/>
            <a:ext cx="385386" cy="385386"/>
          </a:xfrm>
          <a:custGeom>
            <a:avLst/>
            <a:gdLst/>
            <a:ahLst/>
            <a:cxnLst/>
            <a:rect l="l" t="t" r="r" b="b"/>
            <a:pathLst>
              <a:path w="385386" h="385386">
                <a:moveTo>
                  <a:pt x="0" y="0"/>
                </a:moveTo>
                <a:lnTo>
                  <a:pt x="385386" y="0"/>
                </a:lnTo>
                <a:lnTo>
                  <a:pt x="385386" y="385386"/>
                </a:lnTo>
                <a:lnTo>
                  <a:pt x="0" y="38538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pic>
        <p:nvPicPr>
          <p:cNvPr id="3" name="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33534" y="555758"/>
            <a:ext cx="8772942" cy="8772942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1028700" y="926884"/>
            <a:ext cx="6107037" cy="5878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16"/>
              </a:lnSpc>
            </a:pPr>
            <a:r>
              <a:rPr lang="en-US" sz="3600" b="1" spc="107">
                <a:solidFill>
                  <a:srgbClr val="365B6D"/>
                </a:solidFill>
                <a:latin typeface="Aileron Ultra-Bold"/>
                <a:ea typeface="Aileron Ultra-Bold"/>
                <a:cs typeface="Aileron Ultra-Bold"/>
                <a:sym typeface="Aileron Ultra-Bold"/>
              </a:rPr>
              <a:t>MÉTHODOLOGIE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4064138" y="1886792"/>
            <a:ext cx="522083" cy="9923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381"/>
              </a:lnSpc>
            </a:pPr>
            <a:r>
              <a:rPr lang="en-US" sz="5272" spc="685">
                <a:solidFill>
                  <a:srgbClr val="F7F7F7"/>
                </a:solidFill>
                <a:latin typeface="Kaftus"/>
                <a:ea typeface="Kaftus"/>
                <a:cs typeface="Kaftus"/>
                <a:sym typeface="Kaftus"/>
              </a:rPr>
              <a:t>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5441614" y="4301043"/>
            <a:ext cx="522083" cy="9923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381"/>
              </a:lnSpc>
            </a:pPr>
            <a:r>
              <a:rPr lang="en-US" sz="5272" spc="685">
                <a:solidFill>
                  <a:srgbClr val="F7F7F7"/>
                </a:solidFill>
                <a:latin typeface="Kaftus"/>
                <a:ea typeface="Kaftus"/>
                <a:cs typeface="Kaftus"/>
                <a:sym typeface="Kaftus"/>
              </a:rPr>
              <a:t>2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4064138" y="6725927"/>
            <a:ext cx="522083" cy="9923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381"/>
              </a:lnSpc>
            </a:pPr>
            <a:r>
              <a:rPr lang="en-US" sz="5272" spc="685">
                <a:solidFill>
                  <a:srgbClr val="F7F7F7"/>
                </a:solidFill>
                <a:latin typeface="Kaftus"/>
                <a:ea typeface="Kaftus"/>
                <a:cs typeface="Kaftus"/>
                <a:sym typeface="Kaftus"/>
              </a:rPr>
              <a:t>3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1170082" y="6707687"/>
            <a:ext cx="522083" cy="9923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381"/>
              </a:lnSpc>
            </a:pPr>
            <a:r>
              <a:rPr lang="en-US" sz="5272" spc="685">
                <a:solidFill>
                  <a:srgbClr val="F7F7F7"/>
                </a:solidFill>
                <a:latin typeface="Kaftus"/>
                <a:ea typeface="Kaftus"/>
                <a:cs typeface="Kaftus"/>
                <a:sym typeface="Kaftus"/>
              </a:rPr>
              <a:t>4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0152107" y="4305471"/>
            <a:ext cx="522083" cy="9923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381"/>
              </a:lnSpc>
            </a:pPr>
            <a:r>
              <a:rPr lang="en-US" sz="5272" spc="685">
                <a:solidFill>
                  <a:srgbClr val="F7F7F7"/>
                </a:solidFill>
                <a:latin typeface="Kaftus"/>
                <a:ea typeface="Kaftus"/>
                <a:cs typeface="Kaftus"/>
                <a:sym typeface="Kaftus"/>
              </a:rPr>
              <a:t>5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1431124" y="1886792"/>
            <a:ext cx="522083" cy="9923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381"/>
              </a:lnSpc>
            </a:pPr>
            <a:r>
              <a:rPr lang="en-US" sz="5272" spc="685">
                <a:solidFill>
                  <a:srgbClr val="F7F7F7"/>
                </a:solidFill>
                <a:latin typeface="Kaftus"/>
                <a:ea typeface="Kaftus"/>
                <a:cs typeface="Kaftus"/>
                <a:sym typeface="Kaftus"/>
              </a:rPr>
              <a:t>6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641202" y="1972396"/>
            <a:ext cx="6839755" cy="7524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776"/>
              </a:lnSpc>
              <a:spcBef>
                <a:spcPct val="0"/>
              </a:spcBef>
            </a:pPr>
            <a:r>
              <a:rPr lang="en-US" sz="4126" b="1">
                <a:solidFill>
                  <a:srgbClr val="024854"/>
                </a:solidFill>
                <a:latin typeface="Telegraf Bold"/>
                <a:ea typeface="Telegraf Bold"/>
                <a:cs typeface="Telegraf Bold"/>
                <a:sym typeface="Telegraf Bold"/>
              </a:rPr>
              <a:t>Choix du modèle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028700" y="3851609"/>
            <a:ext cx="8771947" cy="27686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420"/>
              </a:lnSpc>
            </a:pPr>
            <a:r>
              <a:rPr lang="en-US" sz="3871">
                <a:solidFill>
                  <a:srgbClr val="191919"/>
                </a:solidFill>
                <a:latin typeface="Telegraf"/>
                <a:ea typeface="Telegraf"/>
                <a:cs typeface="Telegraf"/>
                <a:sym typeface="Telegraf"/>
              </a:rPr>
              <a:t>Evaluation des composantes de la série (tendance, saisonnalité, bruit) et sélection d’un modèle adapté (additif ou multiplicatif)</a:t>
            </a:r>
          </a:p>
        </p:txBody>
      </p:sp>
    </p:spTree>
  </p:cSld>
  <p:clrMapOvr>
    <a:masterClrMapping/>
  </p:clrMapOvr>
  <p:transition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9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028700" y="2217840"/>
            <a:ext cx="385386" cy="385386"/>
          </a:xfrm>
          <a:custGeom>
            <a:avLst/>
            <a:gdLst/>
            <a:ahLst/>
            <a:cxnLst/>
            <a:rect l="l" t="t" r="r" b="b"/>
            <a:pathLst>
              <a:path w="385386" h="385386">
                <a:moveTo>
                  <a:pt x="0" y="0"/>
                </a:moveTo>
                <a:lnTo>
                  <a:pt x="385386" y="0"/>
                </a:lnTo>
                <a:lnTo>
                  <a:pt x="385386" y="385386"/>
                </a:lnTo>
                <a:lnTo>
                  <a:pt x="0" y="38538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pic>
        <p:nvPicPr>
          <p:cNvPr id="3" name="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33534" y="555758"/>
            <a:ext cx="8772942" cy="8772942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1028700" y="926884"/>
            <a:ext cx="6107037" cy="5878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16"/>
              </a:lnSpc>
            </a:pPr>
            <a:r>
              <a:rPr lang="en-US" sz="3600" b="1" spc="107">
                <a:solidFill>
                  <a:srgbClr val="365B6D"/>
                </a:solidFill>
                <a:latin typeface="Aileron Ultra-Bold"/>
                <a:ea typeface="Aileron Ultra-Bold"/>
                <a:cs typeface="Aileron Ultra-Bold"/>
                <a:sym typeface="Aileron Ultra-Bold"/>
              </a:rPr>
              <a:t>MÉTHODOLOGIE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4064138" y="1886792"/>
            <a:ext cx="522083" cy="9923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381"/>
              </a:lnSpc>
            </a:pPr>
            <a:r>
              <a:rPr lang="en-US" sz="5272" spc="685">
                <a:solidFill>
                  <a:srgbClr val="F7F7F7"/>
                </a:solidFill>
                <a:latin typeface="Kaftus"/>
                <a:ea typeface="Kaftus"/>
                <a:cs typeface="Kaftus"/>
                <a:sym typeface="Kaftus"/>
              </a:rPr>
              <a:t>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5441614" y="4301043"/>
            <a:ext cx="522083" cy="9923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381"/>
              </a:lnSpc>
            </a:pPr>
            <a:r>
              <a:rPr lang="en-US" sz="5272" spc="685">
                <a:solidFill>
                  <a:srgbClr val="F7F7F7"/>
                </a:solidFill>
                <a:latin typeface="Kaftus"/>
                <a:ea typeface="Kaftus"/>
                <a:cs typeface="Kaftus"/>
                <a:sym typeface="Kaftus"/>
              </a:rPr>
              <a:t>2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4064138" y="6725927"/>
            <a:ext cx="522083" cy="9923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381"/>
              </a:lnSpc>
            </a:pPr>
            <a:r>
              <a:rPr lang="en-US" sz="5272" spc="685">
                <a:solidFill>
                  <a:srgbClr val="F7F7F7"/>
                </a:solidFill>
                <a:latin typeface="Kaftus"/>
                <a:ea typeface="Kaftus"/>
                <a:cs typeface="Kaftus"/>
                <a:sym typeface="Kaftus"/>
              </a:rPr>
              <a:t>3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1170082" y="6707687"/>
            <a:ext cx="522083" cy="9923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381"/>
              </a:lnSpc>
            </a:pPr>
            <a:r>
              <a:rPr lang="en-US" sz="5272" spc="685">
                <a:solidFill>
                  <a:srgbClr val="F7F7F7"/>
                </a:solidFill>
                <a:latin typeface="Kaftus"/>
                <a:ea typeface="Kaftus"/>
                <a:cs typeface="Kaftus"/>
                <a:sym typeface="Kaftus"/>
              </a:rPr>
              <a:t>4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0152107" y="4305471"/>
            <a:ext cx="522083" cy="9923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381"/>
              </a:lnSpc>
            </a:pPr>
            <a:r>
              <a:rPr lang="en-US" sz="5272" spc="685">
                <a:solidFill>
                  <a:srgbClr val="F7F7F7"/>
                </a:solidFill>
                <a:latin typeface="Kaftus"/>
                <a:ea typeface="Kaftus"/>
                <a:cs typeface="Kaftus"/>
                <a:sym typeface="Kaftus"/>
              </a:rPr>
              <a:t>5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1431124" y="1886792"/>
            <a:ext cx="522083" cy="9923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381"/>
              </a:lnSpc>
            </a:pPr>
            <a:r>
              <a:rPr lang="en-US" sz="5272" spc="685">
                <a:solidFill>
                  <a:srgbClr val="F7F7F7"/>
                </a:solidFill>
                <a:latin typeface="Kaftus"/>
                <a:ea typeface="Kaftus"/>
                <a:cs typeface="Kaftus"/>
                <a:sym typeface="Kaftus"/>
              </a:rPr>
              <a:t>6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641202" y="1605683"/>
            <a:ext cx="6839755" cy="14858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776"/>
              </a:lnSpc>
              <a:spcBef>
                <a:spcPct val="0"/>
              </a:spcBef>
            </a:pPr>
            <a:r>
              <a:rPr lang="en-US" sz="4126" b="1">
                <a:solidFill>
                  <a:srgbClr val="024854"/>
                </a:solidFill>
                <a:latin typeface="Telegraf Bold"/>
                <a:ea typeface="Telegraf Bold"/>
                <a:cs typeface="Telegraf Bold"/>
                <a:sym typeface="Telegraf Bold"/>
              </a:rPr>
              <a:t>Analyse de la série à partir de ses composantes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028700" y="3851609"/>
            <a:ext cx="8771947" cy="27686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420"/>
              </a:lnSpc>
            </a:pPr>
            <a:r>
              <a:rPr lang="en-US" sz="3871">
                <a:solidFill>
                  <a:srgbClr val="191919"/>
                </a:solidFill>
                <a:latin typeface="Telegraf"/>
                <a:ea typeface="Telegraf"/>
                <a:cs typeface="Telegraf"/>
                <a:sym typeface="Telegraf"/>
              </a:rPr>
              <a:t>Décomposition de la série pour estimer séparément la tendance, la saisonnalité et la série corrigée des variations saisonnières (CVS)</a:t>
            </a:r>
          </a:p>
        </p:txBody>
      </p:sp>
    </p:spTree>
  </p:cSld>
  <p:clrMapOvr>
    <a:masterClrMapping/>
  </p:clrMapOvr>
  <p:transition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9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028700" y="2217840"/>
            <a:ext cx="385386" cy="385386"/>
          </a:xfrm>
          <a:custGeom>
            <a:avLst/>
            <a:gdLst/>
            <a:ahLst/>
            <a:cxnLst/>
            <a:rect l="l" t="t" r="r" b="b"/>
            <a:pathLst>
              <a:path w="385386" h="385386">
                <a:moveTo>
                  <a:pt x="0" y="0"/>
                </a:moveTo>
                <a:lnTo>
                  <a:pt x="385386" y="0"/>
                </a:lnTo>
                <a:lnTo>
                  <a:pt x="385386" y="385386"/>
                </a:lnTo>
                <a:lnTo>
                  <a:pt x="0" y="38538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pic>
        <p:nvPicPr>
          <p:cNvPr id="3" name="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33534" y="555758"/>
            <a:ext cx="8772942" cy="8772942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1028700" y="926884"/>
            <a:ext cx="6107037" cy="5878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16"/>
              </a:lnSpc>
            </a:pPr>
            <a:r>
              <a:rPr lang="en-US" sz="3600" b="1" spc="107">
                <a:solidFill>
                  <a:srgbClr val="365B6D"/>
                </a:solidFill>
                <a:latin typeface="Aileron Ultra-Bold"/>
                <a:ea typeface="Aileron Ultra-Bold"/>
                <a:cs typeface="Aileron Ultra-Bold"/>
                <a:sym typeface="Aileron Ultra-Bold"/>
              </a:rPr>
              <a:t>MÉTHODOLOGIE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4064138" y="1886792"/>
            <a:ext cx="522083" cy="9923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381"/>
              </a:lnSpc>
            </a:pPr>
            <a:r>
              <a:rPr lang="en-US" sz="5272" spc="685">
                <a:solidFill>
                  <a:srgbClr val="F7F7F7"/>
                </a:solidFill>
                <a:latin typeface="Kaftus"/>
                <a:ea typeface="Kaftus"/>
                <a:cs typeface="Kaftus"/>
                <a:sym typeface="Kaftus"/>
              </a:rPr>
              <a:t>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5441614" y="4301043"/>
            <a:ext cx="522083" cy="9923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381"/>
              </a:lnSpc>
            </a:pPr>
            <a:r>
              <a:rPr lang="en-US" sz="5272" spc="685">
                <a:solidFill>
                  <a:srgbClr val="F7F7F7"/>
                </a:solidFill>
                <a:latin typeface="Kaftus"/>
                <a:ea typeface="Kaftus"/>
                <a:cs typeface="Kaftus"/>
                <a:sym typeface="Kaftus"/>
              </a:rPr>
              <a:t>2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4064138" y="6725927"/>
            <a:ext cx="522083" cy="9923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381"/>
              </a:lnSpc>
            </a:pPr>
            <a:r>
              <a:rPr lang="en-US" sz="5272" spc="685">
                <a:solidFill>
                  <a:srgbClr val="F7F7F7"/>
                </a:solidFill>
                <a:latin typeface="Kaftus"/>
                <a:ea typeface="Kaftus"/>
                <a:cs typeface="Kaftus"/>
                <a:sym typeface="Kaftus"/>
              </a:rPr>
              <a:t>3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1170082" y="6707687"/>
            <a:ext cx="522083" cy="9923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381"/>
              </a:lnSpc>
            </a:pPr>
            <a:r>
              <a:rPr lang="en-US" sz="5272" spc="685">
                <a:solidFill>
                  <a:srgbClr val="F7F7F7"/>
                </a:solidFill>
                <a:latin typeface="Kaftus"/>
                <a:ea typeface="Kaftus"/>
                <a:cs typeface="Kaftus"/>
                <a:sym typeface="Kaftus"/>
              </a:rPr>
              <a:t>4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0152107" y="4305471"/>
            <a:ext cx="522083" cy="9923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381"/>
              </a:lnSpc>
            </a:pPr>
            <a:r>
              <a:rPr lang="en-US" sz="5272" spc="685">
                <a:solidFill>
                  <a:srgbClr val="F7F7F7"/>
                </a:solidFill>
                <a:latin typeface="Kaftus"/>
                <a:ea typeface="Kaftus"/>
                <a:cs typeface="Kaftus"/>
                <a:sym typeface="Kaftus"/>
              </a:rPr>
              <a:t>5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1431124" y="1886792"/>
            <a:ext cx="522083" cy="9923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381"/>
              </a:lnSpc>
            </a:pPr>
            <a:r>
              <a:rPr lang="en-US" sz="5272" spc="685">
                <a:solidFill>
                  <a:srgbClr val="F7F7F7"/>
                </a:solidFill>
                <a:latin typeface="Kaftus"/>
                <a:ea typeface="Kaftus"/>
                <a:cs typeface="Kaftus"/>
                <a:sym typeface="Kaftus"/>
              </a:rPr>
              <a:t>6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641202" y="1972396"/>
            <a:ext cx="6839755" cy="7524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776"/>
              </a:lnSpc>
              <a:spcBef>
                <a:spcPct val="0"/>
              </a:spcBef>
            </a:pPr>
            <a:r>
              <a:rPr lang="en-US" sz="4126" b="1">
                <a:solidFill>
                  <a:srgbClr val="024854"/>
                </a:solidFill>
                <a:latin typeface="Telegraf Bold"/>
                <a:ea typeface="Telegraf Bold"/>
                <a:cs typeface="Telegraf Bold"/>
                <a:sym typeface="Telegraf Bold"/>
              </a:rPr>
              <a:t>Prévisions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028700" y="3851609"/>
            <a:ext cx="7697286" cy="13970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420"/>
              </a:lnSpc>
            </a:pPr>
            <a:r>
              <a:rPr lang="en-US" sz="3871">
                <a:solidFill>
                  <a:srgbClr val="191919"/>
                </a:solidFill>
                <a:latin typeface="Telegraf"/>
                <a:ea typeface="Telegraf"/>
                <a:cs typeface="Telegraf"/>
                <a:sym typeface="Telegraf"/>
              </a:rPr>
              <a:t>Projection des valeurs futures du PIB à partir du modèle retenu</a:t>
            </a:r>
          </a:p>
        </p:txBody>
      </p:sp>
    </p:spTree>
  </p:cSld>
  <p:clrMapOvr>
    <a:masterClrMapping/>
  </p:clrMapOvr>
  <p:transition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9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028700" y="2217840"/>
            <a:ext cx="385386" cy="385386"/>
          </a:xfrm>
          <a:custGeom>
            <a:avLst/>
            <a:gdLst/>
            <a:ahLst/>
            <a:cxnLst/>
            <a:rect l="l" t="t" r="r" b="b"/>
            <a:pathLst>
              <a:path w="385386" h="385386">
                <a:moveTo>
                  <a:pt x="0" y="0"/>
                </a:moveTo>
                <a:lnTo>
                  <a:pt x="385386" y="0"/>
                </a:lnTo>
                <a:lnTo>
                  <a:pt x="385386" y="385386"/>
                </a:lnTo>
                <a:lnTo>
                  <a:pt x="0" y="38538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pic>
        <p:nvPicPr>
          <p:cNvPr id="3" name="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33534" y="555758"/>
            <a:ext cx="8772942" cy="8772942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1028700" y="926884"/>
            <a:ext cx="6107037" cy="5878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16"/>
              </a:lnSpc>
            </a:pPr>
            <a:r>
              <a:rPr lang="en-US" sz="3600" b="1" spc="107">
                <a:solidFill>
                  <a:srgbClr val="365B6D"/>
                </a:solidFill>
                <a:latin typeface="Aileron Ultra-Bold"/>
                <a:ea typeface="Aileron Ultra-Bold"/>
                <a:cs typeface="Aileron Ultra-Bold"/>
                <a:sym typeface="Aileron Ultra-Bold"/>
              </a:rPr>
              <a:t>MÉTHODOLOGIE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4064138" y="1886792"/>
            <a:ext cx="522083" cy="9923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381"/>
              </a:lnSpc>
            </a:pPr>
            <a:r>
              <a:rPr lang="en-US" sz="5272" spc="685">
                <a:solidFill>
                  <a:srgbClr val="F7F7F7"/>
                </a:solidFill>
                <a:latin typeface="Kaftus"/>
                <a:ea typeface="Kaftus"/>
                <a:cs typeface="Kaftus"/>
                <a:sym typeface="Kaftus"/>
              </a:rPr>
              <a:t>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5441614" y="4301043"/>
            <a:ext cx="522083" cy="9923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381"/>
              </a:lnSpc>
            </a:pPr>
            <a:r>
              <a:rPr lang="en-US" sz="5272" spc="685">
                <a:solidFill>
                  <a:srgbClr val="F7F7F7"/>
                </a:solidFill>
                <a:latin typeface="Kaftus"/>
                <a:ea typeface="Kaftus"/>
                <a:cs typeface="Kaftus"/>
                <a:sym typeface="Kaftus"/>
              </a:rPr>
              <a:t>2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4064138" y="6725927"/>
            <a:ext cx="522083" cy="9923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381"/>
              </a:lnSpc>
            </a:pPr>
            <a:r>
              <a:rPr lang="en-US" sz="5272" spc="685">
                <a:solidFill>
                  <a:srgbClr val="F7F7F7"/>
                </a:solidFill>
                <a:latin typeface="Kaftus"/>
                <a:ea typeface="Kaftus"/>
                <a:cs typeface="Kaftus"/>
                <a:sym typeface="Kaftus"/>
              </a:rPr>
              <a:t>3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1170082" y="6707687"/>
            <a:ext cx="522083" cy="9923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381"/>
              </a:lnSpc>
            </a:pPr>
            <a:r>
              <a:rPr lang="en-US" sz="5272" spc="685">
                <a:solidFill>
                  <a:srgbClr val="F7F7F7"/>
                </a:solidFill>
                <a:latin typeface="Kaftus"/>
                <a:ea typeface="Kaftus"/>
                <a:cs typeface="Kaftus"/>
                <a:sym typeface="Kaftus"/>
              </a:rPr>
              <a:t>4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0152107" y="4305471"/>
            <a:ext cx="522083" cy="9923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381"/>
              </a:lnSpc>
            </a:pPr>
            <a:r>
              <a:rPr lang="en-US" sz="5272" spc="685">
                <a:solidFill>
                  <a:srgbClr val="F7F7F7"/>
                </a:solidFill>
                <a:latin typeface="Kaftus"/>
                <a:ea typeface="Kaftus"/>
                <a:cs typeface="Kaftus"/>
                <a:sym typeface="Kaftus"/>
              </a:rPr>
              <a:t>5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1431124" y="1886792"/>
            <a:ext cx="522083" cy="9923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381"/>
              </a:lnSpc>
            </a:pPr>
            <a:r>
              <a:rPr lang="en-US" sz="5272" spc="685">
                <a:solidFill>
                  <a:srgbClr val="F7F7F7"/>
                </a:solidFill>
                <a:latin typeface="Kaftus"/>
                <a:ea typeface="Kaftus"/>
                <a:cs typeface="Kaftus"/>
                <a:sym typeface="Kaftus"/>
              </a:rPr>
              <a:t>6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613653" y="1605683"/>
            <a:ext cx="6949953" cy="14858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776"/>
              </a:lnSpc>
              <a:spcBef>
                <a:spcPct val="0"/>
              </a:spcBef>
            </a:pPr>
            <a:r>
              <a:rPr lang="en-US" sz="4126" b="1">
                <a:solidFill>
                  <a:srgbClr val="024854"/>
                </a:solidFill>
                <a:latin typeface="Telegraf Bold"/>
                <a:ea typeface="Telegraf Bold"/>
                <a:cs typeface="Telegraf Bold"/>
                <a:sym typeface="Telegraf Bold"/>
              </a:rPr>
              <a:t>Analyse comparative avec le lissage exponentiel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028700" y="3851609"/>
            <a:ext cx="7840613" cy="34544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420"/>
              </a:lnSpc>
            </a:pPr>
            <a:r>
              <a:rPr lang="en-US" sz="3871">
                <a:solidFill>
                  <a:srgbClr val="191919"/>
                </a:solidFill>
                <a:latin typeface="Telegraf"/>
                <a:ea typeface="Telegraf"/>
                <a:cs typeface="Telegraf"/>
                <a:sym typeface="Telegraf"/>
              </a:rPr>
              <a:t>Evaluation de la performance du modèle en confrontant les prévisions issues de différentes méthodes, notamment le lissage exponentiel</a:t>
            </a:r>
          </a:p>
        </p:txBody>
      </p:sp>
    </p:spTree>
  </p:cSld>
  <p:clrMapOvr>
    <a:masterClrMapping/>
  </p:clrMapOvr>
  <p:transition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1471508">
            <a:off x="7442248" y="-3517885"/>
            <a:ext cx="2160993" cy="11665743"/>
            <a:chOff x="0" y="0"/>
            <a:chExt cx="597206" cy="322391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597206" cy="3223913"/>
            </a:xfrm>
            <a:custGeom>
              <a:avLst/>
              <a:gdLst/>
              <a:ahLst/>
              <a:cxnLst/>
              <a:rect l="l" t="t" r="r" b="b"/>
              <a:pathLst>
                <a:path w="597206" h="3223913">
                  <a:moveTo>
                    <a:pt x="0" y="0"/>
                  </a:moveTo>
                  <a:lnTo>
                    <a:pt x="597206" y="0"/>
                  </a:lnTo>
                  <a:lnTo>
                    <a:pt x="597206" y="3223913"/>
                  </a:lnTo>
                  <a:lnTo>
                    <a:pt x="0" y="3223913"/>
                  </a:lnTo>
                  <a:close/>
                </a:path>
              </a:pathLst>
            </a:custGeom>
            <a:solidFill>
              <a:srgbClr val="D5DADA">
                <a:alpha val="23922"/>
              </a:srgbClr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597206" cy="3262013"/>
            </a:xfrm>
            <a:prstGeom prst="rect">
              <a:avLst/>
            </a:prstGeom>
          </p:spPr>
          <p:txBody>
            <a:bodyPr lIns="35873" tIns="35873" rIns="35873" bIns="35873" rtlCol="0" anchor="ctr"/>
            <a:lstStyle/>
            <a:p>
              <a:pPr algn="ctr">
                <a:lnSpc>
                  <a:spcPts val="1384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 rot="1471508">
            <a:off x="7842796" y="1744300"/>
            <a:ext cx="2160993" cy="11212989"/>
            <a:chOff x="0" y="0"/>
            <a:chExt cx="597206" cy="3098792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597206" cy="3098791"/>
            </a:xfrm>
            <a:custGeom>
              <a:avLst/>
              <a:gdLst/>
              <a:ahLst/>
              <a:cxnLst/>
              <a:rect l="l" t="t" r="r" b="b"/>
              <a:pathLst>
                <a:path w="597206" h="3098791">
                  <a:moveTo>
                    <a:pt x="0" y="0"/>
                  </a:moveTo>
                  <a:lnTo>
                    <a:pt x="597206" y="0"/>
                  </a:lnTo>
                  <a:lnTo>
                    <a:pt x="597206" y="3098791"/>
                  </a:lnTo>
                  <a:lnTo>
                    <a:pt x="0" y="3098791"/>
                  </a:lnTo>
                  <a:close/>
                </a:path>
              </a:pathLst>
            </a:custGeom>
            <a:solidFill>
              <a:srgbClr val="D5DADA">
                <a:alpha val="23922"/>
              </a:srgbClr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597206" cy="3136892"/>
            </a:xfrm>
            <a:prstGeom prst="rect">
              <a:avLst/>
            </a:prstGeom>
          </p:spPr>
          <p:txBody>
            <a:bodyPr lIns="35873" tIns="35873" rIns="35873" bIns="35873" rtlCol="0" anchor="ctr"/>
            <a:lstStyle/>
            <a:p>
              <a:pPr algn="ctr">
                <a:lnSpc>
                  <a:spcPts val="1384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1015140" y="5027944"/>
            <a:ext cx="10518155" cy="10518113"/>
            <a:chOff x="0" y="0"/>
            <a:chExt cx="6350000" cy="6349975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6350000" cy="6349975"/>
            </a:xfrm>
            <a:custGeom>
              <a:avLst/>
              <a:gdLst/>
              <a:ahLst/>
              <a:cxnLst/>
              <a:rect l="l" t="t" r="r" b="b"/>
              <a:pathLst>
                <a:path w="6350000" h="6349975">
                  <a:moveTo>
                    <a:pt x="6350000" y="3175025"/>
                  </a:moveTo>
                  <a:cubicBezTo>
                    <a:pt x="6350000" y="4928451"/>
                    <a:pt x="4928476" y="6349975"/>
                    <a:pt x="3175000" y="6349975"/>
                  </a:cubicBezTo>
                  <a:cubicBezTo>
                    <a:pt x="1421498" y="6349975"/>
                    <a:pt x="0" y="4928451"/>
                    <a:pt x="0" y="3175025"/>
                  </a:cubicBezTo>
                  <a:cubicBezTo>
                    <a:pt x="0" y="1421511"/>
                    <a:pt x="1421498" y="0"/>
                    <a:pt x="3175000" y="0"/>
                  </a:cubicBezTo>
                  <a:cubicBezTo>
                    <a:pt x="4928502" y="0"/>
                    <a:pt x="6350000" y="1421511"/>
                    <a:pt x="6350000" y="3175025"/>
                  </a:cubicBezTo>
                  <a:close/>
                </a:path>
              </a:pathLst>
            </a:custGeom>
            <a:blipFill>
              <a:blip r:embed="rId2"/>
              <a:stretch>
                <a:fillRect l="-25471" r="-25471"/>
              </a:stretch>
            </a:blipFill>
          </p:spPr>
        </p:sp>
      </p:grpSp>
      <p:grpSp>
        <p:nvGrpSpPr>
          <p:cNvPr id="10" name="Group 10"/>
          <p:cNvGrpSpPr/>
          <p:nvPr/>
        </p:nvGrpSpPr>
        <p:grpSpPr>
          <a:xfrm>
            <a:off x="11800842" y="5813625"/>
            <a:ext cx="8946750" cy="8946750"/>
            <a:chOff x="0" y="0"/>
            <a:chExt cx="812800" cy="8128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04775" cap="sq">
              <a:solidFill>
                <a:srgbClr val="FFFFFF"/>
              </a:solidFill>
              <a:prstDash val="solid"/>
              <a:miter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35873" tIns="35873" rIns="35873" bIns="35873" rtlCol="0" anchor="ctr"/>
            <a:lstStyle/>
            <a:p>
              <a:pPr algn="ctr">
                <a:lnSpc>
                  <a:spcPts val="1384"/>
                </a:lnSpc>
              </a:pPr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-4524129" y="-3792316"/>
            <a:ext cx="10518155" cy="10518113"/>
            <a:chOff x="0" y="0"/>
            <a:chExt cx="6350000" cy="6349975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6350000" cy="6349975"/>
            </a:xfrm>
            <a:custGeom>
              <a:avLst/>
              <a:gdLst/>
              <a:ahLst/>
              <a:cxnLst/>
              <a:rect l="l" t="t" r="r" b="b"/>
              <a:pathLst>
                <a:path w="6350000" h="6349975">
                  <a:moveTo>
                    <a:pt x="6350000" y="3175025"/>
                  </a:moveTo>
                  <a:cubicBezTo>
                    <a:pt x="6350000" y="4928451"/>
                    <a:pt x="4928476" y="6349975"/>
                    <a:pt x="3175000" y="6349975"/>
                  </a:cubicBezTo>
                  <a:cubicBezTo>
                    <a:pt x="1421498" y="6349975"/>
                    <a:pt x="0" y="4928451"/>
                    <a:pt x="0" y="3175025"/>
                  </a:cubicBezTo>
                  <a:cubicBezTo>
                    <a:pt x="0" y="1421511"/>
                    <a:pt x="1421498" y="0"/>
                    <a:pt x="3175000" y="0"/>
                  </a:cubicBezTo>
                  <a:cubicBezTo>
                    <a:pt x="4928502" y="0"/>
                    <a:pt x="6350000" y="1421511"/>
                    <a:pt x="6350000" y="3175025"/>
                  </a:cubicBezTo>
                  <a:close/>
                </a:path>
              </a:pathLst>
            </a:custGeom>
            <a:blipFill>
              <a:blip r:embed="rId3"/>
              <a:stretch>
                <a:fillRect l="-25471" r="-25471"/>
              </a:stretch>
            </a:blipFill>
          </p:spPr>
        </p:sp>
      </p:grpSp>
      <p:grpSp>
        <p:nvGrpSpPr>
          <p:cNvPr id="15" name="Group 15"/>
          <p:cNvGrpSpPr/>
          <p:nvPr/>
        </p:nvGrpSpPr>
        <p:grpSpPr>
          <a:xfrm>
            <a:off x="-3738427" y="-3006635"/>
            <a:ext cx="8946750" cy="8946750"/>
            <a:chOff x="0" y="0"/>
            <a:chExt cx="812800" cy="81280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04775" cap="sq">
              <a:solidFill>
                <a:srgbClr val="FFFFFF"/>
              </a:solidFill>
              <a:prstDash val="solid"/>
              <a:miter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35873" tIns="35873" rIns="35873" bIns="35873" rtlCol="0" anchor="ctr"/>
            <a:lstStyle/>
            <a:p>
              <a:pPr algn="ctr">
                <a:lnSpc>
                  <a:spcPts val="1384"/>
                </a:lnSpc>
              </a:pPr>
              <a:endParaRPr/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4872582" y="3417055"/>
            <a:ext cx="10405019" cy="2523060"/>
            <a:chOff x="0" y="0"/>
            <a:chExt cx="1590939" cy="385779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590939" cy="385779"/>
            </a:xfrm>
            <a:custGeom>
              <a:avLst/>
              <a:gdLst/>
              <a:ahLst/>
              <a:cxnLst/>
              <a:rect l="l" t="t" r="r" b="b"/>
              <a:pathLst>
                <a:path w="1590939" h="385779">
                  <a:moveTo>
                    <a:pt x="12649" y="0"/>
                  </a:moveTo>
                  <a:lnTo>
                    <a:pt x="1578290" y="0"/>
                  </a:lnTo>
                  <a:cubicBezTo>
                    <a:pt x="1585275" y="0"/>
                    <a:pt x="1590939" y="5663"/>
                    <a:pt x="1590939" y="12649"/>
                  </a:cubicBezTo>
                  <a:lnTo>
                    <a:pt x="1590939" y="373130"/>
                  </a:lnTo>
                  <a:cubicBezTo>
                    <a:pt x="1590939" y="376484"/>
                    <a:pt x="1589606" y="379702"/>
                    <a:pt x="1587234" y="382074"/>
                  </a:cubicBezTo>
                  <a:cubicBezTo>
                    <a:pt x="1584862" y="384446"/>
                    <a:pt x="1581644" y="385779"/>
                    <a:pt x="1578290" y="385779"/>
                  </a:cubicBezTo>
                  <a:lnTo>
                    <a:pt x="12649" y="385779"/>
                  </a:lnTo>
                  <a:cubicBezTo>
                    <a:pt x="9294" y="385779"/>
                    <a:pt x="6077" y="384446"/>
                    <a:pt x="3705" y="382074"/>
                  </a:cubicBezTo>
                  <a:cubicBezTo>
                    <a:pt x="1333" y="379702"/>
                    <a:pt x="0" y="376484"/>
                    <a:pt x="0" y="373130"/>
                  </a:cubicBezTo>
                  <a:lnTo>
                    <a:pt x="0" y="12649"/>
                  </a:lnTo>
                  <a:cubicBezTo>
                    <a:pt x="0" y="9294"/>
                    <a:pt x="1333" y="6077"/>
                    <a:pt x="3705" y="3705"/>
                  </a:cubicBezTo>
                  <a:cubicBezTo>
                    <a:pt x="6077" y="1333"/>
                    <a:pt x="9294" y="0"/>
                    <a:pt x="12649" y="0"/>
                  </a:cubicBezTo>
                  <a:close/>
                </a:path>
              </a:pathLst>
            </a:custGeom>
            <a:solidFill>
              <a:srgbClr val="FAFAFA"/>
            </a:solidFill>
            <a:ln w="28575" cap="sq">
              <a:solidFill>
                <a:srgbClr val="0097B2"/>
              </a:solidFill>
              <a:prstDash val="solid"/>
              <a:miter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0" y="-57150"/>
              <a:ext cx="1590939" cy="44292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  <a:endParaRPr/>
            </a:p>
          </p:txBody>
        </p:sp>
      </p:grpSp>
      <p:sp>
        <p:nvSpPr>
          <p:cNvPr id="21" name="TextBox 21"/>
          <p:cNvSpPr txBox="1"/>
          <p:nvPr/>
        </p:nvSpPr>
        <p:spPr>
          <a:xfrm>
            <a:off x="5994026" y="3389553"/>
            <a:ext cx="9059440" cy="19853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782"/>
              </a:lnSpc>
              <a:spcBef>
                <a:spcPct val="0"/>
              </a:spcBef>
            </a:pPr>
            <a:r>
              <a:rPr lang="en-US" sz="5558" b="1">
                <a:solidFill>
                  <a:srgbClr val="329A87"/>
                </a:solidFill>
                <a:latin typeface="Telegraf Bold"/>
                <a:ea typeface="Telegraf Bold"/>
                <a:cs typeface="Telegraf Bold"/>
                <a:sym typeface="Telegraf Bold"/>
              </a:rPr>
              <a:t>Préparation des données et visualisation de la série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5994026" y="5157590"/>
            <a:ext cx="8162131" cy="782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056"/>
              </a:lnSpc>
              <a:spcBef>
                <a:spcPct val="0"/>
              </a:spcBef>
            </a:pPr>
            <a:r>
              <a:rPr lang="en-US" sz="4326">
                <a:solidFill>
                  <a:srgbClr val="000000"/>
                </a:solidFill>
                <a:latin typeface="Telegraf"/>
                <a:ea typeface="Telegraf"/>
                <a:cs typeface="Telegraf"/>
                <a:sym typeface="Telegraf"/>
              </a:rPr>
              <a:t>Traitement et visualisation</a:t>
            </a:r>
          </a:p>
        </p:txBody>
      </p:sp>
      <p:sp>
        <p:nvSpPr>
          <p:cNvPr id="23" name="Freeform 23"/>
          <p:cNvSpPr/>
          <p:nvPr/>
        </p:nvSpPr>
        <p:spPr>
          <a:xfrm>
            <a:off x="4067426" y="3633090"/>
            <a:ext cx="1926599" cy="1926599"/>
          </a:xfrm>
          <a:custGeom>
            <a:avLst/>
            <a:gdLst/>
            <a:ahLst/>
            <a:cxnLst/>
            <a:rect l="l" t="t" r="r" b="b"/>
            <a:pathLst>
              <a:path w="1926599" h="1926599">
                <a:moveTo>
                  <a:pt x="0" y="0"/>
                </a:moveTo>
                <a:lnTo>
                  <a:pt x="1926600" y="0"/>
                </a:lnTo>
                <a:lnTo>
                  <a:pt x="1926600" y="1926599"/>
                </a:lnTo>
                <a:lnTo>
                  <a:pt x="0" y="192659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46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grpSp>
        <p:nvGrpSpPr>
          <p:cNvPr id="24" name="Group 24"/>
          <p:cNvGrpSpPr/>
          <p:nvPr/>
        </p:nvGrpSpPr>
        <p:grpSpPr>
          <a:xfrm>
            <a:off x="4252211" y="3817875"/>
            <a:ext cx="1557029" cy="1557029"/>
            <a:chOff x="0" y="0"/>
            <a:chExt cx="812800" cy="812800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97B2"/>
            </a:solidFill>
            <a:ln cap="sq">
              <a:noFill/>
              <a:prstDash val="solid"/>
              <a:miter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  <a:endParaRPr/>
            </a:p>
          </p:txBody>
        </p:sp>
      </p:grpSp>
      <p:sp>
        <p:nvSpPr>
          <p:cNvPr id="27" name="TextBox 27"/>
          <p:cNvSpPr txBox="1"/>
          <p:nvPr/>
        </p:nvSpPr>
        <p:spPr>
          <a:xfrm>
            <a:off x="4357484" y="3784937"/>
            <a:ext cx="1346483" cy="13943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785"/>
              </a:lnSpc>
              <a:spcBef>
                <a:spcPct val="0"/>
              </a:spcBef>
            </a:pPr>
            <a:r>
              <a:rPr lang="en-US" sz="7703" b="1">
                <a:solidFill>
                  <a:srgbClr val="FFFFFF"/>
                </a:solidFill>
                <a:latin typeface="Telegraf Bold"/>
                <a:ea typeface="Telegraf Bold"/>
                <a:cs typeface="Telegraf Bold"/>
                <a:sym typeface="Telegraf Bold"/>
              </a:rPr>
              <a:t>5</a:t>
            </a:r>
          </a:p>
        </p:txBody>
      </p:sp>
    </p:spTree>
  </p:cSld>
  <p:clrMapOvr>
    <a:masterClrMapping/>
  </p:clrMapOvr>
  <p:transition spd="slow">
    <p:cover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9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4614280" y="866775"/>
            <a:ext cx="9059440" cy="10030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782"/>
              </a:lnSpc>
              <a:spcBef>
                <a:spcPct val="0"/>
              </a:spcBef>
            </a:pPr>
            <a:r>
              <a:rPr lang="en-US" sz="5558" b="1">
                <a:solidFill>
                  <a:srgbClr val="329A87"/>
                </a:solidFill>
                <a:latin typeface="Telegraf Bold"/>
                <a:ea typeface="Telegraf Bold"/>
                <a:cs typeface="Telegraf Bold"/>
                <a:sym typeface="Telegraf Bold"/>
              </a:rPr>
              <a:t>Préparation des données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028700" y="3439619"/>
            <a:ext cx="11621305" cy="32648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990147" lvl="1" indent="-495074" algn="l">
              <a:lnSpc>
                <a:spcPts val="6420"/>
              </a:lnSpc>
              <a:buFont typeface="Arial"/>
              <a:buChar char="•"/>
            </a:pPr>
            <a:r>
              <a:rPr lang="en-US" sz="4586" b="1">
                <a:solidFill>
                  <a:srgbClr val="1C6976"/>
                </a:solidFill>
                <a:latin typeface="Telegraf Bold"/>
                <a:ea typeface="Telegraf Bold"/>
                <a:cs typeface="Telegraf Bold"/>
                <a:sym typeface="Telegraf Bold"/>
              </a:rPr>
              <a:t>Base déjà apurée, traitement de données non nécessaire</a:t>
            </a:r>
          </a:p>
          <a:p>
            <a:pPr marL="990147" lvl="1" indent="-495074" algn="l">
              <a:lnSpc>
                <a:spcPts val="6420"/>
              </a:lnSpc>
              <a:buFont typeface="Arial"/>
              <a:buChar char="•"/>
            </a:pPr>
            <a:r>
              <a:rPr lang="en-US" sz="4586" b="1">
                <a:solidFill>
                  <a:srgbClr val="1C6976"/>
                </a:solidFill>
                <a:latin typeface="Telegraf Bold"/>
                <a:ea typeface="Telegraf Bold"/>
                <a:cs typeface="Telegraf Bold"/>
                <a:sym typeface="Telegraf Bold"/>
              </a:rPr>
              <a:t>Transformation de la série brute en objet de type ts (Time Series)</a:t>
            </a:r>
          </a:p>
        </p:txBody>
      </p:sp>
    </p:spTree>
  </p:cSld>
  <p:clrMapOvr>
    <a:masterClrMapping/>
  </p:clrMapOvr>
  <p:transition spd="slow">
    <p:push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486416" y="-631187"/>
            <a:ext cx="21305826" cy="12629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2248836" y="169213"/>
            <a:ext cx="13790329" cy="644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900"/>
              </a:lnSpc>
              <a:spcBef>
                <a:spcPct val="0"/>
              </a:spcBef>
            </a:pPr>
            <a:r>
              <a:rPr lang="en-US" sz="3500" b="1">
                <a:solidFill>
                  <a:srgbClr val="1C6976"/>
                </a:solidFill>
                <a:latin typeface="Telegraf Bold"/>
                <a:ea typeface="Telegraf Bold"/>
                <a:cs typeface="Telegraf Bold"/>
                <a:sym typeface="Telegraf Bold"/>
              </a:rPr>
              <a:t>Evolution du PIB trimestriel du Sénégal (en milliards de FCFA)</a:t>
            </a:r>
          </a:p>
        </p:txBody>
      </p:sp>
    </p:spTree>
  </p:cSld>
  <p:clrMapOvr>
    <a:masterClrMapping/>
  </p:clrMapOvr>
  <p:transition spd="slow">
    <p:push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1471508">
            <a:off x="7442248" y="-3517885"/>
            <a:ext cx="2160993" cy="11665743"/>
            <a:chOff x="0" y="0"/>
            <a:chExt cx="597206" cy="322391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597206" cy="3223913"/>
            </a:xfrm>
            <a:custGeom>
              <a:avLst/>
              <a:gdLst/>
              <a:ahLst/>
              <a:cxnLst/>
              <a:rect l="l" t="t" r="r" b="b"/>
              <a:pathLst>
                <a:path w="597206" h="3223913">
                  <a:moveTo>
                    <a:pt x="0" y="0"/>
                  </a:moveTo>
                  <a:lnTo>
                    <a:pt x="597206" y="0"/>
                  </a:lnTo>
                  <a:lnTo>
                    <a:pt x="597206" y="3223913"/>
                  </a:lnTo>
                  <a:lnTo>
                    <a:pt x="0" y="3223913"/>
                  </a:lnTo>
                  <a:close/>
                </a:path>
              </a:pathLst>
            </a:custGeom>
            <a:solidFill>
              <a:srgbClr val="D5DADA">
                <a:alpha val="23922"/>
              </a:srgbClr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597206" cy="3262013"/>
            </a:xfrm>
            <a:prstGeom prst="rect">
              <a:avLst/>
            </a:prstGeom>
          </p:spPr>
          <p:txBody>
            <a:bodyPr lIns="35873" tIns="35873" rIns="35873" bIns="35873" rtlCol="0" anchor="ctr"/>
            <a:lstStyle/>
            <a:p>
              <a:pPr algn="ctr">
                <a:lnSpc>
                  <a:spcPts val="1384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 rot="1471508">
            <a:off x="7842796" y="1744300"/>
            <a:ext cx="2160993" cy="11212989"/>
            <a:chOff x="0" y="0"/>
            <a:chExt cx="597206" cy="3098792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597206" cy="3098791"/>
            </a:xfrm>
            <a:custGeom>
              <a:avLst/>
              <a:gdLst/>
              <a:ahLst/>
              <a:cxnLst/>
              <a:rect l="l" t="t" r="r" b="b"/>
              <a:pathLst>
                <a:path w="597206" h="3098791">
                  <a:moveTo>
                    <a:pt x="0" y="0"/>
                  </a:moveTo>
                  <a:lnTo>
                    <a:pt x="597206" y="0"/>
                  </a:lnTo>
                  <a:lnTo>
                    <a:pt x="597206" y="3098791"/>
                  </a:lnTo>
                  <a:lnTo>
                    <a:pt x="0" y="3098791"/>
                  </a:lnTo>
                  <a:close/>
                </a:path>
              </a:pathLst>
            </a:custGeom>
            <a:solidFill>
              <a:srgbClr val="D5DADA">
                <a:alpha val="23922"/>
              </a:srgbClr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597206" cy="3136892"/>
            </a:xfrm>
            <a:prstGeom prst="rect">
              <a:avLst/>
            </a:prstGeom>
          </p:spPr>
          <p:txBody>
            <a:bodyPr lIns="35873" tIns="35873" rIns="35873" bIns="35873" rtlCol="0" anchor="ctr"/>
            <a:lstStyle/>
            <a:p>
              <a:pPr algn="ctr">
                <a:lnSpc>
                  <a:spcPts val="1384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1015140" y="5027944"/>
            <a:ext cx="10518155" cy="10518113"/>
            <a:chOff x="0" y="0"/>
            <a:chExt cx="6350000" cy="6349975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6350000" cy="6349975"/>
            </a:xfrm>
            <a:custGeom>
              <a:avLst/>
              <a:gdLst/>
              <a:ahLst/>
              <a:cxnLst/>
              <a:rect l="l" t="t" r="r" b="b"/>
              <a:pathLst>
                <a:path w="6350000" h="6349975">
                  <a:moveTo>
                    <a:pt x="6350000" y="3175025"/>
                  </a:moveTo>
                  <a:cubicBezTo>
                    <a:pt x="6350000" y="4928451"/>
                    <a:pt x="4928476" y="6349975"/>
                    <a:pt x="3175000" y="6349975"/>
                  </a:cubicBezTo>
                  <a:cubicBezTo>
                    <a:pt x="1421498" y="6349975"/>
                    <a:pt x="0" y="4928451"/>
                    <a:pt x="0" y="3175025"/>
                  </a:cubicBezTo>
                  <a:cubicBezTo>
                    <a:pt x="0" y="1421511"/>
                    <a:pt x="1421498" y="0"/>
                    <a:pt x="3175000" y="0"/>
                  </a:cubicBezTo>
                  <a:cubicBezTo>
                    <a:pt x="4928502" y="0"/>
                    <a:pt x="6350000" y="1421511"/>
                    <a:pt x="6350000" y="3175025"/>
                  </a:cubicBezTo>
                  <a:close/>
                </a:path>
              </a:pathLst>
            </a:custGeom>
            <a:blipFill>
              <a:blip r:embed="rId2"/>
              <a:stretch>
                <a:fillRect l="-25471" r="-25471"/>
              </a:stretch>
            </a:blipFill>
          </p:spPr>
        </p:sp>
      </p:grpSp>
      <p:grpSp>
        <p:nvGrpSpPr>
          <p:cNvPr id="10" name="Group 10"/>
          <p:cNvGrpSpPr/>
          <p:nvPr/>
        </p:nvGrpSpPr>
        <p:grpSpPr>
          <a:xfrm>
            <a:off x="11800842" y="5813625"/>
            <a:ext cx="8946750" cy="8946750"/>
            <a:chOff x="0" y="0"/>
            <a:chExt cx="812800" cy="8128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04775" cap="sq">
              <a:solidFill>
                <a:srgbClr val="FFFFFF"/>
              </a:solidFill>
              <a:prstDash val="solid"/>
              <a:miter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35873" tIns="35873" rIns="35873" bIns="35873" rtlCol="0" anchor="ctr"/>
            <a:lstStyle/>
            <a:p>
              <a:pPr algn="ctr">
                <a:lnSpc>
                  <a:spcPts val="1384"/>
                </a:lnSpc>
              </a:pPr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-4524129" y="-3792316"/>
            <a:ext cx="10518155" cy="10518113"/>
            <a:chOff x="0" y="0"/>
            <a:chExt cx="6350000" cy="6349975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6350000" cy="6349975"/>
            </a:xfrm>
            <a:custGeom>
              <a:avLst/>
              <a:gdLst/>
              <a:ahLst/>
              <a:cxnLst/>
              <a:rect l="l" t="t" r="r" b="b"/>
              <a:pathLst>
                <a:path w="6350000" h="6349975">
                  <a:moveTo>
                    <a:pt x="6350000" y="3175025"/>
                  </a:moveTo>
                  <a:cubicBezTo>
                    <a:pt x="6350000" y="4928451"/>
                    <a:pt x="4928476" y="6349975"/>
                    <a:pt x="3175000" y="6349975"/>
                  </a:cubicBezTo>
                  <a:cubicBezTo>
                    <a:pt x="1421498" y="6349975"/>
                    <a:pt x="0" y="4928451"/>
                    <a:pt x="0" y="3175025"/>
                  </a:cubicBezTo>
                  <a:cubicBezTo>
                    <a:pt x="0" y="1421511"/>
                    <a:pt x="1421498" y="0"/>
                    <a:pt x="3175000" y="0"/>
                  </a:cubicBezTo>
                  <a:cubicBezTo>
                    <a:pt x="4928502" y="0"/>
                    <a:pt x="6350000" y="1421511"/>
                    <a:pt x="6350000" y="3175025"/>
                  </a:cubicBezTo>
                  <a:close/>
                </a:path>
              </a:pathLst>
            </a:custGeom>
            <a:blipFill>
              <a:blip r:embed="rId3"/>
              <a:stretch>
                <a:fillRect l="-25471" r="-25471"/>
              </a:stretch>
            </a:blipFill>
          </p:spPr>
        </p:sp>
      </p:grpSp>
      <p:grpSp>
        <p:nvGrpSpPr>
          <p:cNvPr id="15" name="Group 15"/>
          <p:cNvGrpSpPr/>
          <p:nvPr/>
        </p:nvGrpSpPr>
        <p:grpSpPr>
          <a:xfrm>
            <a:off x="-3738427" y="-3006635"/>
            <a:ext cx="8946750" cy="8946750"/>
            <a:chOff x="0" y="0"/>
            <a:chExt cx="812800" cy="81280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04775" cap="sq">
              <a:solidFill>
                <a:srgbClr val="FFFFFF"/>
              </a:solidFill>
              <a:prstDash val="solid"/>
              <a:miter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35873" tIns="35873" rIns="35873" bIns="35873" rtlCol="0" anchor="ctr"/>
            <a:lstStyle/>
            <a:p>
              <a:pPr algn="ctr">
                <a:lnSpc>
                  <a:spcPts val="1384"/>
                </a:lnSpc>
              </a:pPr>
              <a:endParaRPr/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4872773" y="3729254"/>
            <a:ext cx="9283384" cy="2301384"/>
            <a:chOff x="0" y="0"/>
            <a:chExt cx="1419439" cy="351884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419439" cy="351884"/>
            </a:xfrm>
            <a:custGeom>
              <a:avLst/>
              <a:gdLst/>
              <a:ahLst/>
              <a:cxnLst/>
              <a:rect l="l" t="t" r="r" b="b"/>
              <a:pathLst>
                <a:path w="1419439" h="351884">
                  <a:moveTo>
                    <a:pt x="14177" y="0"/>
                  </a:moveTo>
                  <a:lnTo>
                    <a:pt x="1405262" y="0"/>
                  </a:lnTo>
                  <a:cubicBezTo>
                    <a:pt x="1409022" y="0"/>
                    <a:pt x="1412628" y="1494"/>
                    <a:pt x="1415287" y="4152"/>
                  </a:cubicBezTo>
                  <a:cubicBezTo>
                    <a:pt x="1417946" y="6811"/>
                    <a:pt x="1419439" y="10417"/>
                    <a:pt x="1419439" y="14177"/>
                  </a:cubicBezTo>
                  <a:lnTo>
                    <a:pt x="1419439" y="337707"/>
                  </a:lnTo>
                  <a:cubicBezTo>
                    <a:pt x="1419439" y="341467"/>
                    <a:pt x="1417946" y="345073"/>
                    <a:pt x="1415287" y="347732"/>
                  </a:cubicBezTo>
                  <a:cubicBezTo>
                    <a:pt x="1412628" y="350390"/>
                    <a:pt x="1409022" y="351884"/>
                    <a:pt x="1405262" y="351884"/>
                  </a:cubicBezTo>
                  <a:lnTo>
                    <a:pt x="14177" y="351884"/>
                  </a:lnTo>
                  <a:cubicBezTo>
                    <a:pt x="10417" y="351884"/>
                    <a:pt x="6811" y="350390"/>
                    <a:pt x="4152" y="347732"/>
                  </a:cubicBezTo>
                  <a:cubicBezTo>
                    <a:pt x="1494" y="345073"/>
                    <a:pt x="0" y="341467"/>
                    <a:pt x="0" y="337707"/>
                  </a:cubicBezTo>
                  <a:lnTo>
                    <a:pt x="0" y="14177"/>
                  </a:lnTo>
                  <a:cubicBezTo>
                    <a:pt x="0" y="10417"/>
                    <a:pt x="1494" y="6811"/>
                    <a:pt x="4152" y="4152"/>
                  </a:cubicBezTo>
                  <a:cubicBezTo>
                    <a:pt x="6811" y="1494"/>
                    <a:pt x="10417" y="0"/>
                    <a:pt x="14177" y="0"/>
                  </a:cubicBezTo>
                  <a:close/>
                </a:path>
              </a:pathLst>
            </a:custGeom>
            <a:solidFill>
              <a:srgbClr val="FAFAFA"/>
            </a:solidFill>
            <a:ln w="28575" cap="sq">
              <a:solidFill>
                <a:srgbClr val="0097B2"/>
              </a:solidFill>
              <a:prstDash val="solid"/>
              <a:miter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0" y="-57150"/>
              <a:ext cx="1419439" cy="40903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  <a:endParaRPr/>
            </a:p>
          </p:txBody>
        </p:sp>
      </p:grpSp>
      <p:sp>
        <p:nvSpPr>
          <p:cNvPr id="21" name="TextBox 21"/>
          <p:cNvSpPr txBox="1"/>
          <p:nvPr/>
        </p:nvSpPr>
        <p:spPr>
          <a:xfrm>
            <a:off x="5994026" y="3760202"/>
            <a:ext cx="8162131" cy="10030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782"/>
              </a:lnSpc>
              <a:spcBef>
                <a:spcPct val="0"/>
              </a:spcBef>
            </a:pPr>
            <a:r>
              <a:rPr lang="en-US" sz="5558" b="1">
                <a:solidFill>
                  <a:srgbClr val="329A87"/>
                </a:solidFill>
                <a:latin typeface="Telegraf Bold"/>
                <a:ea typeface="Telegraf Bold"/>
                <a:cs typeface="Telegraf Bold"/>
                <a:sym typeface="Telegraf Bold"/>
              </a:rPr>
              <a:t>Choix du modèle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5994026" y="4489057"/>
            <a:ext cx="8162131" cy="15415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056"/>
              </a:lnSpc>
              <a:spcBef>
                <a:spcPct val="0"/>
              </a:spcBef>
            </a:pPr>
            <a:r>
              <a:rPr lang="en-US" sz="4326">
                <a:solidFill>
                  <a:srgbClr val="000000"/>
                </a:solidFill>
                <a:latin typeface="Telegraf"/>
                <a:ea typeface="Telegraf"/>
                <a:cs typeface="Telegraf"/>
                <a:sym typeface="Telegraf"/>
              </a:rPr>
              <a:t>Composantes de la série et décomposition</a:t>
            </a:r>
          </a:p>
        </p:txBody>
      </p:sp>
      <p:sp>
        <p:nvSpPr>
          <p:cNvPr id="23" name="Freeform 23"/>
          <p:cNvSpPr/>
          <p:nvPr/>
        </p:nvSpPr>
        <p:spPr>
          <a:xfrm>
            <a:off x="4067426" y="3633090"/>
            <a:ext cx="1926599" cy="1926599"/>
          </a:xfrm>
          <a:custGeom>
            <a:avLst/>
            <a:gdLst/>
            <a:ahLst/>
            <a:cxnLst/>
            <a:rect l="l" t="t" r="r" b="b"/>
            <a:pathLst>
              <a:path w="1926599" h="1926599">
                <a:moveTo>
                  <a:pt x="0" y="0"/>
                </a:moveTo>
                <a:lnTo>
                  <a:pt x="1926600" y="0"/>
                </a:lnTo>
                <a:lnTo>
                  <a:pt x="1926600" y="1926599"/>
                </a:lnTo>
                <a:lnTo>
                  <a:pt x="0" y="192659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46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grpSp>
        <p:nvGrpSpPr>
          <p:cNvPr id="24" name="Group 24"/>
          <p:cNvGrpSpPr/>
          <p:nvPr/>
        </p:nvGrpSpPr>
        <p:grpSpPr>
          <a:xfrm>
            <a:off x="4252211" y="3817875"/>
            <a:ext cx="1557029" cy="1557029"/>
            <a:chOff x="0" y="0"/>
            <a:chExt cx="812800" cy="812800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97B2"/>
            </a:solidFill>
            <a:ln cap="sq">
              <a:noFill/>
              <a:prstDash val="solid"/>
              <a:miter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  <a:endParaRPr/>
            </a:p>
          </p:txBody>
        </p:sp>
      </p:grpSp>
      <p:sp>
        <p:nvSpPr>
          <p:cNvPr id="27" name="TextBox 27"/>
          <p:cNvSpPr txBox="1"/>
          <p:nvPr/>
        </p:nvSpPr>
        <p:spPr>
          <a:xfrm>
            <a:off x="4357484" y="3784937"/>
            <a:ext cx="1346483" cy="13943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785"/>
              </a:lnSpc>
              <a:spcBef>
                <a:spcPct val="0"/>
              </a:spcBef>
            </a:pPr>
            <a:r>
              <a:rPr lang="en-US" sz="7703" b="1">
                <a:solidFill>
                  <a:srgbClr val="FFFFFF"/>
                </a:solidFill>
                <a:latin typeface="Telegraf Bold"/>
                <a:ea typeface="Telegraf Bold"/>
                <a:cs typeface="Telegraf Bold"/>
                <a:sym typeface="Telegraf Bold"/>
              </a:rPr>
              <a:t>6</a:t>
            </a:r>
          </a:p>
        </p:txBody>
      </p:sp>
    </p:spTree>
  </p:cSld>
  <p:clrMapOvr>
    <a:masterClrMapping/>
  </p:clrMapOvr>
  <p:transition spd="slow">
    <p:push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9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251200" y="866775"/>
            <a:ext cx="15785599" cy="10030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782"/>
              </a:lnSpc>
              <a:spcBef>
                <a:spcPct val="0"/>
              </a:spcBef>
            </a:pPr>
            <a:r>
              <a:rPr lang="en-US" sz="5558" b="1">
                <a:solidFill>
                  <a:srgbClr val="329A87"/>
                </a:solidFill>
                <a:latin typeface="Telegraf Bold"/>
                <a:ea typeface="Telegraf Bold"/>
                <a:cs typeface="Telegraf Bold"/>
                <a:sym typeface="Telegraf Bold"/>
              </a:rPr>
              <a:t>Vérification de l’existence des composantes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139950" y="1992735"/>
            <a:ext cx="16008100" cy="2390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299"/>
              </a:lnSpc>
            </a:pPr>
            <a:r>
              <a:rPr lang="en-US" sz="4499">
                <a:solidFill>
                  <a:srgbClr val="191919"/>
                </a:solidFill>
                <a:latin typeface="Telegraf"/>
                <a:ea typeface="Telegraf"/>
                <a:cs typeface="Telegraf"/>
                <a:sym typeface="Telegraf"/>
              </a:rPr>
              <a:t>L’aperçu graphique nous a permis d’émettre certaines hypothèses que nous essaierons de vérifier par des tests statistiques. </a:t>
            </a:r>
          </a:p>
        </p:txBody>
      </p:sp>
      <p:sp>
        <p:nvSpPr>
          <p:cNvPr id="4" name="Freeform 4"/>
          <p:cNvSpPr/>
          <p:nvPr/>
        </p:nvSpPr>
        <p:spPr>
          <a:xfrm>
            <a:off x="9231827" y="4928928"/>
            <a:ext cx="2779448" cy="2779448"/>
          </a:xfrm>
          <a:custGeom>
            <a:avLst/>
            <a:gdLst/>
            <a:ahLst/>
            <a:cxnLst/>
            <a:rect l="l" t="t" r="r" b="b"/>
            <a:pathLst>
              <a:path w="2779448" h="2779448">
                <a:moveTo>
                  <a:pt x="0" y="0"/>
                </a:moveTo>
                <a:lnTo>
                  <a:pt x="2779448" y="0"/>
                </a:lnTo>
                <a:lnTo>
                  <a:pt x="2779448" y="2779448"/>
                </a:lnTo>
                <a:lnTo>
                  <a:pt x="0" y="277944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5947025" y="4928928"/>
            <a:ext cx="2779448" cy="2779448"/>
          </a:xfrm>
          <a:custGeom>
            <a:avLst/>
            <a:gdLst/>
            <a:ahLst/>
            <a:cxnLst/>
            <a:rect l="l" t="t" r="r" b="b"/>
            <a:pathLst>
              <a:path w="2779448" h="2779448">
                <a:moveTo>
                  <a:pt x="0" y="0"/>
                </a:moveTo>
                <a:lnTo>
                  <a:pt x="2779448" y="0"/>
                </a:lnTo>
                <a:lnTo>
                  <a:pt x="2779448" y="2779448"/>
                </a:lnTo>
                <a:lnTo>
                  <a:pt x="0" y="277944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6" name="TextBox 6"/>
          <p:cNvSpPr txBox="1"/>
          <p:nvPr/>
        </p:nvSpPr>
        <p:spPr>
          <a:xfrm>
            <a:off x="6063695" y="5445162"/>
            <a:ext cx="2546108" cy="16245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329"/>
              </a:lnSpc>
            </a:pPr>
            <a:r>
              <a:rPr lang="en-US" sz="3330" b="1" spc="166">
                <a:solidFill>
                  <a:srgbClr val="37C9EF"/>
                </a:solidFill>
                <a:latin typeface="Aileron Ultra-Bold"/>
                <a:ea typeface="Aileron Ultra-Bold"/>
                <a:cs typeface="Aileron Ultra-Bold"/>
                <a:sym typeface="Aileron Ultra-Bold"/>
              </a:rPr>
              <a:t>TEST DE</a:t>
            </a:r>
          </a:p>
          <a:p>
            <a:pPr algn="ctr">
              <a:lnSpc>
                <a:spcPts val="4329"/>
              </a:lnSpc>
            </a:pPr>
            <a:r>
              <a:rPr lang="en-US" sz="3330" b="1" spc="166">
                <a:solidFill>
                  <a:srgbClr val="37C9EF"/>
                </a:solidFill>
                <a:latin typeface="Aileron Ultra-Bold"/>
                <a:ea typeface="Aileron Ultra-Bold"/>
                <a:cs typeface="Aileron Ultra-Bold"/>
                <a:sym typeface="Aileron Ultra-Bold"/>
              </a:rPr>
              <a:t> MANN-</a:t>
            </a:r>
          </a:p>
          <a:p>
            <a:pPr algn="ctr">
              <a:lnSpc>
                <a:spcPts val="4329"/>
              </a:lnSpc>
            </a:pPr>
            <a:r>
              <a:rPr lang="en-US" sz="3330" b="1" spc="166">
                <a:solidFill>
                  <a:srgbClr val="37C9EF"/>
                </a:solidFill>
                <a:latin typeface="Aileron Ultra-Bold"/>
                <a:ea typeface="Aileron Ultra-Bold"/>
                <a:cs typeface="Aileron Ultra-Bold"/>
                <a:sym typeface="Aileron Ultra-Bold"/>
              </a:rPr>
              <a:t>KENDALL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2516100" y="4921287"/>
            <a:ext cx="4191000" cy="1057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00"/>
              </a:lnSpc>
            </a:pPr>
            <a:r>
              <a:rPr lang="en-US" sz="3000" b="1" spc="150">
                <a:solidFill>
                  <a:srgbClr val="53786D"/>
                </a:solidFill>
                <a:latin typeface="Aileron Bold"/>
                <a:ea typeface="Aileron Bold"/>
                <a:cs typeface="Aileron Bold"/>
                <a:sym typeface="Aileron Bold"/>
              </a:rPr>
              <a:t>Détection de la saisonnalité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9348497" y="5514445"/>
            <a:ext cx="2546108" cy="16245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329"/>
              </a:lnSpc>
            </a:pPr>
            <a:r>
              <a:rPr lang="en-US" sz="3330" b="1" spc="166">
                <a:solidFill>
                  <a:srgbClr val="329A87"/>
                </a:solidFill>
                <a:latin typeface="Aileron Ultra-Bold"/>
                <a:ea typeface="Aileron Ultra-Bold"/>
                <a:cs typeface="Aileron Ultra-Bold"/>
                <a:sym typeface="Aileron Ultra-Bold"/>
              </a:rPr>
              <a:t>TEST ANOVA DE FISHER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251200" y="4921287"/>
            <a:ext cx="4191000" cy="1057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4200"/>
              </a:lnSpc>
            </a:pPr>
            <a:r>
              <a:rPr lang="en-US" sz="3000" b="1" spc="150">
                <a:solidFill>
                  <a:srgbClr val="365B6D"/>
                </a:solidFill>
                <a:latin typeface="Aileron Bold"/>
                <a:ea typeface="Aileron Bold"/>
                <a:cs typeface="Aileron Bold"/>
                <a:sym typeface="Aileron Bold"/>
              </a:rPr>
              <a:t>Détection de la tendance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267618" y="6392899"/>
            <a:ext cx="5796077" cy="23253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74979" lvl="1" indent="-237490" algn="ctr">
              <a:lnSpc>
                <a:spcPts val="3079"/>
              </a:lnSpc>
              <a:buFont typeface="Arial"/>
              <a:buChar char="•"/>
            </a:pPr>
            <a:r>
              <a:rPr lang="en-US" sz="2199" spc="109">
                <a:solidFill>
                  <a:srgbClr val="191919"/>
                </a:solidFill>
                <a:latin typeface="Aileron"/>
                <a:ea typeface="Aileron"/>
                <a:cs typeface="Aileron"/>
                <a:sym typeface="Aileron"/>
              </a:rPr>
              <a:t>H0 : Absence de tendance.</a:t>
            </a:r>
          </a:p>
          <a:p>
            <a:pPr marL="474979" lvl="1" indent="-237490" algn="ctr">
              <a:lnSpc>
                <a:spcPts val="3079"/>
              </a:lnSpc>
              <a:buFont typeface="Arial"/>
              <a:buChar char="•"/>
            </a:pPr>
            <a:r>
              <a:rPr lang="en-US" sz="2199" spc="109">
                <a:solidFill>
                  <a:srgbClr val="191919"/>
                </a:solidFill>
                <a:latin typeface="Aileron"/>
                <a:ea typeface="Aileron"/>
                <a:cs typeface="Aileron"/>
                <a:sym typeface="Aileron"/>
              </a:rPr>
              <a:t>Critère : Rejeter H0 si p-value &lt; 0.05.</a:t>
            </a:r>
          </a:p>
          <a:p>
            <a:pPr marL="474979" lvl="1" indent="-237490" algn="ctr">
              <a:lnSpc>
                <a:spcPts val="3079"/>
              </a:lnSpc>
              <a:buFont typeface="Arial"/>
              <a:buChar char="•"/>
            </a:pPr>
            <a:r>
              <a:rPr lang="en-US" sz="2199" spc="109">
                <a:solidFill>
                  <a:srgbClr val="191919"/>
                </a:solidFill>
                <a:latin typeface="Aileron"/>
                <a:ea typeface="Aileron"/>
                <a:cs typeface="Aileron"/>
                <a:sym typeface="Aileron"/>
              </a:rPr>
              <a:t>Résultat : p-value &lt; 2.2e-16. &lt; 0.05</a:t>
            </a:r>
          </a:p>
          <a:p>
            <a:pPr marL="474979" lvl="1" indent="-237490" algn="ctr">
              <a:lnSpc>
                <a:spcPts val="3079"/>
              </a:lnSpc>
              <a:buFont typeface="Arial"/>
              <a:buChar char="•"/>
            </a:pPr>
            <a:r>
              <a:rPr lang="en-US" sz="2199" spc="109">
                <a:solidFill>
                  <a:srgbClr val="191919"/>
                </a:solidFill>
                <a:latin typeface="Aileron"/>
                <a:ea typeface="Aileron"/>
                <a:cs typeface="Aileron"/>
                <a:sym typeface="Aileron"/>
              </a:rPr>
              <a:t>Conclusion : Présence de tendance significative.</a:t>
            </a:r>
          </a:p>
          <a:p>
            <a:pPr algn="ctr">
              <a:lnSpc>
                <a:spcPts val="3079"/>
              </a:lnSpc>
            </a:pPr>
            <a:endParaRPr lang="en-US" sz="2199" spc="109">
              <a:solidFill>
                <a:srgbClr val="191919"/>
              </a:solidFill>
              <a:latin typeface="Aileron"/>
              <a:ea typeface="Aileron"/>
              <a:cs typeface="Aileron"/>
              <a:sym typeface="Aileron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12516100" y="6392899"/>
            <a:ext cx="5771900" cy="19348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74978" lvl="1" indent="-237489" algn="ctr">
              <a:lnSpc>
                <a:spcPts val="3079"/>
              </a:lnSpc>
              <a:buFont typeface="Arial"/>
              <a:buChar char="•"/>
            </a:pPr>
            <a:r>
              <a:rPr lang="en-US" sz="2199" spc="109">
                <a:solidFill>
                  <a:srgbClr val="191919"/>
                </a:solidFill>
                <a:latin typeface="Aileron"/>
                <a:ea typeface="Aileron"/>
                <a:cs typeface="Aileron"/>
                <a:sym typeface="Aileron"/>
              </a:rPr>
              <a:t>H0 : Absence de saisonnalité .</a:t>
            </a:r>
          </a:p>
          <a:p>
            <a:pPr marL="474978" lvl="1" indent="-237489" algn="ctr">
              <a:lnSpc>
                <a:spcPts val="3079"/>
              </a:lnSpc>
              <a:buFont typeface="Arial"/>
              <a:buChar char="•"/>
            </a:pPr>
            <a:r>
              <a:rPr lang="en-US" sz="2199" spc="109">
                <a:solidFill>
                  <a:srgbClr val="191919"/>
                </a:solidFill>
                <a:latin typeface="Aileron"/>
                <a:ea typeface="Aileron"/>
                <a:cs typeface="Aileron"/>
                <a:sym typeface="Aileron"/>
              </a:rPr>
              <a:t>Critère : Rejeter H0 si p &lt; 0.05.</a:t>
            </a:r>
          </a:p>
          <a:p>
            <a:pPr marL="474978" lvl="1" indent="-237489" algn="ctr">
              <a:lnSpc>
                <a:spcPts val="3079"/>
              </a:lnSpc>
              <a:buFont typeface="Arial"/>
              <a:buChar char="•"/>
            </a:pPr>
            <a:r>
              <a:rPr lang="en-US" sz="2199" spc="109">
                <a:solidFill>
                  <a:srgbClr val="191919"/>
                </a:solidFill>
                <a:latin typeface="Aileron"/>
                <a:ea typeface="Aileron"/>
                <a:cs typeface="Aileron"/>
                <a:sym typeface="Aileron"/>
              </a:rPr>
              <a:t>Résultat : p-value = 0.0695 &gt; 0.05.</a:t>
            </a:r>
          </a:p>
          <a:p>
            <a:pPr marL="474978" lvl="1" indent="-237489" algn="ctr">
              <a:lnSpc>
                <a:spcPts val="3079"/>
              </a:lnSpc>
              <a:buFont typeface="Arial"/>
              <a:buChar char="•"/>
            </a:pPr>
            <a:r>
              <a:rPr lang="en-US" sz="2199" spc="109">
                <a:solidFill>
                  <a:srgbClr val="191919"/>
                </a:solidFill>
                <a:latin typeface="Aileron"/>
                <a:ea typeface="Aileron"/>
                <a:cs typeface="Aileron"/>
                <a:sym typeface="Aileron"/>
              </a:rPr>
              <a:t>Conclusion : Globalement, pas de saisonnalité. 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362451" y="8696325"/>
            <a:ext cx="15785599" cy="1057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sz="3000" b="1" spc="150">
                <a:solidFill>
                  <a:srgbClr val="E41D25"/>
                </a:solidFill>
                <a:latin typeface="Aileron Bold"/>
                <a:ea typeface="Aileron Bold"/>
                <a:cs typeface="Aileron Bold"/>
                <a:sym typeface="Aileron Bold"/>
              </a:rPr>
              <a:t>Tests supplémentaires à effectuer sur les sous-séries à effectuer pour analyser la saisonnalité sur 2008-2013 et 2014-2024. </a:t>
            </a:r>
          </a:p>
        </p:txBody>
      </p:sp>
    </p:spTree>
  </p:cSld>
  <p:clrMapOvr>
    <a:masterClrMapping/>
  </p:clrMapOvr>
  <p:transition spd="slow">
    <p:push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9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449200" y="1275670"/>
            <a:ext cx="5772865" cy="7735661"/>
            <a:chOff x="0" y="0"/>
            <a:chExt cx="5190628" cy="695546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5190628" cy="6955461"/>
            </a:xfrm>
            <a:custGeom>
              <a:avLst/>
              <a:gdLst/>
              <a:ahLst/>
              <a:cxnLst/>
              <a:rect l="l" t="t" r="r" b="b"/>
              <a:pathLst>
                <a:path w="5190628" h="6955461">
                  <a:moveTo>
                    <a:pt x="0" y="0"/>
                  </a:moveTo>
                  <a:lnTo>
                    <a:pt x="0" y="6955461"/>
                  </a:lnTo>
                  <a:lnTo>
                    <a:pt x="5190628" y="6955461"/>
                  </a:lnTo>
                  <a:lnTo>
                    <a:pt x="5190628" y="0"/>
                  </a:lnTo>
                  <a:lnTo>
                    <a:pt x="0" y="0"/>
                  </a:lnTo>
                  <a:close/>
                  <a:moveTo>
                    <a:pt x="5129668" y="6894500"/>
                  </a:moveTo>
                  <a:lnTo>
                    <a:pt x="59690" y="6894500"/>
                  </a:lnTo>
                  <a:lnTo>
                    <a:pt x="59690" y="59690"/>
                  </a:lnTo>
                  <a:lnTo>
                    <a:pt x="5129668" y="59690"/>
                  </a:lnTo>
                  <a:lnTo>
                    <a:pt x="5129668" y="6894500"/>
                  </a:lnTo>
                  <a:close/>
                </a:path>
              </a:pathLst>
            </a:custGeom>
            <a:solidFill>
              <a:srgbClr val="365B6D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1976781" y="1275670"/>
            <a:ext cx="5862019" cy="7735661"/>
            <a:chOff x="0" y="0"/>
            <a:chExt cx="5270790" cy="695546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5270790" cy="6955461"/>
            </a:xfrm>
            <a:custGeom>
              <a:avLst/>
              <a:gdLst/>
              <a:ahLst/>
              <a:cxnLst/>
              <a:rect l="l" t="t" r="r" b="b"/>
              <a:pathLst>
                <a:path w="5270790" h="6955461">
                  <a:moveTo>
                    <a:pt x="0" y="0"/>
                  </a:moveTo>
                  <a:lnTo>
                    <a:pt x="0" y="6955461"/>
                  </a:lnTo>
                  <a:lnTo>
                    <a:pt x="5270790" y="6955461"/>
                  </a:lnTo>
                  <a:lnTo>
                    <a:pt x="5270790" y="0"/>
                  </a:lnTo>
                  <a:lnTo>
                    <a:pt x="0" y="0"/>
                  </a:lnTo>
                  <a:close/>
                  <a:moveTo>
                    <a:pt x="5209830" y="6894500"/>
                  </a:moveTo>
                  <a:lnTo>
                    <a:pt x="59690" y="6894500"/>
                  </a:lnTo>
                  <a:lnTo>
                    <a:pt x="59690" y="59690"/>
                  </a:lnTo>
                  <a:lnTo>
                    <a:pt x="5209830" y="59690"/>
                  </a:lnTo>
                  <a:lnTo>
                    <a:pt x="5209830" y="6894500"/>
                  </a:lnTo>
                  <a:close/>
                </a:path>
              </a:pathLst>
            </a:custGeom>
            <a:solidFill>
              <a:srgbClr val="365B6D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1507594" y="2479356"/>
            <a:ext cx="4191000" cy="1307377"/>
            <a:chOff x="0" y="0"/>
            <a:chExt cx="5588000" cy="1743169"/>
          </a:xfrm>
        </p:grpSpPr>
        <p:sp>
          <p:nvSpPr>
            <p:cNvPr id="7" name="TextBox 7"/>
            <p:cNvSpPr txBox="1"/>
            <p:nvPr/>
          </p:nvSpPr>
          <p:spPr>
            <a:xfrm>
              <a:off x="0" y="-24249"/>
              <a:ext cx="5588000" cy="57933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542"/>
                </a:lnSpc>
              </a:pPr>
              <a:r>
                <a:rPr lang="en-US" sz="2724" b="1">
                  <a:solidFill>
                    <a:srgbClr val="365B6D"/>
                  </a:solidFill>
                  <a:latin typeface="Barlow Semi-Bold"/>
                  <a:ea typeface="Barlow Semi-Bold"/>
                  <a:cs typeface="Barlow Semi-Bold"/>
                  <a:sym typeface="Barlow Semi-Bold"/>
                </a:rPr>
                <a:t>Résultat du test ANOVA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858553"/>
              <a:ext cx="5588000" cy="77279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4934"/>
                </a:lnSpc>
              </a:pPr>
              <a:r>
                <a:rPr lang="en-US" sz="3524" spc="14">
                  <a:solidFill>
                    <a:srgbClr val="1C6976"/>
                  </a:solidFill>
                  <a:latin typeface="Barlow"/>
                  <a:ea typeface="Barlow"/>
                  <a:cs typeface="Barlow"/>
                  <a:sym typeface="Barlow"/>
                </a:rPr>
                <a:t>p-value = 0.892</a:t>
              </a:r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12500252" y="2466780"/>
            <a:ext cx="4191000" cy="1332529"/>
            <a:chOff x="0" y="0"/>
            <a:chExt cx="5588000" cy="1776705"/>
          </a:xfrm>
        </p:grpSpPr>
        <p:sp>
          <p:nvSpPr>
            <p:cNvPr id="10" name="TextBox 10"/>
            <p:cNvSpPr txBox="1"/>
            <p:nvPr/>
          </p:nvSpPr>
          <p:spPr>
            <a:xfrm>
              <a:off x="0" y="-24249"/>
              <a:ext cx="5588000" cy="57933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542"/>
                </a:lnSpc>
              </a:pPr>
              <a:r>
                <a:rPr lang="en-US" sz="2724" b="1">
                  <a:solidFill>
                    <a:srgbClr val="365B6D"/>
                  </a:solidFill>
                  <a:latin typeface="Barlow Semi-Bold"/>
                  <a:ea typeface="Barlow Semi-Bold"/>
                  <a:cs typeface="Barlow Semi-Bold"/>
                  <a:sym typeface="Barlow Semi-Bold"/>
                </a:rPr>
                <a:t>Résultat du test ANOVA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854366"/>
              <a:ext cx="5588000" cy="80518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039"/>
                </a:lnSpc>
              </a:pPr>
              <a:r>
                <a:rPr lang="en-US" sz="3599" spc="14">
                  <a:solidFill>
                    <a:srgbClr val="1C6976"/>
                  </a:solidFill>
                  <a:latin typeface="Barlow"/>
                  <a:ea typeface="Barlow"/>
                  <a:cs typeface="Barlow"/>
                  <a:sym typeface="Barlow"/>
                </a:rPr>
                <a:t>p-value = 0.00097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507594" y="6053817"/>
            <a:ext cx="4191000" cy="2200276"/>
            <a:chOff x="0" y="0"/>
            <a:chExt cx="5588000" cy="2933702"/>
          </a:xfrm>
        </p:grpSpPr>
        <p:sp>
          <p:nvSpPr>
            <p:cNvPr id="13" name="TextBox 13"/>
            <p:cNvSpPr txBox="1"/>
            <p:nvPr/>
          </p:nvSpPr>
          <p:spPr>
            <a:xfrm>
              <a:off x="0" y="-24249"/>
              <a:ext cx="5588000" cy="57933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542"/>
                </a:lnSpc>
              </a:pPr>
              <a:r>
                <a:rPr lang="en-US" sz="2724" b="1">
                  <a:solidFill>
                    <a:srgbClr val="365B6D"/>
                  </a:solidFill>
                  <a:latin typeface="Barlow Semi-Bold"/>
                  <a:ea typeface="Barlow Semi-Bold"/>
                  <a:cs typeface="Barlow Semi-Bold"/>
                  <a:sym typeface="Barlow Semi-Bold"/>
                </a:rPr>
                <a:t>Conclusion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915763"/>
              <a:ext cx="5588000" cy="182986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599"/>
                </a:lnSpc>
              </a:pPr>
              <a:r>
                <a:rPr lang="en-US" sz="3999" spc="15">
                  <a:solidFill>
                    <a:srgbClr val="1C6976"/>
                  </a:solidFill>
                  <a:latin typeface="Barlow"/>
                  <a:ea typeface="Barlow"/>
                  <a:cs typeface="Barlow"/>
                  <a:sym typeface="Barlow"/>
                </a:rPr>
                <a:t>Absence de saisonnalité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2366521" y="5945885"/>
            <a:ext cx="5082539" cy="2093894"/>
            <a:chOff x="0" y="0"/>
            <a:chExt cx="6776718" cy="2791858"/>
          </a:xfrm>
        </p:grpSpPr>
        <p:sp>
          <p:nvSpPr>
            <p:cNvPr id="16" name="TextBox 16"/>
            <p:cNvSpPr txBox="1"/>
            <p:nvPr/>
          </p:nvSpPr>
          <p:spPr>
            <a:xfrm>
              <a:off x="0" y="-24249"/>
              <a:ext cx="6776718" cy="57933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542"/>
                </a:lnSpc>
              </a:pPr>
              <a:r>
                <a:rPr lang="en-US" sz="2724" b="1">
                  <a:solidFill>
                    <a:srgbClr val="365B6D"/>
                  </a:solidFill>
                  <a:latin typeface="Barlow Semi-Bold"/>
                  <a:ea typeface="Barlow Semi-Bold"/>
                  <a:cs typeface="Barlow Semi-Bold"/>
                  <a:sym typeface="Barlow Semi-Bold"/>
                </a:rPr>
                <a:t>Conclusion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844841"/>
              <a:ext cx="6776718" cy="182986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599"/>
                </a:lnSpc>
              </a:pPr>
              <a:r>
                <a:rPr lang="en-US" sz="3999" spc="15">
                  <a:solidFill>
                    <a:srgbClr val="1C6976"/>
                  </a:solidFill>
                  <a:latin typeface="Barlow"/>
                  <a:ea typeface="Barlow"/>
                  <a:cs typeface="Barlow"/>
                  <a:sym typeface="Barlow"/>
                </a:rPr>
                <a:t>Présence de saisonnalité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10119002" y="3952875"/>
            <a:ext cx="2381250" cy="2381250"/>
            <a:chOff x="0" y="0"/>
            <a:chExt cx="3175000" cy="317500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0" y="0"/>
                  </a:moveTo>
                  <a:lnTo>
                    <a:pt x="3175000" y="0"/>
                  </a:lnTo>
                  <a:lnTo>
                    <a:pt x="3175000" y="3175000"/>
                  </a:lnTo>
                  <a:lnTo>
                    <a:pt x="0" y="3175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20" name="Freeform 20"/>
            <p:cNvSpPr/>
            <p:nvPr/>
          </p:nvSpPr>
          <p:spPr>
            <a:xfrm>
              <a:off x="85521" y="85521"/>
              <a:ext cx="3003957" cy="3003957"/>
            </a:xfrm>
            <a:custGeom>
              <a:avLst/>
              <a:gdLst/>
              <a:ahLst/>
              <a:cxnLst/>
              <a:rect l="l" t="t" r="r" b="b"/>
              <a:pathLst>
                <a:path w="3003957" h="3003957">
                  <a:moveTo>
                    <a:pt x="0" y="0"/>
                  </a:moveTo>
                  <a:lnTo>
                    <a:pt x="3003958" y="0"/>
                  </a:lnTo>
                  <a:lnTo>
                    <a:pt x="3003958" y="3003958"/>
                  </a:lnTo>
                  <a:lnTo>
                    <a:pt x="0" y="30039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</p:sp>
      </p:grpSp>
      <p:sp>
        <p:nvSpPr>
          <p:cNvPr id="21" name="Freeform 21"/>
          <p:cNvSpPr/>
          <p:nvPr/>
        </p:nvSpPr>
        <p:spPr>
          <a:xfrm>
            <a:off x="5698594" y="3952875"/>
            <a:ext cx="2381250" cy="2381250"/>
          </a:xfrm>
          <a:custGeom>
            <a:avLst/>
            <a:gdLst/>
            <a:ahLst/>
            <a:cxnLst/>
            <a:rect l="l" t="t" r="r" b="b"/>
            <a:pathLst>
              <a:path w="2381250" h="2381250">
                <a:moveTo>
                  <a:pt x="0" y="0"/>
                </a:moveTo>
                <a:lnTo>
                  <a:pt x="2381250" y="0"/>
                </a:lnTo>
                <a:lnTo>
                  <a:pt x="2381250" y="2381250"/>
                </a:lnTo>
                <a:lnTo>
                  <a:pt x="0" y="238125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22" name="Freeform 22"/>
          <p:cNvSpPr/>
          <p:nvPr/>
        </p:nvSpPr>
        <p:spPr>
          <a:xfrm>
            <a:off x="5762735" y="4017016"/>
            <a:ext cx="2252968" cy="2252968"/>
          </a:xfrm>
          <a:custGeom>
            <a:avLst/>
            <a:gdLst/>
            <a:ahLst/>
            <a:cxnLst/>
            <a:rect l="l" t="t" r="r" b="b"/>
            <a:pathLst>
              <a:path w="2252968" h="2252968">
                <a:moveTo>
                  <a:pt x="0" y="0"/>
                </a:moveTo>
                <a:lnTo>
                  <a:pt x="2252968" y="0"/>
                </a:lnTo>
                <a:lnTo>
                  <a:pt x="2252968" y="2252968"/>
                </a:lnTo>
                <a:lnTo>
                  <a:pt x="0" y="225296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23" name="TextBox 23"/>
          <p:cNvSpPr txBox="1"/>
          <p:nvPr/>
        </p:nvSpPr>
        <p:spPr>
          <a:xfrm>
            <a:off x="5543089" y="4219575"/>
            <a:ext cx="2692260" cy="1895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50"/>
              </a:lnSpc>
            </a:pPr>
            <a:r>
              <a:rPr lang="en-US" sz="4500" b="1">
                <a:solidFill>
                  <a:srgbClr val="365B6D"/>
                </a:solidFill>
                <a:latin typeface="Barlow Bold"/>
                <a:ea typeface="Barlow Bold"/>
                <a:cs typeface="Barlow Bold"/>
                <a:sym typeface="Barlow Bold"/>
              </a:rPr>
              <a:t>2008</a:t>
            </a:r>
          </a:p>
          <a:p>
            <a:pPr algn="ctr">
              <a:lnSpc>
                <a:spcPts val="4950"/>
              </a:lnSpc>
            </a:pPr>
            <a:r>
              <a:rPr lang="en-US" sz="4500" b="1">
                <a:solidFill>
                  <a:srgbClr val="365B6D"/>
                </a:solidFill>
                <a:latin typeface="Barlow Bold"/>
                <a:ea typeface="Barlow Bold"/>
                <a:cs typeface="Barlow Bold"/>
                <a:sym typeface="Barlow Bold"/>
              </a:rPr>
              <a:t>-</a:t>
            </a:r>
          </a:p>
          <a:p>
            <a:pPr algn="ctr">
              <a:lnSpc>
                <a:spcPts val="4950"/>
              </a:lnSpc>
            </a:pPr>
            <a:r>
              <a:rPr lang="en-US" sz="4500" b="1">
                <a:solidFill>
                  <a:srgbClr val="365B6D"/>
                </a:solidFill>
                <a:latin typeface="Barlow Bold"/>
                <a:ea typeface="Barlow Bold"/>
                <a:cs typeface="Barlow Bold"/>
                <a:sym typeface="Barlow Bold"/>
              </a:rPr>
              <a:t>2013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9963497" y="4219575"/>
            <a:ext cx="2692260" cy="1895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50"/>
              </a:lnSpc>
            </a:pPr>
            <a:r>
              <a:rPr lang="en-US" sz="4500" b="1">
                <a:solidFill>
                  <a:srgbClr val="365B6D"/>
                </a:solidFill>
                <a:latin typeface="Barlow Bold"/>
                <a:ea typeface="Barlow Bold"/>
                <a:cs typeface="Barlow Bold"/>
                <a:sym typeface="Barlow Bold"/>
              </a:rPr>
              <a:t>2014</a:t>
            </a:r>
          </a:p>
          <a:p>
            <a:pPr algn="ctr">
              <a:lnSpc>
                <a:spcPts val="4950"/>
              </a:lnSpc>
            </a:pPr>
            <a:r>
              <a:rPr lang="en-US" sz="4500" b="1">
                <a:solidFill>
                  <a:srgbClr val="365B6D"/>
                </a:solidFill>
                <a:latin typeface="Barlow Bold"/>
                <a:ea typeface="Barlow Bold"/>
                <a:cs typeface="Barlow Bold"/>
                <a:sym typeface="Barlow Bold"/>
              </a:rPr>
              <a:t>-</a:t>
            </a:r>
          </a:p>
          <a:p>
            <a:pPr algn="ctr">
              <a:lnSpc>
                <a:spcPts val="4950"/>
              </a:lnSpc>
            </a:pPr>
            <a:r>
              <a:rPr lang="en-US" sz="4500" b="1">
                <a:solidFill>
                  <a:srgbClr val="365B6D"/>
                </a:solidFill>
                <a:latin typeface="Barlow Bold"/>
                <a:ea typeface="Barlow Bold"/>
                <a:cs typeface="Barlow Bold"/>
                <a:sym typeface="Barlow Bold"/>
              </a:rPr>
              <a:t>2024</a:t>
            </a:r>
          </a:p>
        </p:txBody>
      </p:sp>
    </p:spTree>
  </p:cSld>
  <p:clrMapOvr>
    <a:masterClrMapping/>
  </p:clrMapOvr>
  <p:transition spd="slow">
    <p:push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9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2516511" y="1693051"/>
            <a:ext cx="13254978" cy="6442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232"/>
              </a:lnSpc>
            </a:pPr>
            <a:r>
              <a:rPr lang="en-US" sz="4024" b="1">
                <a:solidFill>
                  <a:srgbClr val="024854"/>
                </a:solidFill>
                <a:latin typeface="Barlow Semi-Bold"/>
                <a:ea typeface="Barlow Semi-Bold"/>
                <a:cs typeface="Barlow Semi-Bold"/>
                <a:sym typeface="Barlow Semi-Bold"/>
              </a:rPr>
              <a:t>Conclusion globale sur la saisonnalité de la série: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2516511" y="3924300"/>
            <a:ext cx="13254978" cy="2362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299"/>
              </a:lnSpc>
            </a:pPr>
            <a:r>
              <a:rPr lang="en-US" sz="4500" b="1" spc="18">
                <a:solidFill>
                  <a:srgbClr val="191919"/>
                </a:solidFill>
                <a:latin typeface="Barlow Bold"/>
                <a:ea typeface="Barlow Bold"/>
                <a:cs typeface="Barlow Bold"/>
                <a:sym typeface="Barlow Bold"/>
              </a:rPr>
              <a:t>La période de 2008-2013 a une forte influence sur la saisonnalité globale de la série.</a:t>
            </a:r>
          </a:p>
          <a:p>
            <a:pPr algn="ctr">
              <a:lnSpc>
                <a:spcPts val="6299"/>
              </a:lnSpc>
            </a:pPr>
            <a:endParaRPr lang="en-US" sz="4500" b="1" spc="18">
              <a:solidFill>
                <a:srgbClr val="191919"/>
              </a:solidFill>
              <a:latin typeface="Barlow Bold"/>
              <a:ea typeface="Barlow Bold"/>
              <a:cs typeface="Barlow Bold"/>
              <a:sym typeface="Barlow Bold"/>
            </a:endParaRPr>
          </a:p>
        </p:txBody>
      </p:sp>
    </p:spTree>
  </p:cSld>
  <p:clrMapOvr>
    <a:masterClrMapping/>
  </p:clrMapOvr>
  <p:transition spd="slow">
    <p:push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9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3097316"/>
            <a:ext cx="18288000" cy="95250"/>
          </a:xfrm>
          <a:prstGeom prst="rect">
            <a:avLst/>
          </a:prstGeom>
          <a:solidFill>
            <a:srgbClr val="86EAE9"/>
          </a:solidFill>
        </p:spPr>
      </p:sp>
      <p:grpSp>
        <p:nvGrpSpPr>
          <p:cNvPr id="3" name="Group 3"/>
          <p:cNvGrpSpPr/>
          <p:nvPr/>
        </p:nvGrpSpPr>
        <p:grpSpPr>
          <a:xfrm>
            <a:off x="846799" y="1573316"/>
            <a:ext cx="3143250" cy="3143250"/>
            <a:chOff x="0" y="0"/>
            <a:chExt cx="4191000" cy="41910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4191000" cy="4191000"/>
            </a:xfrm>
            <a:custGeom>
              <a:avLst/>
              <a:gdLst/>
              <a:ahLst/>
              <a:cxnLst/>
              <a:rect l="l" t="t" r="r" b="b"/>
              <a:pathLst>
                <a:path w="4191000" h="4191000">
                  <a:moveTo>
                    <a:pt x="0" y="0"/>
                  </a:moveTo>
                  <a:lnTo>
                    <a:pt x="4191000" y="0"/>
                  </a:lnTo>
                  <a:lnTo>
                    <a:pt x="4191000" y="4191000"/>
                  </a:lnTo>
                  <a:lnTo>
                    <a:pt x="0" y="4191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5" name="Freeform 5"/>
            <p:cNvSpPr/>
            <p:nvPr/>
          </p:nvSpPr>
          <p:spPr>
            <a:xfrm>
              <a:off x="112888" y="112888"/>
              <a:ext cx="3965223" cy="3965223"/>
            </a:xfrm>
            <a:custGeom>
              <a:avLst/>
              <a:gdLst/>
              <a:ahLst/>
              <a:cxnLst/>
              <a:rect l="l" t="t" r="r" b="b"/>
              <a:pathLst>
                <a:path w="3965223" h="3965223">
                  <a:moveTo>
                    <a:pt x="0" y="0"/>
                  </a:moveTo>
                  <a:lnTo>
                    <a:pt x="3965224" y="0"/>
                  </a:lnTo>
                  <a:lnTo>
                    <a:pt x="3965224" y="3965224"/>
                  </a:lnTo>
                  <a:lnTo>
                    <a:pt x="0" y="39652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</p:sp>
      </p:grpSp>
      <p:grpSp>
        <p:nvGrpSpPr>
          <p:cNvPr id="6" name="Group 6"/>
          <p:cNvGrpSpPr/>
          <p:nvPr/>
        </p:nvGrpSpPr>
        <p:grpSpPr>
          <a:xfrm>
            <a:off x="5302072" y="1573316"/>
            <a:ext cx="3143250" cy="3143250"/>
            <a:chOff x="0" y="0"/>
            <a:chExt cx="4191000" cy="41910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4191000" cy="4191000"/>
            </a:xfrm>
            <a:custGeom>
              <a:avLst/>
              <a:gdLst/>
              <a:ahLst/>
              <a:cxnLst/>
              <a:rect l="l" t="t" r="r" b="b"/>
              <a:pathLst>
                <a:path w="4191000" h="4191000">
                  <a:moveTo>
                    <a:pt x="0" y="0"/>
                  </a:moveTo>
                  <a:lnTo>
                    <a:pt x="4191000" y="0"/>
                  </a:lnTo>
                  <a:lnTo>
                    <a:pt x="4191000" y="4191000"/>
                  </a:lnTo>
                  <a:lnTo>
                    <a:pt x="0" y="4191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8" name="Freeform 8"/>
            <p:cNvSpPr/>
            <p:nvPr/>
          </p:nvSpPr>
          <p:spPr>
            <a:xfrm>
              <a:off x="112888" y="112888"/>
              <a:ext cx="3965223" cy="3965223"/>
            </a:xfrm>
            <a:custGeom>
              <a:avLst/>
              <a:gdLst/>
              <a:ahLst/>
              <a:cxnLst/>
              <a:rect l="l" t="t" r="r" b="b"/>
              <a:pathLst>
                <a:path w="3965223" h="3965223">
                  <a:moveTo>
                    <a:pt x="0" y="0"/>
                  </a:moveTo>
                  <a:lnTo>
                    <a:pt x="3965224" y="0"/>
                  </a:lnTo>
                  <a:lnTo>
                    <a:pt x="3965224" y="3965224"/>
                  </a:lnTo>
                  <a:lnTo>
                    <a:pt x="0" y="39652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</p:sp>
      </p:grpSp>
      <p:grpSp>
        <p:nvGrpSpPr>
          <p:cNvPr id="9" name="Group 9"/>
          <p:cNvGrpSpPr/>
          <p:nvPr/>
        </p:nvGrpSpPr>
        <p:grpSpPr>
          <a:xfrm>
            <a:off x="9757345" y="1573316"/>
            <a:ext cx="3143250" cy="3143250"/>
            <a:chOff x="0" y="0"/>
            <a:chExt cx="4191000" cy="41910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4191000" cy="4191000"/>
            </a:xfrm>
            <a:custGeom>
              <a:avLst/>
              <a:gdLst/>
              <a:ahLst/>
              <a:cxnLst/>
              <a:rect l="l" t="t" r="r" b="b"/>
              <a:pathLst>
                <a:path w="4191000" h="4191000">
                  <a:moveTo>
                    <a:pt x="0" y="0"/>
                  </a:moveTo>
                  <a:lnTo>
                    <a:pt x="4191000" y="0"/>
                  </a:lnTo>
                  <a:lnTo>
                    <a:pt x="4191000" y="4191000"/>
                  </a:lnTo>
                  <a:lnTo>
                    <a:pt x="0" y="4191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11" name="Freeform 11"/>
            <p:cNvSpPr/>
            <p:nvPr/>
          </p:nvSpPr>
          <p:spPr>
            <a:xfrm>
              <a:off x="112888" y="112888"/>
              <a:ext cx="3965223" cy="3965223"/>
            </a:xfrm>
            <a:custGeom>
              <a:avLst/>
              <a:gdLst/>
              <a:ahLst/>
              <a:cxnLst/>
              <a:rect l="l" t="t" r="r" b="b"/>
              <a:pathLst>
                <a:path w="3965223" h="3965223">
                  <a:moveTo>
                    <a:pt x="0" y="0"/>
                  </a:moveTo>
                  <a:lnTo>
                    <a:pt x="3965224" y="0"/>
                  </a:lnTo>
                  <a:lnTo>
                    <a:pt x="3965224" y="3965224"/>
                  </a:lnTo>
                  <a:lnTo>
                    <a:pt x="0" y="39652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</p:sp>
      </p:grpSp>
      <p:grpSp>
        <p:nvGrpSpPr>
          <p:cNvPr id="12" name="Group 12"/>
          <p:cNvGrpSpPr/>
          <p:nvPr/>
        </p:nvGrpSpPr>
        <p:grpSpPr>
          <a:xfrm>
            <a:off x="14212617" y="1573316"/>
            <a:ext cx="3143250" cy="3143250"/>
            <a:chOff x="0" y="0"/>
            <a:chExt cx="4191000" cy="41910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4191000" cy="4191000"/>
            </a:xfrm>
            <a:custGeom>
              <a:avLst/>
              <a:gdLst/>
              <a:ahLst/>
              <a:cxnLst/>
              <a:rect l="l" t="t" r="r" b="b"/>
              <a:pathLst>
                <a:path w="4191000" h="4191000">
                  <a:moveTo>
                    <a:pt x="0" y="0"/>
                  </a:moveTo>
                  <a:lnTo>
                    <a:pt x="4191000" y="0"/>
                  </a:lnTo>
                  <a:lnTo>
                    <a:pt x="4191000" y="4191000"/>
                  </a:lnTo>
                  <a:lnTo>
                    <a:pt x="0" y="4191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14" name="Freeform 14"/>
            <p:cNvSpPr/>
            <p:nvPr/>
          </p:nvSpPr>
          <p:spPr>
            <a:xfrm>
              <a:off x="112888" y="112888"/>
              <a:ext cx="3965223" cy="3965223"/>
            </a:xfrm>
            <a:custGeom>
              <a:avLst/>
              <a:gdLst/>
              <a:ahLst/>
              <a:cxnLst/>
              <a:rect l="l" t="t" r="r" b="b"/>
              <a:pathLst>
                <a:path w="3965223" h="3965223">
                  <a:moveTo>
                    <a:pt x="0" y="0"/>
                  </a:moveTo>
                  <a:lnTo>
                    <a:pt x="3965224" y="0"/>
                  </a:lnTo>
                  <a:lnTo>
                    <a:pt x="3965224" y="3965224"/>
                  </a:lnTo>
                  <a:lnTo>
                    <a:pt x="0" y="39652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</p:sp>
      </p:grpSp>
      <p:sp>
        <p:nvSpPr>
          <p:cNvPr id="15" name="TextBox 15"/>
          <p:cNvSpPr txBox="1"/>
          <p:nvPr/>
        </p:nvSpPr>
        <p:spPr>
          <a:xfrm>
            <a:off x="637249" y="2848237"/>
            <a:ext cx="3562350" cy="5648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582"/>
              </a:lnSpc>
            </a:pPr>
            <a:r>
              <a:rPr lang="en-US" sz="3524" b="1" spc="176">
                <a:solidFill>
                  <a:srgbClr val="13538A"/>
                </a:solidFill>
                <a:latin typeface="Aileron Ultra-Bold"/>
                <a:ea typeface="Aileron Ultra-Bold"/>
                <a:cs typeface="Aileron Ultra-Bold"/>
                <a:sym typeface="Aileron Ultra-Bold"/>
              </a:rPr>
              <a:t>OBJECTIF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637249" y="4897541"/>
            <a:ext cx="3562350" cy="14719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spc="139">
                <a:solidFill>
                  <a:srgbClr val="191919"/>
                </a:solidFill>
                <a:latin typeface="Aileron"/>
                <a:ea typeface="Aileron"/>
                <a:cs typeface="Aileron"/>
                <a:sym typeface="Aileron"/>
              </a:rPr>
              <a:t>Choix entre le modèle multiplicatif et le modèle additif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5092522" y="2848237"/>
            <a:ext cx="3562350" cy="5648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582"/>
              </a:lnSpc>
            </a:pPr>
            <a:r>
              <a:rPr lang="en-US" sz="3524" b="1" spc="176">
                <a:solidFill>
                  <a:srgbClr val="2C92D5"/>
                </a:solidFill>
                <a:latin typeface="Aileron Ultra-Bold"/>
                <a:ea typeface="Aileron Ultra-Bold"/>
                <a:cs typeface="Aileron Ultra-Bold"/>
                <a:sym typeface="Aileron Ultra-Bold"/>
              </a:rPr>
              <a:t>MÉTHODE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5092522" y="4897541"/>
            <a:ext cx="3562350" cy="24625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spc="139">
                <a:solidFill>
                  <a:srgbClr val="191919"/>
                </a:solidFill>
                <a:latin typeface="Aileron"/>
                <a:ea typeface="Aileron"/>
                <a:cs typeface="Aileron"/>
                <a:sym typeface="Aileron"/>
              </a:rPr>
              <a:t>Pentes de Buys-Ballot, relation entre moyenne et écart-type des trimestres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9566845" y="2848237"/>
            <a:ext cx="3524250" cy="5648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582"/>
              </a:lnSpc>
            </a:pPr>
            <a:r>
              <a:rPr lang="en-US" sz="3524" b="1" spc="176">
                <a:solidFill>
                  <a:srgbClr val="37C9EF"/>
                </a:solidFill>
                <a:latin typeface="Aileron Ultra-Bold"/>
                <a:ea typeface="Aileron Ultra-Bold"/>
                <a:cs typeface="Aileron Ultra-Bold"/>
                <a:sym typeface="Aileron Ultra-Bold"/>
              </a:rPr>
              <a:t>TEST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9566845" y="4897541"/>
            <a:ext cx="3524250" cy="14719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spc="139">
                <a:solidFill>
                  <a:srgbClr val="191919"/>
                </a:solidFill>
                <a:latin typeface="Aileron"/>
                <a:ea typeface="Aileron"/>
                <a:cs typeface="Aileron"/>
                <a:sym typeface="Aileron"/>
              </a:rPr>
              <a:t>Régression linéaire de l’écart-type sur la moyenne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4003067" y="2848237"/>
            <a:ext cx="3562350" cy="5648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582"/>
              </a:lnSpc>
            </a:pPr>
            <a:r>
              <a:rPr lang="en-US" sz="3524" b="1" spc="176">
                <a:solidFill>
                  <a:srgbClr val="3EDAD8"/>
                </a:solidFill>
                <a:latin typeface="Aileron Ultra-Bold"/>
                <a:ea typeface="Aileron Ultra-Bold"/>
                <a:cs typeface="Aileron Ultra-Bold"/>
                <a:sym typeface="Aileron Ultra-Bold"/>
              </a:rPr>
              <a:t>RÉSULTAT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4003067" y="4897541"/>
            <a:ext cx="3562350" cy="24625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spc="139">
                <a:solidFill>
                  <a:srgbClr val="191919"/>
                </a:solidFill>
                <a:latin typeface="Aileron"/>
                <a:ea typeface="Aileron"/>
                <a:cs typeface="Aileron"/>
                <a:sym typeface="Aileron"/>
              </a:rPr>
              <a:t>p-value pour la moyenne &lt; 5 %, pente statistiquement non nulle.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4490458" y="335196"/>
            <a:ext cx="9307084" cy="10030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782"/>
              </a:lnSpc>
              <a:spcBef>
                <a:spcPct val="0"/>
              </a:spcBef>
            </a:pPr>
            <a:r>
              <a:rPr lang="en-US" sz="5558" b="1">
                <a:solidFill>
                  <a:srgbClr val="329A87"/>
                </a:solidFill>
                <a:latin typeface="Telegraf Bold"/>
                <a:ea typeface="Telegraf Bold"/>
                <a:cs typeface="Telegraf Bold"/>
                <a:sym typeface="Telegraf Bold"/>
              </a:rPr>
              <a:t>Décomposition de la série</a:t>
            </a:r>
          </a:p>
        </p:txBody>
      </p:sp>
      <p:grpSp>
        <p:nvGrpSpPr>
          <p:cNvPr id="24" name="Group 24"/>
          <p:cNvGrpSpPr/>
          <p:nvPr/>
        </p:nvGrpSpPr>
        <p:grpSpPr>
          <a:xfrm>
            <a:off x="2939356" y="7598196"/>
            <a:ext cx="13254978" cy="1688467"/>
            <a:chOff x="0" y="0"/>
            <a:chExt cx="17673304" cy="2251289"/>
          </a:xfrm>
        </p:grpSpPr>
        <p:sp>
          <p:nvSpPr>
            <p:cNvPr id="25" name="TextBox 25"/>
            <p:cNvSpPr txBox="1"/>
            <p:nvPr/>
          </p:nvSpPr>
          <p:spPr>
            <a:xfrm>
              <a:off x="0" y="-33774"/>
              <a:ext cx="17673304" cy="84624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232"/>
                </a:lnSpc>
              </a:pPr>
              <a:r>
                <a:rPr lang="en-US" sz="4024" b="1">
                  <a:solidFill>
                    <a:srgbClr val="024854"/>
                  </a:solidFill>
                  <a:latin typeface="Barlow Semi-Bold"/>
                  <a:ea typeface="Barlow Semi-Bold"/>
                  <a:cs typeface="Barlow Semi-Bold"/>
                  <a:sym typeface="Barlow Semi-Bold"/>
                </a:rPr>
                <a:t>Conclusion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0" y="1173150"/>
              <a:ext cx="17673304" cy="89006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599"/>
                </a:lnSpc>
              </a:pPr>
              <a:r>
                <a:rPr lang="en-US" sz="3999" spc="15">
                  <a:solidFill>
                    <a:srgbClr val="E41D25"/>
                  </a:solidFill>
                  <a:latin typeface="Barlow"/>
                  <a:ea typeface="Barlow"/>
                  <a:cs typeface="Barlow"/>
                  <a:sym typeface="Barlow"/>
                </a:rPr>
                <a:t>Choix porté sur le modèle multiplicatif</a:t>
              </a:r>
            </a:p>
          </p:txBody>
        </p:sp>
      </p:grpSp>
    </p:spTree>
  </p:cSld>
  <p:clrMapOvr>
    <a:masterClrMapping/>
  </p:clrMapOvr>
  <p:transition spd="slow">
    <p:push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1471508">
            <a:off x="7442248" y="-3517885"/>
            <a:ext cx="2160993" cy="11665743"/>
            <a:chOff x="0" y="0"/>
            <a:chExt cx="597206" cy="322391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597206" cy="3223913"/>
            </a:xfrm>
            <a:custGeom>
              <a:avLst/>
              <a:gdLst/>
              <a:ahLst/>
              <a:cxnLst/>
              <a:rect l="l" t="t" r="r" b="b"/>
              <a:pathLst>
                <a:path w="597206" h="3223913">
                  <a:moveTo>
                    <a:pt x="0" y="0"/>
                  </a:moveTo>
                  <a:lnTo>
                    <a:pt x="597206" y="0"/>
                  </a:lnTo>
                  <a:lnTo>
                    <a:pt x="597206" y="3223913"/>
                  </a:lnTo>
                  <a:lnTo>
                    <a:pt x="0" y="3223913"/>
                  </a:lnTo>
                  <a:close/>
                </a:path>
              </a:pathLst>
            </a:custGeom>
            <a:solidFill>
              <a:srgbClr val="D5DADA">
                <a:alpha val="23922"/>
              </a:srgbClr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597206" cy="3262013"/>
            </a:xfrm>
            <a:prstGeom prst="rect">
              <a:avLst/>
            </a:prstGeom>
          </p:spPr>
          <p:txBody>
            <a:bodyPr lIns="35873" tIns="35873" rIns="35873" bIns="35873" rtlCol="0" anchor="ctr"/>
            <a:lstStyle/>
            <a:p>
              <a:pPr algn="ctr">
                <a:lnSpc>
                  <a:spcPts val="1384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 rot="1471508">
            <a:off x="7842796" y="1744300"/>
            <a:ext cx="2160993" cy="11212989"/>
            <a:chOff x="0" y="0"/>
            <a:chExt cx="597206" cy="3098792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597206" cy="3098791"/>
            </a:xfrm>
            <a:custGeom>
              <a:avLst/>
              <a:gdLst/>
              <a:ahLst/>
              <a:cxnLst/>
              <a:rect l="l" t="t" r="r" b="b"/>
              <a:pathLst>
                <a:path w="597206" h="3098791">
                  <a:moveTo>
                    <a:pt x="0" y="0"/>
                  </a:moveTo>
                  <a:lnTo>
                    <a:pt x="597206" y="0"/>
                  </a:lnTo>
                  <a:lnTo>
                    <a:pt x="597206" y="3098791"/>
                  </a:lnTo>
                  <a:lnTo>
                    <a:pt x="0" y="3098791"/>
                  </a:lnTo>
                  <a:close/>
                </a:path>
              </a:pathLst>
            </a:custGeom>
            <a:solidFill>
              <a:srgbClr val="D5DADA">
                <a:alpha val="23922"/>
              </a:srgbClr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597206" cy="3136892"/>
            </a:xfrm>
            <a:prstGeom prst="rect">
              <a:avLst/>
            </a:prstGeom>
          </p:spPr>
          <p:txBody>
            <a:bodyPr lIns="35873" tIns="35873" rIns="35873" bIns="35873" rtlCol="0" anchor="ctr"/>
            <a:lstStyle/>
            <a:p>
              <a:pPr algn="ctr">
                <a:lnSpc>
                  <a:spcPts val="1384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1015140" y="5027944"/>
            <a:ext cx="10518155" cy="10518113"/>
            <a:chOff x="0" y="0"/>
            <a:chExt cx="6350000" cy="6349975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6350000" cy="6349975"/>
            </a:xfrm>
            <a:custGeom>
              <a:avLst/>
              <a:gdLst/>
              <a:ahLst/>
              <a:cxnLst/>
              <a:rect l="l" t="t" r="r" b="b"/>
              <a:pathLst>
                <a:path w="6350000" h="6349975">
                  <a:moveTo>
                    <a:pt x="6350000" y="3175025"/>
                  </a:moveTo>
                  <a:cubicBezTo>
                    <a:pt x="6350000" y="4928451"/>
                    <a:pt x="4928476" y="6349975"/>
                    <a:pt x="3175000" y="6349975"/>
                  </a:cubicBezTo>
                  <a:cubicBezTo>
                    <a:pt x="1421498" y="6349975"/>
                    <a:pt x="0" y="4928451"/>
                    <a:pt x="0" y="3175025"/>
                  </a:cubicBezTo>
                  <a:cubicBezTo>
                    <a:pt x="0" y="1421511"/>
                    <a:pt x="1421498" y="0"/>
                    <a:pt x="3175000" y="0"/>
                  </a:cubicBezTo>
                  <a:cubicBezTo>
                    <a:pt x="4928502" y="0"/>
                    <a:pt x="6350000" y="1421511"/>
                    <a:pt x="6350000" y="3175025"/>
                  </a:cubicBezTo>
                  <a:close/>
                </a:path>
              </a:pathLst>
            </a:custGeom>
            <a:blipFill>
              <a:blip r:embed="rId2"/>
              <a:stretch>
                <a:fillRect l="-25471" r="-25471"/>
              </a:stretch>
            </a:blipFill>
          </p:spPr>
        </p:sp>
      </p:grpSp>
      <p:grpSp>
        <p:nvGrpSpPr>
          <p:cNvPr id="10" name="Group 10"/>
          <p:cNvGrpSpPr/>
          <p:nvPr/>
        </p:nvGrpSpPr>
        <p:grpSpPr>
          <a:xfrm>
            <a:off x="11800842" y="5813625"/>
            <a:ext cx="8946750" cy="8946750"/>
            <a:chOff x="0" y="0"/>
            <a:chExt cx="812800" cy="8128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04775" cap="sq">
              <a:solidFill>
                <a:srgbClr val="FFFFFF"/>
              </a:solidFill>
              <a:prstDash val="solid"/>
              <a:miter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35873" tIns="35873" rIns="35873" bIns="35873" rtlCol="0" anchor="ctr"/>
            <a:lstStyle/>
            <a:p>
              <a:pPr algn="ctr">
                <a:lnSpc>
                  <a:spcPts val="1384"/>
                </a:lnSpc>
              </a:pPr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-4524129" y="-3792316"/>
            <a:ext cx="10518155" cy="10518113"/>
            <a:chOff x="0" y="0"/>
            <a:chExt cx="6350000" cy="6349975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6350000" cy="6349975"/>
            </a:xfrm>
            <a:custGeom>
              <a:avLst/>
              <a:gdLst/>
              <a:ahLst/>
              <a:cxnLst/>
              <a:rect l="l" t="t" r="r" b="b"/>
              <a:pathLst>
                <a:path w="6350000" h="6349975">
                  <a:moveTo>
                    <a:pt x="6350000" y="3175025"/>
                  </a:moveTo>
                  <a:cubicBezTo>
                    <a:pt x="6350000" y="4928451"/>
                    <a:pt x="4928476" y="6349975"/>
                    <a:pt x="3175000" y="6349975"/>
                  </a:cubicBezTo>
                  <a:cubicBezTo>
                    <a:pt x="1421498" y="6349975"/>
                    <a:pt x="0" y="4928451"/>
                    <a:pt x="0" y="3175025"/>
                  </a:cubicBezTo>
                  <a:cubicBezTo>
                    <a:pt x="0" y="1421511"/>
                    <a:pt x="1421498" y="0"/>
                    <a:pt x="3175000" y="0"/>
                  </a:cubicBezTo>
                  <a:cubicBezTo>
                    <a:pt x="4928502" y="0"/>
                    <a:pt x="6350000" y="1421511"/>
                    <a:pt x="6350000" y="3175025"/>
                  </a:cubicBezTo>
                  <a:close/>
                </a:path>
              </a:pathLst>
            </a:custGeom>
            <a:blipFill>
              <a:blip r:embed="rId3"/>
              <a:stretch>
                <a:fillRect l="-25471" r="-25471"/>
              </a:stretch>
            </a:blipFill>
          </p:spPr>
        </p:sp>
      </p:grpSp>
      <p:grpSp>
        <p:nvGrpSpPr>
          <p:cNvPr id="15" name="Group 15"/>
          <p:cNvGrpSpPr/>
          <p:nvPr/>
        </p:nvGrpSpPr>
        <p:grpSpPr>
          <a:xfrm>
            <a:off x="-3738427" y="-3006635"/>
            <a:ext cx="8946750" cy="8946750"/>
            <a:chOff x="0" y="0"/>
            <a:chExt cx="812800" cy="81280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04775" cap="sq">
              <a:solidFill>
                <a:srgbClr val="FFFFFF"/>
              </a:solidFill>
              <a:prstDash val="solid"/>
              <a:miter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35873" tIns="35873" rIns="35873" bIns="35873" rtlCol="0" anchor="ctr"/>
            <a:lstStyle/>
            <a:p>
              <a:pPr algn="ctr">
                <a:lnSpc>
                  <a:spcPts val="1384"/>
                </a:lnSpc>
              </a:pPr>
              <a:endParaRPr/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4872773" y="3335569"/>
            <a:ext cx="10946295" cy="4015226"/>
            <a:chOff x="0" y="0"/>
            <a:chExt cx="1673700" cy="613932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673700" cy="613932"/>
            </a:xfrm>
            <a:custGeom>
              <a:avLst/>
              <a:gdLst/>
              <a:ahLst/>
              <a:cxnLst/>
              <a:rect l="l" t="t" r="r" b="b"/>
              <a:pathLst>
                <a:path w="1673700" h="613932">
                  <a:moveTo>
                    <a:pt x="12023" y="0"/>
                  </a:moveTo>
                  <a:lnTo>
                    <a:pt x="1661677" y="0"/>
                  </a:lnTo>
                  <a:cubicBezTo>
                    <a:pt x="1668317" y="0"/>
                    <a:pt x="1673700" y="5383"/>
                    <a:pt x="1673700" y="12023"/>
                  </a:cubicBezTo>
                  <a:lnTo>
                    <a:pt x="1673700" y="601909"/>
                  </a:lnTo>
                  <a:cubicBezTo>
                    <a:pt x="1673700" y="608549"/>
                    <a:pt x="1668317" y="613932"/>
                    <a:pt x="1661677" y="613932"/>
                  </a:cubicBezTo>
                  <a:lnTo>
                    <a:pt x="12023" y="613932"/>
                  </a:lnTo>
                  <a:cubicBezTo>
                    <a:pt x="5383" y="613932"/>
                    <a:pt x="0" y="608549"/>
                    <a:pt x="0" y="601909"/>
                  </a:cubicBezTo>
                  <a:lnTo>
                    <a:pt x="0" y="12023"/>
                  </a:lnTo>
                  <a:cubicBezTo>
                    <a:pt x="0" y="5383"/>
                    <a:pt x="5383" y="0"/>
                    <a:pt x="12023" y="0"/>
                  </a:cubicBezTo>
                  <a:close/>
                </a:path>
              </a:pathLst>
            </a:custGeom>
            <a:solidFill>
              <a:srgbClr val="FAFAFA"/>
            </a:solidFill>
            <a:ln w="28575" cap="sq">
              <a:solidFill>
                <a:srgbClr val="0097B2"/>
              </a:solidFill>
              <a:prstDash val="solid"/>
              <a:miter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0" y="-57150"/>
              <a:ext cx="1673700" cy="67108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  <a:endParaRPr/>
            </a:p>
          </p:txBody>
        </p:sp>
      </p:grpSp>
      <p:sp>
        <p:nvSpPr>
          <p:cNvPr id="21" name="TextBox 21"/>
          <p:cNvSpPr txBox="1"/>
          <p:nvPr/>
        </p:nvSpPr>
        <p:spPr>
          <a:xfrm>
            <a:off x="5809240" y="3655950"/>
            <a:ext cx="9347860" cy="19853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782"/>
              </a:lnSpc>
              <a:spcBef>
                <a:spcPct val="0"/>
              </a:spcBef>
            </a:pPr>
            <a:r>
              <a:rPr lang="en-US" sz="5558" b="1">
                <a:solidFill>
                  <a:srgbClr val="329A87"/>
                </a:solidFill>
                <a:latin typeface="Telegraf Bold"/>
                <a:ea typeface="Telegraf Bold"/>
                <a:cs typeface="Telegraf Bold"/>
                <a:sym typeface="Telegraf Bold"/>
              </a:rPr>
              <a:t>Analyse de la série à partir des composantes</a:t>
            </a:r>
          </a:p>
        </p:txBody>
      </p:sp>
      <p:sp>
        <p:nvSpPr>
          <p:cNvPr id="22" name="Freeform 22"/>
          <p:cNvSpPr/>
          <p:nvPr/>
        </p:nvSpPr>
        <p:spPr>
          <a:xfrm>
            <a:off x="4067426" y="3633090"/>
            <a:ext cx="1926599" cy="1926599"/>
          </a:xfrm>
          <a:custGeom>
            <a:avLst/>
            <a:gdLst/>
            <a:ahLst/>
            <a:cxnLst/>
            <a:rect l="l" t="t" r="r" b="b"/>
            <a:pathLst>
              <a:path w="1926599" h="1926599">
                <a:moveTo>
                  <a:pt x="0" y="0"/>
                </a:moveTo>
                <a:lnTo>
                  <a:pt x="1926600" y="0"/>
                </a:lnTo>
                <a:lnTo>
                  <a:pt x="1926600" y="1926599"/>
                </a:lnTo>
                <a:lnTo>
                  <a:pt x="0" y="192659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46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grpSp>
        <p:nvGrpSpPr>
          <p:cNvPr id="23" name="Group 23"/>
          <p:cNvGrpSpPr/>
          <p:nvPr/>
        </p:nvGrpSpPr>
        <p:grpSpPr>
          <a:xfrm>
            <a:off x="4252211" y="3817875"/>
            <a:ext cx="1557029" cy="1557029"/>
            <a:chOff x="0" y="0"/>
            <a:chExt cx="812800" cy="812800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97B2"/>
            </a:solidFill>
            <a:ln cap="sq">
              <a:noFill/>
              <a:prstDash val="solid"/>
              <a:miter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  <a:endParaRPr/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4357484" y="3784937"/>
            <a:ext cx="1346483" cy="13943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785"/>
              </a:lnSpc>
              <a:spcBef>
                <a:spcPct val="0"/>
              </a:spcBef>
            </a:pPr>
            <a:r>
              <a:rPr lang="en-US" sz="7703" b="1">
                <a:solidFill>
                  <a:srgbClr val="FFFFFF"/>
                </a:solidFill>
                <a:latin typeface="Telegraf Bold"/>
                <a:ea typeface="Telegraf Bold"/>
                <a:cs typeface="Telegraf Bold"/>
                <a:sym typeface="Telegraf Bold"/>
              </a:rPr>
              <a:t>7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5809240" y="5426339"/>
            <a:ext cx="8162131" cy="15415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056"/>
              </a:lnSpc>
              <a:spcBef>
                <a:spcPct val="0"/>
              </a:spcBef>
            </a:pPr>
            <a:r>
              <a:rPr lang="en-US" sz="4326">
                <a:solidFill>
                  <a:srgbClr val="000000"/>
                </a:solidFill>
                <a:latin typeface="Telegraf"/>
                <a:ea typeface="Telegraf"/>
                <a:cs typeface="Telegraf"/>
                <a:sym typeface="Telegraf"/>
              </a:rPr>
              <a:t>Estimation de la tendance et de la saisonnalité</a:t>
            </a:r>
          </a:p>
        </p:txBody>
      </p:sp>
    </p:spTree>
  </p:cSld>
  <p:clrMapOvr>
    <a:masterClrMapping/>
  </p:clrMapOvr>
  <p:transition spd="slow">
    <p:cover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9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4490458" y="446216"/>
            <a:ext cx="9307084" cy="10030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782"/>
              </a:lnSpc>
              <a:spcBef>
                <a:spcPct val="0"/>
              </a:spcBef>
            </a:pPr>
            <a:r>
              <a:rPr lang="en-US" sz="5558" b="1">
                <a:solidFill>
                  <a:srgbClr val="329A87"/>
                </a:solidFill>
                <a:latin typeface="Telegraf Bold"/>
                <a:ea typeface="Telegraf Bold"/>
                <a:cs typeface="Telegraf Bold"/>
                <a:sym typeface="Telegraf Bold"/>
              </a:rPr>
              <a:t>Estimation de la tendance</a:t>
            </a:r>
          </a:p>
        </p:txBody>
      </p:sp>
      <p:sp>
        <p:nvSpPr>
          <p:cNvPr id="3" name="Freeform 3"/>
          <p:cNvSpPr/>
          <p:nvPr/>
        </p:nvSpPr>
        <p:spPr>
          <a:xfrm>
            <a:off x="2525530" y="1722611"/>
            <a:ext cx="13236940" cy="8004409"/>
          </a:xfrm>
          <a:custGeom>
            <a:avLst/>
            <a:gdLst/>
            <a:ahLst/>
            <a:cxnLst/>
            <a:rect l="l" t="t" r="r" b="b"/>
            <a:pathLst>
              <a:path w="13236940" h="8004409">
                <a:moveTo>
                  <a:pt x="0" y="0"/>
                </a:moveTo>
                <a:lnTo>
                  <a:pt x="13236940" y="0"/>
                </a:lnTo>
                <a:lnTo>
                  <a:pt x="13236940" y="8004409"/>
                </a:lnTo>
                <a:lnTo>
                  <a:pt x="0" y="800440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2560" r="-2560" b="-8214"/>
            </a:stretch>
          </a:blipFill>
        </p:spPr>
      </p:sp>
    </p:spTree>
  </p:cSld>
  <p:clrMapOvr>
    <a:masterClrMapping/>
  </p:clrMapOvr>
  <p:transition spd="slow">
    <p:push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9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2"/>
          <p:cNvGraphicFramePr/>
          <p:nvPr/>
        </p:nvGraphicFramePr>
        <p:xfrm>
          <a:off x="4545551" y="5614670"/>
          <a:ext cx="7586157" cy="4274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50" name="Worksheet" r:id="rId3" imgW="9105900" imgH="5791200" progId="Excel.Sheet.12">
                  <p:embed/>
                </p:oleObj>
              </mc:Choice>
              <mc:Fallback>
                <p:oleObj name="Worksheet" r:id="rId3" imgW="9105900" imgH="5791200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4545551" y="5614670"/>
                        <a:ext cx="7586157" cy="4274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extBox 3"/>
          <p:cNvSpPr txBox="1"/>
          <p:nvPr/>
        </p:nvSpPr>
        <p:spPr>
          <a:xfrm>
            <a:off x="4490458" y="446216"/>
            <a:ext cx="9307084" cy="10030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782"/>
              </a:lnSpc>
              <a:spcBef>
                <a:spcPct val="0"/>
              </a:spcBef>
            </a:pPr>
            <a:r>
              <a:rPr lang="en-US" sz="5558" b="1">
                <a:solidFill>
                  <a:srgbClr val="329A87"/>
                </a:solidFill>
                <a:latin typeface="Telegraf Bold"/>
                <a:ea typeface="Telegraf Bold"/>
                <a:cs typeface="Telegraf Bold"/>
                <a:sym typeface="Telegraf Bold"/>
              </a:rPr>
              <a:t>Estimation de la tendance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028700" y="1542146"/>
            <a:ext cx="15896471" cy="6442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232"/>
              </a:lnSpc>
            </a:pPr>
            <a:r>
              <a:rPr lang="en-US" sz="4024" b="1">
                <a:solidFill>
                  <a:srgbClr val="024854"/>
                </a:solidFill>
                <a:latin typeface="Barlow Semi-Bold"/>
                <a:ea typeface="Barlow Semi-Bold"/>
                <a:cs typeface="Barlow Semi-Bold"/>
                <a:sym typeface="Barlow Semi-Bold"/>
              </a:rPr>
              <a:t>Choix de la meilleure estimation en se basant sur des mesures d’erreur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339447" y="2891204"/>
            <a:ext cx="5174582" cy="1057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sz="3000" b="1" spc="150">
                <a:solidFill>
                  <a:srgbClr val="6C9286"/>
                </a:solidFill>
                <a:latin typeface="Aileron Bold"/>
                <a:ea typeface="Aileron Bold"/>
                <a:cs typeface="Aileron Bold"/>
                <a:sym typeface="Aileron Bold"/>
              </a:rPr>
              <a:t>RMSE (Erreur quadratique moyenne) 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28700" y="4299585"/>
            <a:ext cx="5796077" cy="9055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9"/>
              </a:lnSpc>
            </a:pPr>
            <a:r>
              <a:rPr lang="en-US" sz="2599" spc="129">
                <a:solidFill>
                  <a:srgbClr val="191919"/>
                </a:solidFill>
                <a:latin typeface="Aileron"/>
                <a:ea typeface="Aileron"/>
                <a:cs typeface="Aileron"/>
                <a:sym typeface="Aileron"/>
              </a:rPr>
              <a:t>Critère: Plus le RMSE est bas, plus le modèle est performant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1340813" y="2891204"/>
            <a:ext cx="5174582" cy="1057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sz="3000" b="1" spc="150">
                <a:solidFill>
                  <a:srgbClr val="6C9286"/>
                </a:solidFill>
                <a:latin typeface="Aileron Bold"/>
                <a:ea typeface="Aileron Bold"/>
                <a:cs typeface="Aileron Bold"/>
                <a:sym typeface="Aileron Bold"/>
              </a:rPr>
              <a:t>MAE(Erreur Absolue Moyenne)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1030065" y="4299585"/>
            <a:ext cx="5796077" cy="9055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9"/>
              </a:lnSpc>
            </a:pPr>
            <a:r>
              <a:rPr lang="en-US" sz="2599" spc="129">
                <a:solidFill>
                  <a:srgbClr val="191919"/>
                </a:solidFill>
                <a:latin typeface="Aileron"/>
                <a:ea typeface="Aileron"/>
                <a:cs typeface="Aileron"/>
                <a:sym typeface="Aileron"/>
              </a:rPr>
              <a:t>Critère: Un MAE plus fable indique des prévisions plus fiables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4365880" y="8312773"/>
            <a:ext cx="9556239" cy="1688467"/>
            <a:chOff x="0" y="0"/>
            <a:chExt cx="12741653" cy="2251289"/>
          </a:xfrm>
        </p:grpSpPr>
        <p:sp>
          <p:nvSpPr>
            <p:cNvPr id="10" name="TextBox 10"/>
            <p:cNvSpPr txBox="1"/>
            <p:nvPr/>
          </p:nvSpPr>
          <p:spPr>
            <a:xfrm>
              <a:off x="0" y="-33774"/>
              <a:ext cx="12741653" cy="84624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232"/>
                </a:lnSpc>
              </a:pPr>
              <a:r>
                <a:rPr lang="en-US" sz="4024" b="1">
                  <a:solidFill>
                    <a:srgbClr val="024854"/>
                  </a:solidFill>
                  <a:latin typeface="Barlow Semi-Bold"/>
                  <a:ea typeface="Barlow Semi-Bold"/>
                  <a:cs typeface="Barlow Semi-Bold"/>
                  <a:sym typeface="Barlow Semi-Bold"/>
                </a:rPr>
                <a:t>Conclusion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1173150"/>
              <a:ext cx="12741653" cy="89006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599"/>
                </a:lnSpc>
              </a:pPr>
              <a:r>
                <a:rPr lang="en-US" sz="3999" spc="15">
                  <a:solidFill>
                    <a:srgbClr val="E41D25"/>
                  </a:solidFill>
                  <a:latin typeface="Barlow"/>
                  <a:ea typeface="Barlow"/>
                  <a:cs typeface="Barlow"/>
                  <a:sym typeface="Barlow"/>
                </a:rPr>
                <a:t>Choix porté sur l’estimation par les MCO</a:t>
              </a:r>
            </a:p>
          </p:txBody>
        </p:sp>
      </p:grpSp>
    </p:spTree>
  </p:cSld>
  <p:clrMapOvr>
    <a:masterClrMapping/>
  </p:clrMapOvr>
  <p:transition spd="slow">
    <p:push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9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3938819" y="866775"/>
            <a:ext cx="10410363" cy="10030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782"/>
              </a:lnSpc>
              <a:spcBef>
                <a:spcPct val="0"/>
              </a:spcBef>
            </a:pPr>
            <a:r>
              <a:rPr lang="en-US" sz="5558" b="1">
                <a:solidFill>
                  <a:srgbClr val="329A87"/>
                </a:solidFill>
                <a:latin typeface="Telegraf Bold"/>
                <a:ea typeface="Telegraf Bold"/>
                <a:cs typeface="Telegraf Bold"/>
                <a:sym typeface="Telegraf Bold"/>
              </a:rPr>
              <a:t>Estimation de la saisonnalité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028700" y="3874334"/>
            <a:ext cx="16852198" cy="3082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55651" lvl="1" indent="-377825" algn="l">
              <a:lnSpc>
                <a:spcPts val="4900"/>
              </a:lnSpc>
              <a:buFont typeface="Arial"/>
              <a:buChar char="•"/>
            </a:pPr>
            <a:r>
              <a:rPr lang="en-US" sz="3500" b="1" spc="175">
                <a:solidFill>
                  <a:srgbClr val="024854"/>
                </a:solidFill>
                <a:latin typeface="Aileron Bold"/>
                <a:ea typeface="Aileron Bold"/>
                <a:cs typeface="Aileron Bold"/>
                <a:sym typeface="Aileron Bold"/>
              </a:rPr>
              <a:t>Période considérée: 2014–2024 </a:t>
            </a:r>
          </a:p>
          <a:p>
            <a:pPr marL="755651" lvl="1" indent="-377825" algn="l">
              <a:lnSpc>
                <a:spcPts val="4900"/>
              </a:lnSpc>
              <a:buFont typeface="Arial"/>
              <a:buChar char="•"/>
            </a:pPr>
            <a:r>
              <a:rPr lang="en-US" sz="3500" b="1" spc="175">
                <a:solidFill>
                  <a:srgbClr val="024854"/>
                </a:solidFill>
                <a:latin typeface="Aileron Bold"/>
                <a:ea typeface="Aileron Bold"/>
                <a:cs typeface="Aileron Bold"/>
                <a:sym typeface="Aileron Bold"/>
              </a:rPr>
              <a:t>Désaisonnalisation </a:t>
            </a:r>
          </a:p>
          <a:p>
            <a:pPr marL="755651" lvl="1" indent="-377825" algn="l">
              <a:lnSpc>
                <a:spcPts val="4900"/>
              </a:lnSpc>
              <a:buFont typeface="Arial"/>
              <a:buChar char="•"/>
            </a:pPr>
            <a:r>
              <a:rPr lang="en-US" sz="3500" b="1" spc="175">
                <a:solidFill>
                  <a:srgbClr val="024854"/>
                </a:solidFill>
                <a:latin typeface="Aileron Bold"/>
                <a:ea typeface="Aileron Bold"/>
                <a:cs typeface="Aileron Bold"/>
                <a:sym typeface="Aileron Bold"/>
              </a:rPr>
              <a:t>Vérification du respect du Principe de Compensation des Aires.</a:t>
            </a:r>
          </a:p>
          <a:p>
            <a:pPr marL="755651" lvl="1" indent="-377825" algn="l">
              <a:lnSpc>
                <a:spcPts val="4900"/>
              </a:lnSpc>
              <a:buFont typeface="Arial"/>
              <a:buChar char="•"/>
            </a:pPr>
            <a:r>
              <a:rPr lang="en-US" sz="3500" b="1" spc="175">
                <a:solidFill>
                  <a:srgbClr val="024854"/>
                </a:solidFill>
                <a:latin typeface="Aileron Bold"/>
                <a:ea typeface="Aileron Bold"/>
                <a:cs typeface="Aileron Bold"/>
                <a:sym typeface="Aileron Bold"/>
              </a:rPr>
              <a:t>Estimation de la série CVS après retrait de la saisonnalité, avec un raccordement des périodes 2008–2013 et 2014–2024.</a:t>
            </a:r>
          </a:p>
        </p:txBody>
      </p:sp>
    </p:spTree>
  </p:cSld>
  <p:clrMapOvr>
    <a:masterClrMapping/>
  </p:clrMapOvr>
  <p:transition spd="slow">
    <p:push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9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480286" y="1449259"/>
            <a:ext cx="15327428" cy="8123537"/>
          </a:xfrm>
          <a:custGeom>
            <a:avLst/>
            <a:gdLst/>
            <a:ahLst/>
            <a:cxnLst/>
            <a:rect l="l" t="t" r="r" b="b"/>
            <a:pathLst>
              <a:path w="15327428" h="8123537">
                <a:moveTo>
                  <a:pt x="0" y="0"/>
                </a:moveTo>
                <a:lnTo>
                  <a:pt x="15327428" y="0"/>
                </a:lnTo>
                <a:lnTo>
                  <a:pt x="15327428" y="8123537"/>
                </a:lnTo>
                <a:lnTo>
                  <a:pt x="0" y="812353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4490458" y="446216"/>
            <a:ext cx="9307084" cy="10030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782"/>
              </a:lnSpc>
              <a:spcBef>
                <a:spcPct val="0"/>
              </a:spcBef>
            </a:pPr>
            <a:r>
              <a:rPr lang="en-US" sz="5558" b="1">
                <a:solidFill>
                  <a:srgbClr val="329A87"/>
                </a:solidFill>
                <a:latin typeface="Telegraf Bold"/>
                <a:ea typeface="Telegraf Bold"/>
                <a:cs typeface="Telegraf Bold"/>
                <a:sym typeface="Telegraf Bold"/>
              </a:rPr>
              <a:t>Estimation de la série CVS</a:t>
            </a:r>
          </a:p>
        </p:txBody>
      </p:sp>
    </p:spTree>
  </p:cSld>
  <p:clrMapOvr>
    <a:masterClrMapping/>
  </p:clrMapOvr>
  <p:transition spd="slow">
    <p:push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1471508">
            <a:off x="7442248" y="-3517885"/>
            <a:ext cx="2160993" cy="11665743"/>
            <a:chOff x="0" y="0"/>
            <a:chExt cx="597206" cy="322391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597206" cy="3223913"/>
            </a:xfrm>
            <a:custGeom>
              <a:avLst/>
              <a:gdLst/>
              <a:ahLst/>
              <a:cxnLst/>
              <a:rect l="l" t="t" r="r" b="b"/>
              <a:pathLst>
                <a:path w="597206" h="3223913">
                  <a:moveTo>
                    <a:pt x="0" y="0"/>
                  </a:moveTo>
                  <a:lnTo>
                    <a:pt x="597206" y="0"/>
                  </a:lnTo>
                  <a:lnTo>
                    <a:pt x="597206" y="3223913"/>
                  </a:lnTo>
                  <a:lnTo>
                    <a:pt x="0" y="3223913"/>
                  </a:lnTo>
                  <a:close/>
                </a:path>
              </a:pathLst>
            </a:custGeom>
            <a:solidFill>
              <a:srgbClr val="D5DADA">
                <a:alpha val="23922"/>
              </a:srgbClr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597206" cy="3262013"/>
            </a:xfrm>
            <a:prstGeom prst="rect">
              <a:avLst/>
            </a:prstGeom>
          </p:spPr>
          <p:txBody>
            <a:bodyPr lIns="35873" tIns="35873" rIns="35873" bIns="35873" rtlCol="0" anchor="ctr"/>
            <a:lstStyle/>
            <a:p>
              <a:pPr algn="ctr">
                <a:lnSpc>
                  <a:spcPts val="1384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 rot="1471508">
            <a:off x="7842796" y="1744300"/>
            <a:ext cx="2160993" cy="11212989"/>
            <a:chOff x="0" y="0"/>
            <a:chExt cx="597206" cy="3098792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597206" cy="3098791"/>
            </a:xfrm>
            <a:custGeom>
              <a:avLst/>
              <a:gdLst/>
              <a:ahLst/>
              <a:cxnLst/>
              <a:rect l="l" t="t" r="r" b="b"/>
              <a:pathLst>
                <a:path w="597206" h="3098791">
                  <a:moveTo>
                    <a:pt x="0" y="0"/>
                  </a:moveTo>
                  <a:lnTo>
                    <a:pt x="597206" y="0"/>
                  </a:lnTo>
                  <a:lnTo>
                    <a:pt x="597206" y="3098791"/>
                  </a:lnTo>
                  <a:lnTo>
                    <a:pt x="0" y="3098791"/>
                  </a:lnTo>
                  <a:close/>
                </a:path>
              </a:pathLst>
            </a:custGeom>
            <a:solidFill>
              <a:srgbClr val="D5DADA">
                <a:alpha val="23922"/>
              </a:srgbClr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597206" cy="3136892"/>
            </a:xfrm>
            <a:prstGeom prst="rect">
              <a:avLst/>
            </a:prstGeom>
          </p:spPr>
          <p:txBody>
            <a:bodyPr lIns="35873" tIns="35873" rIns="35873" bIns="35873" rtlCol="0" anchor="ctr"/>
            <a:lstStyle/>
            <a:p>
              <a:pPr algn="ctr">
                <a:lnSpc>
                  <a:spcPts val="1384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1015140" y="5027944"/>
            <a:ext cx="10518155" cy="10518113"/>
            <a:chOff x="0" y="0"/>
            <a:chExt cx="6350000" cy="6349975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6350000" cy="6349975"/>
            </a:xfrm>
            <a:custGeom>
              <a:avLst/>
              <a:gdLst/>
              <a:ahLst/>
              <a:cxnLst/>
              <a:rect l="l" t="t" r="r" b="b"/>
              <a:pathLst>
                <a:path w="6350000" h="6349975">
                  <a:moveTo>
                    <a:pt x="6350000" y="3175025"/>
                  </a:moveTo>
                  <a:cubicBezTo>
                    <a:pt x="6350000" y="4928451"/>
                    <a:pt x="4928476" y="6349975"/>
                    <a:pt x="3175000" y="6349975"/>
                  </a:cubicBezTo>
                  <a:cubicBezTo>
                    <a:pt x="1421498" y="6349975"/>
                    <a:pt x="0" y="4928451"/>
                    <a:pt x="0" y="3175025"/>
                  </a:cubicBezTo>
                  <a:cubicBezTo>
                    <a:pt x="0" y="1421511"/>
                    <a:pt x="1421498" y="0"/>
                    <a:pt x="3175000" y="0"/>
                  </a:cubicBezTo>
                  <a:cubicBezTo>
                    <a:pt x="4928502" y="0"/>
                    <a:pt x="6350000" y="1421511"/>
                    <a:pt x="6350000" y="3175025"/>
                  </a:cubicBezTo>
                  <a:close/>
                </a:path>
              </a:pathLst>
            </a:custGeom>
            <a:blipFill>
              <a:blip r:embed="rId2"/>
              <a:stretch>
                <a:fillRect l="-25471" r="-25471"/>
              </a:stretch>
            </a:blipFill>
          </p:spPr>
        </p:sp>
      </p:grpSp>
      <p:grpSp>
        <p:nvGrpSpPr>
          <p:cNvPr id="10" name="Group 10"/>
          <p:cNvGrpSpPr/>
          <p:nvPr/>
        </p:nvGrpSpPr>
        <p:grpSpPr>
          <a:xfrm>
            <a:off x="11800842" y="5813625"/>
            <a:ext cx="8946750" cy="8946750"/>
            <a:chOff x="0" y="0"/>
            <a:chExt cx="812800" cy="8128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04775" cap="sq">
              <a:solidFill>
                <a:srgbClr val="FFFFFF"/>
              </a:solidFill>
              <a:prstDash val="solid"/>
              <a:miter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35873" tIns="35873" rIns="35873" bIns="35873" rtlCol="0" anchor="ctr"/>
            <a:lstStyle/>
            <a:p>
              <a:pPr algn="ctr">
                <a:lnSpc>
                  <a:spcPts val="1384"/>
                </a:lnSpc>
              </a:pPr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-4524129" y="-3792316"/>
            <a:ext cx="10518155" cy="10518113"/>
            <a:chOff x="0" y="0"/>
            <a:chExt cx="6350000" cy="6349975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6350000" cy="6349975"/>
            </a:xfrm>
            <a:custGeom>
              <a:avLst/>
              <a:gdLst/>
              <a:ahLst/>
              <a:cxnLst/>
              <a:rect l="l" t="t" r="r" b="b"/>
              <a:pathLst>
                <a:path w="6350000" h="6349975">
                  <a:moveTo>
                    <a:pt x="6350000" y="3175025"/>
                  </a:moveTo>
                  <a:cubicBezTo>
                    <a:pt x="6350000" y="4928451"/>
                    <a:pt x="4928476" y="6349975"/>
                    <a:pt x="3175000" y="6349975"/>
                  </a:cubicBezTo>
                  <a:cubicBezTo>
                    <a:pt x="1421498" y="6349975"/>
                    <a:pt x="0" y="4928451"/>
                    <a:pt x="0" y="3175025"/>
                  </a:cubicBezTo>
                  <a:cubicBezTo>
                    <a:pt x="0" y="1421511"/>
                    <a:pt x="1421498" y="0"/>
                    <a:pt x="3175000" y="0"/>
                  </a:cubicBezTo>
                  <a:cubicBezTo>
                    <a:pt x="4928502" y="0"/>
                    <a:pt x="6350000" y="1421511"/>
                    <a:pt x="6350000" y="3175025"/>
                  </a:cubicBezTo>
                  <a:close/>
                </a:path>
              </a:pathLst>
            </a:custGeom>
            <a:blipFill>
              <a:blip r:embed="rId3"/>
              <a:stretch>
                <a:fillRect l="-25471" r="-25471"/>
              </a:stretch>
            </a:blipFill>
          </p:spPr>
        </p:sp>
      </p:grpSp>
      <p:grpSp>
        <p:nvGrpSpPr>
          <p:cNvPr id="15" name="Group 15"/>
          <p:cNvGrpSpPr/>
          <p:nvPr/>
        </p:nvGrpSpPr>
        <p:grpSpPr>
          <a:xfrm>
            <a:off x="-3738427" y="-3006635"/>
            <a:ext cx="8946750" cy="8946750"/>
            <a:chOff x="0" y="0"/>
            <a:chExt cx="812800" cy="81280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04775" cap="sq">
              <a:solidFill>
                <a:srgbClr val="FFFFFF"/>
              </a:solidFill>
              <a:prstDash val="solid"/>
              <a:miter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35873" tIns="35873" rIns="35873" bIns="35873" rtlCol="0" anchor="ctr"/>
            <a:lstStyle/>
            <a:p>
              <a:pPr algn="ctr">
                <a:lnSpc>
                  <a:spcPts val="1384"/>
                </a:lnSpc>
              </a:pPr>
              <a:endParaRPr/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4872773" y="3729254"/>
            <a:ext cx="6928069" cy="1734271"/>
            <a:chOff x="0" y="0"/>
            <a:chExt cx="1059309" cy="265172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059309" cy="265172"/>
            </a:xfrm>
            <a:custGeom>
              <a:avLst/>
              <a:gdLst/>
              <a:ahLst/>
              <a:cxnLst/>
              <a:rect l="l" t="t" r="r" b="b"/>
              <a:pathLst>
                <a:path w="1059309" h="265172">
                  <a:moveTo>
                    <a:pt x="18997" y="0"/>
                  </a:moveTo>
                  <a:lnTo>
                    <a:pt x="1040312" y="0"/>
                  </a:lnTo>
                  <a:cubicBezTo>
                    <a:pt x="1045350" y="0"/>
                    <a:pt x="1050182" y="2001"/>
                    <a:pt x="1053745" y="5564"/>
                  </a:cubicBezTo>
                  <a:cubicBezTo>
                    <a:pt x="1057308" y="9127"/>
                    <a:pt x="1059309" y="13959"/>
                    <a:pt x="1059309" y="18997"/>
                  </a:cubicBezTo>
                  <a:lnTo>
                    <a:pt x="1059309" y="246175"/>
                  </a:lnTo>
                  <a:cubicBezTo>
                    <a:pt x="1059309" y="251213"/>
                    <a:pt x="1057308" y="256045"/>
                    <a:pt x="1053745" y="259608"/>
                  </a:cubicBezTo>
                  <a:cubicBezTo>
                    <a:pt x="1050182" y="263170"/>
                    <a:pt x="1045350" y="265172"/>
                    <a:pt x="1040312" y="265172"/>
                  </a:cubicBezTo>
                  <a:lnTo>
                    <a:pt x="18997" y="265172"/>
                  </a:lnTo>
                  <a:cubicBezTo>
                    <a:pt x="8505" y="265172"/>
                    <a:pt x="0" y="256667"/>
                    <a:pt x="0" y="246175"/>
                  </a:cubicBezTo>
                  <a:lnTo>
                    <a:pt x="0" y="18997"/>
                  </a:lnTo>
                  <a:cubicBezTo>
                    <a:pt x="0" y="13959"/>
                    <a:pt x="2001" y="9127"/>
                    <a:pt x="5564" y="5564"/>
                  </a:cubicBezTo>
                  <a:cubicBezTo>
                    <a:pt x="9127" y="2001"/>
                    <a:pt x="13959" y="0"/>
                    <a:pt x="18997" y="0"/>
                  </a:cubicBezTo>
                  <a:close/>
                </a:path>
              </a:pathLst>
            </a:custGeom>
            <a:solidFill>
              <a:srgbClr val="FAFAFA"/>
            </a:solidFill>
            <a:ln w="28575" cap="sq">
              <a:solidFill>
                <a:srgbClr val="0097B2"/>
              </a:solidFill>
              <a:prstDash val="solid"/>
              <a:miter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0" y="-57150"/>
              <a:ext cx="1059309" cy="32232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  <a:r>
                <a:rPr lang="en-US" sz="1400">
                  <a:solidFill>
                    <a:srgbClr val="000000"/>
                  </a:solidFill>
                  <a:latin typeface="Telegraf"/>
                  <a:ea typeface="Telegraf"/>
                  <a:cs typeface="Telegraf"/>
                  <a:sym typeface="Telegraf"/>
                </a:rPr>
                <a:t>l</a:t>
              </a:r>
            </a:p>
          </p:txBody>
        </p:sp>
      </p:grpSp>
      <p:sp>
        <p:nvSpPr>
          <p:cNvPr id="21" name="TextBox 21"/>
          <p:cNvSpPr txBox="1"/>
          <p:nvPr/>
        </p:nvSpPr>
        <p:spPr>
          <a:xfrm>
            <a:off x="5994026" y="4013906"/>
            <a:ext cx="4081257" cy="10030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782"/>
              </a:lnSpc>
              <a:spcBef>
                <a:spcPct val="0"/>
              </a:spcBef>
            </a:pPr>
            <a:r>
              <a:rPr lang="en-US" sz="5558" b="1">
                <a:solidFill>
                  <a:srgbClr val="329A87"/>
                </a:solidFill>
                <a:latin typeface="Telegraf Bold"/>
                <a:ea typeface="Telegraf Bold"/>
                <a:cs typeface="Telegraf Bold"/>
                <a:sym typeface="Telegraf Bold"/>
              </a:rPr>
              <a:t>Prévisions</a:t>
            </a:r>
          </a:p>
        </p:txBody>
      </p:sp>
      <p:sp>
        <p:nvSpPr>
          <p:cNvPr id="22" name="Freeform 22"/>
          <p:cNvSpPr/>
          <p:nvPr/>
        </p:nvSpPr>
        <p:spPr>
          <a:xfrm>
            <a:off x="4067426" y="3633090"/>
            <a:ext cx="1926599" cy="1926599"/>
          </a:xfrm>
          <a:custGeom>
            <a:avLst/>
            <a:gdLst/>
            <a:ahLst/>
            <a:cxnLst/>
            <a:rect l="l" t="t" r="r" b="b"/>
            <a:pathLst>
              <a:path w="1926599" h="1926599">
                <a:moveTo>
                  <a:pt x="0" y="0"/>
                </a:moveTo>
                <a:lnTo>
                  <a:pt x="1926600" y="0"/>
                </a:lnTo>
                <a:lnTo>
                  <a:pt x="1926600" y="1926599"/>
                </a:lnTo>
                <a:lnTo>
                  <a:pt x="0" y="192659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46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grpSp>
        <p:nvGrpSpPr>
          <p:cNvPr id="23" name="Group 23"/>
          <p:cNvGrpSpPr/>
          <p:nvPr/>
        </p:nvGrpSpPr>
        <p:grpSpPr>
          <a:xfrm>
            <a:off x="4252211" y="3817875"/>
            <a:ext cx="1557029" cy="1557029"/>
            <a:chOff x="0" y="0"/>
            <a:chExt cx="812800" cy="812800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97B2"/>
            </a:solidFill>
            <a:ln cap="sq">
              <a:noFill/>
              <a:prstDash val="solid"/>
              <a:miter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  <a:endParaRPr/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4357484" y="3784937"/>
            <a:ext cx="1346483" cy="13943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785"/>
              </a:lnSpc>
              <a:spcBef>
                <a:spcPct val="0"/>
              </a:spcBef>
            </a:pPr>
            <a:r>
              <a:rPr lang="en-US" sz="7703" b="1">
                <a:solidFill>
                  <a:srgbClr val="FFFFFF"/>
                </a:solidFill>
                <a:latin typeface="Telegraf Bold"/>
                <a:ea typeface="Telegraf Bold"/>
                <a:cs typeface="Telegraf Bold"/>
                <a:sym typeface="Telegraf Bold"/>
              </a:rPr>
              <a:t>8</a:t>
            </a:r>
          </a:p>
        </p:txBody>
      </p:sp>
    </p:spTree>
  </p:cSld>
  <p:clrMapOvr>
    <a:masterClrMapping/>
  </p:clrMapOvr>
  <p:transition spd="slow">
    <p:cover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9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308983" y="4057796"/>
            <a:ext cx="18796234" cy="1030669"/>
            <a:chOff x="0" y="0"/>
            <a:chExt cx="25061645" cy="1374225"/>
          </a:xfrm>
        </p:grpSpPr>
        <p:sp>
          <p:nvSpPr>
            <p:cNvPr id="3" name="AutoShape 3"/>
            <p:cNvSpPr/>
            <p:nvPr/>
          </p:nvSpPr>
          <p:spPr>
            <a:xfrm>
              <a:off x="0" y="601922"/>
              <a:ext cx="24795977" cy="170382"/>
            </a:xfrm>
            <a:prstGeom prst="rect">
              <a:avLst/>
            </a:prstGeom>
            <a:solidFill>
              <a:srgbClr val="86EAE9"/>
            </a:solidFill>
          </p:spPr>
        </p:sp>
        <p:grpSp>
          <p:nvGrpSpPr>
            <p:cNvPr id="4" name="Group 4"/>
            <p:cNvGrpSpPr/>
            <p:nvPr/>
          </p:nvGrpSpPr>
          <p:grpSpPr>
            <a:xfrm rot="5400000">
              <a:off x="23773309" y="85889"/>
              <a:ext cx="1374225" cy="1202447"/>
              <a:chOff x="0" y="0"/>
              <a:chExt cx="812800" cy="711200"/>
            </a:xfrm>
          </p:grpSpPr>
          <p:sp>
            <p:nvSpPr>
              <p:cNvPr id="5" name="Freeform 5"/>
              <p:cNvSpPr/>
              <p:nvPr/>
            </p:nvSpPr>
            <p:spPr>
              <a:xfrm>
                <a:off x="0" y="0"/>
                <a:ext cx="812800" cy="7112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711200">
                    <a:moveTo>
                      <a:pt x="406400" y="0"/>
                    </a:moveTo>
                    <a:lnTo>
                      <a:pt x="812800" y="711200"/>
                    </a:lnTo>
                    <a:lnTo>
                      <a:pt x="0" y="711200"/>
                    </a:lnTo>
                    <a:lnTo>
                      <a:pt x="406400" y="0"/>
                    </a:lnTo>
                    <a:close/>
                  </a:path>
                </a:pathLst>
              </a:custGeom>
              <a:solidFill>
                <a:srgbClr val="62DDD6"/>
              </a:solidFill>
            </p:spPr>
          </p:sp>
          <p:sp>
            <p:nvSpPr>
              <p:cNvPr id="6" name="TextBox 6"/>
              <p:cNvSpPr txBox="1"/>
              <p:nvPr/>
            </p:nvSpPr>
            <p:spPr>
              <a:xfrm>
                <a:off x="127000" y="273050"/>
                <a:ext cx="558800" cy="38735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1960"/>
                  </a:lnSpc>
                </a:pPr>
                <a:endParaRPr/>
              </a:p>
            </p:txBody>
          </p:sp>
        </p:grpSp>
      </p:grpSp>
      <p:grpSp>
        <p:nvGrpSpPr>
          <p:cNvPr id="7" name="Group 7"/>
          <p:cNvGrpSpPr/>
          <p:nvPr/>
        </p:nvGrpSpPr>
        <p:grpSpPr>
          <a:xfrm>
            <a:off x="47959" y="2756822"/>
            <a:ext cx="3760402" cy="3760402"/>
            <a:chOff x="0" y="0"/>
            <a:chExt cx="5013869" cy="5013869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5013869" cy="5013869"/>
            </a:xfrm>
            <a:custGeom>
              <a:avLst/>
              <a:gdLst/>
              <a:ahLst/>
              <a:cxnLst/>
              <a:rect l="l" t="t" r="r" b="b"/>
              <a:pathLst>
                <a:path w="5013869" h="5013869">
                  <a:moveTo>
                    <a:pt x="0" y="0"/>
                  </a:moveTo>
                  <a:lnTo>
                    <a:pt x="5013869" y="0"/>
                  </a:lnTo>
                  <a:lnTo>
                    <a:pt x="5013869" y="5013869"/>
                  </a:lnTo>
                  <a:lnTo>
                    <a:pt x="0" y="50138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9" name="Freeform 9"/>
            <p:cNvSpPr/>
            <p:nvPr/>
          </p:nvSpPr>
          <p:spPr>
            <a:xfrm>
              <a:off x="135053" y="135053"/>
              <a:ext cx="4743763" cy="4743763"/>
            </a:xfrm>
            <a:custGeom>
              <a:avLst/>
              <a:gdLst/>
              <a:ahLst/>
              <a:cxnLst/>
              <a:rect l="l" t="t" r="r" b="b"/>
              <a:pathLst>
                <a:path w="4743763" h="4743763">
                  <a:moveTo>
                    <a:pt x="0" y="0"/>
                  </a:moveTo>
                  <a:lnTo>
                    <a:pt x="4743763" y="0"/>
                  </a:lnTo>
                  <a:lnTo>
                    <a:pt x="4743763" y="4743763"/>
                  </a:lnTo>
                  <a:lnTo>
                    <a:pt x="0" y="474376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</p:sp>
      </p:grpSp>
      <p:grpSp>
        <p:nvGrpSpPr>
          <p:cNvPr id="10" name="Group 10"/>
          <p:cNvGrpSpPr/>
          <p:nvPr/>
        </p:nvGrpSpPr>
        <p:grpSpPr>
          <a:xfrm>
            <a:off x="4692189" y="2766188"/>
            <a:ext cx="3760402" cy="3760402"/>
            <a:chOff x="0" y="0"/>
            <a:chExt cx="5013869" cy="5013869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5013869" cy="5013869"/>
            </a:xfrm>
            <a:custGeom>
              <a:avLst/>
              <a:gdLst/>
              <a:ahLst/>
              <a:cxnLst/>
              <a:rect l="l" t="t" r="r" b="b"/>
              <a:pathLst>
                <a:path w="5013869" h="5013869">
                  <a:moveTo>
                    <a:pt x="0" y="0"/>
                  </a:moveTo>
                  <a:lnTo>
                    <a:pt x="5013869" y="0"/>
                  </a:lnTo>
                  <a:lnTo>
                    <a:pt x="5013869" y="5013869"/>
                  </a:lnTo>
                  <a:lnTo>
                    <a:pt x="0" y="50138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12" name="Freeform 12"/>
            <p:cNvSpPr/>
            <p:nvPr/>
          </p:nvSpPr>
          <p:spPr>
            <a:xfrm>
              <a:off x="135053" y="135053"/>
              <a:ext cx="4743763" cy="4743763"/>
            </a:xfrm>
            <a:custGeom>
              <a:avLst/>
              <a:gdLst/>
              <a:ahLst/>
              <a:cxnLst/>
              <a:rect l="l" t="t" r="r" b="b"/>
              <a:pathLst>
                <a:path w="4743763" h="4743763">
                  <a:moveTo>
                    <a:pt x="0" y="0"/>
                  </a:moveTo>
                  <a:lnTo>
                    <a:pt x="4743763" y="0"/>
                  </a:lnTo>
                  <a:lnTo>
                    <a:pt x="4743763" y="4743763"/>
                  </a:lnTo>
                  <a:lnTo>
                    <a:pt x="0" y="474376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</p:sp>
      </p:grpSp>
      <p:grpSp>
        <p:nvGrpSpPr>
          <p:cNvPr id="13" name="Group 13"/>
          <p:cNvGrpSpPr/>
          <p:nvPr/>
        </p:nvGrpSpPr>
        <p:grpSpPr>
          <a:xfrm>
            <a:off x="9338415" y="2766188"/>
            <a:ext cx="3760402" cy="3760402"/>
            <a:chOff x="0" y="0"/>
            <a:chExt cx="5013869" cy="5013869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5013869" cy="5013869"/>
            </a:xfrm>
            <a:custGeom>
              <a:avLst/>
              <a:gdLst/>
              <a:ahLst/>
              <a:cxnLst/>
              <a:rect l="l" t="t" r="r" b="b"/>
              <a:pathLst>
                <a:path w="5013869" h="5013869">
                  <a:moveTo>
                    <a:pt x="0" y="0"/>
                  </a:moveTo>
                  <a:lnTo>
                    <a:pt x="5013869" y="0"/>
                  </a:lnTo>
                  <a:lnTo>
                    <a:pt x="5013869" y="5013869"/>
                  </a:lnTo>
                  <a:lnTo>
                    <a:pt x="0" y="50138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15" name="Freeform 15"/>
            <p:cNvSpPr/>
            <p:nvPr/>
          </p:nvSpPr>
          <p:spPr>
            <a:xfrm>
              <a:off x="135053" y="135053"/>
              <a:ext cx="4743763" cy="4743763"/>
            </a:xfrm>
            <a:custGeom>
              <a:avLst/>
              <a:gdLst/>
              <a:ahLst/>
              <a:cxnLst/>
              <a:rect l="l" t="t" r="r" b="b"/>
              <a:pathLst>
                <a:path w="4743763" h="4743763">
                  <a:moveTo>
                    <a:pt x="0" y="0"/>
                  </a:moveTo>
                  <a:lnTo>
                    <a:pt x="4743763" y="0"/>
                  </a:lnTo>
                  <a:lnTo>
                    <a:pt x="4743763" y="4743763"/>
                  </a:lnTo>
                  <a:lnTo>
                    <a:pt x="0" y="474376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</p:sp>
      </p:grpSp>
      <p:grpSp>
        <p:nvGrpSpPr>
          <p:cNvPr id="16" name="Group 16"/>
          <p:cNvGrpSpPr/>
          <p:nvPr/>
        </p:nvGrpSpPr>
        <p:grpSpPr>
          <a:xfrm>
            <a:off x="13498898" y="2766188"/>
            <a:ext cx="3760402" cy="3760402"/>
            <a:chOff x="0" y="0"/>
            <a:chExt cx="5013869" cy="5013869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5013869" cy="5013869"/>
            </a:xfrm>
            <a:custGeom>
              <a:avLst/>
              <a:gdLst/>
              <a:ahLst/>
              <a:cxnLst/>
              <a:rect l="l" t="t" r="r" b="b"/>
              <a:pathLst>
                <a:path w="5013869" h="5013869">
                  <a:moveTo>
                    <a:pt x="0" y="0"/>
                  </a:moveTo>
                  <a:lnTo>
                    <a:pt x="5013869" y="0"/>
                  </a:lnTo>
                  <a:lnTo>
                    <a:pt x="5013869" y="5013869"/>
                  </a:lnTo>
                  <a:lnTo>
                    <a:pt x="0" y="50138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18" name="Freeform 18"/>
            <p:cNvSpPr/>
            <p:nvPr/>
          </p:nvSpPr>
          <p:spPr>
            <a:xfrm>
              <a:off x="135053" y="135053"/>
              <a:ext cx="4743763" cy="4743763"/>
            </a:xfrm>
            <a:custGeom>
              <a:avLst/>
              <a:gdLst/>
              <a:ahLst/>
              <a:cxnLst/>
              <a:rect l="l" t="t" r="r" b="b"/>
              <a:pathLst>
                <a:path w="4743763" h="4743763">
                  <a:moveTo>
                    <a:pt x="0" y="0"/>
                  </a:moveTo>
                  <a:lnTo>
                    <a:pt x="4743763" y="0"/>
                  </a:lnTo>
                  <a:lnTo>
                    <a:pt x="4743763" y="4743763"/>
                  </a:lnTo>
                  <a:lnTo>
                    <a:pt x="0" y="474376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</p:sp>
      </p:grpSp>
      <p:sp>
        <p:nvSpPr>
          <p:cNvPr id="19" name="TextBox 19"/>
          <p:cNvSpPr txBox="1"/>
          <p:nvPr/>
        </p:nvSpPr>
        <p:spPr>
          <a:xfrm>
            <a:off x="2483759" y="446216"/>
            <a:ext cx="13320481" cy="10030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782"/>
              </a:lnSpc>
              <a:spcBef>
                <a:spcPct val="0"/>
              </a:spcBef>
            </a:pPr>
            <a:r>
              <a:rPr lang="en-US" sz="5558" b="1">
                <a:solidFill>
                  <a:srgbClr val="329A87"/>
                </a:solidFill>
                <a:latin typeface="Telegraf Bold"/>
                <a:ea typeface="Telegraf Bold"/>
                <a:cs typeface="Telegraf Bold"/>
                <a:sym typeface="Telegraf Bold"/>
              </a:rPr>
              <a:t>Prévision avec le modèle multiplicatif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46985" y="3808590"/>
            <a:ext cx="3562350" cy="14719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b="1" spc="139">
                <a:solidFill>
                  <a:srgbClr val="13538A"/>
                </a:solidFill>
                <a:latin typeface="Aileron Bold"/>
                <a:ea typeface="Aileron Bold"/>
                <a:cs typeface="Aileron Bold"/>
                <a:sym typeface="Aileron Bold"/>
              </a:rPr>
              <a:t>Régression MCO appliquée à la série CVS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4792213" y="3624833"/>
            <a:ext cx="3562350" cy="19672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b="1" spc="139">
                <a:solidFill>
                  <a:srgbClr val="2C92D5"/>
                </a:solidFill>
                <a:latin typeface="Aileron Bold"/>
                <a:ea typeface="Aileron Bold"/>
                <a:cs typeface="Aileron Bold"/>
                <a:sym typeface="Aileron Bold"/>
              </a:rPr>
              <a:t>Prévisions réalisées sur les 12 </a:t>
            </a:r>
          </a:p>
          <a:p>
            <a:pPr algn="ctr">
              <a:lnSpc>
                <a:spcPts val="3919"/>
              </a:lnSpc>
            </a:pPr>
            <a:r>
              <a:rPr lang="en-US" sz="2799" b="1" spc="139">
                <a:solidFill>
                  <a:srgbClr val="2C92D5"/>
                </a:solidFill>
                <a:latin typeface="Aileron Bold"/>
                <a:ea typeface="Aileron Bold"/>
                <a:cs typeface="Aileron Bold"/>
                <a:sym typeface="Aileron Bold"/>
              </a:rPr>
              <a:t>trimestres à venir (2025–2027)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9538440" y="3404511"/>
            <a:ext cx="3420859" cy="28184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737"/>
              </a:lnSpc>
            </a:pPr>
            <a:r>
              <a:rPr lang="en-US" sz="2669" b="1" spc="133">
                <a:solidFill>
                  <a:srgbClr val="289DD2"/>
                </a:solidFill>
                <a:latin typeface="Aileron Bold"/>
                <a:ea typeface="Aileron Bold"/>
                <a:cs typeface="Aileron Bold"/>
                <a:sym typeface="Aileron Bold"/>
              </a:rPr>
              <a:t>Réintroduction </a:t>
            </a:r>
          </a:p>
          <a:p>
            <a:pPr algn="ctr">
              <a:lnSpc>
                <a:spcPts val="3737"/>
              </a:lnSpc>
            </a:pPr>
            <a:r>
              <a:rPr lang="en-US" sz="2669" b="1" spc="133">
                <a:solidFill>
                  <a:srgbClr val="289DD2"/>
                </a:solidFill>
                <a:latin typeface="Aileron Bold"/>
                <a:ea typeface="Aileron Bold"/>
                <a:cs typeface="Aileron Bold"/>
                <a:sym typeface="Aileron Bold"/>
              </a:rPr>
              <a:t>de la saisonnalité estimée pour ajuster les prévisions à la </a:t>
            </a:r>
          </a:p>
          <a:p>
            <a:pPr algn="ctr">
              <a:lnSpc>
                <a:spcPts val="3737"/>
              </a:lnSpc>
            </a:pPr>
            <a:r>
              <a:rPr lang="en-US" sz="2669" b="1" spc="133">
                <a:solidFill>
                  <a:srgbClr val="289DD2"/>
                </a:solidFill>
                <a:latin typeface="Aileron Bold"/>
                <a:ea typeface="Aileron Bold"/>
                <a:cs typeface="Aileron Bold"/>
                <a:sym typeface="Aileron Bold"/>
              </a:rPr>
              <a:t>série brute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3597924" y="3634199"/>
            <a:ext cx="3562350" cy="19672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b="1" spc="139">
                <a:solidFill>
                  <a:srgbClr val="53786D"/>
                </a:solidFill>
                <a:latin typeface="Aileron Bold"/>
                <a:ea typeface="Aileron Bold"/>
                <a:cs typeface="Aileron Bold"/>
                <a:sym typeface="Aileron Bold"/>
              </a:rPr>
              <a:t>Projection de la série brute sur la période de prévision</a:t>
            </a:r>
          </a:p>
        </p:txBody>
      </p:sp>
    </p:spTree>
  </p:cSld>
  <p:clrMapOvr>
    <a:masterClrMapping/>
  </p:clrMapOvr>
  <p:transition spd="slow">
    <p:push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9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368061" y="963933"/>
            <a:ext cx="15551878" cy="8359134"/>
          </a:xfrm>
          <a:custGeom>
            <a:avLst/>
            <a:gdLst/>
            <a:ahLst/>
            <a:cxnLst/>
            <a:rect l="l" t="t" r="r" b="b"/>
            <a:pathLst>
              <a:path w="15551878" h="8359134">
                <a:moveTo>
                  <a:pt x="0" y="0"/>
                </a:moveTo>
                <a:lnTo>
                  <a:pt x="15551878" y="0"/>
                </a:lnTo>
                <a:lnTo>
                  <a:pt x="15551878" y="8359134"/>
                </a:lnTo>
                <a:lnTo>
                  <a:pt x="0" y="835913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  <p:transition spd="slow">
    <p:push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9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424578" y="1756265"/>
            <a:ext cx="10834722" cy="7735661"/>
            <a:chOff x="0" y="0"/>
            <a:chExt cx="9741958" cy="695546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9741958" cy="6955461"/>
            </a:xfrm>
            <a:custGeom>
              <a:avLst/>
              <a:gdLst/>
              <a:ahLst/>
              <a:cxnLst/>
              <a:rect l="l" t="t" r="r" b="b"/>
              <a:pathLst>
                <a:path w="9741958" h="6955461">
                  <a:moveTo>
                    <a:pt x="0" y="0"/>
                  </a:moveTo>
                  <a:lnTo>
                    <a:pt x="0" y="6955461"/>
                  </a:lnTo>
                  <a:lnTo>
                    <a:pt x="9741958" y="6955461"/>
                  </a:lnTo>
                  <a:lnTo>
                    <a:pt x="9741958" y="0"/>
                  </a:lnTo>
                  <a:lnTo>
                    <a:pt x="0" y="0"/>
                  </a:lnTo>
                  <a:close/>
                  <a:moveTo>
                    <a:pt x="9680998" y="6894500"/>
                  </a:moveTo>
                  <a:lnTo>
                    <a:pt x="59690" y="6894500"/>
                  </a:lnTo>
                  <a:lnTo>
                    <a:pt x="59690" y="59690"/>
                  </a:lnTo>
                  <a:lnTo>
                    <a:pt x="9680998" y="59690"/>
                  </a:lnTo>
                  <a:lnTo>
                    <a:pt x="9680998" y="6894500"/>
                  </a:lnTo>
                  <a:close/>
                </a:path>
              </a:pathLst>
            </a:custGeom>
            <a:solidFill>
              <a:srgbClr val="365B6D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6490005" y="1813676"/>
            <a:ext cx="10703867" cy="7620839"/>
            <a:chOff x="0" y="0"/>
            <a:chExt cx="2819126" cy="2007135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819126" cy="2007134"/>
            </a:xfrm>
            <a:custGeom>
              <a:avLst/>
              <a:gdLst/>
              <a:ahLst/>
              <a:cxnLst/>
              <a:rect l="l" t="t" r="r" b="b"/>
              <a:pathLst>
                <a:path w="2819126" h="2007134">
                  <a:moveTo>
                    <a:pt x="0" y="0"/>
                  </a:moveTo>
                  <a:lnTo>
                    <a:pt x="2819126" y="0"/>
                  </a:lnTo>
                  <a:lnTo>
                    <a:pt x="2819126" y="2007134"/>
                  </a:lnTo>
                  <a:lnTo>
                    <a:pt x="0" y="2007134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0" y="-57150"/>
              <a:ext cx="2819126" cy="20642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  <a:r>
                <a:rPr lang="en-US" sz="1400">
                  <a:solidFill>
                    <a:srgbClr val="000000"/>
                  </a:solidFill>
                  <a:latin typeface="Telegraf"/>
                  <a:ea typeface="Telegraf"/>
                  <a:cs typeface="Telegraf"/>
                  <a:sym typeface="Telegraf"/>
                </a:rPr>
                <a:t>g</a:t>
              </a:r>
            </a:p>
          </p:txBody>
        </p:sp>
      </p:grpSp>
      <p:sp>
        <p:nvSpPr>
          <p:cNvPr id="7" name="TextBox 7"/>
          <p:cNvSpPr txBox="1"/>
          <p:nvPr/>
        </p:nvSpPr>
        <p:spPr>
          <a:xfrm>
            <a:off x="2679702" y="446216"/>
            <a:ext cx="12928596" cy="10030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782"/>
              </a:lnSpc>
              <a:spcBef>
                <a:spcPct val="0"/>
              </a:spcBef>
            </a:pPr>
            <a:r>
              <a:rPr lang="en-US" sz="5558" b="1">
                <a:solidFill>
                  <a:srgbClr val="329A87"/>
                </a:solidFill>
                <a:latin typeface="Telegraf Bold"/>
                <a:ea typeface="Telegraf Bold"/>
                <a:cs typeface="Telegraf Bold"/>
                <a:sym typeface="Telegraf Bold"/>
              </a:rPr>
              <a:t>Prévision avec le lissage exponentiel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614800" y="7367851"/>
            <a:ext cx="3243943" cy="1057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sz="3000" b="1" spc="150">
                <a:solidFill>
                  <a:srgbClr val="365B6D"/>
                </a:solidFill>
                <a:latin typeface="Aileron Bold"/>
                <a:ea typeface="Aileron Bold"/>
                <a:cs typeface="Aileron Bold"/>
                <a:sym typeface="Aileron Bold"/>
              </a:rPr>
              <a:t>Saisonnalité multiplicative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614800" y="5557421"/>
            <a:ext cx="3243943" cy="1057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sz="3000" b="1" spc="150">
                <a:solidFill>
                  <a:srgbClr val="365B6D"/>
                </a:solidFill>
                <a:latin typeface="Aileron Bold"/>
                <a:ea typeface="Aileron Bold"/>
                <a:cs typeface="Aileron Bold"/>
                <a:sym typeface="Aileron Bold"/>
              </a:rPr>
              <a:t>Tendance additive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814700" y="1952625"/>
            <a:ext cx="4844143" cy="3190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sz="3000" b="1" spc="150">
                <a:solidFill>
                  <a:srgbClr val="365B6D"/>
                </a:solidFill>
                <a:latin typeface="Aileron Bold"/>
                <a:ea typeface="Aileron Bold"/>
                <a:cs typeface="Aileron Bold"/>
                <a:sym typeface="Aileron Bold"/>
              </a:rPr>
              <a:t>Niveau </a:t>
            </a:r>
          </a:p>
          <a:p>
            <a:pPr algn="ctr">
              <a:lnSpc>
                <a:spcPts val="4200"/>
              </a:lnSpc>
            </a:pPr>
            <a:r>
              <a:rPr lang="en-US" sz="3000" b="1" spc="150">
                <a:solidFill>
                  <a:srgbClr val="365B6D"/>
                </a:solidFill>
                <a:latin typeface="Aileron Bold"/>
                <a:ea typeface="Aileron Bold"/>
                <a:cs typeface="Aileron Bold"/>
                <a:sym typeface="Aileron Bold"/>
              </a:rPr>
              <a:t>multiplicatif </a:t>
            </a:r>
          </a:p>
          <a:p>
            <a:pPr algn="ctr">
              <a:lnSpc>
                <a:spcPts val="4200"/>
              </a:lnSpc>
            </a:pPr>
            <a:r>
              <a:rPr lang="en-US" sz="3000" spc="150">
                <a:solidFill>
                  <a:srgbClr val="365B6D"/>
                </a:solidFill>
                <a:latin typeface="Aileron"/>
                <a:ea typeface="Aileron"/>
                <a:cs typeface="Aileron"/>
                <a:sym typeface="Aileron"/>
              </a:rPr>
              <a:t>(les variations saisonnières augmentent proportionnellement au niveau de la série)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9439096" y="2281501"/>
            <a:ext cx="4805685" cy="5502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68"/>
              </a:lnSpc>
            </a:pPr>
            <a:r>
              <a:rPr lang="en-US" sz="3192" b="1" spc="159">
                <a:solidFill>
                  <a:srgbClr val="13538A"/>
                </a:solidFill>
                <a:latin typeface="Aileron Bold"/>
                <a:ea typeface="Aileron Bold"/>
                <a:cs typeface="Aileron Bold"/>
                <a:sym typeface="Aileron Bold"/>
              </a:rPr>
              <a:t>Paramètres de lissage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7022604" y="3458406"/>
            <a:ext cx="9638669" cy="44714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493"/>
              </a:lnSpc>
            </a:pPr>
            <a:r>
              <a:rPr lang="en-US" sz="3209" b="1" spc="160">
                <a:solidFill>
                  <a:srgbClr val="191919"/>
                </a:solidFill>
                <a:latin typeface="Aileron Bold"/>
                <a:ea typeface="Aileron Bold"/>
                <a:cs typeface="Aileron Bold"/>
                <a:sym typeface="Aileron Bold"/>
              </a:rPr>
              <a:t>• α (niveau) = 0.2122 :</a:t>
            </a:r>
            <a:r>
              <a:rPr lang="en-US" sz="3209" spc="160">
                <a:solidFill>
                  <a:srgbClr val="191919"/>
                </a:solidFill>
                <a:latin typeface="Aileron"/>
                <a:ea typeface="Aileron"/>
                <a:cs typeface="Aileron"/>
                <a:sym typeface="Aileron"/>
              </a:rPr>
              <a:t> la mise à jour du niveau est modérée, reflétant une adaptation prudente aux nouvelles données. </a:t>
            </a:r>
          </a:p>
          <a:p>
            <a:pPr algn="just">
              <a:lnSpc>
                <a:spcPts val="4493"/>
              </a:lnSpc>
            </a:pPr>
            <a:r>
              <a:rPr lang="en-US" sz="3209" b="1" spc="160">
                <a:solidFill>
                  <a:srgbClr val="191919"/>
                </a:solidFill>
                <a:latin typeface="Aileron Bold"/>
                <a:ea typeface="Aileron Bold"/>
                <a:cs typeface="Aileron Bold"/>
                <a:sym typeface="Aileron Bold"/>
              </a:rPr>
              <a:t>• β (tendance) = 0.0238 :</a:t>
            </a:r>
            <a:r>
              <a:rPr lang="en-US" sz="3209" spc="160">
                <a:solidFill>
                  <a:srgbClr val="191919"/>
                </a:solidFill>
                <a:latin typeface="Aileron"/>
                <a:ea typeface="Aileron"/>
                <a:cs typeface="Aileron"/>
                <a:sym typeface="Aileron"/>
              </a:rPr>
              <a:t> faible, suggérant une tendance relativement stable. </a:t>
            </a:r>
          </a:p>
          <a:p>
            <a:pPr algn="just">
              <a:lnSpc>
                <a:spcPts val="4493"/>
              </a:lnSpc>
            </a:pPr>
            <a:r>
              <a:rPr lang="en-US" sz="3209" b="1" spc="160">
                <a:solidFill>
                  <a:srgbClr val="191919"/>
                </a:solidFill>
                <a:latin typeface="Aileron Bold"/>
                <a:ea typeface="Aileron Bold"/>
                <a:cs typeface="Aileron Bold"/>
                <a:sym typeface="Aileron Bold"/>
              </a:rPr>
              <a:t>• γ (saisonnalité) = 0.7629 :</a:t>
            </a:r>
            <a:r>
              <a:rPr lang="en-US" sz="3209" spc="160">
                <a:solidFill>
                  <a:srgbClr val="191919"/>
                </a:solidFill>
                <a:latin typeface="Aileron"/>
                <a:ea typeface="Aileron"/>
                <a:cs typeface="Aileron"/>
                <a:sym typeface="Aileron"/>
              </a:rPr>
              <a:t> élevé, ce qui indique une forte réactivité du modèle aux changements saisonniers.</a:t>
            </a:r>
          </a:p>
        </p:txBody>
      </p:sp>
    </p:spTree>
  </p:cSld>
  <p:clrMapOvr>
    <a:masterClrMapping/>
  </p:clrMapOvr>
  <p:transition spd="slow">
    <p:push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9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1213081"/>
            <a:ext cx="18288000" cy="7697553"/>
          </a:xfrm>
          <a:custGeom>
            <a:avLst/>
            <a:gdLst/>
            <a:ahLst/>
            <a:cxnLst/>
            <a:rect l="l" t="t" r="r" b="b"/>
            <a:pathLst>
              <a:path w="18288000" h="7697553">
                <a:moveTo>
                  <a:pt x="0" y="0"/>
                </a:moveTo>
                <a:lnTo>
                  <a:pt x="18288000" y="0"/>
                </a:lnTo>
                <a:lnTo>
                  <a:pt x="18288000" y="7697553"/>
                </a:lnTo>
                <a:lnTo>
                  <a:pt x="0" y="769755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019" r="-1019" b="-2121"/>
            </a:stretch>
          </a:blipFill>
        </p:spPr>
      </p:sp>
    </p:spTree>
  </p:cSld>
  <p:clrMapOvr>
    <a:masterClrMapping/>
  </p:clrMapOvr>
  <p:transition spd="slow">
    <p:push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1471508">
            <a:off x="7442248" y="-3517885"/>
            <a:ext cx="2160993" cy="11665743"/>
            <a:chOff x="0" y="0"/>
            <a:chExt cx="597206" cy="322391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597206" cy="3223913"/>
            </a:xfrm>
            <a:custGeom>
              <a:avLst/>
              <a:gdLst/>
              <a:ahLst/>
              <a:cxnLst/>
              <a:rect l="l" t="t" r="r" b="b"/>
              <a:pathLst>
                <a:path w="597206" h="3223913">
                  <a:moveTo>
                    <a:pt x="0" y="0"/>
                  </a:moveTo>
                  <a:lnTo>
                    <a:pt x="597206" y="0"/>
                  </a:lnTo>
                  <a:lnTo>
                    <a:pt x="597206" y="3223913"/>
                  </a:lnTo>
                  <a:lnTo>
                    <a:pt x="0" y="3223913"/>
                  </a:lnTo>
                  <a:close/>
                </a:path>
              </a:pathLst>
            </a:custGeom>
            <a:solidFill>
              <a:srgbClr val="D5DADA">
                <a:alpha val="23922"/>
              </a:srgbClr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597206" cy="3262013"/>
            </a:xfrm>
            <a:prstGeom prst="rect">
              <a:avLst/>
            </a:prstGeom>
          </p:spPr>
          <p:txBody>
            <a:bodyPr lIns="35873" tIns="35873" rIns="35873" bIns="35873" rtlCol="0" anchor="ctr"/>
            <a:lstStyle/>
            <a:p>
              <a:pPr algn="ctr">
                <a:lnSpc>
                  <a:spcPts val="1384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 rot="1471508">
            <a:off x="7842796" y="1744300"/>
            <a:ext cx="2160993" cy="11212989"/>
            <a:chOff x="0" y="0"/>
            <a:chExt cx="597206" cy="3098792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597206" cy="3098791"/>
            </a:xfrm>
            <a:custGeom>
              <a:avLst/>
              <a:gdLst/>
              <a:ahLst/>
              <a:cxnLst/>
              <a:rect l="l" t="t" r="r" b="b"/>
              <a:pathLst>
                <a:path w="597206" h="3098791">
                  <a:moveTo>
                    <a:pt x="0" y="0"/>
                  </a:moveTo>
                  <a:lnTo>
                    <a:pt x="597206" y="0"/>
                  </a:lnTo>
                  <a:lnTo>
                    <a:pt x="597206" y="3098791"/>
                  </a:lnTo>
                  <a:lnTo>
                    <a:pt x="0" y="3098791"/>
                  </a:lnTo>
                  <a:close/>
                </a:path>
              </a:pathLst>
            </a:custGeom>
            <a:solidFill>
              <a:srgbClr val="D5DADA">
                <a:alpha val="23922"/>
              </a:srgbClr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597206" cy="3136892"/>
            </a:xfrm>
            <a:prstGeom prst="rect">
              <a:avLst/>
            </a:prstGeom>
          </p:spPr>
          <p:txBody>
            <a:bodyPr lIns="35873" tIns="35873" rIns="35873" bIns="35873" rtlCol="0" anchor="ctr"/>
            <a:lstStyle/>
            <a:p>
              <a:pPr algn="ctr">
                <a:lnSpc>
                  <a:spcPts val="1384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1015140" y="5027944"/>
            <a:ext cx="10518155" cy="10518113"/>
            <a:chOff x="0" y="0"/>
            <a:chExt cx="6350000" cy="6349975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6350000" cy="6349975"/>
            </a:xfrm>
            <a:custGeom>
              <a:avLst/>
              <a:gdLst/>
              <a:ahLst/>
              <a:cxnLst/>
              <a:rect l="l" t="t" r="r" b="b"/>
              <a:pathLst>
                <a:path w="6350000" h="6349975">
                  <a:moveTo>
                    <a:pt x="6350000" y="3175025"/>
                  </a:moveTo>
                  <a:cubicBezTo>
                    <a:pt x="6350000" y="4928451"/>
                    <a:pt x="4928476" y="6349975"/>
                    <a:pt x="3175000" y="6349975"/>
                  </a:cubicBezTo>
                  <a:cubicBezTo>
                    <a:pt x="1421498" y="6349975"/>
                    <a:pt x="0" y="4928451"/>
                    <a:pt x="0" y="3175025"/>
                  </a:cubicBezTo>
                  <a:cubicBezTo>
                    <a:pt x="0" y="1421511"/>
                    <a:pt x="1421498" y="0"/>
                    <a:pt x="3175000" y="0"/>
                  </a:cubicBezTo>
                  <a:cubicBezTo>
                    <a:pt x="4928502" y="0"/>
                    <a:pt x="6350000" y="1421511"/>
                    <a:pt x="6350000" y="3175025"/>
                  </a:cubicBezTo>
                  <a:close/>
                </a:path>
              </a:pathLst>
            </a:custGeom>
            <a:blipFill>
              <a:blip r:embed="rId2"/>
              <a:stretch>
                <a:fillRect l="-25471" r="-25471"/>
              </a:stretch>
            </a:blipFill>
          </p:spPr>
        </p:sp>
      </p:grpSp>
      <p:grpSp>
        <p:nvGrpSpPr>
          <p:cNvPr id="10" name="Group 10"/>
          <p:cNvGrpSpPr/>
          <p:nvPr/>
        </p:nvGrpSpPr>
        <p:grpSpPr>
          <a:xfrm>
            <a:off x="11800842" y="5813625"/>
            <a:ext cx="8946750" cy="8946750"/>
            <a:chOff x="0" y="0"/>
            <a:chExt cx="812800" cy="8128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04775" cap="sq">
              <a:solidFill>
                <a:srgbClr val="FFFFFF"/>
              </a:solidFill>
              <a:prstDash val="solid"/>
              <a:miter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35873" tIns="35873" rIns="35873" bIns="35873" rtlCol="0" anchor="ctr"/>
            <a:lstStyle/>
            <a:p>
              <a:pPr algn="ctr">
                <a:lnSpc>
                  <a:spcPts val="1384"/>
                </a:lnSpc>
              </a:pPr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-4524129" y="-3792316"/>
            <a:ext cx="10518155" cy="10518113"/>
            <a:chOff x="0" y="0"/>
            <a:chExt cx="6350000" cy="6349975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6350000" cy="6349975"/>
            </a:xfrm>
            <a:custGeom>
              <a:avLst/>
              <a:gdLst/>
              <a:ahLst/>
              <a:cxnLst/>
              <a:rect l="l" t="t" r="r" b="b"/>
              <a:pathLst>
                <a:path w="6350000" h="6349975">
                  <a:moveTo>
                    <a:pt x="6350000" y="3175025"/>
                  </a:moveTo>
                  <a:cubicBezTo>
                    <a:pt x="6350000" y="4928451"/>
                    <a:pt x="4928476" y="6349975"/>
                    <a:pt x="3175000" y="6349975"/>
                  </a:cubicBezTo>
                  <a:cubicBezTo>
                    <a:pt x="1421498" y="6349975"/>
                    <a:pt x="0" y="4928451"/>
                    <a:pt x="0" y="3175025"/>
                  </a:cubicBezTo>
                  <a:cubicBezTo>
                    <a:pt x="0" y="1421511"/>
                    <a:pt x="1421498" y="0"/>
                    <a:pt x="3175000" y="0"/>
                  </a:cubicBezTo>
                  <a:cubicBezTo>
                    <a:pt x="4928502" y="0"/>
                    <a:pt x="6350000" y="1421511"/>
                    <a:pt x="6350000" y="3175025"/>
                  </a:cubicBezTo>
                  <a:close/>
                </a:path>
              </a:pathLst>
            </a:custGeom>
            <a:blipFill>
              <a:blip r:embed="rId3"/>
              <a:stretch>
                <a:fillRect l="-25471" r="-25471"/>
              </a:stretch>
            </a:blipFill>
          </p:spPr>
        </p:sp>
      </p:grpSp>
      <p:grpSp>
        <p:nvGrpSpPr>
          <p:cNvPr id="15" name="Group 15"/>
          <p:cNvGrpSpPr/>
          <p:nvPr/>
        </p:nvGrpSpPr>
        <p:grpSpPr>
          <a:xfrm>
            <a:off x="-3738427" y="-3006635"/>
            <a:ext cx="8946750" cy="8946750"/>
            <a:chOff x="0" y="0"/>
            <a:chExt cx="812800" cy="81280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04775" cap="sq">
              <a:solidFill>
                <a:srgbClr val="FFFFFF"/>
              </a:solidFill>
              <a:prstDash val="solid"/>
              <a:miter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35873" tIns="35873" rIns="35873" bIns="35873" rtlCol="0" anchor="ctr"/>
            <a:lstStyle/>
            <a:p>
              <a:pPr algn="ctr">
                <a:lnSpc>
                  <a:spcPts val="1384"/>
                </a:lnSpc>
              </a:pPr>
              <a:endParaRPr/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5030726" y="3296711"/>
            <a:ext cx="11243491" cy="2643405"/>
            <a:chOff x="0" y="0"/>
            <a:chExt cx="1719142" cy="404179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719142" cy="404179"/>
            </a:xfrm>
            <a:custGeom>
              <a:avLst/>
              <a:gdLst/>
              <a:ahLst/>
              <a:cxnLst/>
              <a:rect l="l" t="t" r="r" b="b"/>
              <a:pathLst>
                <a:path w="1719142" h="404179">
                  <a:moveTo>
                    <a:pt x="11706" y="0"/>
                  </a:moveTo>
                  <a:lnTo>
                    <a:pt x="1707436" y="0"/>
                  </a:lnTo>
                  <a:cubicBezTo>
                    <a:pt x="1713901" y="0"/>
                    <a:pt x="1719142" y="5241"/>
                    <a:pt x="1719142" y="11706"/>
                  </a:cubicBezTo>
                  <a:lnTo>
                    <a:pt x="1719142" y="392474"/>
                  </a:lnTo>
                  <a:cubicBezTo>
                    <a:pt x="1719142" y="395578"/>
                    <a:pt x="1717909" y="398556"/>
                    <a:pt x="1715713" y="400751"/>
                  </a:cubicBezTo>
                  <a:cubicBezTo>
                    <a:pt x="1713518" y="402946"/>
                    <a:pt x="1710541" y="404179"/>
                    <a:pt x="1707436" y="404179"/>
                  </a:cubicBezTo>
                  <a:lnTo>
                    <a:pt x="11706" y="404179"/>
                  </a:lnTo>
                  <a:cubicBezTo>
                    <a:pt x="8601" y="404179"/>
                    <a:pt x="5624" y="402946"/>
                    <a:pt x="3429" y="400751"/>
                  </a:cubicBezTo>
                  <a:cubicBezTo>
                    <a:pt x="1233" y="398556"/>
                    <a:pt x="0" y="395578"/>
                    <a:pt x="0" y="392474"/>
                  </a:cubicBezTo>
                  <a:lnTo>
                    <a:pt x="0" y="11706"/>
                  </a:lnTo>
                  <a:cubicBezTo>
                    <a:pt x="0" y="8601"/>
                    <a:pt x="1233" y="5624"/>
                    <a:pt x="3429" y="3429"/>
                  </a:cubicBezTo>
                  <a:cubicBezTo>
                    <a:pt x="5624" y="1233"/>
                    <a:pt x="8601" y="0"/>
                    <a:pt x="11706" y="0"/>
                  </a:cubicBezTo>
                  <a:close/>
                </a:path>
              </a:pathLst>
            </a:custGeom>
            <a:solidFill>
              <a:srgbClr val="FAFAFA"/>
            </a:solidFill>
            <a:ln w="28575" cap="sq">
              <a:solidFill>
                <a:srgbClr val="0097B2"/>
              </a:solidFill>
              <a:prstDash val="solid"/>
              <a:miter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0" y="-57150"/>
              <a:ext cx="1719142" cy="46132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  <a:r>
                <a:rPr lang="en-US" sz="1400">
                  <a:solidFill>
                    <a:srgbClr val="000000"/>
                  </a:solidFill>
                  <a:latin typeface="Telegraf"/>
                  <a:ea typeface="Telegraf"/>
                  <a:cs typeface="Telegraf"/>
                  <a:sym typeface="Telegraf"/>
                </a:rPr>
                <a:t>l</a:t>
              </a:r>
            </a:p>
          </p:txBody>
        </p:sp>
      </p:grpSp>
      <p:sp>
        <p:nvSpPr>
          <p:cNvPr id="21" name="TextBox 21"/>
          <p:cNvSpPr txBox="1"/>
          <p:nvPr/>
        </p:nvSpPr>
        <p:spPr>
          <a:xfrm>
            <a:off x="5809240" y="3544775"/>
            <a:ext cx="10464977" cy="19853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782"/>
              </a:lnSpc>
              <a:spcBef>
                <a:spcPct val="0"/>
              </a:spcBef>
            </a:pPr>
            <a:r>
              <a:rPr lang="en-US" sz="5558" b="1">
                <a:solidFill>
                  <a:srgbClr val="329A87"/>
                </a:solidFill>
                <a:latin typeface="Telegraf Bold"/>
                <a:ea typeface="Telegraf Bold"/>
                <a:cs typeface="Telegraf Bold"/>
                <a:sym typeface="Telegraf Bold"/>
              </a:rPr>
              <a:t>Analyse comparative des deux méthodes de prévisions</a:t>
            </a:r>
          </a:p>
        </p:txBody>
      </p:sp>
      <p:sp>
        <p:nvSpPr>
          <p:cNvPr id="22" name="Freeform 22"/>
          <p:cNvSpPr/>
          <p:nvPr/>
        </p:nvSpPr>
        <p:spPr>
          <a:xfrm>
            <a:off x="4067426" y="3633090"/>
            <a:ext cx="1926599" cy="1926599"/>
          </a:xfrm>
          <a:custGeom>
            <a:avLst/>
            <a:gdLst/>
            <a:ahLst/>
            <a:cxnLst/>
            <a:rect l="l" t="t" r="r" b="b"/>
            <a:pathLst>
              <a:path w="1926599" h="1926599">
                <a:moveTo>
                  <a:pt x="0" y="0"/>
                </a:moveTo>
                <a:lnTo>
                  <a:pt x="1926600" y="0"/>
                </a:lnTo>
                <a:lnTo>
                  <a:pt x="1926600" y="1926599"/>
                </a:lnTo>
                <a:lnTo>
                  <a:pt x="0" y="192659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46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grpSp>
        <p:nvGrpSpPr>
          <p:cNvPr id="23" name="Group 23"/>
          <p:cNvGrpSpPr/>
          <p:nvPr/>
        </p:nvGrpSpPr>
        <p:grpSpPr>
          <a:xfrm>
            <a:off x="4252211" y="3817875"/>
            <a:ext cx="1557029" cy="1557029"/>
            <a:chOff x="0" y="0"/>
            <a:chExt cx="812800" cy="812800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97B2"/>
            </a:solidFill>
            <a:ln cap="sq">
              <a:noFill/>
              <a:prstDash val="solid"/>
              <a:miter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  <a:endParaRPr/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4357484" y="3784937"/>
            <a:ext cx="1346483" cy="13943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785"/>
              </a:lnSpc>
              <a:spcBef>
                <a:spcPct val="0"/>
              </a:spcBef>
            </a:pPr>
            <a:r>
              <a:rPr lang="en-US" sz="7703" b="1">
                <a:solidFill>
                  <a:srgbClr val="FFFFFF"/>
                </a:solidFill>
                <a:latin typeface="Telegraf Bold"/>
                <a:ea typeface="Telegraf Bold"/>
                <a:cs typeface="Telegraf Bold"/>
                <a:sym typeface="Telegraf Bold"/>
              </a:rPr>
              <a:t>9</a:t>
            </a:r>
          </a:p>
        </p:txBody>
      </p:sp>
    </p:spTree>
  </p:cSld>
  <p:clrMapOvr>
    <a:masterClrMapping/>
  </p:clrMapOvr>
  <p:transition spd="slow">
    <p:cover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2956123" y="591911"/>
            <a:ext cx="12375754" cy="16107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242"/>
              </a:lnSpc>
              <a:spcBef>
                <a:spcPct val="0"/>
              </a:spcBef>
            </a:pPr>
            <a:r>
              <a:rPr lang="en-US" sz="4458" b="1">
                <a:solidFill>
                  <a:srgbClr val="329A87"/>
                </a:solidFill>
                <a:latin typeface="Telegraf Bold"/>
                <a:ea typeface="Telegraf Bold"/>
                <a:cs typeface="Telegraf Bold"/>
                <a:sym typeface="Telegraf Bold"/>
              </a:rPr>
              <a:t>Comparaison des prévisions basée sur les critères RMSE et MAE.</a:t>
            </a:r>
          </a:p>
        </p:txBody>
      </p:sp>
      <p:grpSp>
        <p:nvGrpSpPr>
          <p:cNvPr id="3" name="Group 3"/>
          <p:cNvGrpSpPr/>
          <p:nvPr/>
        </p:nvGrpSpPr>
        <p:grpSpPr>
          <a:xfrm>
            <a:off x="2516511" y="7505912"/>
            <a:ext cx="13254978" cy="2393317"/>
            <a:chOff x="0" y="0"/>
            <a:chExt cx="17673304" cy="3191089"/>
          </a:xfrm>
        </p:grpSpPr>
        <p:sp>
          <p:nvSpPr>
            <p:cNvPr id="4" name="TextBox 4"/>
            <p:cNvSpPr txBox="1"/>
            <p:nvPr/>
          </p:nvSpPr>
          <p:spPr>
            <a:xfrm>
              <a:off x="0" y="-33774"/>
              <a:ext cx="17673304" cy="84624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232"/>
                </a:lnSpc>
              </a:pPr>
              <a:r>
                <a:rPr lang="en-US" sz="4024" b="1">
                  <a:solidFill>
                    <a:srgbClr val="024854"/>
                  </a:solidFill>
                  <a:latin typeface="Barlow Semi-Bold"/>
                  <a:ea typeface="Barlow Semi-Bold"/>
                  <a:cs typeface="Barlow Semi-Bold"/>
                  <a:sym typeface="Barlow Semi-Bold"/>
                </a:rPr>
                <a:t>Conclusion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1173150"/>
              <a:ext cx="17673304" cy="182986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599"/>
                </a:lnSpc>
              </a:pPr>
              <a:r>
                <a:rPr lang="en-US" sz="3999" spc="15">
                  <a:solidFill>
                    <a:srgbClr val="E41D25"/>
                  </a:solidFill>
                  <a:latin typeface="Barlow"/>
                  <a:ea typeface="Barlow"/>
                  <a:cs typeface="Barlow"/>
                  <a:sym typeface="Barlow"/>
                </a:rPr>
                <a:t>Le lissage exponentiel est plus performant, avec des RMSE et MAE plus faibles</a:t>
              </a:r>
            </a:p>
          </p:txBody>
        </p:sp>
      </p:grpSp>
      <p:graphicFrame>
        <p:nvGraphicFramePr>
          <p:cNvPr id="6" name="Object 6"/>
          <p:cNvGraphicFramePr/>
          <p:nvPr/>
        </p:nvGraphicFramePr>
        <p:xfrm>
          <a:off x="3471724" y="2977010"/>
          <a:ext cx="9196898" cy="256475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074" name="Worksheet" r:id="rId3" imgW="11036300" imgH="4394200" progId="Excel.Sheet.12">
                  <p:embed/>
                </p:oleObj>
              </mc:Choice>
              <mc:Fallback>
                <p:oleObj name="Worksheet" r:id="rId3" imgW="11036300" imgH="4394200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3471724" y="2977010"/>
                        <a:ext cx="9196898" cy="256475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ransition spd="slow">
    <p:push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1471508">
            <a:off x="7442248" y="-3517885"/>
            <a:ext cx="2160993" cy="11665743"/>
            <a:chOff x="0" y="0"/>
            <a:chExt cx="597206" cy="322391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597206" cy="3223913"/>
            </a:xfrm>
            <a:custGeom>
              <a:avLst/>
              <a:gdLst/>
              <a:ahLst/>
              <a:cxnLst/>
              <a:rect l="l" t="t" r="r" b="b"/>
              <a:pathLst>
                <a:path w="597206" h="3223913">
                  <a:moveTo>
                    <a:pt x="0" y="0"/>
                  </a:moveTo>
                  <a:lnTo>
                    <a:pt x="597206" y="0"/>
                  </a:lnTo>
                  <a:lnTo>
                    <a:pt x="597206" y="3223913"/>
                  </a:lnTo>
                  <a:lnTo>
                    <a:pt x="0" y="3223913"/>
                  </a:lnTo>
                  <a:close/>
                </a:path>
              </a:pathLst>
            </a:custGeom>
            <a:solidFill>
              <a:srgbClr val="D5DADA">
                <a:alpha val="23922"/>
              </a:srgbClr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597206" cy="3262013"/>
            </a:xfrm>
            <a:prstGeom prst="rect">
              <a:avLst/>
            </a:prstGeom>
          </p:spPr>
          <p:txBody>
            <a:bodyPr lIns="35873" tIns="35873" rIns="35873" bIns="35873" rtlCol="0" anchor="ctr"/>
            <a:lstStyle/>
            <a:p>
              <a:pPr algn="ctr">
                <a:lnSpc>
                  <a:spcPts val="1384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 rot="1471508">
            <a:off x="7842796" y="1744300"/>
            <a:ext cx="2160993" cy="11212989"/>
            <a:chOff x="0" y="0"/>
            <a:chExt cx="597206" cy="3098792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597206" cy="3098791"/>
            </a:xfrm>
            <a:custGeom>
              <a:avLst/>
              <a:gdLst/>
              <a:ahLst/>
              <a:cxnLst/>
              <a:rect l="l" t="t" r="r" b="b"/>
              <a:pathLst>
                <a:path w="597206" h="3098791">
                  <a:moveTo>
                    <a:pt x="0" y="0"/>
                  </a:moveTo>
                  <a:lnTo>
                    <a:pt x="597206" y="0"/>
                  </a:lnTo>
                  <a:lnTo>
                    <a:pt x="597206" y="3098791"/>
                  </a:lnTo>
                  <a:lnTo>
                    <a:pt x="0" y="3098791"/>
                  </a:lnTo>
                  <a:close/>
                </a:path>
              </a:pathLst>
            </a:custGeom>
            <a:solidFill>
              <a:srgbClr val="D5DADA">
                <a:alpha val="23922"/>
              </a:srgbClr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597206" cy="3136892"/>
            </a:xfrm>
            <a:prstGeom prst="rect">
              <a:avLst/>
            </a:prstGeom>
          </p:spPr>
          <p:txBody>
            <a:bodyPr lIns="35873" tIns="35873" rIns="35873" bIns="35873" rtlCol="0" anchor="ctr"/>
            <a:lstStyle/>
            <a:p>
              <a:pPr algn="ctr">
                <a:lnSpc>
                  <a:spcPts val="1384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1015140" y="5027944"/>
            <a:ext cx="10518155" cy="10518113"/>
            <a:chOff x="0" y="0"/>
            <a:chExt cx="6350000" cy="6349975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6350000" cy="6349975"/>
            </a:xfrm>
            <a:custGeom>
              <a:avLst/>
              <a:gdLst/>
              <a:ahLst/>
              <a:cxnLst/>
              <a:rect l="l" t="t" r="r" b="b"/>
              <a:pathLst>
                <a:path w="6350000" h="6349975">
                  <a:moveTo>
                    <a:pt x="6350000" y="3175025"/>
                  </a:moveTo>
                  <a:cubicBezTo>
                    <a:pt x="6350000" y="4928451"/>
                    <a:pt x="4928476" y="6349975"/>
                    <a:pt x="3175000" y="6349975"/>
                  </a:cubicBezTo>
                  <a:cubicBezTo>
                    <a:pt x="1421498" y="6349975"/>
                    <a:pt x="0" y="4928451"/>
                    <a:pt x="0" y="3175025"/>
                  </a:cubicBezTo>
                  <a:cubicBezTo>
                    <a:pt x="0" y="1421511"/>
                    <a:pt x="1421498" y="0"/>
                    <a:pt x="3175000" y="0"/>
                  </a:cubicBezTo>
                  <a:cubicBezTo>
                    <a:pt x="4928502" y="0"/>
                    <a:pt x="6350000" y="1421511"/>
                    <a:pt x="6350000" y="3175025"/>
                  </a:cubicBezTo>
                  <a:close/>
                </a:path>
              </a:pathLst>
            </a:custGeom>
            <a:blipFill>
              <a:blip r:embed="rId2"/>
              <a:stretch>
                <a:fillRect l="-25471" r="-25471"/>
              </a:stretch>
            </a:blipFill>
          </p:spPr>
        </p:sp>
      </p:grpSp>
      <p:grpSp>
        <p:nvGrpSpPr>
          <p:cNvPr id="10" name="Group 10"/>
          <p:cNvGrpSpPr/>
          <p:nvPr/>
        </p:nvGrpSpPr>
        <p:grpSpPr>
          <a:xfrm>
            <a:off x="11800842" y="5813625"/>
            <a:ext cx="8946750" cy="8946750"/>
            <a:chOff x="0" y="0"/>
            <a:chExt cx="812800" cy="8128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04775" cap="sq">
              <a:solidFill>
                <a:srgbClr val="FFFFFF"/>
              </a:solidFill>
              <a:prstDash val="solid"/>
              <a:miter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35873" tIns="35873" rIns="35873" bIns="35873" rtlCol="0" anchor="ctr"/>
            <a:lstStyle/>
            <a:p>
              <a:pPr algn="ctr">
                <a:lnSpc>
                  <a:spcPts val="1384"/>
                </a:lnSpc>
              </a:pPr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-4524129" y="-3792316"/>
            <a:ext cx="10518155" cy="10518113"/>
            <a:chOff x="0" y="0"/>
            <a:chExt cx="14024206" cy="14024150"/>
          </a:xfrm>
        </p:grpSpPr>
        <p:grpSp>
          <p:nvGrpSpPr>
            <p:cNvPr id="14" name="Group 14"/>
            <p:cNvGrpSpPr/>
            <p:nvPr/>
          </p:nvGrpSpPr>
          <p:grpSpPr>
            <a:xfrm>
              <a:off x="0" y="0"/>
              <a:ext cx="14024206" cy="14024150"/>
              <a:chOff x="0" y="0"/>
              <a:chExt cx="6350000" cy="6349975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0" y="0"/>
                <a:ext cx="6350000" cy="6349975"/>
              </a:xfrm>
              <a:custGeom>
                <a:avLst/>
                <a:gdLst/>
                <a:ahLst/>
                <a:cxnLst/>
                <a:rect l="l" t="t" r="r" b="b"/>
                <a:pathLst>
                  <a:path w="6350000" h="6349975">
                    <a:moveTo>
                      <a:pt x="6350000" y="3175025"/>
                    </a:moveTo>
                    <a:cubicBezTo>
                      <a:pt x="6350000" y="4928451"/>
                      <a:pt x="4928476" y="6349975"/>
                      <a:pt x="3175000" y="6349975"/>
                    </a:cubicBezTo>
                    <a:cubicBezTo>
                      <a:pt x="1421498" y="6349975"/>
                      <a:pt x="0" y="4928451"/>
                      <a:pt x="0" y="3175025"/>
                    </a:cubicBezTo>
                    <a:cubicBezTo>
                      <a:pt x="0" y="1421511"/>
                      <a:pt x="1421498" y="0"/>
                      <a:pt x="3175000" y="0"/>
                    </a:cubicBezTo>
                    <a:cubicBezTo>
                      <a:pt x="4928502" y="0"/>
                      <a:pt x="6350000" y="1421511"/>
                      <a:pt x="6350000" y="3175025"/>
                    </a:cubicBezTo>
                    <a:close/>
                  </a:path>
                </a:pathLst>
              </a:custGeom>
              <a:blipFill>
                <a:blip r:embed="rId3"/>
                <a:stretch>
                  <a:fillRect l="-50942"/>
                </a:stretch>
              </a:blipFill>
            </p:spPr>
          </p:sp>
        </p:grpSp>
        <p:grpSp>
          <p:nvGrpSpPr>
            <p:cNvPr id="16" name="Group 16"/>
            <p:cNvGrpSpPr/>
            <p:nvPr/>
          </p:nvGrpSpPr>
          <p:grpSpPr>
            <a:xfrm>
              <a:off x="1047603" y="1047575"/>
              <a:ext cx="11929000" cy="11929000"/>
              <a:chOff x="0" y="0"/>
              <a:chExt cx="812800" cy="812800"/>
            </a:xfrm>
          </p:grpSpPr>
          <p:sp>
            <p:nvSpPr>
              <p:cNvPr id="17" name="Freeform 17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104775" cap="sq">
                <a:solidFill>
                  <a:srgbClr val="8DE8E8"/>
                </a:solidFill>
                <a:prstDash val="solid"/>
                <a:miter/>
              </a:ln>
            </p:spPr>
          </p:sp>
          <p:sp>
            <p:nvSpPr>
              <p:cNvPr id="18" name="TextBox 18"/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35873" tIns="35873" rIns="35873" bIns="35873" rtlCol="0" anchor="ctr"/>
              <a:lstStyle/>
              <a:p>
                <a:pPr algn="ctr">
                  <a:lnSpc>
                    <a:spcPts val="1384"/>
                  </a:lnSpc>
                </a:pPr>
                <a:endParaRPr/>
              </a:p>
            </p:txBody>
          </p:sp>
        </p:grpSp>
      </p:grpSp>
      <p:grpSp>
        <p:nvGrpSpPr>
          <p:cNvPr id="19" name="Group 19"/>
          <p:cNvGrpSpPr/>
          <p:nvPr/>
        </p:nvGrpSpPr>
        <p:grpSpPr>
          <a:xfrm>
            <a:off x="4872773" y="3729254"/>
            <a:ext cx="8278119" cy="1734271"/>
            <a:chOff x="0" y="0"/>
            <a:chExt cx="1265733" cy="265172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1265733" cy="265172"/>
            </a:xfrm>
            <a:custGeom>
              <a:avLst/>
              <a:gdLst/>
              <a:ahLst/>
              <a:cxnLst/>
              <a:rect l="l" t="t" r="r" b="b"/>
              <a:pathLst>
                <a:path w="1265733" h="265172">
                  <a:moveTo>
                    <a:pt x="15899" y="0"/>
                  </a:moveTo>
                  <a:lnTo>
                    <a:pt x="1249834" y="0"/>
                  </a:lnTo>
                  <a:cubicBezTo>
                    <a:pt x="1254051" y="0"/>
                    <a:pt x="1258095" y="1675"/>
                    <a:pt x="1261077" y="4657"/>
                  </a:cubicBezTo>
                  <a:cubicBezTo>
                    <a:pt x="1264058" y="7638"/>
                    <a:pt x="1265733" y="11682"/>
                    <a:pt x="1265733" y="15899"/>
                  </a:cubicBezTo>
                  <a:lnTo>
                    <a:pt x="1265733" y="249273"/>
                  </a:lnTo>
                  <a:cubicBezTo>
                    <a:pt x="1265733" y="253490"/>
                    <a:pt x="1264058" y="257534"/>
                    <a:pt x="1261077" y="260515"/>
                  </a:cubicBezTo>
                  <a:cubicBezTo>
                    <a:pt x="1258095" y="263497"/>
                    <a:pt x="1254051" y="265172"/>
                    <a:pt x="1249834" y="265172"/>
                  </a:cubicBezTo>
                  <a:lnTo>
                    <a:pt x="15899" y="265172"/>
                  </a:lnTo>
                  <a:cubicBezTo>
                    <a:pt x="11682" y="265172"/>
                    <a:pt x="7638" y="263497"/>
                    <a:pt x="4657" y="260515"/>
                  </a:cubicBezTo>
                  <a:cubicBezTo>
                    <a:pt x="1675" y="257534"/>
                    <a:pt x="0" y="253490"/>
                    <a:pt x="0" y="249273"/>
                  </a:cubicBezTo>
                  <a:lnTo>
                    <a:pt x="0" y="15899"/>
                  </a:lnTo>
                  <a:cubicBezTo>
                    <a:pt x="0" y="11682"/>
                    <a:pt x="1675" y="7638"/>
                    <a:pt x="4657" y="4657"/>
                  </a:cubicBezTo>
                  <a:cubicBezTo>
                    <a:pt x="7638" y="1675"/>
                    <a:pt x="11682" y="0"/>
                    <a:pt x="15899" y="0"/>
                  </a:cubicBezTo>
                  <a:close/>
                </a:path>
              </a:pathLst>
            </a:custGeom>
            <a:solidFill>
              <a:srgbClr val="FAFAFA"/>
            </a:solidFill>
            <a:ln w="28575" cap="sq">
              <a:solidFill>
                <a:srgbClr val="0097B2"/>
              </a:solidFill>
              <a:prstDash val="solid"/>
              <a:miter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0" y="-57150"/>
              <a:ext cx="1265733" cy="32232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  <a:endParaRPr/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5994026" y="3760202"/>
            <a:ext cx="8162131" cy="10030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782"/>
              </a:lnSpc>
              <a:spcBef>
                <a:spcPct val="0"/>
              </a:spcBef>
            </a:pPr>
            <a:r>
              <a:rPr lang="en-US" sz="5558" b="1">
                <a:solidFill>
                  <a:srgbClr val="329A87"/>
                </a:solidFill>
                <a:latin typeface="Telegraf Bold"/>
                <a:ea typeface="Telegraf Bold"/>
                <a:cs typeface="Telegraf Bold"/>
                <a:sym typeface="Telegraf Bold"/>
              </a:rPr>
              <a:t>Conclusion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5994026" y="4489057"/>
            <a:ext cx="8162131" cy="782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056"/>
              </a:lnSpc>
              <a:spcBef>
                <a:spcPct val="0"/>
              </a:spcBef>
            </a:pPr>
            <a:r>
              <a:rPr lang="en-US" sz="4326">
                <a:solidFill>
                  <a:srgbClr val="000000"/>
                </a:solidFill>
                <a:latin typeface="Telegraf"/>
                <a:ea typeface="Telegraf"/>
                <a:cs typeface="Telegraf"/>
                <a:sym typeface="Telegraf"/>
              </a:rPr>
              <a:t>Synthèse des résultats</a:t>
            </a:r>
          </a:p>
        </p:txBody>
      </p:sp>
      <p:sp>
        <p:nvSpPr>
          <p:cNvPr id="24" name="Freeform 24"/>
          <p:cNvSpPr/>
          <p:nvPr/>
        </p:nvSpPr>
        <p:spPr>
          <a:xfrm>
            <a:off x="4067426" y="3633090"/>
            <a:ext cx="1926599" cy="1926599"/>
          </a:xfrm>
          <a:custGeom>
            <a:avLst/>
            <a:gdLst/>
            <a:ahLst/>
            <a:cxnLst/>
            <a:rect l="l" t="t" r="r" b="b"/>
            <a:pathLst>
              <a:path w="1926599" h="1926599">
                <a:moveTo>
                  <a:pt x="0" y="0"/>
                </a:moveTo>
                <a:lnTo>
                  <a:pt x="1926600" y="0"/>
                </a:lnTo>
                <a:lnTo>
                  <a:pt x="1926600" y="1926599"/>
                </a:lnTo>
                <a:lnTo>
                  <a:pt x="0" y="192659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46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grpSp>
        <p:nvGrpSpPr>
          <p:cNvPr id="25" name="Group 25"/>
          <p:cNvGrpSpPr/>
          <p:nvPr/>
        </p:nvGrpSpPr>
        <p:grpSpPr>
          <a:xfrm>
            <a:off x="4252211" y="3817875"/>
            <a:ext cx="1557029" cy="1557029"/>
            <a:chOff x="0" y="0"/>
            <a:chExt cx="812800" cy="812800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97B2"/>
            </a:solidFill>
            <a:ln cap="sq">
              <a:noFill/>
              <a:prstDash val="solid"/>
              <a:miter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  <a:endParaRPr/>
            </a:p>
          </p:txBody>
        </p:sp>
      </p:grpSp>
      <p:sp>
        <p:nvSpPr>
          <p:cNvPr id="28" name="TextBox 28"/>
          <p:cNvSpPr txBox="1"/>
          <p:nvPr/>
        </p:nvSpPr>
        <p:spPr>
          <a:xfrm>
            <a:off x="4357484" y="3784937"/>
            <a:ext cx="1346483" cy="13943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785"/>
              </a:lnSpc>
              <a:spcBef>
                <a:spcPct val="0"/>
              </a:spcBef>
            </a:pPr>
            <a:r>
              <a:rPr lang="en-US" sz="7703" b="1">
                <a:solidFill>
                  <a:srgbClr val="FFFFFF"/>
                </a:solidFill>
                <a:latin typeface="Telegraf Bold"/>
                <a:ea typeface="Telegraf Bold"/>
                <a:cs typeface="Telegraf Bold"/>
                <a:sym typeface="Telegraf Bold"/>
              </a:rPr>
              <a:t>10</a:t>
            </a:r>
          </a:p>
        </p:txBody>
      </p:sp>
    </p:spTree>
  </p:cSld>
  <p:clrMapOvr>
    <a:masterClrMapping/>
  </p:clrMapOvr>
  <p:transition spd="slow">
    <p:cover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1471508">
            <a:off x="7442248" y="-3517885"/>
            <a:ext cx="2160993" cy="11665743"/>
            <a:chOff x="0" y="0"/>
            <a:chExt cx="597206" cy="322391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597206" cy="3223913"/>
            </a:xfrm>
            <a:custGeom>
              <a:avLst/>
              <a:gdLst/>
              <a:ahLst/>
              <a:cxnLst/>
              <a:rect l="l" t="t" r="r" b="b"/>
              <a:pathLst>
                <a:path w="597206" h="3223913">
                  <a:moveTo>
                    <a:pt x="0" y="0"/>
                  </a:moveTo>
                  <a:lnTo>
                    <a:pt x="597206" y="0"/>
                  </a:lnTo>
                  <a:lnTo>
                    <a:pt x="597206" y="3223913"/>
                  </a:lnTo>
                  <a:lnTo>
                    <a:pt x="0" y="3223913"/>
                  </a:lnTo>
                  <a:close/>
                </a:path>
              </a:pathLst>
            </a:custGeom>
            <a:solidFill>
              <a:srgbClr val="F0F9FD">
                <a:alpha val="23922"/>
              </a:srgbClr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597206" cy="3262013"/>
            </a:xfrm>
            <a:prstGeom prst="rect">
              <a:avLst/>
            </a:prstGeom>
          </p:spPr>
          <p:txBody>
            <a:bodyPr lIns="35873" tIns="35873" rIns="35873" bIns="35873" rtlCol="0" anchor="ctr"/>
            <a:lstStyle/>
            <a:p>
              <a:pPr algn="ctr">
                <a:lnSpc>
                  <a:spcPts val="1384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 rot="1471508">
            <a:off x="7842796" y="1744300"/>
            <a:ext cx="2160993" cy="11212989"/>
            <a:chOff x="0" y="0"/>
            <a:chExt cx="597206" cy="3098792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597206" cy="3098791"/>
            </a:xfrm>
            <a:custGeom>
              <a:avLst/>
              <a:gdLst/>
              <a:ahLst/>
              <a:cxnLst/>
              <a:rect l="l" t="t" r="r" b="b"/>
              <a:pathLst>
                <a:path w="597206" h="3098791">
                  <a:moveTo>
                    <a:pt x="0" y="0"/>
                  </a:moveTo>
                  <a:lnTo>
                    <a:pt x="597206" y="0"/>
                  </a:lnTo>
                  <a:lnTo>
                    <a:pt x="597206" y="3098791"/>
                  </a:lnTo>
                  <a:lnTo>
                    <a:pt x="0" y="3098791"/>
                  </a:lnTo>
                  <a:close/>
                </a:path>
              </a:pathLst>
            </a:custGeom>
            <a:solidFill>
              <a:srgbClr val="E2F8F8">
                <a:alpha val="23922"/>
              </a:srgbClr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597206" cy="3136892"/>
            </a:xfrm>
            <a:prstGeom prst="rect">
              <a:avLst/>
            </a:prstGeom>
          </p:spPr>
          <p:txBody>
            <a:bodyPr lIns="35873" tIns="35873" rIns="35873" bIns="35873" rtlCol="0" anchor="ctr"/>
            <a:lstStyle/>
            <a:p>
              <a:pPr algn="ctr">
                <a:lnSpc>
                  <a:spcPts val="1384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028700" y="885825"/>
            <a:ext cx="7573238" cy="8565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594"/>
              </a:lnSpc>
              <a:spcBef>
                <a:spcPct val="0"/>
              </a:spcBef>
            </a:pPr>
            <a:r>
              <a:rPr lang="en-US" sz="4710" b="1">
                <a:solidFill>
                  <a:srgbClr val="000000"/>
                </a:solidFill>
                <a:latin typeface="Telegraf Bold"/>
                <a:ea typeface="Telegraf Bold"/>
                <a:cs typeface="Telegraf Bold"/>
                <a:sym typeface="Telegraf Bold"/>
              </a:rPr>
              <a:t>Conclusion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028700" y="1617101"/>
            <a:ext cx="7573238" cy="6492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030"/>
              </a:lnSpc>
              <a:spcBef>
                <a:spcPct val="0"/>
              </a:spcBef>
            </a:pPr>
            <a:r>
              <a:rPr lang="en-US" sz="3593">
                <a:solidFill>
                  <a:srgbClr val="000000"/>
                </a:solidFill>
                <a:latin typeface="Telegraf"/>
                <a:ea typeface="Telegraf"/>
                <a:cs typeface="Telegraf"/>
                <a:sym typeface="Telegraf"/>
              </a:rPr>
              <a:t>Synthèse des résultats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92856" y="2514738"/>
            <a:ext cx="16266444" cy="12459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824"/>
              </a:lnSpc>
              <a:spcBef>
                <a:spcPct val="0"/>
              </a:spcBef>
            </a:pPr>
            <a:r>
              <a:rPr lang="en-US" sz="3446" b="1">
                <a:solidFill>
                  <a:srgbClr val="024854"/>
                </a:solidFill>
                <a:latin typeface="Telegraf Bold"/>
                <a:ea typeface="Telegraf Bold"/>
                <a:cs typeface="Telegraf Bold"/>
                <a:sym typeface="Telegraf Bold"/>
              </a:rPr>
              <a:t>PIB trimestriel sénégalais (2008–2024) : tendance à la hausse et  saisonnalité marquée à partir de 2014.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028700" y="6064981"/>
            <a:ext cx="16266444" cy="12459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824"/>
              </a:lnSpc>
              <a:spcBef>
                <a:spcPct val="0"/>
              </a:spcBef>
            </a:pPr>
            <a:r>
              <a:rPr lang="en-US" sz="3446" b="1">
                <a:solidFill>
                  <a:srgbClr val="024854"/>
                </a:solidFill>
                <a:latin typeface="Telegraf Bold"/>
                <a:ea typeface="Telegraf Bold"/>
                <a:cs typeface="Telegraf Bold"/>
                <a:sym typeface="Telegraf Bold"/>
              </a:rPr>
              <a:t>Préférable pour les décideurs économiques dans l’élaboration de politiques publiques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028700" y="4289860"/>
            <a:ext cx="16266444" cy="12459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824"/>
              </a:lnSpc>
              <a:spcBef>
                <a:spcPct val="0"/>
              </a:spcBef>
            </a:pPr>
            <a:r>
              <a:rPr lang="en-US" sz="3446" b="1">
                <a:solidFill>
                  <a:srgbClr val="024854"/>
                </a:solidFill>
                <a:latin typeface="Telegraf Bold"/>
                <a:ea typeface="Telegraf Bold"/>
                <a:cs typeface="Telegraf Bold"/>
                <a:sym typeface="Telegraf Bold"/>
              </a:rPr>
              <a:t>La méthode de lissage exponentiel améliore la précision des prévisions par rapport à la méthode des MCO, avec RMSE et MAE plus faibles</a:t>
            </a:r>
          </a:p>
        </p:txBody>
      </p:sp>
    </p:spTree>
  </p:cSld>
  <p:clrMapOvr>
    <a:masterClrMapping/>
  </p:clrMapOvr>
  <p:transition spd="slow">
    <p:push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1471508">
            <a:off x="7442248" y="-3517885"/>
            <a:ext cx="2160993" cy="11665743"/>
            <a:chOff x="0" y="0"/>
            <a:chExt cx="597206" cy="322391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597206" cy="3223913"/>
            </a:xfrm>
            <a:custGeom>
              <a:avLst/>
              <a:gdLst/>
              <a:ahLst/>
              <a:cxnLst/>
              <a:rect l="l" t="t" r="r" b="b"/>
              <a:pathLst>
                <a:path w="597206" h="3223913">
                  <a:moveTo>
                    <a:pt x="0" y="0"/>
                  </a:moveTo>
                  <a:lnTo>
                    <a:pt x="597206" y="0"/>
                  </a:lnTo>
                  <a:lnTo>
                    <a:pt x="597206" y="3223913"/>
                  </a:lnTo>
                  <a:lnTo>
                    <a:pt x="0" y="3223913"/>
                  </a:lnTo>
                  <a:close/>
                </a:path>
              </a:pathLst>
            </a:custGeom>
            <a:solidFill>
              <a:srgbClr val="8DE8E8">
                <a:alpha val="23922"/>
              </a:srgbClr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597206" cy="3262013"/>
            </a:xfrm>
            <a:prstGeom prst="rect">
              <a:avLst/>
            </a:prstGeom>
          </p:spPr>
          <p:txBody>
            <a:bodyPr lIns="35873" tIns="35873" rIns="35873" bIns="35873" rtlCol="0" anchor="ctr"/>
            <a:lstStyle/>
            <a:p>
              <a:pPr algn="ctr">
                <a:lnSpc>
                  <a:spcPts val="1384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 rot="1471508">
            <a:off x="7842796" y="1744300"/>
            <a:ext cx="2160993" cy="11212989"/>
            <a:chOff x="0" y="0"/>
            <a:chExt cx="597206" cy="3098792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597206" cy="3098791"/>
            </a:xfrm>
            <a:custGeom>
              <a:avLst/>
              <a:gdLst/>
              <a:ahLst/>
              <a:cxnLst/>
              <a:rect l="l" t="t" r="r" b="b"/>
              <a:pathLst>
                <a:path w="597206" h="3098791">
                  <a:moveTo>
                    <a:pt x="0" y="0"/>
                  </a:moveTo>
                  <a:lnTo>
                    <a:pt x="597206" y="0"/>
                  </a:lnTo>
                  <a:lnTo>
                    <a:pt x="597206" y="3098791"/>
                  </a:lnTo>
                  <a:lnTo>
                    <a:pt x="0" y="3098791"/>
                  </a:lnTo>
                  <a:close/>
                </a:path>
              </a:pathLst>
            </a:custGeom>
            <a:solidFill>
              <a:srgbClr val="8DE8E8">
                <a:alpha val="23922"/>
              </a:srgbClr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597206" cy="3136892"/>
            </a:xfrm>
            <a:prstGeom prst="rect">
              <a:avLst/>
            </a:prstGeom>
          </p:spPr>
          <p:txBody>
            <a:bodyPr lIns="35873" tIns="35873" rIns="35873" bIns="35873" rtlCol="0" anchor="ctr"/>
            <a:lstStyle/>
            <a:p>
              <a:pPr algn="ctr">
                <a:lnSpc>
                  <a:spcPts val="1384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4278863" y="4261289"/>
            <a:ext cx="9288859" cy="16645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034"/>
              </a:lnSpc>
            </a:pPr>
            <a:r>
              <a:rPr lang="en-US" sz="6780" b="1">
                <a:solidFill>
                  <a:srgbClr val="000000"/>
                </a:solidFill>
                <a:latin typeface="Telegraf Bold"/>
                <a:ea typeface="Telegraf Bold"/>
                <a:cs typeface="Telegraf Bold"/>
                <a:sym typeface="Telegraf Bold"/>
              </a:rPr>
              <a:t>Merci de votre attention</a:t>
            </a:r>
          </a:p>
        </p:txBody>
      </p:sp>
      <p:sp>
        <p:nvSpPr>
          <p:cNvPr id="9" name="AutoShape 9"/>
          <p:cNvSpPr/>
          <p:nvPr/>
        </p:nvSpPr>
        <p:spPr>
          <a:xfrm>
            <a:off x="7065521" y="6120961"/>
            <a:ext cx="3715544" cy="0"/>
          </a:xfrm>
          <a:prstGeom prst="line">
            <a:avLst/>
          </a:prstGeom>
          <a:ln w="57150" cap="flat">
            <a:solidFill>
              <a:srgbClr val="0097B2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10" name="Group 10"/>
          <p:cNvGrpSpPr/>
          <p:nvPr/>
        </p:nvGrpSpPr>
        <p:grpSpPr>
          <a:xfrm>
            <a:off x="5613065" y="1291225"/>
            <a:ext cx="5905963" cy="1392427"/>
            <a:chOff x="0" y="0"/>
            <a:chExt cx="7874617" cy="1856570"/>
          </a:xfrm>
        </p:grpSpPr>
        <p:grpSp>
          <p:nvGrpSpPr>
            <p:cNvPr id="11" name="Group 11"/>
            <p:cNvGrpSpPr/>
            <p:nvPr/>
          </p:nvGrpSpPr>
          <p:grpSpPr>
            <a:xfrm rot="1471508">
              <a:off x="225077" y="32097"/>
              <a:ext cx="409715" cy="1173520"/>
              <a:chOff x="0" y="0"/>
              <a:chExt cx="106268" cy="304376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0" y="0"/>
                <a:ext cx="106268" cy="304376"/>
              </a:xfrm>
              <a:custGeom>
                <a:avLst/>
                <a:gdLst/>
                <a:ahLst/>
                <a:cxnLst/>
                <a:rect l="l" t="t" r="r" b="b"/>
                <a:pathLst>
                  <a:path w="106268" h="304376">
                    <a:moveTo>
                      <a:pt x="0" y="0"/>
                    </a:moveTo>
                    <a:lnTo>
                      <a:pt x="106268" y="0"/>
                    </a:lnTo>
                    <a:lnTo>
                      <a:pt x="106268" y="304376"/>
                    </a:lnTo>
                    <a:lnTo>
                      <a:pt x="0" y="304376"/>
                    </a:lnTo>
                    <a:close/>
                  </a:path>
                </a:pathLst>
              </a:custGeom>
              <a:solidFill>
                <a:srgbClr val="0097B2"/>
              </a:solidFill>
            </p:spPr>
          </p:sp>
          <p:sp>
            <p:nvSpPr>
              <p:cNvPr id="13" name="TextBox 13"/>
              <p:cNvSpPr txBox="1"/>
              <p:nvPr/>
            </p:nvSpPr>
            <p:spPr>
              <a:xfrm>
                <a:off x="0" y="-57150"/>
                <a:ext cx="106268" cy="361526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1960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grpSp>
          <p:nvGrpSpPr>
            <p:cNvPr id="14" name="Group 14"/>
            <p:cNvGrpSpPr/>
            <p:nvPr/>
          </p:nvGrpSpPr>
          <p:grpSpPr>
            <a:xfrm rot="1471508">
              <a:off x="494755" y="650953"/>
              <a:ext cx="409715" cy="1173520"/>
              <a:chOff x="0" y="0"/>
              <a:chExt cx="106268" cy="304376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0" y="0"/>
                <a:ext cx="106268" cy="304376"/>
              </a:xfrm>
              <a:custGeom>
                <a:avLst/>
                <a:gdLst/>
                <a:ahLst/>
                <a:cxnLst/>
                <a:rect l="l" t="t" r="r" b="b"/>
                <a:pathLst>
                  <a:path w="106268" h="304376">
                    <a:moveTo>
                      <a:pt x="0" y="0"/>
                    </a:moveTo>
                    <a:lnTo>
                      <a:pt x="106268" y="0"/>
                    </a:lnTo>
                    <a:lnTo>
                      <a:pt x="106268" y="304376"/>
                    </a:lnTo>
                    <a:lnTo>
                      <a:pt x="0" y="304376"/>
                    </a:lnTo>
                    <a:close/>
                  </a:path>
                </a:pathLst>
              </a:custGeom>
              <a:solidFill>
                <a:srgbClr val="0097B2"/>
              </a:solidFill>
            </p:spPr>
          </p:sp>
          <p:sp>
            <p:nvSpPr>
              <p:cNvPr id="16" name="TextBox 16"/>
              <p:cNvSpPr txBox="1"/>
              <p:nvPr/>
            </p:nvSpPr>
            <p:spPr>
              <a:xfrm>
                <a:off x="0" y="-57150"/>
                <a:ext cx="106268" cy="361526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1960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sp>
          <p:nvSpPr>
            <p:cNvPr id="17" name="TextBox 17"/>
            <p:cNvSpPr txBox="1"/>
            <p:nvPr/>
          </p:nvSpPr>
          <p:spPr>
            <a:xfrm>
              <a:off x="1664633" y="260962"/>
              <a:ext cx="6209984" cy="88053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5299"/>
                </a:lnSpc>
                <a:spcBef>
                  <a:spcPct val="0"/>
                </a:spcBef>
              </a:pPr>
              <a:r>
                <a:rPr lang="en-US" sz="3785" b="1">
                  <a:solidFill>
                    <a:srgbClr val="329A87"/>
                  </a:solidFill>
                  <a:latin typeface="Telegraf Bold"/>
                  <a:ea typeface="Telegraf Bold"/>
                  <a:cs typeface="Telegraf Bold"/>
                  <a:sym typeface="Telegraf Bold"/>
                </a:rPr>
                <a:t>Séries temporelles</a:t>
              </a:r>
            </a:p>
          </p:txBody>
        </p:sp>
      </p:grpSp>
    </p:spTree>
  </p:cSld>
  <p:clrMapOvr>
    <a:masterClrMapping/>
  </p:clrMapOvr>
  <p:transition spd="slow">
    <p:cover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1273</Words>
  <Application>Microsoft Office PowerPoint</Application>
  <PresentationFormat>Personnalisé</PresentationFormat>
  <Paragraphs>252</Paragraphs>
  <Slides>42</Slides>
  <Notes>1</Notes>
  <HiddenSlides>0</HiddenSlides>
  <MMClips>0</MMClips>
  <ScaleCrop>false</ScaleCrop>
  <HeadingPairs>
    <vt:vector size="8" baseType="variant">
      <vt:variant>
        <vt:lpstr>Polices utilisées</vt:lpstr>
      </vt:variant>
      <vt:variant>
        <vt:i4>17</vt:i4>
      </vt:variant>
      <vt:variant>
        <vt:lpstr>Thème</vt:lpstr>
      </vt:variant>
      <vt:variant>
        <vt:i4>1</vt:i4>
      </vt:variant>
      <vt:variant>
        <vt:lpstr>Serveurs OLE incorporés</vt:lpstr>
      </vt:variant>
      <vt:variant>
        <vt:i4>1</vt:i4>
      </vt:variant>
      <vt:variant>
        <vt:lpstr>Titres des diapositives</vt:lpstr>
      </vt:variant>
      <vt:variant>
        <vt:i4>42</vt:i4>
      </vt:variant>
    </vt:vector>
  </HeadingPairs>
  <TitlesOfParts>
    <vt:vector size="61" baseType="lpstr">
      <vt:lpstr>Barlow Semi-Bold</vt:lpstr>
      <vt:lpstr>Open Sans 1 Italics</vt:lpstr>
      <vt:lpstr>Open Sans 1 Bold Italics</vt:lpstr>
      <vt:lpstr>Telegraf Bold</vt:lpstr>
      <vt:lpstr>Open Sans 1 Bold</vt:lpstr>
      <vt:lpstr>Telegraf</vt:lpstr>
      <vt:lpstr>Aileron</vt:lpstr>
      <vt:lpstr>Kaftus</vt:lpstr>
      <vt:lpstr>Aileron Bold Italics</vt:lpstr>
      <vt:lpstr>Barlow</vt:lpstr>
      <vt:lpstr>Aileron Bold</vt:lpstr>
      <vt:lpstr>Aileron Heavy</vt:lpstr>
      <vt:lpstr>Sergio Trendy</vt:lpstr>
      <vt:lpstr>Barlow Bold</vt:lpstr>
      <vt:lpstr>Aileron Ultra-Bold</vt:lpstr>
      <vt:lpstr>Calibri</vt:lpstr>
      <vt:lpstr>Arial</vt:lpstr>
      <vt:lpstr>Office Theme</vt:lpstr>
      <vt:lpstr>Worksheet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Copie de Séries temporelles</dc:title>
  <cp:lastModifiedBy>claude.ise2026@gmail.com</cp:lastModifiedBy>
  <cp:revision>2</cp:revision>
  <dcterms:created xsi:type="dcterms:W3CDTF">2006-08-16T00:00:00Z</dcterms:created>
  <dcterms:modified xsi:type="dcterms:W3CDTF">2026-09-08T13:59:26Z</dcterms:modified>
  <dc:identifier>DAGr14nmURI</dc:identifier>
</cp:coreProperties>
</file>