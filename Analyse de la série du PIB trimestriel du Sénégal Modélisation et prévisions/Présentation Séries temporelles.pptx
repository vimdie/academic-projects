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slide+xml" PartName="/ppt/slides/slide38.xml"/>
  <Override ContentType="application/vnd.openxmlformats-officedocument.presentationml.slide+xml" PartName="/ppt/slides/slide39.xml"/>
  <Override ContentType="application/vnd.openxmlformats-officedocument.presentationml.slide+xml" PartName="/ppt/slides/slide40.xml"/>
  <Override ContentType="application/vnd.openxmlformats-officedocument.presentationml.slide+xml" PartName="/ppt/slides/slide41.xml"/>
  <Override ContentType="application/vnd.openxmlformats-officedocument.presentationml.slide+xml" PartName="/ppt/slides/slide42.xml"/>
  <Override ContentType="application/vnd.openxmlformats-officedocument.presentationml.slide+xml" PartName="/ppt/slides/slide43.xml"/>
  <Override ContentType="application/vnd.openxmlformats-officedocument.presentationml.slide+xml" PartName="/ppt/slides/slide44.xml"/>
  <Override ContentType="application/vnd.openxmlformats-officedocument.presentationml.slide+xml" PartName="/ppt/slides/slide45.xml"/>
  <Override ContentType="application/vnd.openxmlformats-officedocument.presentationml.slide+xml" PartName="/ppt/slides/slide46.xml"/>
  <Override ContentType="application/vnd.openxmlformats-officedocument.presentationml.slide+xml" PartName="/ppt/slides/slide47.xml"/>
  <Override ContentType="application/vnd.openxmlformats-officedocument.presentationml.slide+xml" PartName="/ppt/slides/slide4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58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</p:sldIdLst>
  <p:sldSz cx="18288000" cy="10287000"/>
  <p:notesSz cx="6858000" cy="9144000"/>
  <p:embeddedFontLst>
    <p:embeddedFont>
      <p:font typeface="Telegraf Bold" charset="1" panose="00000800000000000000"/>
      <p:regular r:id="rId54"/>
    </p:embeddedFont>
    <p:embeddedFont>
      <p:font typeface="Open Sans 1 Italics" charset="1" panose="00000000000000000000"/>
      <p:regular r:id="rId55"/>
    </p:embeddedFont>
    <p:embeddedFont>
      <p:font typeface="Open Sans 1 Bold Italics" charset="1" panose="00000000000000000000"/>
      <p:regular r:id="rId56"/>
    </p:embeddedFont>
    <p:embeddedFont>
      <p:font typeface="Open Sans 1 Bold" charset="1" panose="00000000000000000000"/>
      <p:regular r:id="rId57"/>
    </p:embeddedFont>
    <p:embeddedFont>
      <p:font typeface="Sergio Trendy" charset="1" panose="00000000000000000000"/>
      <p:regular r:id="rId61"/>
    </p:embeddedFont>
    <p:embeddedFont>
      <p:font typeface="Aileron Bold" charset="1" panose="00000800000000000000"/>
      <p:regular r:id="rId62"/>
    </p:embeddedFont>
    <p:embeddedFont>
      <p:font typeface="Telegraf" charset="1" panose="00000500000000000000"/>
      <p:regular r:id="rId63"/>
    </p:embeddedFont>
    <p:embeddedFont>
      <p:font typeface="Aileron Heavy" charset="1" panose="00000A00000000000000"/>
      <p:regular r:id="rId64"/>
    </p:embeddedFont>
    <p:embeddedFont>
      <p:font typeface="Aileron Bold Italics" charset="1" panose="00000800000000000000"/>
      <p:regular r:id="rId65"/>
    </p:embeddedFont>
    <p:embeddedFont>
      <p:font typeface="Aileron Ultra-Bold" charset="1" panose="00000A00000000000000"/>
      <p:regular r:id="rId66"/>
    </p:embeddedFont>
    <p:embeddedFont>
      <p:font typeface="Kaftus" charset="1" panose="00000000000000000000"/>
      <p:regular r:id="rId67"/>
    </p:embeddedFont>
    <p:embeddedFont>
      <p:font typeface="Aileron" charset="1" panose="00000500000000000000"/>
      <p:regular r:id="rId68"/>
    </p:embeddedFont>
    <p:embeddedFont>
      <p:font typeface="Barlow Semi-Bold" charset="1" panose="00000700000000000000"/>
      <p:regular r:id="rId69"/>
    </p:embeddedFont>
    <p:embeddedFont>
      <p:font typeface="Barlow" charset="1" panose="00000500000000000000"/>
      <p:regular r:id="rId70"/>
    </p:embeddedFont>
    <p:embeddedFont>
      <p:font typeface="Barlow Bold" charset="1" panose="00000800000000000000"/>
      <p:regular r:id="rId7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slides/slide36.xml" Type="http://schemas.openxmlformats.org/officeDocument/2006/relationships/slide"/><Relationship Id="rId42" Target="slides/slide37.xml" Type="http://schemas.openxmlformats.org/officeDocument/2006/relationships/slide"/><Relationship Id="rId43" Target="slides/slide38.xml" Type="http://schemas.openxmlformats.org/officeDocument/2006/relationships/slide"/><Relationship Id="rId44" Target="slides/slide39.xml" Type="http://schemas.openxmlformats.org/officeDocument/2006/relationships/slide"/><Relationship Id="rId45" Target="slides/slide40.xml" Type="http://schemas.openxmlformats.org/officeDocument/2006/relationships/slide"/><Relationship Id="rId46" Target="slides/slide41.xml" Type="http://schemas.openxmlformats.org/officeDocument/2006/relationships/slide"/><Relationship Id="rId47" Target="slides/slide42.xml" Type="http://schemas.openxmlformats.org/officeDocument/2006/relationships/slide"/><Relationship Id="rId48" Target="slides/slide43.xml" Type="http://schemas.openxmlformats.org/officeDocument/2006/relationships/slide"/><Relationship Id="rId49" Target="slides/slide44.xml" Type="http://schemas.openxmlformats.org/officeDocument/2006/relationships/slide"/><Relationship Id="rId5" Target="tableStyles.xml" Type="http://schemas.openxmlformats.org/officeDocument/2006/relationships/tableStyles"/><Relationship Id="rId50" Target="slides/slide45.xml" Type="http://schemas.openxmlformats.org/officeDocument/2006/relationships/slide"/><Relationship Id="rId51" Target="slides/slide46.xml" Type="http://schemas.openxmlformats.org/officeDocument/2006/relationships/slide"/><Relationship Id="rId52" Target="slides/slide47.xml" Type="http://schemas.openxmlformats.org/officeDocument/2006/relationships/slide"/><Relationship Id="rId53" Target="slides/slide48.xml" Type="http://schemas.openxmlformats.org/officeDocument/2006/relationships/slide"/><Relationship Id="rId54" Target="fonts/font54.fntdata" Type="http://schemas.openxmlformats.org/officeDocument/2006/relationships/font"/><Relationship Id="rId55" Target="fonts/font55.fntdata" Type="http://schemas.openxmlformats.org/officeDocument/2006/relationships/font"/><Relationship Id="rId56" Target="fonts/font56.fntdata" Type="http://schemas.openxmlformats.org/officeDocument/2006/relationships/font"/><Relationship Id="rId57" Target="fonts/font57.fntdata" Type="http://schemas.openxmlformats.org/officeDocument/2006/relationships/font"/><Relationship Id="rId58" Target="notesMasters/notesMaster1.xml" Type="http://schemas.openxmlformats.org/officeDocument/2006/relationships/notesMaster"/><Relationship Id="rId59" Target="theme/theme2.xml" Type="http://schemas.openxmlformats.org/officeDocument/2006/relationships/theme"/><Relationship Id="rId6" Target="slides/slide1.xml" Type="http://schemas.openxmlformats.org/officeDocument/2006/relationships/slide"/><Relationship Id="rId60" Target="notesSlides/notesSlide1.xml" Type="http://schemas.openxmlformats.org/officeDocument/2006/relationships/notesSlide"/><Relationship Id="rId61" Target="fonts/font61.fntdata" Type="http://schemas.openxmlformats.org/officeDocument/2006/relationships/font"/><Relationship Id="rId62" Target="fonts/font62.fntdata" Type="http://schemas.openxmlformats.org/officeDocument/2006/relationships/font"/><Relationship Id="rId63" Target="fonts/font63.fntdata" Type="http://schemas.openxmlformats.org/officeDocument/2006/relationships/font"/><Relationship Id="rId64" Target="fonts/font64.fntdata" Type="http://schemas.openxmlformats.org/officeDocument/2006/relationships/font"/><Relationship Id="rId65" Target="fonts/font65.fntdata" Type="http://schemas.openxmlformats.org/officeDocument/2006/relationships/font"/><Relationship Id="rId66" Target="fonts/font66.fntdata" Type="http://schemas.openxmlformats.org/officeDocument/2006/relationships/font"/><Relationship Id="rId67" Target="fonts/font67.fntdata" Type="http://schemas.openxmlformats.org/officeDocument/2006/relationships/font"/><Relationship Id="rId68" Target="fonts/font68.fntdata" Type="http://schemas.openxmlformats.org/officeDocument/2006/relationships/font"/><Relationship Id="rId69" Target="fonts/font69.fntdata" Type="http://schemas.openxmlformats.org/officeDocument/2006/relationships/font"/><Relationship Id="rId7" Target="slides/slide2.xml" Type="http://schemas.openxmlformats.org/officeDocument/2006/relationships/slide"/><Relationship Id="rId70" Target="fonts/font70.fntdata" Type="http://schemas.openxmlformats.org/officeDocument/2006/relationships/font"/><Relationship Id="rId71" Target="fonts/font71.fntdata" Type="http://schemas.openxmlformats.org/officeDocument/2006/relationships/font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Capusl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jpeg" Type="http://schemas.openxmlformats.org/officeDocument/2006/relationships/image"/><Relationship Id="rId3" Target="../media/image15.pn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4.png" Type="http://schemas.openxmlformats.org/officeDocument/2006/relationships/image"/><Relationship Id="rId11" Target="../media/image25.svg" Type="http://schemas.openxmlformats.org/officeDocument/2006/relationships/image"/><Relationship Id="rId2" Target="../media/image16.png" Type="http://schemas.openxmlformats.org/officeDocument/2006/relationships/image"/><Relationship Id="rId3" Target="../media/image17.svg" Type="http://schemas.openxmlformats.org/officeDocument/2006/relationships/image"/><Relationship Id="rId4" Target="../media/image18.png" Type="http://schemas.openxmlformats.org/officeDocument/2006/relationships/image"/><Relationship Id="rId5" Target="../media/image19.svg" Type="http://schemas.openxmlformats.org/officeDocument/2006/relationships/image"/><Relationship Id="rId6" Target="../media/image20.png" Type="http://schemas.openxmlformats.org/officeDocument/2006/relationships/image"/><Relationship Id="rId7" Target="../media/image21.svg" Type="http://schemas.openxmlformats.org/officeDocument/2006/relationships/image"/><Relationship Id="rId8" Target="../media/image22.png" Type="http://schemas.openxmlformats.org/officeDocument/2006/relationships/image"/><Relationship Id="rId9" Target="../media/image23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4.png" Type="http://schemas.openxmlformats.org/officeDocument/2006/relationships/image"/><Relationship Id="rId11" Target="../media/image25.svg" Type="http://schemas.openxmlformats.org/officeDocument/2006/relationships/image"/><Relationship Id="rId2" Target="../media/image16.png" Type="http://schemas.openxmlformats.org/officeDocument/2006/relationships/image"/><Relationship Id="rId3" Target="../media/image17.svg" Type="http://schemas.openxmlformats.org/officeDocument/2006/relationships/image"/><Relationship Id="rId4" Target="../media/image18.png" Type="http://schemas.openxmlformats.org/officeDocument/2006/relationships/image"/><Relationship Id="rId5" Target="../media/image19.svg" Type="http://schemas.openxmlformats.org/officeDocument/2006/relationships/image"/><Relationship Id="rId6" Target="../media/image20.png" Type="http://schemas.openxmlformats.org/officeDocument/2006/relationships/image"/><Relationship Id="rId7" Target="../media/image21.svg" Type="http://schemas.openxmlformats.org/officeDocument/2006/relationships/image"/><Relationship Id="rId8" Target="../media/image22.png" Type="http://schemas.openxmlformats.org/officeDocument/2006/relationships/image"/><Relationship Id="rId9" Target="../media/image23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jpeg" Type="http://schemas.openxmlformats.org/officeDocument/2006/relationships/image"/><Relationship Id="rId3" Target="../media/image27.jpe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Relationship Id="rId3" Target="../embeddings/oleObject1.bin" Type="http://schemas.openxmlformats.org/officeDocument/2006/relationships/oleObject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jpeg" Type="http://schemas.openxmlformats.org/officeDocument/2006/relationships/image"/><Relationship Id="rId3" Target="../media/image27.jpe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png" Type="http://schemas.openxmlformats.org/officeDocument/2006/relationships/image"/><Relationship Id="rId3" Target="../media/image30.png" Type="http://schemas.openxmlformats.org/officeDocument/2006/relationships/image"/><Relationship Id="rId4" Target="../media/image31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2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.png" Type="http://schemas.openxmlformats.org/officeDocument/2006/relationships/image"/><Relationship Id="rId3" Target="../media/image34.svg" Type="http://schemas.openxmlformats.org/officeDocument/2006/relationships/image"/><Relationship Id="rId4" Target="../media/image35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.png" Type="http://schemas.openxmlformats.org/officeDocument/2006/relationships/image"/><Relationship Id="rId3" Target="../media/image34.svg" Type="http://schemas.openxmlformats.org/officeDocument/2006/relationships/image"/><Relationship Id="rId4" Target="../media/image36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.png" Type="http://schemas.openxmlformats.org/officeDocument/2006/relationships/image"/><Relationship Id="rId3" Target="../media/image34.svg" Type="http://schemas.openxmlformats.org/officeDocument/2006/relationships/image"/><Relationship Id="rId4" Target="../media/image37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.png" Type="http://schemas.openxmlformats.org/officeDocument/2006/relationships/image"/><Relationship Id="rId3" Target="../media/image34.svg" Type="http://schemas.openxmlformats.org/officeDocument/2006/relationships/image"/><Relationship Id="rId4" Target="../media/image38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.png" Type="http://schemas.openxmlformats.org/officeDocument/2006/relationships/image"/><Relationship Id="rId3" Target="../media/image34.svg" Type="http://schemas.openxmlformats.org/officeDocument/2006/relationships/image"/><Relationship Id="rId4" Target="../media/image39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.png" Type="http://schemas.openxmlformats.org/officeDocument/2006/relationships/image"/><Relationship Id="rId3" Target="../media/image34.svg" Type="http://schemas.openxmlformats.org/officeDocument/2006/relationships/image"/><Relationship Id="rId4" Target="../media/image40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jpeg" Type="http://schemas.openxmlformats.org/officeDocument/2006/relationships/image"/><Relationship Id="rId3" Target="../media/image27.jpe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1.pn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jpeg" Type="http://schemas.openxmlformats.org/officeDocument/2006/relationships/image"/><Relationship Id="rId3" Target="../media/image27.jpe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2.png" Type="http://schemas.openxmlformats.org/officeDocument/2006/relationships/image"/><Relationship Id="rId3" Target="../media/image43.svg" Type="http://schemas.openxmlformats.org/officeDocument/2006/relationships/image"/><Relationship Id="rId4" Target="../media/image44.png" Type="http://schemas.openxmlformats.org/officeDocument/2006/relationships/image"/><Relationship Id="rId5" Target="../media/image45.sv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.png" Type="http://schemas.openxmlformats.org/officeDocument/2006/relationships/image"/><Relationship Id="rId3" Target="../media/image34.svg" Type="http://schemas.openxmlformats.org/officeDocument/2006/relationships/image"/><Relationship Id="rId4" Target="../media/image46.png" Type="http://schemas.openxmlformats.org/officeDocument/2006/relationships/image"/><Relationship Id="rId5" Target="../media/image47.sv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2.png" Type="http://schemas.openxmlformats.org/officeDocument/2006/relationships/image"/><Relationship Id="rId11" Target="../media/image53.svg" Type="http://schemas.openxmlformats.org/officeDocument/2006/relationships/image"/><Relationship Id="rId2" Target="../media/image48.png" Type="http://schemas.openxmlformats.org/officeDocument/2006/relationships/image"/><Relationship Id="rId3" Target="../media/image49.svg" Type="http://schemas.openxmlformats.org/officeDocument/2006/relationships/image"/><Relationship Id="rId4" Target="../media/image18.png" Type="http://schemas.openxmlformats.org/officeDocument/2006/relationships/image"/><Relationship Id="rId5" Target="../media/image19.svg" Type="http://schemas.openxmlformats.org/officeDocument/2006/relationships/image"/><Relationship Id="rId6" Target="../media/image20.png" Type="http://schemas.openxmlformats.org/officeDocument/2006/relationships/image"/><Relationship Id="rId7" Target="../media/image21.svg" Type="http://schemas.openxmlformats.org/officeDocument/2006/relationships/image"/><Relationship Id="rId8" Target="../media/image50.png" Type="http://schemas.openxmlformats.org/officeDocument/2006/relationships/image"/><Relationship Id="rId9" Target="../media/image51.svg" Type="http://schemas.openxmlformats.org/officeDocument/2006/relationships/image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jpeg" Type="http://schemas.openxmlformats.org/officeDocument/2006/relationships/image"/><Relationship Id="rId3" Target="../media/image27.jpe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4.png" Type="http://schemas.openxmlformats.org/officeDocument/2006/relationships/image"/></Relationships>
</file>

<file path=ppt/slides/_rels/slide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5.png" Type="http://schemas.openxmlformats.org/officeDocument/2006/relationships/image"/><Relationship Id="rId3" Target="../embeddings/oleObject2.bin" Type="http://schemas.openxmlformats.org/officeDocument/2006/relationships/oleObject"/></Relationships>
</file>

<file path=ppt/slides/_rels/slide3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6.png" Type="http://schemas.openxmlformats.org/officeDocument/2006/relationships/image"/></Relationships>
</file>

<file path=ppt/slides/_rels/slide3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jpeg" Type="http://schemas.openxmlformats.org/officeDocument/2006/relationships/image"/><Relationship Id="rId3" Target="../media/image27.jpe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/Relationships>
</file>

<file path=ppt/slides/_rels/slide4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7.png" Type="http://schemas.openxmlformats.org/officeDocument/2006/relationships/image"/><Relationship Id="rId11" Target="../media/image58.svg" Type="http://schemas.openxmlformats.org/officeDocument/2006/relationships/image"/><Relationship Id="rId2" Target="../media/image48.png" Type="http://schemas.openxmlformats.org/officeDocument/2006/relationships/image"/><Relationship Id="rId3" Target="../media/image49.svg" Type="http://schemas.openxmlformats.org/officeDocument/2006/relationships/image"/><Relationship Id="rId4" Target="../media/image18.png" Type="http://schemas.openxmlformats.org/officeDocument/2006/relationships/image"/><Relationship Id="rId5" Target="../media/image19.svg" Type="http://schemas.openxmlformats.org/officeDocument/2006/relationships/image"/><Relationship Id="rId6" Target="../media/image20.png" Type="http://schemas.openxmlformats.org/officeDocument/2006/relationships/image"/><Relationship Id="rId7" Target="../media/image21.svg" Type="http://schemas.openxmlformats.org/officeDocument/2006/relationships/image"/><Relationship Id="rId8" Target="../media/image50.png" Type="http://schemas.openxmlformats.org/officeDocument/2006/relationships/image"/><Relationship Id="rId9" Target="../media/image51.svg" Type="http://schemas.openxmlformats.org/officeDocument/2006/relationships/image"/></Relationships>
</file>

<file path=ppt/slides/_rels/slide4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9.png" Type="http://schemas.openxmlformats.org/officeDocument/2006/relationships/image"/></Relationships>
</file>

<file path=ppt/slides/_rels/slide4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0.png" Type="http://schemas.openxmlformats.org/officeDocument/2006/relationships/image"/></Relationships>
</file>

<file path=ppt/slides/_rels/slide4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jpeg" Type="http://schemas.openxmlformats.org/officeDocument/2006/relationships/image"/><Relationship Id="rId3" Target="../media/image27.jpe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/Relationships>
</file>

<file path=ppt/slides/_rels/slide4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1.png" Type="http://schemas.openxmlformats.org/officeDocument/2006/relationships/image"/><Relationship Id="rId3" Target="../embeddings/oleObject3.bin" Type="http://schemas.openxmlformats.org/officeDocument/2006/relationships/oleObject"/></Relationships>
</file>

<file path=ppt/slides/_rels/slide4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jpeg" Type="http://schemas.openxmlformats.org/officeDocument/2006/relationships/image"/><Relationship Id="rId3" Target="../media/image62.jpe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/Relationships>
</file>

<file path=ppt/slides/_rels/slide4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1471508">
            <a:off x="9009800" y="430384"/>
            <a:ext cx="2160993" cy="11212989"/>
            <a:chOff x="0" y="0"/>
            <a:chExt cx="597206" cy="30987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97206" cy="3098791"/>
            </a:xfrm>
            <a:custGeom>
              <a:avLst/>
              <a:gdLst/>
              <a:ahLst/>
              <a:cxnLst/>
              <a:rect r="r" b="b" t="t" l="l"/>
              <a:pathLst>
                <a:path h="3098791" w="597206">
                  <a:moveTo>
                    <a:pt x="0" y="0"/>
                  </a:moveTo>
                  <a:lnTo>
                    <a:pt x="597206" y="0"/>
                  </a:lnTo>
                  <a:lnTo>
                    <a:pt x="597206" y="3098791"/>
                  </a:lnTo>
                  <a:lnTo>
                    <a:pt x="0" y="3098791"/>
                  </a:lnTo>
                  <a:close/>
                </a:path>
              </a:pathLst>
            </a:custGeom>
            <a:solidFill>
              <a:srgbClr val="8DE8E8">
                <a:alpha val="23922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97206" cy="3136892"/>
            </a:xfrm>
            <a:prstGeom prst="rect">
              <a:avLst/>
            </a:prstGeom>
          </p:spPr>
          <p:txBody>
            <a:bodyPr anchor="ctr" rtlCol="false" tIns="35873" lIns="35873" bIns="35873" rIns="35873"/>
            <a:lstStyle/>
            <a:p>
              <a:pPr algn="ctr">
                <a:lnSpc>
                  <a:spcPts val="1384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090296" y="2957228"/>
            <a:ext cx="1960747" cy="1960747"/>
          </a:xfrm>
          <a:custGeom>
            <a:avLst/>
            <a:gdLst/>
            <a:ahLst/>
            <a:cxnLst/>
            <a:rect r="r" b="b" t="t" l="l"/>
            <a:pathLst>
              <a:path h="1960747" w="1960747">
                <a:moveTo>
                  <a:pt x="0" y="0"/>
                </a:moveTo>
                <a:lnTo>
                  <a:pt x="1960747" y="0"/>
                </a:lnTo>
                <a:lnTo>
                  <a:pt x="1960747" y="1960747"/>
                </a:lnTo>
                <a:lnTo>
                  <a:pt x="0" y="19607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1471508">
            <a:off x="13168964" y="-57316"/>
            <a:ext cx="2160993" cy="11212989"/>
            <a:chOff x="0" y="0"/>
            <a:chExt cx="597206" cy="309879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97206" cy="3098791"/>
            </a:xfrm>
            <a:custGeom>
              <a:avLst/>
              <a:gdLst/>
              <a:ahLst/>
              <a:cxnLst/>
              <a:rect r="r" b="b" t="t" l="l"/>
              <a:pathLst>
                <a:path h="3098791" w="597206">
                  <a:moveTo>
                    <a:pt x="0" y="0"/>
                  </a:moveTo>
                  <a:lnTo>
                    <a:pt x="597206" y="0"/>
                  </a:lnTo>
                  <a:lnTo>
                    <a:pt x="597206" y="3098791"/>
                  </a:lnTo>
                  <a:lnTo>
                    <a:pt x="0" y="3098791"/>
                  </a:lnTo>
                  <a:close/>
                </a:path>
              </a:pathLst>
            </a:custGeom>
            <a:solidFill>
              <a:srgbClr val="8DE8E8">
                <a:alpha val="23922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597206" cy="3136892"/>
            </a:xfrm>
            <a:prstGeom prst="rect">
              <a:avLst/>
            </a:prstGeom>
          </p:spPr>
          <p:txBody>
            <a:bodyPr anchor="ctr" rtlCol="false" tIns="35873" lIns="35873" bIns="35873" rIns="35873"/>
            <a:lstStyle/>
            <a:p>
              <a:pPr algn="ctr">
                <a:lnSpc>
                  <a:spcPts val="1384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-5987456">
            <a:off x="9412670" y="2178073"/>
            <a:ext cx="10518155" cy="10518113"/>
            <a:chOff x="0" y="0"/>
            <a:chExt cx="6350000" cy="6349975"/>
          </a:xfrm>
        </p:grpSpPr>
        <p:sp>
          <p:nvSpPr>
            <p:cNvPr name="Freeform 10" id="10"/>
            <p:cNvSpPr/>
            <p:nvPr/>
          </p:nvSpPr>
          <p:spPr>
            <a:xfrm flipH="false" flipV="false" rot="-119315">
              <a:off x="-58934" y="-58936"/>
              <a:ext cx="6467869" cy="6467845"/>
            </a:xfrm>
            <a:custGeom>
              <a:avLst/>
              <a:gdLst/>
              <a:ahLst/>
              <a:cxnLst/>
              <a:rect r="r" b="b" t="t" l="l"/>
              <a:pathLst>
                <a:path h="6467845" w="6467869">
                  <a:moveTo>
                    <a:pt x="6407021" y="3344136"/>
                  </a:moveTo>
                  <a:cubicBezTo>
                    <a:pt x="6346176" y="5096506"/>
                    <a:pt x="4876180" y="6467845"/>
                    <a:pt x="3123760" y="6406999"/>
                  </a:cubicBezTo>
                  <a:cubicBezTo>
                    <a:pt x="1371314" y="6346151"/>
                    <a:pt x="0" y="4876157"/>
                    <a:pt x="60845" y="3123787"/>
                  </a:cubicBezTo>
                  <a:cubicBezTo>
                    <a:pt x="121693" y="1371328"/>
                    <a:pt x="1591662" y="0"/>
                    <a:pt x="3344108" y="60848"/>
                  </a:cubicBezTo>
                  <a:cubicBezTo>
                    <a:pt x="5096554" y="121696"/>
                    <a:pt x="6467869" y="1591678"/>
                    <a:pt x="6407021" y="3344136"/>
                  </a:cubicBezTo>
                  <a:close/>
                </a:path>
              </a:pathLst>
            </a:custGeom>
            <a:blipFill>
              <a:blip r:embed="rId4"/>
              <a:stretch>
                <a:fillRect l="-42535" t="-1704" r="-42535" b="-1704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840001" y="3270042"/>
            <a:ext cx="2125200" cy="2125200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97B2"/>
            </a:solidFill>
            <a:ln w="2857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35873" lIns="35873" bIns="35873" rIns="35873"/>
            <a:lstStyle/>
            <a:p>
              <a:pPr algn="ctr">
                <a:lnSpc>
                  <a:spcPts val="1384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3895039" y="1442645"/>
            <a:ext cx="1960747" cy="1960747"/>
          </a:xfrm>
          <a:custGeom>
            <a:avLst/>
            <a:gdLst/>
            <a:ahLst/>
            <a:cxnLst/>
            <a:rect r="r" b="b" t="t" l="l"/>
            <a:pathLst>
              <a:path h="1960747" w="1960747">
                <a:moveTo>
                  <a:pt x="0" y="0"/>
                </a:moveTo>
                <a:lnTo>
                  <a:pt x="1960746" y="0"/>
                </a:lnTo>
                <a:lnTo>
                  <a:pt x="1960746" y="1960746"/>
                </a:lnTo>
                <a:lnTo>
                  <a:pt x="0" y="19607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13895039" y="1382343"/>
            <a:ext cx="2081350" cy="2081350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97B2"/>
            </a:solidFill>
            <a:ln w="2857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35873" lIns="35873" bIns="35873" rIns="35873"/>
            <a:lstStyle/>
            <a:p>
              <a:pPr algn="ctr">
                <a:lnSpc>
                  <a:spcPts val="1384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8487975" y="6904485"/>
            <a:ext cx="1960747" cy="1960747"/>
          </a:xfrm>
          <a:custGeom>
            <a:avLst/>
            <a:gdLst/>
            <a:ahLst/>
            <a:cxnLst/>
            <a:rect r="r" b="b" t="t" l="l"/>
            <a:pathLst>
              <a:path h="1960747" w="1960747">
                <a:moveTo>
                  <a:pt x="0" y="0"/>
                </a:moveTo>
                <a:lnTo>
                  <a:pt x="1960746" y="0"/>
                </a:lnTo>
                <a:lnTo>
                  <a:pt x="1960746" y="1960747"/>
                </a:lnTo>
                <a:lnTo>
                  <a:pt x="0" y="19607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8594965" y="7260071"/>
            <a:ext cx="1998229" cy="1998229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97B2"/>
            </a:solidFill>
            <a:ln w="2857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35873" lIns="35873" bIns="35873" rIns="35873"/>
            <a:lstStyle/>
            <a:p>
              <a:pPr algn="ctr">
                <a:lnSpc>
                  <a:spcPts val="1384"/>
                </a:lnSpc>
              </a:pP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10286811" y="3718972"/>
            <a:ext cx="1231579" cy="1227340"/>
          </a:xfrm>
          <a:custGeom>
            <a:avLst/>
            <a:gdLst/>
            <a:ahLst/>
            <a:cxnLst/>
            <a:rect r="r" b="b" t="t" l="l"/>
            <a:pathLst>
              <a:path h="1227340" w="1231579">
                <a:moveTo>
                  <a:pt x="0" y="0"/>
                </a:moveTo>
                <a:lnTo>
                  <a:pt x="1231580" y="0"/>
                </a:lnTo>
                <a:lnTo>
                  <a:pt x="1231580" y="1227340"/>
                </a:lnTo>
                <a:lnTo>
                  <a:pt x="0" y="122734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4283624" y="1728602"/>
            <a:ext cx="1304180" cy="1304180"/>
          </a:xfrm>
          <a:custGeom>
            <a:avLst/>
            <a:gdLst/>
            <a:ahLst/>
            <a:cxnLst/>
            <a:rect r="r" b="b" t="t" l="l"/>
            <a:pathLst>
              <a:path h="1304180" w="1304180">
                <a:moveTo>
                  <a:pt x="0" y="0"/>
                </a:moveTo>
                <a:lnTo>
                  <a:pt x="1304180" y="0"/>
                </a:lnTo>
                <a:lnTo>
                  <a:pt x="1304180" y="1304180"/>
                </a:lnTo>
                <a:lnTo>
                  <a:pt x="0" y="130418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8802912" y="7593750"/>
            <a:ext cx="1330872" cy="1330872"/>
          </a:xfrm>
          <a:custGeom>
            <a:avLst/>
            <a:gdLst/>
            <a:ahLst/>
            <a:cxnLst/>
            <a:rect r="r" b="b" t="t" l="l"/>
            <a:pathLst>
              <a:path h="1330872" w="1330872">
                <a:moveTo>
                  <a:pt x="0" y="0"/>
                </a:moveTo>
                <a:lnTo>
                  <a:pt x="1330872" y="0"/>
                </a:lnTo>
                <a:lnTo>
                  <a:pt x="1330872" y="1330871"/>
                </a:lnTo>
                <a:lnTo>
                  <a:pt x="0" y="133087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13895039" y="9079921"/>
            <a:ext cx="3664650" cy="820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31"/>
              </a:lnSpc>
              <a:spcBef>
                <a:spcPct val="0"/>
              </a:spcBef>
            </a:pPr>
            <a:r>
              <a:rPr lang="en-US" sz="4451" b="true">
                <a:solidFill>
                  <a:srgbClr val="024854"/>
                </a:solidFill>
                <a:latin typeface="Telegraf Bold"/>
                <a:ea typeface="Telegraf Bold"/>
                <a:cs typeface="Telegraf Bold"/>
                <a:sym typeface="Telegraf Bold"/>
              </a:rPr>
              <a:t>2024/2025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28700" y="2053524"/>
            <a:ext cx="8887377" cy="5133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86"/>
              </a:lnSpc>
              <a:spcBef>
                <a:spcPct val="0"/>
              </a:spcBef>
            </a:pPr>
            <a:r>
              <a:rPr lang="en-US" b="true" sz="5775">
                <a:solidFill>
                  <a:srgbClr val="0097B2"/>
                </a:solidFill>
                <a:latin typeface="Telegraf Bold"/>
                <a:ea typeface="Telegraf Bold"/>
                <a:cs typeface="Telegraf Bold"/>
                <a:sym typeface="Telegraf Bold"/>
              </a:rPr>
              <a:t>Analyse rigoureuse de la série du PIB trimestriel du Sénégal, modélisation et prévisions 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734871" y="2552025"/>
            <a:ext cx="5175292" cy="8186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31"/>
              </a:lnSpc>
              <a:spcBef>
                <a:spcPct val="0"/>
              </a:spcBef>
            </a:pPr>
          </a:p>
        </p:txBody>
      </p:sp>
      <p:grpSp>
        <p:nvGrpSpPr>
          <p:cNvPr name="Group 28" id="28"/>
          <p:cNvGrpSpPr/>
          <p:nvPr/>
        </p:nvGrpSpPr>
        <p:grpSpPr>
          <a:xfrm rot="0">
            <a:off x="880714" y="8677171"/>
            <a:ext cx="8587634" cy="1267723"/>
            <a:chOff x="0" y="0"/>
            <a:chExt cx="11450179" cy="1690297"/>
          </a:xfrm>
        </p:grpSpPr>
        <p:sp>
          <p:nvSpPr>
            <p:cNvPr name="TextBox 29" id="29"/>
            <p:cNvSpPr txBox="true"/>
            <p:nvPr/>
          </p:nvSpPr>
          <p:spPr>
            <a:xfrm rot="0">
              <a:off x="0" y="47625"/>
              <a:ext cx="6309802" cy="679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823"/>
                </a:lnSpc>
              </a:pPr>
              <a:r>
                <a:rPr lang="en-US" sz="3641" i="true">
                  <a:solidFill>
                    <a:srgbClr val="024854"/>
                  </a:solidFill>
                  <a:latin typeface="Open Sans 1 Italics"/>
                  <a:ea typeface="Open Sans 1 Italics"/>
                  <a:cs typeface="Open Sans 1 Italics"/>
                  <a:sym typeface="Open Sans 1 Italics"/>
                </a:rPr>
                <a:t>Sous la supervision de</a:t>
              </a:r>
            </a:p>
          </p:txBody>
        </p:sp>
        <p:sp>
          <p:nvSpPr>
            <p:cNvPr name="TextBox 30" id="30"/>
            <p:cNvSpPr txBox="true"/>
            <p:nvPr/>
          </p:nvSpPr>
          <p:spPr>
            <a:xfrm rot="0">
              <a:off x="0" y="841513"/>
              <a:ext cx="11450179" cy="8487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768"/>
                </a:lnSpc>
              </a:pPr>
              <a:r>
                <a:rPr lang="en-US" b="true" sz="4541" i="true">
                  <a:solidFill>
                    <a:srgbClr val="1C6976"/>
                  </a:solidFill>
                  <a:latin typeface="Open Sans 1 Bold Italics"/>
                  <a:ea typeface="Open Sans 1 Bold Italics"/>
                  <a:cs typeface="Open Sans 1 Bold Italics"/>
                  <a:sym typeface="Open Sans 1 Bold Italics"/>
                </a:rPr>
                <a:t>Thierno Ibrahima Barry, ISE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3367551">
            <a:off x="-7669783" y="-1450106"/>
            <a:ext cx="18107330" cy="19608651"/>
            <a:chOff x="0" y="0"/>
            <a:chExt cx="24143107" cy="26144868"/>
          </a:xfrm>
        </p:grpSpPr>
        <p:grpSp>
          <p:nvGrpSpPr>
            <p:cNvPr name="Group 3" id="3"/>
            <p:cNvGrpSpPr/>
            <p:nvPr/>
          </p:nvGrpSpPr>
          <p:grpSpPr>
            <a:xfrm rot="5399999">
              <a:off x="7632262" y="9230388"/>
              <a:ext cx="8075694" cy="7735298"/>
              <a:chOff x="0" y="0"/>
              <a:chExt cx="6350000" cy="6082343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-119315">
                <a:off x="-56370" y="-59016"/>
                <a:ext cx="6462740" cy="6200375"/>
              </a:xfrm>
              <a:custGeom>
                <a:avLst/>
                <a:gdLst/>
                <a:ahLst/>
                <a:cxnLst/>
                <a:rect r="r" b="b" t="t" l="l"/>
                <a:pathLst>
                  <a:path h="6200375" w="6462740">
                    <a:moveTo>
                      <a:pt x="6404457" y="3210399"/>
                    </a:moveTo>
                    <a:cubicBezTo>
                      <a:pt x="6346176" y="4888912"/>
                      <a:pt x="4878260" y="6200375"/>
                      <a:pt x="3125839" y="6139528"/>
                    </a:cubicBezTo>
                    <a:cubicBezTo>
                      <a:pt x="1373394" y="6078680"/>
                      <a:pt x="0" y="4668563"/>
                      <a:pt x="58281" y="2990050"/>
                    </a:cubicBezTo>
                    <a:cubicBezTo>
                      <a:pt x="116564" y="1311452"/>
                      <a:pt x="1584455" y="0"/>
                      <a:pt x="3336901" y="60848"/>
                    </a:cubicBezTo>
                    <a:cubicBezTo>
                      <a:pt x="5089346" y="121695"/>
                      <a:pt x="6462740" y="1531801"/>
                      <a:pt x="6404457" y="3210399"/>
                    </a:cubicBezTo>
                    <a:close/>
                  </a:path>
                </a:pathLst>
              </a:custGeom>
              <a:blipFill>
                <a:blip r:embed="rId2"/>
                <a:stretch>
                  <a:fillRect l="-38770" t="-1777" r="-38770" b="-1777"/>
                </a:stretch>
              </a:blipFill>
            </p:spPr>
          </p:sp>
        </p:grpSp>
        <p:grpSp>
          <p:nvGrpSpPr>
            <p:cNvPr name="Group 5" id="5"/>
            <p:cNvGrpSpPr/>
            <p:nvPr/>
          </p:nvGrpSpPr>
          <p:grpSpPr>
            <a:xfrm rot="5399999">
              <a:off x="14701299" y="12345659"/>
              <a:ext cx="1570966" cy="1504755"/>
              <a:chOff x="0" y="0"/>
              <a:chExt cx="812800" cy="778543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812800" cy="778543"/>
              </a:xfrm>
              <a:custGeom>
                <a:avLst/>
                <a:gdLst/>
                <a:ahLst/>
                <a:cxnLst/>
                <a:rect r="r" b="b" t="t" l="l"/>
                <a:pathLst>
                  <a:path h="778543" w="812800">
                    <a:moveTo>
                      <a:pt x="406400" y="0"/>
                    </a:moveTo>
                    <a:cubicBezTo>
                      <a:pt x="181951" y="0"/>
                      <a:pt x="0" y="174283"/>
                      <a:pt x="0" y="389272"/>
                    </a:cubicBezTo>
                    <a:cubicBezTo>
                      <a:pt x="0" y="604260"/>
                      <a:pt x="181951" y="778543"/>
                      <a:pt x="406400" y="778543"/>
                    </a:cubicBezTo>
                    <a:cubicBezTo>
                      <a:pt x="630849" y="778543"/>
                      <a:pt x="812800" y="604260"/>
                      <a:pt x="812800" y="389272"/>
                    </a:cubicBezTo>
                    <a:cubicBezTo>
                      <a:pt x="812800" y="174283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97B2"/>
              </a:solidFill>
              <a:ln w="2857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76200" y="34888"/>
                <a:ext cx="660400" cy="670666"/>
              </a:xfrm>
              <a:prstGeom prst="rect">
                <a:avLst/>
              </a:prstGeom>
            </p:spPr>
            <p:txBody>
              <a:bodyPr anchor="ctr" rtlCol="false" tIns="35873" lIns="35873" bIns="35873" rIns="35873"/>
              <a:lstStyle/>
              <a:p>
                <a:pPr algn="ctr">
                  <a:lnSpc>
                    <a:spcPts val="1384"/>
                  </a:lnSpc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16451467" y="12815830"/>
              <a:ext cx="7691639" cy="11624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37"/>
                </a:lnSpc>
              </a:pPr>
              <a:r>
                <a:rPr lang="en-US" sz="3178" b="true">
                  <a:solidFill>
                    <a:srgbClr val="8DE8E8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Gandwend Judicaël Oscar KAFANDO</a:t>
              </a:r>
            </a:p>
          </p:txBody>
        </p:sp>
        <p:grpSp>
          <p:nvGrpSpPr>
            <p:cNvPr name="Group 9" id="9"/>
            <p:cNvGrpSpPr/>
            <p:nvPr/>
          </p:nvGrpSpPr>
          <p:grpSpPr>
            <a:xfrm rot="2457872">
              <a:off x="13473117" y="9318915"/>
              <a:ext cx="1447270" cy="1570966"/>
              <a:chOff x="0" y="0"/>
              <a:chExt cx="748801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748801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748801">
                    <a:moveTo>
                      <a:pt x="374401" y="0"/>
                    </a:moveTo>
                    <a:cubicBezTo>
                      <a:pt x="167625" y="0"/>
                      <a:pt x="0" y="181951"/>
                      <a:pt x="0" y="406400"/>
                    </a:cubicBezTo>
                    <a:cubicBezTo>
                      <a:pt x="0" y="630849"/>
                      <a:pt x="167625" y="812800"/>
                      <a:pt x="374401" y="812800"/>
                    </a:cubicBezTo>
                    <a:cubicBezTo>
                      <a:pt x="581176" y="812800"/>
                      <a:pt x="748801" y="630849"/>
                      <a:pt x="748801" y="406400"/>
                    </a:cubicBezTo>
                    <a:cubicBezTo>
                      <a:pt x="748801" y="181951"/>
                      <a:pt x="581176" y="0"/>
                      <a:pt x="374401" y="0"/>
                    </a:cubicBezTo>
                    <a:close/>
                  </a:path>
                </a:pathLst>
              </a:custGeom>
              <a:solidFill>
                <a:srgbClr val="0097B2"/>
              </a:solidFill>
              <a:ln w="2857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70200" y="38100"/>
                <a:ext cx="608401" cy="698500"/>
              </a:xfrm>
              <a:prstGeom prst="rect">
                <a:avLst/>
              </a:prstGeom>
            </p:spPr>
            <p:txBody>
              <a:bodyPr anchor="ctr" rtlCol="false" tIns="35873" lIns="35873" bIns="35873" rIns="35873"/>
              <a:lstStyle/>
              <a:p>
                <a:pPr algn="ctr">
                  <a:lnSpc>
                    <a:spcPts val="1384"/>
                  </a:lnSpc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-2942127">
              <a:off x="13243222" y="6016682"/>
              <a:ext cx="8012527" cy="60251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37"/>
                </a:lnSpc>
              </a:pPr>
              <a:r>
                <a:rPr lang="en-US" sz="3178" b="true">
                  <a:solidFill>
                    <a:srgbClr val="8DE8E8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Albert ZINABA</a:t>
              </a:r>
            </a:p>
          </p:txBody>
        </p:sp>
        <p:grpSp>
          <p:nvGrpSpPr>
            <p:cNvPr name="Group 13" id="13"/>
            <p:cNvGrpSpPr/>
            <p:nvPr/>
          </p:nvGrpSpPr>
          <p:grpSpPr>
            <a:xfrm rot="0">
              <a:off x="10821264" y="8251732"/>
              <a:ext cx="1504755" cy="1570966"/>
              <a:chOff x="0" y="0"/>
              <a:chExt cx="778543" cy="8128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778543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778543">
                    <a:moveTo>
                      <a:pt x="389272" y="0"/>
                    </a:moveTo>
                    <a:cubicBezTo>
                      <a:pt x="174283" y="0"/>
                      <a:pt x="0" y="181951"/>
                      <a:pt x="0" y="406400"/>
                    </a:cubicBezTo>
                    <a:cubicBezTo>
                      <a:pt x="0" y="630849"/>
                      <a:pt x="174283" y="812800"/>
                      <a:pt x="389272" y="812800"/>
                    </a:cubicBezTo>
                    <a:cubicBezTo>
                      <a:pt x="604260" y="812800"/>
                      <a:pt x="778543" y="630849"/>
                      <a:pt x="778543" y="406400"/>
                    </a:cubicBezTo>
                    <a:cubicBezTo>
                      <a:pt x="778543" y="181951"/>
                      <a:pt x="604260" y="0"/>
                      <a:pt x="389272" y="0"/>
                    </a:cubicBezTo>
                    <a:close/>
                  </a:path>
                </a:pathLst>
              </a:custGeom>
              <a:solidFill>
                <a:srgbClr val="0097B2"/>
              </a:solidFill>
              <a:ln w="2857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72988" y="38100"/>
                <a:ext cx="632566" cy="698500"/>
              </a:xfrm>
              <a:prstGeom prst="rect">
                <a:avLst/>
              </a:prstGeom>
            </p:spPr>
            <p:txBody>
              <a:bodyPr anchor="ctr" rtlCol="false" tIns="35873" lIns="35873" bIns="35873" rIns="35873"/>
              <a:lstStyle/>
              <a:p>
                <a:pPr algn="ctr">
                  <a:lnSpc>
                    <a:spcPts val="1384"/>
                  </a:lnSpc>
                </a:pPr>
              </a:p>
            </p:txBody>
          </p:sp>
        </p:grpSp>
        <p:sp>
          <p:nvSpPr>
            <p:cNvPr name="TextBox 16" id="16"/>
            <p:cNvSpPr txBox="true"/>
            <p:nvPr/>
          </p:nvSpPr>
          <p:spPr>
            <a:xfrm rot="-5400000">
              <a:off x="7572927" y="3705007"/>
              <a:ext cx="8012527" cy="60251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37"/>
                </a:lnSpc>
              </a:pPr>
              <a:r>
                <a:rPr lang="en-US" sz="3178" b="true">
                  <a:solidFill>
                    <a:srgbClr val="1C6976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Mamady I BERETE</a:t>
              </a:r>
            </a:p>
          </p:txBody>
        </p:sp>
        <p:grpSp>
          <p:nvGrpSpPr>
            <p:cNvPr name="Group 17" id="17"/>
            <p:cNvGrpSpPr/>
            <p:nvPr/>
          </p:nvGrpSpPr>
          <p:grpSpPr>
            <a:xfrm rot="-3533298">
              <a:off x="7823862" y="10133668"/>
              <a:ext cx="1570966" cy="1464795"/>
              <a:chOff x="0" y="0"/>
              <a:chExt cx="812800" cy="757868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812800" cy="757868"/>
              </a:xfrm>
              <a:custGeom>
                <a:avLst/>
                <a:gdLst/>
                <a:ahLst/>
                <a:cxnLst/>
                <a:rect r="r" b="b" t="t" l="l"/>
                <a:pathLst>
                  <a:path h="757868" w="812800">
                    <a:moveTo>
                      <a:pt x="406400" y="0"/>
                    </a:moveTo>
                    <a:cubicBezTo>
                      <a:pt x="181951" y="0"/>
                      <a:pt x="0" y="169655"/>
                      <a:pt x="0" y="378934"/>
                    </a:cubicBezTo>
                    <a:cubicBezTo>
                      <a:pt x="0" y="588214"/>
                      <a:pt x="181951" y="757868"/>
                      <a:pt x="406400" y="757868"/>
                    </a:cubicBezTo>
                    <a:cubicBezTo>
                      <a:pt x="630849" y="757868"/>
                      <a:pt x="812800" y="588214"/>
                      <a:pt x="812800" y="378934"/>
                    </a:cubicBezTo>
                    <a:cubicBezTo>
                      <a:pt x="812800" y="169655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97B2"/>
              </a:solidFill>
              <a:ln w="2857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76200" y="32950"/>
                <a:ext cx="660400" cy="653868"/>
              </a:xfrm>
              <a:prstGeom prst="rect">
                <a:avLst/>
              </a:prstGeom>
            </p:spPr>
            <p:txBody>
              <a:bodyPr anchor="ctr" rtlCol="false" tIns="35873" lIns="35873" bIns="35873" rIns="35873"/>
              <a:lstStyle/>
              <a:p>
                <a:pPr algn="ctr">
                  <a:lnSpc>
                    <a:spcPts val="1384"/>
                  </a:lnSpc>
                </a:pPr>
              </a:p>
            </p:txBody>
          </p:sp>
        </p:grpSp>
        <p:sp>
          <p:nvSpPr>
            <p:cNvPr name="TextBox 20" id="20"/>
            <p:cNvSpPr txBox="true"/>
            <p:nvPr/>
          </p:nvSpPr>
          <p:spPr>
            <a:xfrm rot="-8933298">
              <a:off x="647796" y="7948965"/>
              <a:ext cx="7676156" cy="60251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37"/>
                </a:lnSpc>
              </a:pPr>
              <a:r>
                <a:rPr lang="en-US" sz="3178" b="true">
                  <a:solidFill>
                    <a:srgbClr val="1C6976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Jacques ILLY</a:t>
              </a:r>
            </a:p>
          </p:txBody>
        </p:sp>
        <p:grpSp>
          <p:nvGrpSpPr>
            <p:cNvPr name="Group 21" id="21"/>
            <p:cNvGrpSpPr/>
            <p:nvPr/>
          </p:nvGrpSpPr>
          <p:grpSpPr>
            <a:xfrm rot="-6345082">
              <a:off x="7629073" y="14350133"/>
              <a:ext cx="1570966" cy="1486079"/>
              <a:chOff x="0" y="0"/>
              <a:chExt cx="812800" cy="768881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812800" cy="768881"/>
              </a:xfrm>
              <a:custGeom>
                <a:avLst/>
                <a:gdLst/>
                <a:ahLst/>
                <a:cxnLst/>
                <a:rect r="r" b="b" t="t" l="l"/>
                <a:pathLst>
                  <a:path h="768881" w="812800">
                    <a:moveTo>
                      <a:pt x="406400" y="0"/>
                    </a:moveTo>
                    <a:cubicBezTo>
                      <a:pt x="181951" y="0"/>
                      <a:pt x="0" y="172120"/>
                      <a:pt x="0" y="384440"/>
                    </a:cubicBezTo>
                    <a:cubicBezTo>
                      <a:pt x="0" y="596761"/>
                      <a:pt x="181951" y="768881"/>
                      <a:pt x="406400" y="768881"/>
                    </a:cubicBezTo>
                    <a:cubicBezTo>
                      <a:pt x="630849" y="768881"/>
                      <a:pt x="812800" y="596761"/>
                      <a:pt x="812800" y="384440"/>
                    </a:cubicBezTo>
                    <a:cubicBezTo>
                      <a:pt x="812800" y="172120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97B2"/>
              </a:solidFill>
              <a:ln w="2857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76200" y="33983"/>
                <a:ext cx="660400" cy="662816"/>
              </a:xfrm>
              <a:prstGeom prst="rect">
                <a:avLst/>
              </a:prstGeom>
            </p:spPr>
            <p:txBody>
              <a:bodyPr anchor="ctr" rtlCol="false" tIns="35873" lIns="35873" bIns="35873" rIns="35873"/>
              <a:lstStyle/>
              <a:p>
                <a:pPr algn="ctr">
                  <a:lnSpc>
                    <a:spcPts val="1384"/>
                  </a:lnSpc>
                </a:pPr>
              </a:p>
            </p:txBody>
          </p:sp>
        </p:grpSp>
        <p:sp>
          <p:nvSpPr>
            <p:cNvPr name="TextBox 24" id="24"/>
            <p:cNvSpPr txBox="true"/>
            <p:nvPr/>
          </p:nvSpPr>
          <p:spPr>
            <a:xfrm rot="9854917">
              <a:off x="-62499" y="16139301"/>
              <a:ext cx="7684403" cy="60251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37"/>
                </a:lnSpc>
              </a:pPr>
              <a:r>
                <a:rPr lang="en-US" sz="3178" b="true">
                  <a:solidFill>
                    <a:srgbClr val="1C6976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Paul BALAFAI</a:t>
              </a:r>
            </a:p>
          </p:txBody>
        </p:sp>
        <p:grpSp>
          <p:nvGrpSpPr>
            <p:cNvPr name="Group 25" id="25"/>
            <p:cNvGrpSpPr/>
            <p:nvPr/>
          </p:nvGrpSpPr>
          <p:grpSpPr>
            <a:xfrm rot="8742762">
              <a:off x="13384698" y="15182145"/>
              <a:ext cx="1459610" cy="1570966"/>
              <a:chOff x="0" y="0"/>
              <a:chExt cx="755186" cy="81280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755186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755186">
                    <a:moveTo>
                      <a:pt x="377593" y="0"/>
                    </a:moveTo>
                    <a:cubicBezTo>
                      <a:pt x="169054" y="0"/>
                      <a:pt x="0" y="181951"/>
                      <a:pt x="0" y="406400"/>
                    </a:cubicBezTo>
                    <a:cubicBezTo>
                      <a:pt x="0" y="630849"/>
                      <a:pt x="169054" y="812800"/>
                      <a:pt x="377593" y="812800"/>
                    </a:cubicBezTo>
                    <a:cubicBezTo>
                      <a:pt x="586132" y="812800"/>
                      <a:pt x="755186" y="630849"/>
                      <a:pt x="755186" y="406400"/>
                    </a:cubicBezTo>
                    <a:cubicBezTo>
                      <a:pt x="755186" y="181951"/>
                      <a:pt x="586132" y="0"/>
                      <a:pt x="377593" y="0"/>
                    </a:cubicBezTo>
                    <a:close/>
                  </a:path>
                </a:pathLst>
              </a:custGeom>
              <a:solidFill>
                <a:srgbClr val="0097B2"/>
              </a:solidFill>
              <a:ln w="2857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70799" y="38100"/>
                <a:ext cx="613588" cy="698500"/>
              </a:xfrm>
              <a:prstGeom prst="rect">
                <a:avLst/>
              </a:prstGeom>
            </p:spPr>
            <p:txBody>
              <a:bodyPr anchor="ctr" rtlCol="false" tIns="35873" lIns="35873" bIns="35873" rIns="35873"/>
              <a:lstStyle/>
              <a:p>
                <a:pPr algn="ctr">
                  <a:lnSpc>
                    <a:spcPts val="1384"/>
                  </a:lnSpc>
                </a:pPr>
              </a:p>
            </p:txBody>
          </p:sp>
        </p:grpSp>
        <p:sp>
          <p:nvSpPr>
            <p:cNvPr name="TextBox 28" id="28"/>
            <p:cNvSpPr txBox="true"/>
            <p:nvPr/>
          </p:nvSpPr>
          <p:spPr>
            <a:xfrm rot="3342762">
              <a:off x="12700924" y="19833792"/>
              <a:ext cx="8012527" cy="60251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37"/>
                </a:lnSpc>
              </a:pPr>
              <a:r>
                <a:rPr lang="en-US" sz="3178" b="true">
                  <a:solidFill>
                    <a:srgbClr val="1C6976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Cheikh Oumar DIALLO</a:t>
              </a:r>
            </a:p>
          </p:txBody>
        </p:sp>
        <p:grpSp>
          <p:nvGrpSpPr>
            <p:cNvPr name="Group 29" id="29"/>
            <p:cNvGrpSpPr/>
            <p:nvPr/>
          </p:nvGrpSpPr>
          <p:grpSpPr>
            <a:xfrm rot="10631446">
              <a:off x="10170879" y="16289892"/>
              <a:ext cx="1501506" cy="1570966"/>
              <a:chOff x="0" y="0"/>
              <a:chExt cx="776862" cy="812800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776862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776862">
                    <a:moveTo>
                      <a:pt x="388431" y="0"/>
                    </a:moveTo>
                    <a:cubicBezTo>
                      <a:pt x="173906" y="0"/>
                      <a:pt x="0" y="181951"/>
                      <a:pt x="0" y="406400"/>
                    </a:cubicBezTo>
                    <a:cubicBezTo>
                      <a:pt x="0" y="630849"/>
                      <a:pt x="173906" y="812800"/>
                      <a:pt x="388431" y="812800"/>
                    </a:cubicBezTo>
                    <a:cubicBezTo>
                      <a:pt x="602956" y="812800"/>
                      <a:pt x="776862" y="630849"/>
                      <a:pt x="776862" y="406400"/>
                    </a:cubicBezTo>
                    <a:cubicBezTo>
                      <a:pt x="776862" y="181951"/>
                      <a:pt x="602956" y="0"/>
                      <a:pt x="388431" y="0"/>
                    </a:cubicBezTo>
                    <a:close/>
                  </a:path>
                </a:pathLst>
              </a:custGeom>
              <a:solidFill>
                <a:srgbClr val="0097B2"/>
              </a:solidFill>
              <a:ln w="2857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72831" y="38100"/>
                <a:ext cx="631200" cy="698500"/>
              </a:xfrm>
              <a:prstGeom prst="rect">
                <a:avLst/>
              </a:prstGeom>
            </p:spPr>
            <p:txBody>
              <a:bodyPr anchor="ctr" rtlCol="false" tIns="35873" lIns="35873" bIns="35873" rIns="35873"/>
              <a:lstStyle/>
              <a:p>
                <a:pPr algn="ctr">
                  <a:lnSpc>
                    <a:spcPts val="1384"/>
                  </a:lnSpc>
                </a:pPr>
              </a:p>
            </p:txBody>
          </p:sp>
        </p:grpSp>
        <p:sp>
          <p:nvSpPr>
            <p:cNvPr name="TextBox 32" id="32"/>
            <p:cNvSpPr txBox="true"/>
            <p:nvPr/>
          </p:nvSpPr>
          <p:spPr>
            <a:xfrm rot="5231446">
              <a:off x="6831153" y="21533733"/>
              <a:ext cx="8012527" cy="11624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37"/>
                </a:lnSpc>
              </a:pPr>
              <a:r>
                <a:rPr lang="en-US" sz="3178" b="true">
                  <a:solidFill>
                    <a:srgbClr val="1C6976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Ndeye Ramatoulaye Ndoye FALL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1353337" y="1028700"/>
            <a:ext cx="5905963" cy="1392427"/>
            <a:chOff x="0" y="0"/>
            <a:chExt cx="7874617" cy="1856570"/>
          </a:xfrm>
        </p:grpSpPr>
        <p:grpSp>
          <p:nvGrpSpPr>
            <p:cNvPr name="Group 34" id="34"/>
            <p:cNvGrpSpPr/>
            <p:nvPr/>
          </p:nvGrpSpPr>
          <p:grpSpPr>
            <a:xfrm rot="1471508">
              <a:off x="225077" y="32097"/>
              <a:ext cx="409715" cy="1173520"/>
              <a:chOff x="0" y="0"/>
              <a:chExt cx="106268" cy="304376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106268" cy="304376"/>
              </a:xfrm>
              <a:custGeom>
                <a:avLst/>
                <a:gdLst/>
                <a:ahLst/>
                <a:cxnLst/>
                <a:rect r="r" b="b" t="t" l="l"/>
                <a:pathLst>
                  <a:path h="304376" w="106268">
                    <a:moveTo>
                      <a:pt x="0" y="0"/>
                    </a:moveTo>
                    <a:lnTo>
                      <a:pt x="106268" y="0"/>
                    </a:lnTo>
                    <a:lnTo>
                      <a:pt x="106268" y="304376"/>
                    </a:lnTo>
                    <a:lnTo>
                      <a:pt x="0" y="304376"/>
                    </a:lnTo>
                    <a:close/>
                  </a:path>
                </a:pathLst>
              </a:custGeom>
              <a:solidFill>
                <a:srgbClr val="0097B2"/>
              </a:solidFill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0" y="-57150"/>
                <a:ext cx="106268" cy="36152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6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7" id="37"/>
            <p:cNvGrpSpPr/>
            <p:nvPr/>
          </p:nvGrpSpPr>
          <p:grpSpPr>
            <a:xfrm rot="1471508">
              <a:off x="494755" y="650953"/>
              <a:ext cx="409715" cy="1173520"/>
              <a:chOff x="0" y="0"/>
              <a:chExt cx="106268" cy="304376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106268" cy="304376"/>
              </a:xfrm>
              <a:custGeom>
                <a:avLst/>
                <a:gdLst/>
                <a:ahLst/>
                <a:cxnLst/>
                <a:rect r="r" b="b" t="t" l="l"/>
                <a:pathLst>
                  <a:path h="304376" w="106268">
                    <a:moveTo>
                      <a:pt x="0" y="0"/>
                    </a:moveTo>
                    <a:lnTo>
                      <a:pt x="106268" y="0"/>
                    </a:lnTo>
                    <a:lnTo>
                      <a:pt x="106268" y="304376"/>
                    </a:lnTo>
                    <a:lnTo>
                      <a:pt x="0" y="304376"/>
                    </a:lnTo>
                    <a:close/>
                  </a:path>
                </a:pathLst>
              </a:custGeom>
              <a:solidFill>
                <a:srgbClr val="0097B2"/>
              </a:solidFill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0" y="-57150"/>
                <a:ext cx="106268" cy="36152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6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40" id="40"/>
            <p:cNvSpPr txBox="true"/>
            <p:nvPr/>
          </p:nvSpPr>
          <p:spPr>
            <a:xfrm rot="0">
              <a:off x="1664633" y="260962"/>
              <a:ext cx="6209984" cy="8805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299"/>
                </a:lnSpc>
                <a:spcBef>
                  <a:spcPct val="0"/>
                </a:spcBef>
              </a:pPr>
              <a:r>
                <a:rPr lang="en-US" sz="3785" b="true">
                  <a:solidFill>
                    <a:srgbClr val="329A87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Séries temporelles</a:t>
              </a:r>
            </a:p>
          </p:txBody>
        </p:sp>
      </p:grpSp>
    </p:spTree>
  </p:cSld>
  <p:clrMapOvr>
    <a:masterClrMapping/>
  </p:clrMapOvr>
  <p:transition spd="fast">
    <p:push dir="l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669783" y="-1450106"/>
            <a:ext cx="18107330" cy="19608651"/>
            <a:chOff x="0" y="0"/>
            <a:chExt cx="24143107" cy="26144868"/>
          </a:xfrm>
        </p:grpSpPr>
        <p:grpSp>
          <p:nvGrpSpPr>
            <p:cNvPr name="Group 3" id="3"/>
            <p:cNvGrpSpPr/>
            <p:nvPr/>
          </p:nvGrpSpPr>
          <p:grpSpPr>
            <a:xfrm rot="5399999">
              <a:off x="7632262" y="9230388"/>
              <a:ext cx="8075694" cy="7735298"/>
              <a:chOff x="0" y="0"/>
              <a:chExt cx="6350000" cy="6082343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-119315">
                <a:off x="-56370" y="-59016"/>
                <a:ext cx="6462740" cy="6200375"/>
              </a:xfrm>
              <a:custGeom>
                <a:avLst/>
                <a:gdLst/>
                <a:ahLst/>
                <a:cxnLst/>
                <a:rect r="r" b="b" t="t" l="l"/>
                <a:pathLst>
                  <a:path h="6200375" w="6462740">
                    <a:moveTo>
                      <a:pt x="6404457" y="3210399"/>
                    </a:moveTo>
                    <a:cubicBezTo>
                      <a:pt x="6346176" y="4888912"/>
                      <a:pt x="4878260" y="6200375"/>
                      <a:pt x="3125839" y="6139528"/>
                    </a:cubicBezTo>
                    <a:cubicBezTo>
                      <a:pt x="1373394" y="6078680"/>
                      <a:pt x="0" y="4668563"/>
                      <a:pt x="58281" y="2990050"/>
                    </a:cubicBezTo>
                    <a:cubicBezTo>
                      <a:pt x="116564" y="1311452"/>
                      <a:pt x="1584455" y="0"/>
                      <a:pt x="3336901" y="60848"/>
                    </a:cubicBezTo>
                    <a:cubicBezTo>
                      <a:pt x="5089346" y="121695"/>
                      <a:pt x="6462740" y="1531801"/>
                      <a:pt x="6404457" y="3210399"/>
                    </a:cubicBezTo>
                    <a:close/>
                  </a:path>
                </a:pathLst>
              </a:custGeom>
              <a:blipFill>
                <a:blip r:embed="rId2"/>
                <a:stretch>
                  <a:fillRect l="-38770" t="-1777" r="-38770" b="-1777"/>
                </a:stretch>
              </a:blipFill>
            </p:spPr>
          </p:sp>
        </p:grpSp>
        <p:grpSp>
          <p:nvGrpSpPr>
            <p:cNvPr name="Group 5" id="5"/>
            <p:cNvGrpSpPr/>
            <p:nvPr/>
          </p:nvGrpSpPr>
          <p:grpSpPr>
            <a:xfrm rot="5399999">
              <a:off x="14701299" y="12345659"/>
              <a:ext cx="1570966" cy="1504755"/>
              <a:chOff x="0" y="0"/>
              <a:chExt cx="812800" cy="778543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812800" cy="778543"/>
              </a:xfrm>
              <a:custGeom>
                <a:avLst/>
                <a:gdLst/>
                <a:ahLst/>
                <a:cxnLst/>
                <a:rect r="r" b="b" t="t" l="l"/>
                <a:pathLst>
                  <a:path h="778543" w="812800">
                    <a:moveTo>
                      <a:pt x="406400" y="0"/>
                    </a:moveTo>
                    <a:cubicBezTo>
                      <a:pt x="181951" y="0"/>
                      <a:pt x="0" y="174283"/>
                      <a:pt x="0" y="389272"/>
                    </a:cubicBezTo>
                    <a:cubicBezTo>
                      <a:pt x="0" y="604260"/>
                      <a:pt x="181951" y="778543"/>
                      <a:pt x="406400" y="778543"/>
                    </a:cubicBezTo>
                    <a:cubicBezTo>
                      <a:pt x="630849" y="778543"/>
                      <a:pt x="812800" y="604260"/>
                      <a:pt x="812800" y="389272"/>
                    </a:cubicBezTo>
                    <a:cubicBezTo>
                      <a:pt x="812800" y="174283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97B2"/>
              </a:solidFill>
              <a:ln w="2857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76200" y="34888"/>
                <a:ext cx="660400" cy="670666"/>
              </a:xfrm>
              <a:prstGeom prst="rect">
                <a:avLst/>
              </a:prstGeom>
            </p:spPr>
            <p:txBody>
              <a:bodyPr anchor="ctr" rtlCol="false" tIns="35873" lIns="35873" bIns="35873" rIns="35873"/>
              <a:lstStyle/>
              <a:p>
                <a:pPr algn="ctr">
                  <a:lnSpc>
                    <a:spcPts val="1384"/>
                  </a:lnSpc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16451467" y="12815830"/>
              <a:ext cx="7691639" cy="11624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37"/>
                </a:lnSpc>
              </a:pPr>
              <a:r>
                <a:rPr lang="en-US" sz="3178" b="true">
                  <a:solidFill>
                    <a:srgbClr val="1C6976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Gandwende Judicaël Oscar KAFANDO</a:t>
              </a:r>
            </a:p>
          </p:txBody>
        </p:sp>
        <p:grpSp>
          <p:nvGrpSpPr>
            <p:cNvPr name="Group 9" id="9"/>
            <p:cNvGrpSpPr/>
            <p:nvPr/>
          </p:nvGrpSpPr>
          <p:grpSpPr>
            <a:xfrm rot="2457872">
              <a:off x="13473117" y="9318915"/>
              <a:ext cx="1447270" cy="1570966"/>
              <a:chOff x="0" y="0"/>
              <a:chExt cx="748801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748801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748801">
                    <a:moveTo>
                      <a:pt x="374401" y="0"/>
                    </a:moveTo>
                    <a:cubicBezTo>
                      <a:pt x="167625" y="0"/>
                      <a:pt x="0" y="181951"/>
                      <a:pt x="0" y="406400"/>
                    </a:cubicBezTo>
                    <a:cubicBezTo>
                      <a:pt x="0" y="630849"/>
                      <a:pt x="167625" y="812800"/>
                      <a:pt x="374401" y="812800"/>
                    </a:cubicBezTo>
                    <a:cubicBezTo>
                      <a:pt x="581176" y="812800"/>
                      <a:pt x="748801" y="630849"/>
                      <a:pt x="748801" y="406400"/>
                    </a:cubicBezTo>
                    <a:cubicBezTo>
                      <a:pt x="748801" y="181951"/>
                      <a:pt x="581176" y="0"/>
                      <a:pt x="374401" y="0"/>
                    </a:cubicBezTo>
                    <a:close/>
                  </a:path>
                </a:pathLst>
              </a:custGeom>
              <a:solidFill>
                <a:srgbClr val="0097B2"/>
              </a:solidFill>
              <a:ln w="2857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70200" y="38100"/>
                <a:ext cx="608401" cy="698500"/>
              </a:xfrm>
              <a:prstGeom prst="rect">
                <a:avLst/>
              </a:prstGeom>
            </p:spPr>
            <p:txBody>
              <a:bodyPr anchor="ctr" rtlCol="false" tIns="35873" lIns="35873" bIns="35873" rIns="35873"/>
              <a:lstStyle/>
              <a:p>
                <a:pPr algn="ctr">
                  <a:lnSpc>
                    <a:spcPts val="1384"/>
                  </a:lnSpc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-2942127">
              <a:off x="13243222" y="6016682"/>
              <a:ext cx="8012527" cy="60251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37"/>
                </a:lnSpc>
              </a:pPr>
              <a:r>
                <a:rPr lang="en-US" sz="3178" b="true">
                  <a:solidFill>
                    <a:srgbClr val="8DE8E8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Albert ZINABA</a:t>
              </a:r>
            </a:p>
          </p:txBody>
        </p:sp>
        <p:grpSp>
          <p:nvGrpSpPr>
            <p:cNvPr name="Group 13" id="13"/>
            <p:cNvGrpSpPr/>
            <p:nvPr/>
          </p:nvGrpSpPr>
          <p:grpSpPr>
            <a:xfrm rot="0">
              <a:off x="10821264" y="8251732"/>
              <a:ext cx="1504755" cy="1570966"/>
              <a:chOff x="0" y="0"/>
              <a:chExt cx="778543" cy="8128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778543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778543">
                    <a:moveTo>
                      <a:pt x="389272" y="0"/>
                    </a:moveTo>
                    <a:cubicBezTo>
                      <a:pt x="174283" y="0"/>
                      <a:pt x="0" y="181951"/>
                      <a:pt x="0" y="406400"/>
                    </a:cubicBezTo>
                    <a:cubicBezTo>
                      <a:pt x="0" y="630849"/>
                      <a:pt x="174283" y="812800"/>
                      <a:pt x="389272" y="812800"/>
                    </a:cubicBezTo>
                    <a:cubicBezTo>
                      <a:pt x="604260" y="812800"/>
                      <a:pt x="778543" y="630849"/>
                      <a:pt x="778543" y="406400"/>
                    </a:cubicBezTo>
                    <a:cubicBezTo>
                      <a:pt x="778543" y="181951"/>
                      <a:pt x="604260" y="0"/>
                      <a:pt x="389272" y="0"/>
                    </a:cubicBezTo>
                    <a:close/>
                  </a:path>
                </a:pathLst>
              </a:custGeom>
              <a:solidFill>
                <a:srgbClr val="0097B2"/>
              </a:solidFill>
              <a:ln w="2857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72988" y="38100"/>
                <a:ext cx="632566" cy="698500"/>
              </a:xfrm>
              <a:prstGeom prst="rect">
                <a:avLst/>
              </a:prstGeom>
            </p:spPr>
            <p:txBody>
              <a:bodyPr anchor="ctr" rtlCol="false" tIns="35873" lIns="35873" bIns="35873" rIns="35873"/>
              <a:lstStyle/>
              <a:p>
                <a:pPr algn="ctr">
                  <a:lnSpc>
                    <a:spcPts val="1384"/>
                  </a:lnSpc>
                </a:pPr>
              </a:p>
            </p:txBody>
          </p:sp>
        </p:grpSp>
        <p:sp>
          <p:nvSpPr>
            <p:cNvPr name="TextBox 16" id="16"/>
            <p:cNvSpPr txBox="true"/>
            <p:nvPr/>
          </p:nvSpPr>
          <p:spPr>
            <a:xfrm rot="-5400000">
              <a:off x="7572927" y="3705007"/>
              <a:ext cx="8012527" cy="60251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37"/>
                </a:lnSpc>
              </a:pPr>
              <a:r>
                <a:rPr lang="en-US" sz="3178" b="true">
                  <a:solidFill>
                    <a:srgbClr val="8DE8E8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Mamady I BERETE</a:t>
              </a:r>
            </a:p>
          </p:txBody>
        </p:sp>
        <p:grpSp>
          <p:nvGrpSpPr>
            <p:cNvPr name="Group 17" id="17"/>
            <p:cNvGrpSpPr/>
            <p:nvPr/>
          </p:nvGrpSpPr>
          <p:grpSpPr>
            <a:xfrm rot="-3533298">
              <a:off x="7823862" y="10133668"/>
              <a:ext cx="1570966" cy="1464795"/>
              <a:chOff x="0" y="0"/>
              <a:chExt cx="812800" cy="757868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812800" cy="757868"/>
              </a:xfrm>
              <a:custGeom>
                <a:avLst/>
                <a:gdLst/>
                <a:ahLst/>
                <a:cxnLst/>
                <a:rect r="r" b="b" t="t" l="l"/>
                <a:pathLst>
                  <a:path h="757868" w="812800">
                    <a:moveTo>
                      <a:pt x="406400" y="0"/>
                    </a:moveTo>
                    <a:cubicBezTo>
                      <a:pt x="181951" y="0"/>
                      <a:pt x="0" y="169655"/>
                      <a:pt x="0" y="378934"/>
                    </a:cubicBezTo>
                    <a:cubicBezTo>
                      <a:pt x="0" y="588214"/>
                      <a:pt x="181951" y="757868"/>
                      <a:pt x="406400" y="757868"/>
                    </a:cubicBezTo>
                    <a:cubicBezTo>
                      <a:pt x="630849" y="757868"/>
                      <a:pt x="812800" y="588214"/>
                      <a:pt x="812800" y="378934"/>
                    </a:cubicBezTo>
                    <a:cubicBezTo>
                      <a:pt x="812800" y="169655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97B2"/>
              </a:solidFill>
              <a:ln w="2857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76200" y="32950"/>
                <a:ext cx="660400" cy="653868"/>
              </a:xfrm>
              <a:prstGeom prst="rect">
                <a:avLst/>
              </a:prstGeom>
            </p:spPr>
            <p:txBody>
              <a:bodyPr anchor="ctr" rtlCol="false" tIns="35873" lIns="35873" bIns="35873" rIns="35873"/>
              <a:lstStyle/>
              <a:p>
                <a:pPr algn="ctr">
                  <a:lnSpc>
                    <a:spcPts val="1384"/>
                  </a:lnSpc>
                </a:pPr>
              </a:p>
            </p:txBody>
          </p:sp>
        </p:grpSp>
        <p:sp>
          <p:nvSpPr>
            <p:cNvPr name="TextBox 20" id="20"/>
            <p:cNvSpPr txBox="true"/>
            <p:nvPr/>
          </p:nvSpPr>
          <p:spPr>
            <a:xfrm rot="-8933298">
              <a:off x="647796" y="7948965"/>
              <a:ext cx="7676156" cy="60251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37"/>
                </a:lnSpc>
              </a:pPr>
              <a:r>
                <a:rPr lang="en-US" sz="3178" b="true">
                  <a:solidFill>
                    <a:srgbClr val="1C6976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Jacques ILLY</a:t>
              </a:r>
            </a:p>
          </p:txBody>
        </p:sp>
        <p:grpSp>
          <p:nvGrpSpPr>
            <p:cNvPr name="Group 21" id="21"/>
            <p:cNvGrpSpPr/>
            <p:nvPr/>
          </p:nvGrpSpPr>
          <p:grpSpPr>
            <a:xfrm rot="-6345082">
              <a:off x="7629073" y="14350133"/>
              <a:ext cx="1570966" cy="1486079"/>
              <a:chOff x="0" y="0"/>
              <a:chExt cx="812800" cy="768881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812800" cy="768881"/>
              </a:xfrm>
              <a:custGeom>
                <a:avLst/>
                <a:gdLst/>
                <a:ahLst/>
                <a:cxnLst/>
                <a:rect r="r" b="b" t="t" l="l"/>
                <a:pathLst>
                  <a:path h="768881" w="812800">
                    <a:moveTo>
                      <a:pt x="406400" y="0"/>
                    </a:moveTo>
                    <a:cubicBezTo>
                      <a:pt x="181951" y="0"/>
                      <a:pt x="0" y="172120"/>
                      <a:pt x="0" y="384440"/>
                    </a:cubicBezTo>
                    <a:cubicBezTo>
                      <a:pt x="0" y="596761"/>
                      <a:pt x="181951" y="768881"/>
                      <a:pt x="406400" y="768881"/>
                    </a:cubicBezTo>
                    <a:cubicBezTo>
                      <a:pt x="630849" y="768881"/>
                      <a:pt x="812800" y="596761"/>
                      <a:pt x="812800" y="384440"/>
                    </a:cubicBezTo>
                    <a:cubicBezTo>
                      <a:pt x="812800" y="172120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97B2"/>
              </a:solidFill>
              <a:ln w="2857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76200" y="33983"/>
                <a:ext cx="660400" cy="662816"/>
              </a:xfrm>
              <a:prstGeom prst="rect">
                <a:avLst/>
              </a:prstGeom>
            </p:spPr>
            <p:txBody>
              <a:bodyPr anchor="ctr" rtlCol="false" tIns="35873" lIns="35873" bIns="35873" rIns="35873"/>
              <a:lstStyle/>
              <a:p>
                <a:pPr algn="ctr">
                  <a:lnSpc>
                    <a:spcPts val="1384"/>
                  </a:lnSpc>
                </a:pPr>
              </a:p>
            </p:txBody>
          </p:sp>
        </p:grpSp>
        <p:sp>
          <p:nvSpPr>
            <p:cNvPr name="TextBox 24" id="24"/>
            <p:cNvSpPr txBox="true"/>
            <p:nvPr/>
          </p:nvSpPr>
          <p:spPr>
            <a:xfrm rot="9854917">
              <a:off x="-62499" y="16139301"/>
              <a:ext cx="7684403" cy="60251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37"/>
                </a:lnSpc>
              </a:pPr>
              <a:r>
                <a:rPr lang="en-US" sz="3178" b="true">
                  <a:solidFill>
                    <a:srgbClr val="1C6976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Paul BALAFAI</a:t>
              </a:r>
            </a:p>
          </p:txBody>
        </p:sp>
        <p:grpSp>
          <p:nvGrpSpPr>
            <p:cNvPr name="Group 25" id="25"/>
            <p:cNvGrpSpPr/>
            <p:nvPr/>
          </p:nvGrpSpPr>
          <p:grpSpPr>
            <a:xfrm rot="8742762">
              <a:off x="13384698" y="15182145"/>
              <a:ext cx="1459610" cy="1570966"/>
              <a:chOff x="0" y="0"/>
              <a:chExt cx="755186" cy="81280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755186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755186">
                    <a:moveTo>
                      <a:pt x="377593" y="0"/>
                    </a:moveTo>
                    <a:cubicBezTo>
                      <a:pt x="169054" y="0"/>
                      <a:pt x="0" y="181951"/>
                      <a:pt x="0" y="406400"/>
                    </a:cubicBezTo>
                    <a:cubicBezTo>
                      <a:pt x="0" y="630849"/>
                      <a:pt x="169054" y="812800"/>
                      <a:pt x="377593" y="812800"/>
                    </a:cubicBezTo>
                    <a:cubicBezTo>
                      <a:pt x="586132" y="812800"/>
                      <a:pt x="755186" y="630849"/>
                      <a:pt x="755186" y="406400"/>
                    </a:cubicBezTo>
                    <a:cubicBezTo>
                      <a:pt x="755186" y="181951"/>
                      <a:pt x="586132" y="0"/>
                      <a:pt x="377593" y="0"/>
                    </a:cubicBezTo>
                    <a:close/>
                  </a:path>
                </a:pathLst>
              </a:custGeom>
              <a:solidFill>
                <a:srgbClr val="0097B2"/>
              </a:solidFill>
              <a:ln w="2857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70799" y="38100"/>
                <a:ext cx="613588" cy="698500"/>
              </a:xfrm>
              <a:prstGeom prst="rect">
                <a:avLst/>
              </a:prstGeom>
            </p:spPr>
            <p:txBody>
              <a:bodyPr anchor="ctr" rtlCol="false" tIns="35873" lIns="35873" bIns="35873" rIns="35873"/>
              <a:lstStyle/>
              <a:p>
                <a:pPr algn="ctr">
                  <a:lnSpc>
                    <a:spcPts val="1384"/>
                  </a:lnSpc>
                </a:pPr>
              </a:p>
            </p:txBody>
          </p:sp>
        </p:grpSp>
        <p:sp>
          <p:nvSpPr>
            <p:cNvPr name="TextBox 28" id="28"/>
            <p:cNvSpPr txBox="true"/>
            <p:nvPr/>
          </p:nvSpPr>
          <p:spPr>
            <a:xfrm rot="3342762">
              <a:off x="12700924" y="19833792"/>
              <a:ext cx="8012527" cy="60251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37"/>
                </a:lnSpc>
              </a:pPr>
              <a:r>
                <a:rPr lang="en-US" sz="3178" b="true">
                  <a:solidFill>
                    <a:srgbClr val="1C6976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Cheikh Oumar DIALLO</a:t>
              </a:r>
            </a:p>
          </p:txBody>
        </p:sp>
        <p:grpSp>
          <p:nvGrpSpPr>
            <p:cNvPr name="Group 29" id="29"/>
            <p:cNvGrpSpPr/>
            <p:nvPr/>
          </p:nvGrpSpPr>
          <p:grpSpPr>
            <a:xfrm rot="10631446">
              <a:off x="10170879" y="16289892"/>
              <a:ext cx="1501506" cy="1570966"/>
              <a:chOff x="0" y="0"/>
              <a:chExt cx="776862" cy="812800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776862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776862">
                    <a:moveTo>
                      <a:pt x="388431" y="0"/>
                    </a:moveTo>
                    <a:cubicBezTo>
                      <a:pt x="173906" y="0"/>
                      <a:pt x="0" y="181951"/>
                      <a:pt x="0" y="406400"/>
                    </a:cubicBezTo>
                    <a:cubicBezTo>
                      <a:pt x="0" y="630849"/>
                      <a:pt x="173906" y="812800"/>
                      <a:pt x="388431" y="812800"/>
                    </a:cubicBezTo>
                    <a:cubicBezTo>
                      <a:pt x="602956" y="812800"/>
                      <a:pt x="776862" y="630849"/>
                      <a:pt x="776862" y="406400"/>
                    </a:cubicBezTo>
                    <a:cubicBezTo>
                      <a:pt x="776862" y="181951"/>
                      <a:pt x="602956" y="0"/>
                      <a:pt x="388431" y="0"/>
                    </a:cubicBezTo>
                    <a:close/>
                  </a:path>
                </a:pathLst>
              </a:custGeom>
              <a:solidFill>
                <a:srgbClr val="0097B2"/>
              </a:solidFill>
              <a:ln w="2857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72831" y="38100"/>
                <a:ext cx="631200" cy="698500"/>
              </a:xfrm>
              <a:prstGeom prst="rect">
                <a:avLst/>
              </a:prstGeom>
            </p:spPr>
            <p:txBody>
              <a:bodyPr anchor="ctr" rtlCol="false" tIns="35873" lIns="35873" bIns="35873" rIns="35873"/>
              <a:lstStyle/>
              <a:p>
                <a:pPr algn="ctr">
                  <a:lnSpc>
                    <a:spcPts val="1384"/>
                  </a:lnSpc>
                </a:pPr>
              </a:p>
            </p:txBody>
          </p:sp>
        </p:grpSp>
        <p:sp>
          <p:nvSpPr>
            <p:cNvPr name="TextBox 32" id="32"/>
            <p:cNvSpPr txBox="true"/>
            <p:nvPr/>
          </p:nvSpPr>
          <p:spPr>
            <a:xfrm rot="5231446">
              <a:off x="6831153" y="21533733"/>
              <a:ext cx="8012527" cy="11624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37"/>
                </a:lnSpc>
              </a:pPr>
              <a:r>
                <a:rPr lang="en-US" sz="3178" b="true">
                  <a:solidFill>
                    <a:srgbClr val="1C6976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Ndeye Ramatoulaye Ndoye FALL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1353337" y="1028700"/>
            <a:ext cx="5905963" cy="1392427"/>
            <a:chOff x="0" y="0"/>
            <a:chExt cx="7874617" cy="1856570"/>
          </a:xfrm>
        </p:grpSpPr>
        <p:grpSp>
          <p:nvGrpSpPr>
            <p:cNvPr name="Group 34" id="34"/>
            <p:cNvGrpSpPr/>
            <p:nvPr/>
          </p:nvGrpSpPr>
          <p:grpSpPr>
            <a:xfrm rot="1471508">
              <a:off x="225077" y="32097"/>
              <a:ext cx="409715" cy="1173520"/>
              <a:chOff x="0" y="0"/>
              <a:chExt cx="106268" cy="304376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106268" cy="304376"/>
              </a:xfrm>
              <a:custGeom>
                <a:avLst/>
                <a:gdLst/>
                <a:ahLst/>
                <a:cxnLst/>
                <a:rect r="r" b="b" t="t" l="l"/>
                <a:pathLst>
                  <a:path h="304376" w="106268">
                    <a:moveTo>
                      <a:pt x="0" y="0"/>
                    </a:moveTo>
                    <a:lnTo>
                      <a:pt x="106268" y="0"/>
                    </a:lnTo>
                    <a:lnTo>
                      <a:pt x="106268" y="304376"/>
                    </a:lnTo>
                    <a:lnTo>
                      <a:pt x="0" y="304376"/>
                    </a:lnTo>
                    <a:close/>
                  </a:path>
                </a:pathLst>
              </a:custGeom>
              <a:solidFill>
                <a:srgbClr val="0097B2"/>
              </a:solidFill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0" y="-57150"/>
                <a:ext cx="106268" cy="36152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6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7" id="37"/>
            <p:cNvGrpSpPr/>
            <p:nvPr/>
          </p:nvGrpSpPr>
          <p:grpSpPr>
            <a:xfrm rot="1471508">
              <a:off x="494755" y="650953"/>
              <a:ext cx="409715" cy="1173520"/>
              <a:chOff x="0" y="0"/>
              <a:chExt cx="106268" cy="304376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106268" cy="304376"/>
              </a:xfrm>
              <a:custGeom>
                <a:avLst/>
                <a:gdLst/>
                <a:ahLst/>
                <a:cxnLst/>
                <a:rect r="r" b="b" t="t" l="l"/>
                <a:pathLst>
                  <a:path h="304376" w="106268">
                    <a:moveTo>
                      <a:pt x="0" y="0"/>
                    </a:moveTo>
                    <a:lnTo>
                      <a:pt x="106268" y="0"/>
                    </a:lnTo>
                    <a:lnTo>
                      <a:pt x="106268" y="304376"/>
                    </a:lnTo>
                    <a:lnTo>
                      <a:pt x="0" y="304376"/>
                    </a:lnTo>
                    <a:close/>
                  </a:path>
                </a:pathLst>
              </a:custGeom>
              <a:solidFill>
                <a:srgbClr val="0097B2"/>
              </a:solidFill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0" y="-57150"/>
                <a:ext cx="106268" cy="36152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6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40" id="40"/>
            <p:cNvSpPr txBox="true"/>
            <p:nvPr/>
          </p:nvSpPr>
          <p:spPr>
            <a:xfrm rot="0">
              <a:off x="1664633" y="260962"/>
              <a:ext cx="6209984" cy="8805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299"/>
                </a:lnSpc>
                <a:spcBef>
                  <a:spcPct val="0"/>
                </a:spcBef>
              </a:pPr>
              <a:r>
                <a:rPr lang="en-US" sz="3785" b="true">
                  <a:solidFill>
                    <a:srgbClr val="329A87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Séries temporelles</a:t>
              </a:r>
            </a:p>
          </p:txBody>
        </p:sp>
      </p:grpSp>
    </p:spTree>
  </p:cSld>
  <p:clrMapOvr>
    <a:masterClrMapping/>
  </p:clrMapOvr>
  <p:transition spd="fast">
    <p:cover dir="rd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2927314">
            <a:off x="-7669783" y="-1450106"/>
            <a:ext cx="18107330" cy="19608651"/>
            <a:chOff x="0" y="0"/>
            <a:chExt cx="24143107" cy="26144868"/>
          </a:xfrm>
        </p:grpSpPr>
        <p:grpSp>
          <p:nvGrpSpPr>
            <p:cNvPr name="Group 3" id="3"/>
            <p:cNvGrpSpPr/>
            <p:nvPr/>
          </p:nvGrpSpPr>
          <p:grpSpPr>
            <a:xfrm rot="5399999">
              <a:off x="7632262" y="9230388"/>
              <a:ext cx="8075694" cy="7735298"/>
              <a:chOff x="0" y="0"/>
              <a:chExt cx="6350000" cy="6082343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-119315">
                <a:off x="-56370" y="-59016"/>
                <a:ext cx="6462740" cy="6200375"/>
              </a:xfrm>
              <a:custGeom>
                <a:avLst/>
                <a:gdLst/>
                <a:ahLst/>
                <a:cxnLst/>
                <a:rect r="r" b="b" t="t" l="l"/>
                <a:pathLst>
                  <a:path h="6200375" w="6462740">
                    <a:moveTo>
                      <a:pt x="6404457" y="3210399"/>
                    </a:moveTo>
                    <a:cubicBezTo>
                      <a:pt x="6346176" y="4888912"/>
                      <a:pt x="4878260" y="6200375"/>
                      <a:pt x="3125839" y="6139528"/>
                    </a:cubicBezTo>
                    <a:cubicBezTo>
                      <a:pt x="1373394" y="6078680"/>
                      <a:pt x="0" y="4668563"/>
                      <a:pt x="58281" y="2990050"/>
                    </a:cubicBezTo>
                    <a:cubicBezTo>
                      <a:pt x="116564" y="1311452"/>
                      <a:pt x="1584455" y="0"/>
                      <a:pt x="3336901" y="60848"/>
                    </a:cubicBezTo>
                    <a:cubicBezTo>
                      <a:pt x="5089346" y="121695"/>
                      <a:pt x="6462740" y="1531801"/>
                      <a:pt x="6404457" y="3210399"/>
                    </a:cubicBezTo>
                    <a:close/>
                  </a:path>
                </a:pathLst>
              </a:custGeom>
              <a:blipFill>
                <a:blip r:embed="rId2"/>
                <a:stretch>
                  <a:fillRect l="-38770" t="-1777" r="-38770" b="-1777"/>
                </a:stretch>
              </a:blipFill>
            </p:spPr>
          </p:sp>
        </p:grpSp>
        <p:grpSp>
          <p:nvGrpSpPr>
            <p:cNvPr name="Group 5" id="5"/>
            <p:cNvGrpSpPr/>
            <p:nvPr/>
          </p:nvGrpSpPr>
          <p:grpSpPr>
            <a:xfrm rot="5399999">
              <a:off x="14701299" y="12345659"/>
              <a:ext cx="1570966" cy="1504755"/>
              <a:chOff x="0" y="0"/>
              <a:chExt cx="812800" cy="778543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812800" cy="778543"/>
              </a:xfrm>
              <a:custGeom>
                <a:avLst/>
                <a:gdLst/>
                <a:ahLst/>
                <a:cxnLst/>
                <a:rect r="r" b="b" t="t" l="l"/>
                <a:pathLst>
                  <a:path h="778543" w="812800">
                    <a:moveTo>
                      <a:pt x="406400" y="0"/>
                    </a:moveTo>
                    <a:cubicBezTo>
                      <a:pt x="181951" y="0"/>
                      <a:pt x="0" y="174283"/>
                      <a:pt x="0" y="389272"/>
                    </a:cubicBezTo>
                    <a:cubicBezTo>
                      <a:pt x="0" y="604260"/>
                      <a:pt x="181951" y="778543"/>
                      <a:pt x="406400" y="778543"/>
                    </a:cubicBezTo>
                    <a:cubicBezTo>
                      <a:pt x="630849" y="778543"/>
                      <a:pt x="812800" y="604260"/>
                      <a:pt x="812800" y="389272"/>
                    </a:cubicBezTo>
                    <a:cubicBezTo>
                      <a:pt x="812800" y="174283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97B2"/>
              </a:solidFill>
              <a:ln w="2857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76200" y="34888"/>
                <a:ext cx="660400" cy="670666"/>
              </a:xfrm>
              <a:prstGeom prst="rect">
                <a:avLst/>
              </a:prstGeom>
            </p:spPr>
            <p:txBody>
              <a:bodyPr anchor="ctr" rtlCol="false" tIns="35873" lIns="35873" bIns="35873" rIns="35873"/>
              <a:lstStyle/>
              <a:p>
                <a:pPr algn="ctr">
                  <a:lnSpc>
                    <a:spcPts val="1384"/>
                  </a:lnSpc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16451467" y="12815830"/>
              <a:ext cx="7691639" cy="11624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37"/>
                </a:lnSpc>
              </a:pPr>
              <a:r>
                <a:rPr lang="en-US" sz="3178" b="true">
                  <a:solidFill>
                    <a:srgbClr val="8DE8E8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Gandwend Judicaël Oscar KAFANDO</a:t>
              </a:r>
            </a:p>
          </p:txBody>
        </p:sp>
        <p:grpSp>
          <p:nvGrpSpPr>
            <p:cNvPr name="Group 9" id="9"/>
            <p:cNvGrpSpPr/>
            <p:nvPr/>
          </p:nvGrpSpPr>
          <p:grpSpPr>
            <a:xfrm rot="2457872">
              <a:off x="13473117" y="9318915"/>
              <a:ext cx="1447270" cy="1570966"/>
              <a:chOff x="0" y="0"/>
              <a:chExt cx="748801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748801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748801">
                    <a:moveTo>
                      <a:pt x="374401" y="0"/>
                    </a:moveTo>
                    <a:cubicBezTo>
                      <a:pt x="167625" y="0"/>
                      <a:pt x="0" y="181951"/>
                      <a:pt x="0" y="406400"/>
                    </a:cubicBezTo>
                    <a:cubicBezTo>
                      <a:pt x="0" y="630849"/>
                      <a:pt x="167625" y="812800"/>
                      <a:pt x="374401" y="812800"/>
                    </a:cubicBezTo>
                    <a:cubicBezTo>
                      <a:pt x="581176" y="812800"/>
                      <a:pt x="748801" y="630849"/>
                      <a:pt x="748801" y="406400"/>
                    </a:cubicBezTo>
                    <a:cubicBezTo>
                      <a:pt x="748801" y="181951"/>
                      <a:pt x="581176" y="0"/>
                      <a:pt x="374401" y="0"/>
                    </a:cubicBezTo>
                    <a:close/>
                  </a:path>
                </a:pathLst>
              </a:custGeom>
              <a:solidFill>
                <a:srgbClr val="0097B2"/>
              </a:solidFill>
              <a:ln w="2857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70200" y="38100"/>
                <a:ext cx="608401" cy="698500"/>
              </a:xfrm>
              <a:prstGeom prst="rect">
                <a:avLst/>
              </a:prstGeom>
            </p:spPr>
            <p:txBody>
              <a:bodyPr anchor="ctr" rtlCol="false" tIns="35873" lIns="35873" bIns="35873" rIns="35873"/>
              <a:lstStyle/>
              <a:p>
                <a:pPr algn="ctr">
                  <a:lnSpc>
                    <a:spcPts val="1384"/>
                  </a:lnSpc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-2942127">
              <a:off x="13243222" y="6016682"/>
              <a:ext cx="8012527" cy="60251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37"/>
                </a:lnSpc>
              </a:pPr>
              <a:r>
                <a:rPr lang="en-US" sz="3178" b="true">
                  <a:solidFill>
                    <a:srgbClr val="1C6976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Albert ZINABA</a:t>
              </a:r>
            </a:p>
          </p:txBody>
        </p:sp>
        <p:grpSp>
          <p:nvGrpSpPr>
            <p:cNvPr name="Group 13" id="13"/>
            <p:cNvGrpSpPr/>
            <p:nvPr/>
          </p:nvGrpSpPr>
          <p:grpSpPr>
            <a:xfrm rot="0">
              <a:off x="10821264" y="8251732"/>
              <a:ext cx="1504755" cy="1570966"/>
              <a:chOff x="0" y="0"/>
              <a:chExt cx="778543" cy="8128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778543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778543">
                    <a:moveTo>
                      <a:pt x="389272" y="0"/>
                    </a:moveTo>
                    <a:cubicBezTo>
                      <a:pt x="174283" y="0"/>
                      <a:pt x="0" y="181951"/>
                      <a:pt x="0" y="406400"/>
                    </a:cubicBezTo>
                    <a:cubicBezTo>
                      <a:pt x="0" y="630849"/>
                      <a:pt x="174283" y="812800"/>
                      <a:pt x="389272" y="812800"/>
                    </a:cubicBezTo>
                    <a:cubicBezTo>
                      <a:pt x="604260" y="812800"/>
                      <a:pt x="778543" y="630849"/>
                      <a:pt x="778543" y="406400"/>
                    </a:cubicBezTo>
                    <a:cubicBezTo>
                      <a:pt x="778543" y="181951"/>
                      <a:pt x="604260" y="0"/>
                      <a:pt x="389272" y="0"/>
                    </a:cubicBezTo>
                    <a:close/>
                  </a:path>
                </a:pathLst>
              </a:custGeom>
              <a:solidFill>
                <a:srgbClr val="0097B2"/>
              </a:solidFill>
              <a:ln w="2857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72988" y="38100"/>
                <a:ext cx="632566" cy="698500"/>
              </a:xfrm>
              <a:prstGeom prst="rect">
                <a:avLst/>
              </a:prstGeom>
            </p:spPr>
            <p:txBody>
              <a:bodyPr anchor="ctr" rtlCol="false" tIns="35873" lIns="35873" bIns="35873" rIns="35873"/>
              <a:lstStyle/>
              <a:p>
                <a:pPr algn="ctr">
                  <a:lnSpc>
                    <a:spcPts val="1384"/>
                  </a:lnSpc>
                </a:pPr>
              </a:p>
            </p:txBody>
          </p:sp>
        </p:grpSp>
        <p:sp>
          <p:nvSpPr>
            <p:cNvPr name="TextBox 16" id="16"/>
            <p:cNvSpPr txBox="true"/>
            <p:nvPr/>
          </p:nvSpPr>
          <p:spPr>
            <a:xfrm rot="-5400000">
              <a:off x="7572927" y="3705007"/>
              <a:ext cx="8012527" cy="60251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37"/>
                </a:lnSpc>
              </a:pPr>
              <a:r>
                <a:rPr lang="en-US" sz="3178" b="true">
                  <a:solidFill>
                    <a:srgbClr val="8DE8E8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Mamady I BERETE</a:t>
              </a:r>
            </a:p>
          </p:txBody>
        </p:sp>
        <p:grpSp>
          <p:nvGrpSpPr>
            <p:cNvPr name="Group 17" id="17"/>
            <p:cNvGrpSpPr/>
            <p:nvPr/>
          </p:nvGrpSpPr>
          <p:grpSpPr>
            <a:xfrm rot="-3533298">
              <a:off x="7823862" y="10133668"/>
              <a:ext cx="1570966" cy="1464795"/>
              <a:chOff x="0" y="0"/>
              <a:chExt cx="812800" cy="757868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812800" cy="757868"/>
              </a:xfrm>
              <a:custGeom>
                <a:avLst/>
                <a:gdLst/>
                <a:ahLst/>
                <a:cxnLst/>
                <a:rect r="r" b="b" t="t" l="l"/>
                <a:pathLst>
                  <a:path h="757868" w="812800">
                    <a:moveTo>
                      <a:pt x="406400" y="0"/>
                    </a:moveTo>
                    <a:cubicBezTo>
                      <a:pt x="181951" y="0"/>
                      <a:pt x="0" y="169655"/>
                      <a:pt x="0" y="378934"/>
                    </a:cubicBezTo>
                    <a:cubicBezTo>
                      <a:pt x="0" y="588214"/>
                      <a:pt x="181951" y="757868"/>
                      <a:pt x="406400" y="757868"/>
                    </a:cubicBezTo>
                    <a:cubicBezTo>
                      <a:pt x="630849" y="757868"/>
                      <a:pt x="812800" y="588214"/>
                      <a:pt x="812800" y="378934"/>
                    </a:cubicBezTo>
                    <a:cubicBezTo>
                      <a:pt x="812800" y="169655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97B2"/>
              </a:solidFill>
              <a:ln w="2857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76200" y="32950"/>
                <a:ext cx="660400" cy="653868"/>
              </a:xfrm>
              <a:prstGeom prst="rect">
                <a:avLst/>
              </a:prstGeom>
            </p:spPr>
            <p:txBody>
              <a:bodyPr anchor="ctr" rtlCol="false" tIns="35873" lIns="35873" bIns="35873" rIns="35873"/>
              <a:lstStyle/>
              <a:p>
                <a:pPr algn="ctr">
                  <a:lnSpc>
                    <a:spcPts val="1384"/>
                  </a:lnSpc>
                </a:pPr>
              </a:p>
            </p:txBody>
          </p:sp>
        </p:grpSp>
        <p:sp>
          <p:nvSpPr>
            <p:cNvPr name="TextBox 20" id="20"/>
            <p:cNvSpPr txBox="true"/>
            <p:nvPr/>
          </p:nvSpPr>
          <p:spPr>
            <a:xfrm rot="-8933298">
              <a:off x="647796" y="7948965"/>
              <a:ext cx="7676156" cy="60251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37"/>
                </a:lnSpc>
              </a:pPr>
              <a:r>
                <a:rPr lang="en-US" sz="3178" b="true">
                  <a:solidFill>
                    <a:srgbClr val="8DE8E8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Jacques ILLY</a:t>
              </a:r>
            </a:p>
          </p:txBody>
        </p:sp>
        <p:grpSp>
          <p:nvGrpSpPr>
            <p:cNvPr name="Group 21" id="21"/>
            <p:cNvGrpSpPr/>
            <p:nvPr/>
          </p:nvGrpSpPr>
          <p:grpSpPr>
            <a:xfrm rot="-6345082">
              <a:off x="7629073" y="14350133"/>
              <a:ext cx="1570966" cy="1486079"/>
              <a:chOff x="0" y="0"/>
              <a:chExt cx="812800" cy="768881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812800" cy="768881"/>
              </a:xfrm>
              <a:custGeom>
                <a:avLst/>
                <a:gdLst/>
                <a:ahLst/>
                <a:cxnLst/>
                <a:rect r="r" b="b" t="t" l="l"/>
                <a:pathLst>
                  <a:path h="768881" w="812800">
                    <a:moveTo>
                      <a:pt x="406400" y="0"/>
                    </a:moveTo>
                    <a:cubicBezTo>
                      <a:pt x="181951" y="0"/>
                      <a:pt x="0" y="172120"/>
                      <a:pt x="0" y="384440"/>
                    </a:cubicBezTo>
                    <a:cubicBezTo>
                      <a:pt x="0" y="596761"/>
                      <a:pt x="181951" y="768881"/>
                      <a:pt x="406400" y="768881"/>
                    </a:cubicBezTo>
                    <a:cubicBezTo>
                      <a:pt x="630849" y="768881"/>
                      <a:pt x="812800" y="596761"/>
                      <a:pt x="812800" y="384440"/>
                    </a:cubicBezTo>
                    <a:cubicBezTo>
                      <a:pt x="812800" y="172120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97B2"/>
              </a:solidFill>
              <a:ln w="2857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76200" y="33983"/>
                <a:ext cx="660400" cy="662816"/>
              </a:xfrm>
              <a:prstGeom prst="rect">
                <a:avLst/>
              </a:prstGeom>
            </p:spPr>
            <p:txBody>
              <a:bodyPr anchor="ctr" rtlCol="false" tIns="35873" lIns="35873" bIns="35873" rIns="35873"/>
              <a:lstStyle/>
              <a:p>
                <a:pPr algn="ctr">
                  <a:lnSpc>
                    <a:spcPts val="1384"/>
                  </a:lnSpc>
                </a:pPr>
              </a:p>
            </p:txBody>
          </p:sp>
        </p:grpSp>
        <p:sp>
          <p:nvSpPr>
            <p:cNvPr name="TextBox 24" id="24"/>
            <p:cNvSpPr txBox="true"/>
            <p:nvPr/>
          </p:nvSpPr>
          <p:spPr>
            <a:xfrm rot="9854917">
              <a:off x="-62499" y="16139301"/>
              <a:ext cx="7684403" cy="60251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37"/>
                </a:lnSpc>
              </a:pPr>
              <a:r>
                <a:rPr lang="en-US" sz="3178" b="true">
                  <a:solidFill>
                    <a:srgbClr val="1C6976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Paul BALAFAI</a:t>
              </a:r>
            </a:p>
          </p:txBody>
        </p:sp>
        <p:grpSp>
          <p:nvGrpSpPr>
            <p:cNvPr name="Group 25" id="25"/>
            <p:cNvGrpSpPr/>
            <p:nvPr/>
          </p:nvGrpSpPr>
          <p:grpSpPr>
            <a:xfrm rot="8742762">
              <a:off x="13384698" y="15182145"/>
              <a:ext cx="1459610" cy="1570966"/>
              <a:chOff x="0" y="0"/>
              <a:chExt cx="755186" cy="81280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755186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755186">
                    <a:moveTo>
                      <a:pt x="377593" y="0"/>
                    </a:moveTo>
                    <a:cubicBezTo>
                      <a:pt x="169054" y="0"/>
                      <a:pt x="0" y="181951"/>
                      <a:pt x="0" y="406400"/>
                    </a:cubicBezTo>
                    <a:cubicBezTo>
                      <a:pt x="0" y="630849"/>
                      <a:pt x="169054" y="812800"/>
                      <a:pt x="377593" y="812800"/>
                    </a:cubicBezTo>
                    <a:cubicBezTo>
                      <a:pt x="586132" y="812800"/>
                      <a:pt x="755186" y="630849"/>
                      <a:pt x="755186" y="406400"/>
                    </a:cubicBezTo>
                    <a:cubicBezTo>
                      <a:pt x="755186" y="181951"/>
                      <a:pt x="586132" y="0"/>
                      <a:pt x="377593" y="0"/>
                    </a:cubicBezTo>
                    <a:close/>
                  </a:path>
                </a:pathLst>
              </a:custGeom>
              <a:solidFill>
                <a:srgbClr val="0097B2"/>
              </a:solidFill>
              <a:ln w="2857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70799" y="38100"/>
                <a:ext cx="613588" cy="698500"/>
              </a:xfrm>
              <a:prstGeom prst="rect">
                <a:avLst/>
              </a:prstGeom>
            </p:spPr>
            <p:txBody>
              <a:bodyPr anchor="ctr" rtlCol="false" tIns="35873" lIns="35873" bIns="35873" rIns="35873"/>
              <a:lstStyle/>
              <a:p>
                <a:pPr algn="ctr">
                  <a:lnSpc>
                    <a:spcPts val="1384"/>
                  </a:lnSpc>
                </a:pPr>
              </a:p>
            </p:txBody>
          </p:sp>
        </p:grpSp>
        <p:sp>
          <p:nvSpPr>
            <p:cNvPr name="TextBox 28" id="28"/>
            <p:cNvSpPr txBox="true"/>
            <p:nvPr/>
          </p:nvSpPr>
          <p:spPr>
            <a:xfrm rot="3342762">
              <a:off x="12700924" y="19833792"/>
              <a:ext cx="8012527" cy="60251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37"/>
                </a:lnSpc>
              </a:pPr>
              <a:r>
                <a:rPr lang="en-US" sz="3178" b="true">
                  <a:solidFill>
                    <a:srgbClr val="1C6976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Cheikh Oumar DIALLO</a:t>
              </a:r>
            </a:p>
          </p:txBody>
        </p:sp>
        <p:grpSp>
          <p:nvGrpSpPr>
            <p:cNvPr name="Group 29" id="29"/>
            <p:cNvGrpSpPr/>
            <p:nvPr/>
          </p:nvGrpSpPr>
          <p:grpSpPr>
            <a:xfrm rot="10631446">
              <a:off x="10170879" y="16289892"/>
              <a:ext cx="1501506" cy="1570966"/>
              <a:chOff x="0" y="0"/>
              <a:chExt cx="776862" cy="812800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776862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776862">
                    <a:moveTo>
                      <a:pt x="388431" y="0"/>
                    </a:moveTo>
                    <a:cubicBezTo>
                      <a:pt x="173906" y="0"/>
                      <a:pt x="0" y="181951"/>
                      <a:pt x="0" y="406400"/>
                    </a:cubicBezTo>
                    <a:cubicBezTo>
                      <a:pt x="0" y="630849"/>
                      <a:pt x="173906" y="812800"/>
                      <a:pt x="388431" y="812800"/>
                    </a:cubicBezTo>
                    <a:cubicBezTo>
                      <a:pt x="602956" y="812800"/>
                      <a:pt x="776862" y="630849"/>
                      <a:pt x="776862" y="406400"/>
                    </a:cubicBezTo>
                    <a:cubicBezTo>
                      <a:pt x="776862" y="181951"/>
                      <a:pt x="602956" y="0"/>
                      <a:pt x="388431" y="0"/>
                    </a:cubicBezTo>
                    <a:close/>
                  </a:path>
                </a:pathLst>
              </a:custGeom>
              <a:solidFill>
                <a:srgbClr val="0097B2"/>
              </a:solidFill>
              <a:ln w="2857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72831" y="38100"/>
                <a:ext cx="631200" cy="698500"/>
              </a:xfrm>
              <a:prstGeom prst="rect">
                <a:avLst/>
              </a:prstGeom>
            </p:spPr>
            <p:txBody>
              <a:bodyPr anchor="ctr" rtlCol="false" tIns="35873" lIns="35873" bIns="35873" rIns="35873"/>
              <a:lstStyle/>
              <a:p>
                <a:pPr algn="ctr">
                  <a:lnSpc>
                    <a:spcPts val="1384"/>
                  </a:lnSpc>
                </a:pPr>
              </a:p>
            </p:txBody>
          </p:sp>
        </p:grpSp>
        <p:sp>
          <p:nvSpPr>
            <p:cNvPr name="TextBox 32" id="32"/>
            <p:cNvSpPr txBox="true"/>
            <p:nvPr/>
          </p:nvSpPr>
          <p:spPr>
            <a:xfrm rot="5231446">
              <a:off x="6831153" y="21533733"/>
              <a:ext cx="8012527" cy="11624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37"/>
                </a:lnSpc>
              </a:pPr>
              <a:r>
                <a:rPr lang="en-US" sz="3178" b="true">
                  <a:solidFill>
                    <a:srgbClr val="1C6976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Ndeye Ramatoulaye Ndoye FALL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1353337" y="1028700"/>
            <a:ext cx="5905963" cy="1392427"/>
            <a:chOff x="0" y="0"/>
            <a:chExt cx="7874617" cy="1856570"/>
          </a:xfrm>
        </p:grpSpPr>
        <p:grpSp>
          <p:nvGrpSpPr>
            <p:cNvPr name="Group 34" id="34"/>
            <p:cNvGrpSpPr/>
            <p:nvPr/>
          </p:nvGrpSpPr>
          <p:grpSpPr>
            <a:xfrm rot="1471508">
              <a:off x="225077" y="32097"/>
              <a:ext cx="409715" cy="1173520"/>
              <a:chOff x="0" y="0"/>
              <a:chExt cx="106268" cy="304376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106268" cy="304376"/>
              </a:xfrm>
              <a:custGeom>
                <a:avLst/>
                <a:gdLst/>
                <a:ahLst/>
                <a:cxnLst/>
                <a:rect r="r" b="b" t="t" l="l"/>
                <a:pathLst>
                  <a:path h="304376" w="106268">
                    <a:moveTo>
                      <a:pt x="0" y="0"/>
                    </a:moveTo>
                    <a:lnTo>
                      <a:pt x="106268" y="0"/>
                    </a:lnTo>
                    <a:lnTo>
                      <a:pt x="106268" y="304376"/>
                    </a:lnTo>
                    <a:lnTo>
                      <a:pt x="0" y="304376"/>
                    </a:lnTo>
                    <a:close/>
                  </a:path>
                </a:pathLst>
              </a:custGeom>
              <a:solidFill>
                <a:srgbClr val="0097B2"/>
              </a:solidFill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0" y="-57150"/>
                <a:ext cx="106268" cy="36152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6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7" id="37"/>
            <p:cNvGrpSpPr/>
            <p:nvPr/>
          </p:nvGrpSpPr>
          <p:grpSpPr>
            <a:xfrm rot="1471508">
              <a:off x="494755" y="650953"/>
              <a:ext cx="409715" cy="1173520"/>
              <a:chOff x="0" y="0"/>
              <a:chExt cx="106268" cy="304376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106268" cy="304376"/>
              </a:xfrm>
              <a:custGeom>
                <a:avLst/>
                <a:gdLst/>
                <a:ahLst/>
                <a:cxnLst/>
                <a:rect r="r" b="b" t="t" l="l"/>
                <a:pathLst>
                  <a:path h="304376" w="106268">
                    <a:moveTo>
                      <a:pt x="0" y="0"/>
                    </a:moveTo>
                    <a:lnTo>
                      <a:pt x="106268" y="0"/>
                    </a:lnTo>
                    <a:lnTo>
                      <a:pt x="106268" y="304376"/>
                    </a:lnTo>
                    <a:lnTo>
                      <a:pt x="0" y="304376"/>
                    </a:lnTo>
                    <a:close/>
                  </a:path>
                </a:pathLst>
              </a:custGeom>
              <a:solidFill>
                <a:srgbClr val="0097B2"/>
              </a:solidFill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0" y="-57150"/>
                <a:ext cx="106268" cy="36152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6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40" id="40"/>
            <p:cNvSpPr txBox="true"/>
            <p:nvPr/>
          </p:nvSpPr>
          <p:spPr>
            <a:xfrm rot="0">
              <a:off x="1664633" y="260962"/>
              <a:ext cx="6209984" cy="8805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299"/>
                </a:lnSpc>
                <a:spcBef>
                  <a:spcPct val="0"/>
                </a:spcBef>
              </a:pPr>
              <a:r>
                <a:rPr lang="en-US" sz="3785" b="true">
                  <a:solidFill>
                    <a:srgbClr val="329A87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Séries temporelles</a:t>
              </a:r>
            </a:p>
          </p:txBody>
        </p:sp>
      </p:grpSp>
    </p:spTree>
  </p:cSld>
  <p:clrMapOvr>
    <a:masterClrMapping/>
  </p:clrMapOvr>
  <p:transition spd="fast">
    <p:cover dir="rd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-7669783" y="-1450106"/>
            <a:ext cx="18107330" cy="19608651"/>
            <a:chOff x="0" y="0"/>
            <a:chExt cx="24143107" cy="26144868"/>
          </a:xfrm>
        </p:grpSpPr>
        <p:grpSp>
          <p:nvGrpSpPr>
            <p:cNvPr name="Group 3" id="3"/>
            <p:cNvGrpSpPr/>
            <p:nvPr/>
          </p:nvGrpSpPr>
          <p:grpSpPr>
            <a:xfrm rot="5399999">
              <a:off x="7632262" y="9230388"/>
              <a:ext cx="8075694" cy="7735298"/>
              <a:chOff x="0" y="0"/>
              <a:chExt cx="6350000" cy="6082343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-119315">
                <a:off x="-56370" y="-59016"/>
                <a:ext cx="6462740" cy="6200375"/>
              </a:xfrm>
              <a:custGeom>
                <a:avLst/>
                <a:gdLst/>
                <a:ahLst/>
                <a:cxnLst/>
                <a:rect r="r" b="b" t="t" l="l"/>
                <a:pathLst>
                  <a:path h="6200375" w="6462740">
                    <a:moveTo>
                      <a:pt x="6404457" y="3210399"/>
                    </a:moveTo>
                    <a:cubicBezTo>
                      <a:pt x="6346176" y="4888912"/>
                      <a:pt x="4878260" y="6200375"/>
                      <a:pt x="3125839" y="6139528"/>
                    </a:cubicBezTo>
                    <a:cubicBezTo>
                      <a:pt x="1373394" y="6078680"/>
                      <a:pt x="0" y="4668563"/>
                      <a:pt x="58281" y="2990050"/>
                    </a:cubicBezTo>
                    <a:cubicBezTo>
                      <a:pt x="116564" y="1311452"/>
                      <a:pt x="1584455" y="0"/>
                      <a:pt x="3336901" y="60848"/>
                    </a:cubicBezTo>
                    <a:cubicBezTo>
                      <a:pt x="5089346" y="121695"/>
                      <a:pt x="6462740" y="1531801"/>
                      <a:pt x="6404457" y="3210399"/>
                    </a:cubicBezTo>
                    <a:close/>
                  </a:path>
                </a:pathLst>
              </a:custGeom>
              <a:blipFill>
                <a:blip r:embed="rId2"/>
                <a:stretch>
                  <a:fillRect l="-38770" t="-1777" r="-38770" b="-1777"/>
                </a:stretch>
              </a:blipFill>
            </p:spPr>
          </p:sp>
        </p:grpSp>
        <p:grpSp>
          <p:nvGrpSpPr>
            <p:cNvPr name="Group 5" id="5"/>
            <p:cNvGrpSpPr/>
            <p:nvPr/>
          </p:nvGrpSpPr>
          <p:grpSpPr>
            <a:xfrm rot="5399999">
              <a:off x="14701299" y="12345659"/>
              <a:ext cx="1570966" cy="1504755"/>
              <a:chOff x="0" y="0"/>
              <a:chExt cx="812800" cy="778543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812800" cy="778543"/>
              </a:xfrm>
              <a:custGeom>
                <a:avLst/>
                <a:gdLst/>
                <a:ahLst/>
                <a:cxnLst/>
                <a:rect r="r" b="b" t="t" l="l"/>
                <a:pathLst>
                  <a:path h="778543" w="812800">
                    <a:moveTo>
                      <a:pt x="406400" y="0"/>
                    </a:moveTo>
                    <a:cubicBezTo>
                      <a:pt x="181951" y="0"/>
                      <a:pt x="0" y="174283"/>
                      <a:pt x="0" y="389272"/>
                    </a:cubicBezTo>
                    <a:cubicBezTo>
                      <a:pt x="0" y="604260"/>
                      <a:pt x="181951" y="778543"/>
                      <a:pt x="406400" y="778543"/>
                    </a:cubicBezTo>
                    <a:cubicBezTo>
                      <a:pt x="630849" y="778543"/>
                      <a:pt x="812800" y="604260"/>
                      <a:pt x="812800" y="389272"/>
                    </a:cubicBezTo>
                    <a:cubicBezTo>
                      <a:pt x="812800" y="174283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97B2"/>
              </a:solidFill>
              <a:ln w="2857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76200" y="34888"/>
                <a:ext cx="660400" cy="670666"/>
              </a:xfrm>
              <a:prstGeom prst="rect">
                <a:avLst/>
              </a:prstGeom>
            </p:spPr>
            <p:txBody>
              <a:bodyPr anchor="ctr" rtlCol="false" tIns="35873" lIns="35873" bIns="35873" rIns="35873"/>
              <a:lstStyle/>
              <a:p>
                <a:pPr algn="ctr">
                  <a:lnSpc>
                    <a:spcPts val="1384"/>
                  </a:lnSpc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16451467" y="12815830"/>
              <a:ext cx="7691639" cy="11624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37"/>
                </a:lnSpc>
              </a:pPr>
              <a:r>
                <a:rPr lang="en-US" sz="3178" b="true">
                  <a:solidFill>
                    <a:srgbClr val="8DE8E8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Gandwend Judicaël Oscar KAFANDO</a:t>
              </a:r>
            </a:p>
          </p:txBody>
        </p:sp>
        <p:grpSp>
          <p:nvGrpSpPr>
            <p:cNvPr name="Group 9" id="9"/>
            <p:cNvGrpSpPr/>
            <p:nvPr/>
          </p:nvGrpSpPr>
          <p:grpSpPr>
            <a:xfrm rot="2457872">
              <a:off x="13473117" y="9318915"/>
              <a:ext cx="1447270" cy="1570966"/>
              <a:chOff x="0" y="0"/>
              <a:chExt cx="748801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748801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748801">
                    <a:moveTo>
                      <a:pt x="374401" y="0"/>
                    </a:moveTo>
                    <a:cubicBezTo>
                      <a:pt x="167625" y="0"/>
                      <a:pt x="0" y="181951"/>
                      <a:pt x="0" y="406400"/>
                    </a:cubicBezTo>
                    <a:cubicBezTo>
                      <a:pt x="0" y="630849"/>
                      <a:pt x="167625" y="812800"/>
                      <a:pt x="374401" y="812800"/>
                    </a:cubicBezTo>
                    <a:cubicBezTo>
                      <a:pt x="581176" y="812800"/>
                      <a:pt x="748801" y="630849"/>
                      <a:pt x="748801" y="406400"/>
                    </a:cubicBezTo>
                    <a:cubicBezTo>
                      <a:pt x="748801" y="181951"/>
                      <a:pt x="581176" y="0"/>
                      <a:pt x="374401" y="0"/>
                    </a:cubicBezTo>
                    <a:close/>
                  </a:path>
                </a:pathLst>
              </a:custGeom>
              <a:solidFill>
                <a:srgbClr val="0097B2"/>
              </a:solidFill>
              <a:ln w="2857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70200" y="38100"/>
                <a:ext cx="608401" cy="698500"/>
              </a:xfrm>
              <a:prstGeom prst="rect">
                <a:avLst/>
              </a:prstGeom>
            </p:spPr>
            <p:txBody>
              <a:bodyPr anchor="ctr" rtlCol="false" tIns="35873" lIns="35873" bIns="35873" rIns="35873"/>
              <a:lstStyle/>
              <a:p>
                <a:pPr algn="ctr">
                  <a:lnSpc>
                    <a:spcPts val="1384"/>
                  </a:lnSpc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-2942127">
              <a:off x="13243222" y="6016682"/>
              <a:ext cx="8012527" cy="60251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37"/>
                </a:lnSpc>
              </a:pPr>
              <a:r>
                <a:rPr lang="en-US" sz="3178" b="true">
                  <a:solidFill>
                    <a:srgbClr val="8DE8E8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Albert ZINABA</a:t>
              </a:r>
            </a:p>
          </p:txBody>
        </p:sp>
        <p:grpSp>
          <p:nvGrpSpPr>
            <p:cNvPr name="Group 13" id="13"/>
            <p:cNvGrpSpPr/>
            <p:nvPr/>
          </p:nvGrpSpPr>
          <p:grpSpPr>
            <a:xfrm rot="0">
              <a:off x="10821264" y="8251732"/>
              <a:ext cx="1504755" cy="1570966"/>
              <a:chOff x="0" y="0"/>
              <a:chExt cx="778543" cy="8128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778543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778543">
                    <a:moveTo>
                      <a:pt x="389272" y="0"/>
                    </a:moveTo>
                    <a:cubicBezTo>
                      <a:pt x="174283" y="0"/>
                      <a:pt x="0" y="181951"/>
                      <a:pt x="0" y="406400"/>
                    </a:cubicBezTo>
                    <a:cubicBezTo>
                      <a:pt x="0" y="630849"/>
                      <a:pt x="174283" y="812800"/>
                      <a:pt x="389272" y="812800"/>
                    </a:cubicBezTo>
                    <a:cubicBezTo>
                      <a:pt x="604260" y="812800"/>
                      <a:pt x="778543" y="630849"/>
                      <a:pt x="778543" y="406400"/>
                    </a:cubicBezTo>
                    <a:cubicBezTo>
                      <a:pt x="778543" y="181951"/>
                      <a:pt x="604260" y="0"/>
                      <a:pt x="389272" y="0"/>
                    </a:cubicBezTo>
                    <a:close/>
                  </a:path>
                </a:pathLst>
              </a:custGeom>
              <a:solidFill>
                <a:srgbClr val="0097B2"/>
              </a:solidFill>
              <a:ln w="2857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72988" y="38100"/>
                <a:ext cx="632566" cy="698500"/>
              </a:xfrm>
              <a:prstGeom prst="rect">
                <a:avLst/>
              </a:prstGeom>
            </p:spPr>
            <p:txBody>
              <a:bodyPr anchor="ctr" rtlCol="false" tIns="35873" lIns="35873" bIns="35873" rIns="35873"/>
              <a:lstStyle/>
              <a:p>
                <a:pPr algn="ctr">
                  <a:lnSpc>
                    <a:spcPts val="1384"/>
                  </a:lnSpc>
                </a:pPr>
              </a:p>
            </p:txBody>
          </p:sp>
        </p:grpSp>
        <p:sp>
          <p:nvSpPr>
            <p:cNvPr name="TextBox 16" id="16"/>
            <p:cNvSpPr txBox="true"/>
            <p:nvPr/>
          </p:nvSpPr>
          <p:spPr>
            <a:xfrm rot="-5400000">
              <a:off x="7572927" y="3705007"/>
              <a:ext cx="8012527" cy="60251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37"/>
                </a:lnSpc>
              </a:pPr>
              <a:r>
                <a:rPr lang="en-US" sz="3178" b="true">
                  <a:solidFill>
                    <a:srgbClr val="1C6976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Mamady I BERETE</a:t>
              </a:r>
            </a:p>
          </p:txBody>
        </p:sp>
        <p:grpSp>
          <p:nvGrpSpPr>
            <p:cNvPr name="Group 17" id="17"/>
            <p:cNvGrpSpPr/>
            <p:nvPr/>
          </p:nvGrpSpPr>
          <p:grpSpPr>
            <a:xfrm rot="-3533298">
              <a:off x="7823862" y="10133668"/>
              <a:ext cx="1570966" cy="1464795"/>
              <a:chOff x="0" y="0"/>
              <a:chExt cx="812800" cy="757868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812800" cy="757868"/>
              </a:xfrm>
              <a:custGeom>
                <a:avLst/>
                <a:gdLst/>
                <a:ahLst/>
                <a:cxnLst/>
                <a:rect r="r" b="b" t="t" l="l"/>
                <a:pathLst>
                  <a:path h="757868" w="812800">
                    <a:moveTo>
                      <a:pt x="406400" y="0"/>
                    </a:moveTo>
                    <a:cubicBezTo>
                      <a:pt x="181951" y="0"/>
                      <a:pt x="0" y="169655"/>
                      <a:pt x="0" y="378934"/>
                    </a:cubicBezTo>
                    <a:cubicBezTo>
                      <a:pt x="0" y="588214"/>
                      <a:pt x="181951" y="757868"/>
                      <a:pt x="406400" y="757868"/>
                    </a:cubicBezTo>
                    <a:cubicBezTo>
                      <a:pt x="630849" y="757868"/>
                      <a:pt x="812800" y="588214"/>
                      <a:pt x="812800" y="378934"/>
                    </a:cubicBezTo>
                    <a:cubicBezTo>
                      <a:pt x="812800" y="169655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97B2"/>
              </a:solidFill>
              <a:ln w="2857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76200" y="32950"/>
                <a:ext cx="660400" cy="653868"/>
              </a:xfrm>
              <a:prstGeom prst="rect">
                <a:avLst/>
              </a:prstGeom>
            </p:spPr>
            <p:txBody>
              <a:bodyPr anchor="ctr" rtlCol="false" tIns="35873" lIns="35873" bIns="35873" rIns="35873"/>
              <a:lstStyle/>
              <a:p>
                <a:pPr algn="ctr">
                  <a:lnSpc>
                    <a:spcPts val="1384"/>
                  </a:lnSpc>
                </a:pPr>
              </a:p>
            </p:txBody>
          </p:sp>
        </p:grpSp>
        <p:sp>
          <p:nvSpPr>
            <p:cNvPr name="TextBox 20" id="20"/>
            <p:cNvSpPr txBox="true"/>
            <p:nvPr/>
          </p:nvSpPr>
          <p:spPr>
            <a:xfrm rot="-8933298">
              <a:off x="647796" y="7948965"/>
              <a:ext cx="7676156" cy="60251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37"/>
                </a:lnSpc>
              </a:pPr>
              <a:r>
                <a:rPr lang="en-US" sz="3178" b="true">
                  <a:solidFill>
                    <a:srgbClr val="8DE8E8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Jacques ILLY</a:t>
              </a:r>
            </a:p>
          </p:txBody>
        </p:sp>
        <p:grpSp>
          <p:nvGrpSpPr>
            <p:cNvPr name="Group 21" id="21"/>
            <p:cNvGrpSpPr/>
            <p:nvPr/>
          </p:nvGrpSpPr>
          <p:grpSpPr>
            <a:xfrm rot="-6345082">
              <a:off x="7629073" y="14350133"/>
              <a:ext cx="1570966" cy="1486079"/>
              <a:chOff x="0" y="0"/>
              <a:chExt cx="812800" cy="768881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812800" cy="768881"/>
              </a:xfrm>
              <a:custGeom>
                <a:avLst/>
                <a:gdLst/>
                <a:ahLst/>
                <a:cxnLst/>
                <a:rect r="r" b="b" t="t" l="l"/>
                <a:pathLst>
                  <a:path h="768881" w="812800">
                    <a:moveTo>
                      <a:pt x="406400" y="0"/>
                    </a:moveTo>
                    <a:cubicBezTo>
                      <a:pt x="181951" y="0"/>
                      <a:pt x="0" y="172120"/>
                      <a:pt x="0" y="384440"/>
                    </a:cubicBezTo>
                    <a:cubicBezTo>
                      <a:pt x="0" y="596761"/>
                      <a:pt x="181951" y="768881"/>
                      <a:pt x="406400" y="768881"/>
                    </a:cubicBezTo>
                    <a:cubicBezTo>
                      <a:pt x="630849" y="768881"/>
                      <a:pt x="812800" y="596761"/>
                      <a:pt x="812800" y="384440"/>
                    </a:cubicBezTo>
                    <a:cubicBezTo>
                      <a:pt x="812800" y="172120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97B2"/>
              </a:solidFill>
              <a:ln w="2857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76200" y="33983"/>
                <a:ext cx="660400" cy="662816"/>
              </a:xfrm>
              <a:prstGeom prst="rect">
                <a:avLst/>
              </a:prstGeom>
            </p:spPr>
            <p:txBody>
              <a:bodyPr anchor="ctr" rtlCol="false" tIns="35873" lIns="35873" bIns="35873" rIns="35873"/>
              <a:lstStyle/>
              <a:p>
                <a:pPr algn="ctr">
                  <a:lnSpc>
                    <a:spcPts val="1384"/>
                  </a:lnSpc>
                </a:pPr>
              </a:p>
            </p:txBody>
          </p:sp>
        </p:grpSp>
        <p:sp>
          <p:nvSpPr>
            <p:cNvPr name="TextBox 24" id="24"/>
            <p:cNvSpPr txBox="true"/>
            <p:nvPr/>
          </p:nvSpPr>
          <p:spPr>
            <a:xfrm rot="9854917">
              <a:off x="-62499" y="16139301"/>
              <a:ext cx="7684403" cy="60251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37"/>
                </a:lnSpc>
              </a:pPr>
              <a:r>
                <a:rPr lang="en-US" sz="3178" b="true">
                  <a:solidFill>
                    <a:srgbClr val="1C6976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Paul BALAFAI</a:t>
              </a:r>
            </a:p>
          </p:txBody>
        </p:sp>
        <p:grpSp>
          <p:nvGrpSpPr>
            <p:cNvPr name="Group 25" id="25"/>
            <p:cNvGrpSpPr/>
            <p:nvPr/>
          </p:nvGrpSpPr>
          <p:grpSpPr>
            <a:xfrm rot="8742762">
              <a:off x="13384698" y="15182145"/>
              <a:ext cx="1459610" cy="1570966"/>
              <a:chOff x="0" y="0"/>
              <a:chExt cx="755186" cy="81280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755186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755186">
                    <a:moveTo>
                      <a:pt x="377593" y="0"/>
                    </a:moveTo>
                    <a:cubicBezTo>
                      <a:pt x="169054" y="0"/>
                      <a:pt x="0" y="181951"/>
                      <a:pt x="0" y="406400"/>
                    </a:cubicBezTo>
                    <a:cubicBezTo>
                      <a:pt x="0" y="630849"/>
                      <a:pt x="169054" y="812800"/>
                      <a:pt x="377593" y="812800"/>
                    </a:cubicBezTo>
                    <a:cubicBezTo>
                      <a:pt x="586132" y="812800"/>
                      <a:pt x="755186" y="630849"/>
                      <a:pt x="755186" y="406400"/>
                    </a:cubicBezTo>
                    <a:cubicBezTo>
                      <a:pt x="755186" y="181951"/>
                      <a:pt x="586132" y="0"/>
                      <a:pt x="377593" y="0"/>
                    </a:cubicBezTo>
                    <a:close/>
                  </a:path>
                </a:pathLst>
              </a:custGeom>
              <a:solidFill>
                <a:srgbClr val="0097B2"/>
              </a:solidFill>
              <a:ln w="2857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70799" y="38100"/>
                <a:ext cx="613588" cy="698500"/>
              </a:xfrm>
              <a:prstGeom prst="rect">
                <a:avLst/>
              </a:prstGeom>
            </p:spPr>
            <p:txBody>
              <a:bodyPr anchor="ctr" rtlCol="false" tIns="35873" lIns="35873" bIns="35873" rIns="35873"/>
              <a:lstStyle/>
              <a:p>
                <a:pPr algn="ctr">
                  <a:lnSpc>
                    <a:spcPts val="1384"/>
                  </a:lnSpc>
                </a:pPr>
              </a:p>
            </p:txBody>
          </p:sp>
        </p:grpSp>
        <p:sp>
          <p:nvSpPr>
            <p:cNvPr name="TextBox 28" id="28"/>
            <p:cNvSpPr txBox="true"/>
            <p:nvPr/>
          </p:nvSpPr>
          <p:spPr>
            <a:xfrm rot="3342762">
              <a:off x="12700924" y="19833792"/>
              <a:ext cx="8012527" cy="60251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37"/>
                </a:lnSpc>
              </a:pPr>
              <a:r>
                <a:rPr lang="en-US" sz="3178" b="true">
                  <a:solidFill>
                    <a:srgbClr val="1C6976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Cheikh Oumar DIALLO</a:t>
              </a:r>
            </a:p>
          </p:txBody>
        </p:sp>
        <p:grpSp>
          <p:nvGrpSpPr>
            <p:cNvPr name="Group 29" id="29"/>
            <p:cNvGrpSpPr/>
            <p:nvPr/>
          </p:nvGrpSpPr>
          <p:grpSpPr>
            <a:xfrm rot="10631446">
              <a:off x="10170879" y="16289892"/>
              <a:ext cx="1501506" cy="1570966"/>
              <a:chOff x="0" y="0"/>
              <a:chExt cx="776862" cy="812800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776862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776862">
                    <a:moveTo>
                      <a:pt x="388431" y="0"/>
                    </a:moveTo>
                    <a:cubicBezTo>
                      <a:pt x="173906" y="0"/>
                      <a:pt x="0" y="181951"/>
                      <a:pt x="0" y="406400"/>
                    </a:cubicBezTo>
                    <a:cubicBezTo>
                      <a:pt x="0" y="630849"/>
                      <a:pt x="173906" y="812800"/>
                      <a:pt x="388431" y="812800"/>
                    </a:cubicBezTo>
                    <a:cubicBezTo>
                      <a:pt x="602956" y="812800"/>
                      <a:pt x="776862" y="630849"/>
                      <a:pt x="776862" y="406400"/>
                    </a:cubicBezTo>
                    <a:cubicBezTo>
                      <a:pt x="776862" y="181951"/>
                      <a:pt x="602956" y="0"/>
                      <a:pt x="388431" y="0"/>
                    </a:cubicBezTo>
                    <a:close/>
                  </a:path>
                </a:pathLst>
              </a:custGeom>
              <a:solidFill>
                <a:srgbClr val="0097B2"/>
              </a:solidFill>
              <a:ln w="2857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72831" y="38100"/>
                <a:ext cx="631200" cy="698500"/>
              </a:xfrm>
              <a:prstGeom prst="rect">
                <a:avLst/>
              </a:prstGeom>
            </p:spPr>
            <p:txBody>
              <a:bodyPr anchor="ctr" rtlCol="false" tIns="35873" lIns="35873" bIns="35873" rIns="35873"/>
              <a:lstStyle/>
              <a:p>
                <a:pPr algn="ctr">
                  <a:lnSpc>
                    <a:spcPts val="1384"/>
                  </a:lnSpc>
                </a:pPr>
              </a:p>
            </p:txBody>
          </p:sp>
        </p:grpSp>
        <p:sp>
          <p:nvSpPr>
            <p:cNvPr name="TextBox 32" id="32"/>
            <p:cNvSpPr txBox="true"/>
            <p:nvPr/>
          </p:nvSpPr>
          <p:spPr>
            <a:xfrm rot="5231446">
              <a:off x="6831153" y="21533733"/>
              <a:ext cx="8012527" cy="11624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37"/>
                </a:lnSpc>
              </a:pPr>
              <a:r>
                <a:rPr lang="en-US" sz="3178" b="true">
                  <a:solidFill>
                    <a:srgbClr val="1C6976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Ndeye Ramatoulaye Ndoye FALL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1353337" y="1028700"/>
            <a:ext cx="5905963" cy="1392427"/>
            <a:chOff x="0" y="0"/>
            <a:chExt cx="7874617" cy="1856570"/>
          </a:xfrm>
        </p:grpSpPr>
        <p:grpSp>
          <p:nvGrpSpPr>
            <p:cNvPr name="Group 34" id="34"/>
            <p:cNvGrpSpPr/>
            <p:nvPr/>
          </p:nvGrpSpPr>
          <p:grpSpPr>
            <a:xfrm rot="1471508">
              <a:off x="225077" y="32097"/>
              <a:ext cx="409715" cy="1173520"/>
              <a:chOff x="0" y="0"/>
              <a:chExt cx="106268" cy="304376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106268" cy="304376"/>
              </a:xfrm>
              <a:custGeom>
                <a:avLst/>
                <a:gdLst/>
                <a:ahLst/>
                <a:cxnLst/>
                <a:rect r="r" b="b" t="t" l="l"/>
                <a:pathLst>
                  <a:path h="304376" w="106268">
                    <a:moveTo>
                      <a:pt x="0" y="0"/>
                    </a:moveTo>
                    <a:lnTo>
                      <a:pt x="106268" y="0"/>
                    </a:lnTo>
                    <a:lnTo>
                      <a:pt x="106268" y="304376"/>
                    </a:lnTo>
                    <a:lnTo>
                      <a:pt x="0" y="304376"/>
                    </a:lnTo>
                    <a:close/>
                  </a:path>
                </a:pathLst>
              </a:custGeom>
              <a:solidFill>
                <a:srgbClr val="0097B2"/>
              </a:solidFill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0" y="-57150"/>
                <a:ext cx="106268" cy="36152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6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7" id="37"/>
            <p:cNvGrpSpPr/>
            <p:nvPr/>
          </p:nvGrpSpPr>
          <p:grpSpPr>
            <a:xfrm rot="1471508">
              <a:off x="494755" y="650953"/>
              <a:ext cx="409715" cy="1173520"/>
              <a:chOff x="0" y="0"/>
              <a:chExt cx="106268" cy="304376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106268" cy="304376"/>
              </a:xfrm>
              <a:custGeom>
                <a:avLst/>
                <a:gdLst/>
                <a:ahLst/>
                <a:cxnLst/>
                <a:rect r="r" b="b" t="t" l="l"/>
                <a:pathLst>
                  <a:path h="304376" w="106268">
                    <a:moveTo>
                      <a:pt x="0" y="0"/>
                    </a:moveTo>
                    <a:lnTo>
                      <a:pt x="106268" y="0"/>
                    </a:lnTo>
                    <a:lnTo>
                      <a:pt x="106268" y="304376"/>
                    </a:lnTo>
                    <a:lnTo>
                      <a:pt x="0" y="304376"/>
                    </a:lnTo>
                    <a:close/>
                  </a:path>
                </a:pathLst>
              </a:custGeom>
              <a:solidFill>
                <a:srgbClr val="0097B2"/>
              </a:solidFill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0" y="-57150"/>
                <a:ext cx="106268" cy="36152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6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40" id="40"/>
            <p:cNvSpPr txBox="true"/>
            <p:nvPr/>
          </p:nvSpPr>
          <p:spPr>
            <a:xfrm rot="0">
              <a:off x="1664633" y="260962"/>
              <a:ext cx="6209984" cy="8805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299"/>
                </a:lnSpc>
                <a:spcBef>
                  <a:spcPct val="0"/>
                </a:spcBef>
              </a:pPr>
              <a:r>
                <a:rPr lang="en-US" sz="3785" b="true">
                  <a:solidFill>
                    <a:srgbClr val="329A87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Séries temporelles</a:t>
              </a:r>
            </a:p>
          </p:txBody>
        </p:sp>
      </p:grpSp>
    </p:spTree>
  </p:cSld>
  <p:clrMapOvr>
    <a:masterClrMapping/>
  </p:clrMapOvr>
  <p:transition spd="fast">
    <p:cover dir="rd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8959426">
            <a:off x="-7669783" y="-1450106"/>
            <a:ext cx="18107330" cy="19608651"/>
            <a:chOff x="0" y="0"/>
            <a:chExt cx="24143107" cy="26144868"/>
          </a:xfrm>
        </p:grpSpPr>
        <p:grpSp>
          <p:nvGrpSpPr>
            <p:cNvPr name="Group 3" id="3"/>
            <p:cNvGrpSpPr/>
            <p:nvPr/>
          </p:nvGrpSpPr>
          <p:grpSpPr>
            <a:xfrm rot="5399999">
              <a:off x="7632262" y="9230388"/>
              <a:ext cx="8075694" cy="7735298"/>
              <a:chOff x="0" y="0"/>
              <a:chExt cx="6350000" cy="6082343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-119315">
                <a:off x="-56370" y="-59016"/>
                <a:ext cx="6462740" cy="6200375"/>
              </a:xfrm>
              <a:custGeom>
                <a:avLst/>
                <a:gdLst/>
                <a:ahLst/>
                <a:cxnLst/>
                <a:rect r="r" b="b" t="t" l="l"/>
                <a:pathLst>
                  <a:path h="6200375" w="6462740">
                    <a:moveTo>
                      <a:pt x="6404457" y="3210399"/>
                    </a:moveTo>
                    <a:cubicBezTo>
                      <a:pt x="6346176" y="4888912"/>
                      <a:pt x="4878260" y="6200375"/>
                      <a:pt x="3125839" y="6139528"/>
                    </a:cubicBezTo>
                    <a:cubicBezTo>
                      <a:pt x="1373394" y="6078680"/>
                      <a:pt x="0" y="4668563"/>
                      <a:pt x="58281" y="2990050"/>
                    </a:cubicBezTo>
                    <a:cubicBezTo>
                      <a:pt x="116564" y="1311452"/>
                      <a:pt x="1584455" y="0"/>
                      <a:pt x="3336901" y="60848"/>
                    </a:cubicBezTo>
                    <a:cubicBezTo>
                      <a:pt x="5089346" y="121695"/>
                      <a:pt x="6462740" y="1531801"/>
                      <a:pt x="6404457" y="3210399"/>
                    </a:cubicBezTo>
                    <a:close/>
                  </a:path>
                </a:pathLst>
              </a:custGeom>
              <a:blipFill>
                <a:blip r:embed="rId2"/>
                <a:stretch>
                  <a:fillRect l="-38770" t="-1777" r="-38770" b="-1777"/>
                </a:stretch>
              </a:blipFill>
            </p:spPr>
          </p:sp>
        </p:grpSp>
        <p:grpSp>
          <p:nvGrpSpPr>
            <p:cNvPr name="Group 5" id="5"/>
            <p:cNvGrpSpPr/>
            <p:nvPr/>
          </p:nvGrpSpPr>
          <p:grpSpPr>
            <a:xfrm rot="5399999">
              <a:off x="14701299" y="12345659"/>
              <a:ext cx="1570966" cy="1504755"/>
              <a:chOff x="0" y="0"/>
              <a:chExt cx="812800" cy="778543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812800" cy="778543"/>
              </a:xfrm>
              <a:custGeom>
                <a:avLst/>
                <a:gdLst/>
                <a:ahLst/>
                <a:cxnLst/>
                <a:rect r="r" b="b" t="t" l="l"/>
                <a:pathLst>
                  <a:path h="778543" w="812800">
                    <a:moveTo>
                      <a:pt x="406400" y="0"/>
                    </a:moveTo>
                    <a:cubicBezTo>
                      <a:pt x="181951" y="0"/>
                      <a:pt x="0" y="174283"/>
                      <a:pt x="0" y="389272"/>
                    </a:cubicBezTo>
                    <a:cubicBezTo>
                      <a:pt x="0" y="604260"/>
                      <a:pt x="181951" y="778543"/>
                      <a:pt x="406400" y="778543"/>
                    </a:cubicBezTo>
                    <a:cubicBezTo>
                      <a:pt x="630849" y="778543"/>
                      <a:pt x="812800" y="604260"/>
                      <a:pt x="812800" y="389272"/>
                    </a:cubicBezTo>
                    <a:cubicBezTo>
                      <a:pt x="812800" y="174283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97B2"/>
              </a:solidFill>
              <a:ln w="2857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76200" y="34888"/>
                <a:ext cx="660400" cy="670666"/>
              </a:xfrm>
              <a:prstGeom prst="rect">
                <a:avLst/>
              </a:prstGeom>
            </p:spPr>
            <p:txBody>
              <a:bodyPr anchor="ctr" rtlCol="false" tIns="35873" lIns="35873" bIns="35873" rIns="35873"/>
              <a:lstStyle/>
              <a:p>
                <a:pPr algn="ctr">
                  <a:lnSpc>
                    <a:spcPts val="1384"/>
                  </a:lnSpc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16451467" y="12815830"/>
              <a:ext cx="7691639" cy="11624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37"/>
                </a:lnSpc>
              </a:pPr>
              <a:r>
                <a:rPr lang="en-US" sz="3178" b="true">
                  <a:solidFill>
                    <a:srgbClr val="8DE8E8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Gandwend Judicaël Oscar KAFANDO</a:t>
              </a:r>
            </a:p>
          </p:txBody>
        </p:sp>
        <p:grpSp>
          <p:nvGrpSpPr>
            <p:cNvPr name="Group 9" id="9"/>
            <p:cNvGrpSpPr/>
            <p:nvPr/>
          </p:nvGrpSpPr>
          <p:grpSpPr>
            <a:xfrm rot="2457872">
              <a:off x="13473117" y="9318915"/>
              <a:ext cx="1447270" cy="1570966"/>
              <a:chOff x="0" y="0"/>
              <a:chExt cx="748801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748801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748801">
                    <a:moveTo>
                      <a:pt x="374401" y="0"/>
                    </a:moveTo>
                    <a:cubicBezTo>
                      <a:pt x="167625" y="0"/>
                      <a:pt x="0" y="181951"/>
                      <a:pt x="0" y="406400"/>
                    </a:cubicBezTo>
                    <a:cubicBezTo>
                      <a:pt x="0" y="630849"/>
                      <a:pt x="167625" y="812800"/>
                      <a:pt x="374401" y="812800"/>
                    </a:cubicBezTo>
                    <a:cubicBezTo>
                      <a:pt x="581176" y="812800"/>
                      <a:pt x="748801" y="630849"/>
                      <a:pt x="748801" y="406400"/>
                    </a:cubicBezTo>
                    <a:cubicBezTo>
                      <a:pt x="748801" y="181951"/>
                      <a:pt x="581176" y="0"/>
                      <a:pt x="374401" y="0"/>
                    </a:cubicBezTo>
                    <a:close/>
                  </a:path>
                </a:pathLst>
              </a:custGeom>
              <a:solidFill>
                <a:srgbClr val="0097B2"/>
              </a:solidFill>
              <a:ln w="2857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70200" y="38100"/>
                <a:ext cx="608401" cy="698500"/>
              </a:xfrm>
              <a:prstGeom prst="rect">
                <a:avLst/>
              </a:prstGeom>
            </p:spPr>
            <p:txBody>
              <a:bodyPr anchor="ctr" rtlCol="false" tIns="35873" lIns="35873" bIns="35873" rIns="35873"/>
              <a:lstStyle/>
              <a:p>
                <a:pPr algn="ctr">
                  <a:lnSpc>
                    <a:spcPts val="1384"/>
                  </a:lnSpc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-2942127">
              <a:off x="13243222" y="6016682"/>
              <a:ext cx="8012527" cy="60251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37"/>
                </a:lnSpc>
              </a:pPr>
              <a:r>
                <a:rPr lang="en-US" sz="3178" b="true">
                  <a:solidFill>
                    <a:srgbClr val="8DE8E8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Albert ZINABA</a:t>
              </a:r>
            </a:p>
          </p:txBody>
        </p:sp>
        <p:grpSp>
          <p:nvGrpSpPr>
            <p:cNvPr name="Group 13" id="13"/>
            <p:cNvGrpSpPr/>
            <p:nvPr/>
          </p:nvGrpSpPr>
          <p:grpSpPr>
            <a:xfrm rot="0">
              <a:off x="10821264" y="8251732"/>
              <a:ext cx="1504755" cy="1570966"/>
              <a:chOff x="0" y="0"/>
              <a:chExt cx="778543" cy="8128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778543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778543">
                    <a:moveTo>
                      <a:pt x="389272" y="0"/>
                    </a:moveTo>
                    <a:cubicBezTo>
                      <a:pt x="174283" y="0"/>
                      <a:pt x="0" y="181951"/>
                      <a:pt x="0" y="406400"/>
                    </a:cubicBezTo>
                    <a:cubicBezTo>
                      <a:pt x="0" y="630849"/>
                      <a:pt x="174283" y="812800"/>
                      <a:pt x="389272" y="812800"/>
                    </a:cubicBezTo>
                    <a:cubicBezTo>
                      <a:pt x="604260" y="812800"/>
                      <a:pt x="778543" y="630849"/>
                      <a:pt x="778543" y="406400"/>
                    </a:cubicBezTo>
                    <a:cubicBezTo>
                      <a:pt x="778543" y="181951"/>
                      <a:pt x="604260" y="0"/>
                      <a:pt x="389272" y="0"/>
                    </a:cubicBezTo>
                    <a:close/>
                  </a:path>
                </a:pathLst>
              </a:custGeom>
              <a:solidFill>
                <a:srgbClr val="0097B2"/>
              </a:solidFill>
              <a:ln w="2857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72988" y="38100"/>
                <a:ext cx="632566" cy="698500"/>
              </a:xfrm>
              <a:prstGeom prst="rect">
                <a:avLst/>
              </a:prstGeom>
            </p:spPr>
            <p:txBody>
              <a:bodyPr anchor="ctr" rtlCol="false" tIns="35873" lIns="35873" bIns="35873" rIns="35873"/>
              <a:lstStyle/>
              <a:p>
                <a:pPr algn="ctr">
                  <a:lnSpc>
                    <a:spcPts val="1384"/>
                  </a:lnSpc>
                </a:pPr>
              </a:p>
            </p:txBody>
          </p:sp>
        </p:grpSp>
        <p:sp>
          <p:nvSpPr>
            <p:cNvPr name="TextBox 16" id="16"/>
            <p:cNvSpPr txBox="true"/>
            <p:nvPr/>
          </p:nvSpPr>
          <p:spPr>
            <a:xfrm rot="-5400000">
              <a:off x="7572927" y="3705007"/>
              <a:ext cx="8012527" cy="60251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37"/>
                </a:lnSpc>
              </a:pPr>
              <a:r>
                <a:rPr lang="en-US" sz="3178" b="true">
                  <a:solidFill>
                    <a:srgbClr val="1C6976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Mamady I BERETE</a:t>
              </a:r>
            </a:p>
          </p:txBody>
        </p:sp>
        <p:grpSp>
          <p:nvGrpSpPr>
            <p:cNvPr name="Group 17" id="17"/>
            <p:cNvGrpSpPr/>
            <p:nvPr/>
          </p:nvGrpSpPr>
          <p:grpSpPr>
            <a:xfrm rot="-3533298">
              <a:off x="7823862" y="10133668"/>
              <a:ext cx="1570966" cy="1464795"/>
              <a:chOff x="0" y="0"/>
              <a:chExt cx="812800" cy="757868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812800" cy="757868"/>
              </a:xfrm>
              <a:custGeom>
                <a:avLst/>
                <a:gdLst/>
                <a:ahLst/>
                <a:cxnLst/>
                <a:rect r="r" b="b" t="t" l="l"/>
                <a:pathLst>
                  <a:path h="757868" w="812800">
                    <a:moveTo>
                      <a:pt x="406400" y="0"/>
                    </a:moveTo>
                    <a:cubicBezTo>
                      <a:pt x="181951" y="0"/>
                      <a:pt x="0" y="169655"/>
                      <a:pt x="0" y="378934"/>
                    </a:cubicBezTo>
                    <a:cubicBezTo>
                      <a:pt x="0" y="588214"/>
                      <a:pt x="181951" y="757868"/>
                      <a:pt x="406400" y="757868"/>
                    </a:cubicBezTo>
                    <a:cubicBezTo>
                      <a:pt x="630849" y="757868"/>
                      <a:pt x="812800" y="588214"/>
                      <a:pt x="812800" y="378934"/>
                    </a:cubicBezTo>
                    <a:cubicBezTo>
                      <a:pt x="812800" y="169655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97B2"/>
              </a:solidFill>
              <a:ln w="2857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76200" y="32950"/>
                <a:ext cx="660400" cy="653868"/>
              </a:xfrm>
              <a:prstGeom prst="rect">
                <a:avLst/>
              </a:prstGeom>
            </p:spPr>
            <p:txBody>
              <a:bodyPr anchor="ctr" rtlCol="false" tIns="35873" lIns="35873" bIns="35873" rIns="35873"/>
              <a:lstStyle/>
              <a:p>
                <a:pPr algn="ctr">
                  <a:lnSpc>
                    <a:spcPts val="1384"/>
                  </a:lnSpc>
                </a:pPr>
              </a:p>
            </p:txBody>
          </p:sp>
        </p:grpSp>
        <p:sp>
          <p:nvSpPr>
            <p:cNvPr name="TextBox 20" id="20"/>
            <p:cNvSpPr txBox="true"/>
            <p:nvPr/>
          </p:nvSpPr>
          <p:spPr>
            <a:xfrm rot="-8933298">
              <a:off x="647796" y="7948965"/>
              <a:ext cx="7676156" cy="60251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37"/>
                </a:lnSpc>
              </a:pPr>
              <a:r>
                <a:rPr lang="en-US" sz="3178" b="true">
                  <a:solidFill>
                    <a:srgbClr val="1C6976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Jacques ILLY</a:t>
              </a:r>
            </a:p>
          </p:txBody>
        </p:sp>
        <p:grpSp>
          <p:nvGrpSpPr>
            <p:cNvPr name="Group 21" id="21"/>
            <p:cNvGrpSpPr/>
            <p:nvPr/>
          </p:nvGrpSpPr>
          <p:grpSpPr>
            <a:xfrm rot="-6345082">
              <a:off x="7629073" y="14350133"/>
              <a:ext cx="1570966" cy="1486079"/>
              <a:chOff x="0" y="0"/>
              <a:chExt cx="812800" cy="768881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812800" cy="768881"/>
              </a:xfrm>
              <a:custGeom>
                <a:avLst/>
                <a:gdLst/>
                <a:ahLst/>
                <a:cxnLst/>
                <a:rect r="r" b="b" t="t" l="l"/>
                <a:pathLst>
                  <a:path h="768881" w="812800">
                    <a:moveTo>
                      <a:pt x="406400" y="0"/>
                    </a:moveTo>
                    <a:cubicBezTo>
                      <a:pt x="181951" y="0"/>
                      <a:pt x="0" y="172120"/>
                      <a:pt x="0" y="384440"/>
                    </a:cubicBezTo>
                    <a:cubicBezTo>
                      <a:pt x="0" y="596761"/>
                      <a:pt x="181951" y="768881"/>
                      <a:pt x="406400" y="768881"/>
                    </a:cubicBezTo>
                    <a:cubicBezTo>
                      <a:pt x="630849" y="768881"/>
                      <a:pt x="812800" y="596761"/>
                      <a:pt x="812800" y="384440"/>
                    </a:cubicBezTo>
                    <a:cubicBezTo>
                      <a:pt x="812800" y="172120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97B2"/>
              </a:solidFill>
              <a:ln w="2857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76200" y="33983"/>
                <a:ext cx="660400" cy="662816"/>
              </a:xfrm>
              <a:prstGeom prst="rect">
                <a:avLst/>
              </a:prstGeom>
            </p:spPr>
            <p:txBody>
              <a:bodyPr anchor="ctr" rtlCol="false" tIns="35873" lIns="35873" bIns="35873" rIns="35873"/>
              <a:lstStyle/>
              <a:p>
                <a:pPr algn="ctr">
                  <a:lnSpc>
                    <a:spcPts val="1384"/>
                  </a:lnSpc>
                </a:pPr>
              </a:p>
            </p:txBody>
          </p:sp>
        </p:grpSp>
        <p:sp>
          <p:nvSpPr>
            <p:cNvPr name="TextBox 24" id="24"/>
            <p:cNvSpPr txBox="true"/>
            <p:nvPr/>
          </p:nvSpPr>
          <p:spPr>
            <a:xfrm rot="9854917">
              <a:off x="-62499" y="16139301"/>
              <a:ext cx="7684403" cy="60251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37"/>
                </a:lnSpc>
              </a:pPr>
              <a:r>
                <a:rPr lang="en-US" sz="3178" b="true">
                  <a:solidFill>
                    <a:srgbClr val="8DE8E8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Paul BALAFAI</a:t>
              </a:r>
            </a:p>
          </p:txBody>
        </p:sp>
        <p:grpSp>
          <p:nvGrpSpPr>
            <p:cNvPr name="Group 25" id="25"/>
            <p:cNvGrpSpPr/>
            <p:nvPr/>
          </p:nvGrpSpPr>
          <p:grpSpPr>
            <a:xfrm rot="8742762">
              <a:off x="13384698" y="15182145"/>
              <a:ext cx="1459610" cy="1570966"/>
              <a:chOff x="0" y="0"/>
              <a:chExt cx="755186" cy="81280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755186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755186">
                    <a:moveTo>
                      <a:pt x="377593" y="0"/>
                    </a:moveTo>
                    <a:cubicBezTo>
                      <a:pt x="169054" y="0"/>
                      <a:pt x="0" y="181951"/>
                      <a:pt x="0" y="406400"/>
                    </a:cubicBezTo>
                    <a:cubicBezTo>
                      <a:pt x="0" y="630849"/>
                      <a:pt x="169054" y="812800"/>
                      <a:pt x="377593" y="812800"/>
                    </a:cubicBezTo>
                    <a:cubicBezTo>
                      <a:pt x="586132" y="812800"/>
                      <a:pt x="755186" y="630849"/>
                      <a:pt x="755186" y="406400"/>
                    </a:cubicBezTo>
                    <a:cubicBezTo>
                      <a:pt x="755186" y="181951"/>
                      <a:pt x="586132" y="0"/>
                      <a:pt x="377593" y="0"/>
                    </a:cubicBezTo>
                    <a:close/>
                  </a:path>
                </a:pathLst>
              </a:custGeom>
              <a:solidFill>
                <a:srgbClr val="0097B2"/>
              </a:solidFill>
              <a:ln w="2857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70799" y="38100"/>
                <a:ext cx="613588" cy="698500"/>
              </a:xfrm>
              <a:prstGeom prst="rect">
                <a:avLst/>
              </a:prstGeom>
            </p:spPr>
            <p:txBody>
              <a:bodyPr anchor="ctr" rtlCol="false" tIns="35873" lIns="35873" bIns="35873" rIns="35873"/>
              <a:lstStyle/>
              <a:p>
                <a:pPr algn="ctr">
                  <a:lnSpc>
                    <a:spcPts val="1384"/>
                  </a:lnSpc>
                </a:pPr>
              </a:p>
            </p:txBody>
          </p:sp>
        </p:grpSp>
        <p:sp>
          <p:nvSpPr>
            <p:cNvPr name="TextBox 28" id="28"/>
            <p:cNvSpPr txBox="true"/>
            <p:nvPr/>
          </p:nvSpPr>
          <p:spPr>
            <a:xfrm rot="3342762">
              <a:off x="12700924" y="19833792"/>
              <a:ext cx="8012527" cy="60251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37"/>
                </a:lnSpc>
              </a:pPr>
              <a:r>
                <a:rPr lang="en-US" sz="3178" b="true">
                  <a:solidFill>
                    <a:srgbClr val="8DE8E8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Cheikh Oumar DIALLO</a:t>
              </a:r>
            </a:p>
          </p:txBody>
        </p:sp>
        <p:grpSp>
          <p:nvGrpSpPr>
            <p:cNvPr name="Group 29" id="29"/>
            <p:cNvGrpSpPr/>
            <p:nvPr/>
          </p:nvGrpSpPr>
          <p:grpSpPr>
            <a:xfrm rot="10631446">
              <a:off x="10170879" y="16289892"/>
              <a:ext cx="1501506" cy="1570966"/>
              <a:chOff x="0" y="0"/>
              <a:chExt cx="776862" cy="812800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776862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776862">
                    <a:moveTo>
                      <a:pt x="388431" y="0"/>
                    </a:moveTo>
                    <a:cubicBezTo>
                      <a:pt x="173906" y="0"/>
                      <a:pt x="0" y="181951"/>
                      <a:pt x="0" y="406400"/>
                    </a:cubicBezTo>
                    <a:cubicBezTo>
                      <a:pt x="0" y="630849"/>
                      <a:pt x="173906" y="812800"/>
                      <a:pt x="388431" y="812800"/>
                    </a:cubicBezTo>
                    <a:cubicBezTo>
                      <a:pt x="602956" y="812800"/>
                      <a:pt x="776862" y="630849"/>
                      <a:pt x="776862" y="406400"/>
                    </a:cubicBezTo>
                    <a:cubicBezTo>
                      <a:pt x="776862" y="181951"/>
                      <a:pt x="602956" y="0"/>
                      <a:pt x="388431" y="0"/>
                    </a:cubicBezTo>
                    <a:close/>
                  </a:path>
                </a:pathLst>
              </a:custGeom>
              <a:solidFill>
                <a:srgbClr val="0097B2"/>
              </a:solidFill>
              <a:ln w="2857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72831" y="38100"/>
                <a:ext cx="631200" cy="698500"/>
              </a:xfrm>
              <a:prstGeom prst="rect">
                <a:avLst/>
              </a:prstGeom>
            </p:spPr>
            <p:txBody>
              <a:bodyPr anchor="ctr" rtlCol="false" tIns="35873" lIns="35873" bIns="35873" rIns="35873"/>
              <a:lstStyle/>
              <a:p>
                <a:pPr algn="ctr">
                  <a:lnSpc>
                    <a:spcPts val="1384"/>
                  </a:lnSpc>
                </a:pPr>
              </a:p>
            </p:txBody>
          </p:sp>
        </p:grpSp>
        <p:sp>
          <p:nvSpPr>
            <p:cNvPr name="TextBox 32" id="32"/>
            <p:cNvSpPr txBox="true"/>
            <p:nvPr/>
          </p:nvSpPr>
          <p:spPr>
            <a:xfrm rot="5231446">
              <a:off x="6831153" y="21533733"/>
              <a:ext cx="8012527" cy="11624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37"/>
                </a:lnSpc>
              </a:pPr>
              <a:r>
                <a:rPr lang="en-US" sz="3178" b="true">
                  <a:solidFill>
                    <a:srgbClr val="8DE8E8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Ndeye Ramatoulaye Ndoye FALL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1353337" y="1028700"/>
            <a:ext cx="5905963" cy="1392427"/>
            <a:chOff x="0" y="0"/>
            <a:chExt cx="7874617" cy="1856570"/>
          </a:xfrm>
        </p:grpSpPr>
        <p:grpSp>
          <p:nvGrpSpPr>
            <p:cNvPr name="Group 34" id="34"/>
            <p:cNvGrpSpPr/>
            <p:nvPr/>
          </p:nvGrpSpPr>
          <p:grpSpPr>
            <a:xfrm rot="1471508">
              <a:off x="225077" y="32097"/>
              <a:ext cx="409715" cy="1173520"/>
              <a:chOff x="0" y="0"/>
              <a:chExt cx="106268" cy="304376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106268" cy="304376"/>
              </a:xfrm>
              <a:custGeom>
                <a:avLst/>
                <a:gdLst/>
                <a:ahLst/>
                <a:cxnLst/>
                <a:rect r="r" b="b" t="t" l="l"/>
                <a:pathLst>
                  <a:path h="304376" w="106268">
                    <a:moveTo>
                      <a:pt x="0" y="0"/>
                    </a:moveTo>
                    <a:lnTo>
                      <a:pt x="106268" y="0"/>
                    </a:lnTo>
                    <a:lnTo>
                      <a:pt x="106268" y="304376"/>
                    </a:lnTo>
                    <a:lnTo>
                      <a:pt x="0" y="304376"/>
                    </a:lnTo>
                    <a:close/>
                  </a:path>
                </a:pathLst>
              </a:custGeom>
              <a:solidFill>
                <a:srgbClr val="0097B2"/>
              </a:solidFill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0" y="-57150"/>
                <a:ext cx="106268" cy="36152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6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7" id="37"/>
            <p:cNvGrpSpPr/>
            <p:nvPr/>
          </p:nvGrpSpPr>
          <p:grpSpPr>
            <a:xfrm rot="1471508">
              <a:off x="494755" y="650953"/>
              <a:ext cx="409715" cy="1173520"/>
              <a:chOff x="0" y="0"/>
              <a:chExt cx="106268" cy="304376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106268" cy="304376"/>
              </a:xfrm>
              <a:custGeom>
                <a:avLst/>
                <a:gdLst/>
                <a:ahLst/>
                <a:cxnLst/>
                <a:rect r="r" b="b" t="t" l="l"/>
                <a:pathLst>
                  <a:path h="304376" w="106268">
                    <a:moveTo>
                      <a:pt x="0" y="0"/>
                    </a:moveTo>
                    <a:lnTo>
                      <a:pt x="106268" y="0"/>
                    </a:lnTo>
                    <a:lnTo>
                      <a:pt x="106268" y="304376"/>
                    </a:lnTo>
                    <a:lnTo>
                      <a:pt x="0" y="304376"/>
                    </a:lnTo>
                    <a:close/>
                  </a:path>
                </a:pathLst>
              </a:custGeom>
              <a:solidFill>
                <a:srgbClr val="0097B2"/>
              </a:solidFill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0" y="-57150"/>
                <a:ext cx="106268" cy="36152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6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40" id="40"/>
            <p:cNvSpPr txBox="true"/>
            <p:nvPr/>
          </p:nvSpPr>
          <p:spPr>
            <a:xfrm rot="0">
              <a:off x="1664633" y="260962"/>
              <a:ext cx="6209984" cy="8805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299"/>
                </a:lnSpc>
                <a:spcBef>
                  <a:spcPct val="0"/>
                </a:spcBef>
              </a:pPr>
              <a:r>
                <a:rPr lang="en-US" sz="3785" b="true">
                  <a:solidFill>
                    <a:srgbClr val="329A87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Séries temporelles</a:t>
              </a:r>
            </a:p>
          </p:txBody>
        </p:sp>
      </p:grpSp>
    </p:spTree>
  </p:cSld>
  <p:clrMapOvr>
    <a:masterClrMapping/>
  </p:clrMapOvr>
  <p:transition spd="fast">
    <p:cover dir="rd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9897920">
            <a:off x="-7669783" y="-1450106"/>
            <a:ext cx="18107330" cy="19608651"/>
            <a:chOff x="0" y="0"/>
            <a:chExt cx="24143107" cy="26144868"/>
          </a:xfrm>
        </p:grpSpPr>
        <p:grpSp>
          <p:nvGrpSpPr>
            <p:cNvPr name="Group 3" id="3"/>
            <p:cNvGrpSpPr/>
            <p:nvPr/>
          </p:nvGrpSpPr>
          <p:grpSpPr>
            <a:xfrm rot="5399999">
              <a:off x="7632262" y="9230388"/>
              <a:ext cx="8075694" cy="7735298"/>
              <a:chOff x="0" y="0"/>
              <a:chExt cx="6350000" cy="6082343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-119315">
                <a:off x="-56370" y="-59016"/>
                <a:ext cx="6462740" cy="6200375"/>
              </a:xfrm>
              <a:custGeom>
                <a:avLst/>
                <a:gdLst/>
                <a:ahLst/>
                <a:cxnLst/>
                <a:rect r="r" b="b" t="t" l="l"/>
                <a:pathLst>
                  <a:path h="6200375" w="6462740">
                    <a:moveTo>
                      <a:pt x="6404457" y="3210399"/>
                    </a:moveTo>
                    <a:cubicBezTo>
                      <a:pt x="6346176" y="4888912"/>
                      <a:pt x="4878260" y="6200375"/>
                      <a:pt x="3125839" y="6139528"/>
                    </a:cubicBezTo>
                    <a:cubicBezTo>
                      <a:pt x="1373394" y="6078680"/>
                      <a:pt x="0" y="4668563"/>
                      <a:pt x="58281" y="2990050"/>
                    </a:cubicBezTo>
                    <a:cubicBezTo>
                      <a:pt x="116564" y="1311452"/>
                      <a:pt x="1584455" y="0"/>
                      <a:pt x="3336901" y="60848"/>
                    </a:cubicBezTo>
                    <a:cubicBezTo>
                      <a:pt x="5089346" y="121695"/>
                      <a:pt x="6462740" y="1531801"/>
                      <a:pt x="6404457" y="3210399"/>
                    </a:cubicBezTo>
                    <a:close/>
                  </a:path>
                </a:pathLst>
              </a:custGeom>
              <a:blipFill>
                <a:blip r:embed="rId2"/>
                <a:stretch>
                  <a:fillRect l="-38770" t="-1777" r="-38770" b="-1777"/>
                </a:stretch>
              </a:blipFill>
            </p:spPr>
          </p:sp>
        </p:grpSp>
        <p:grpSp>
          <p:nvGrpSpPr>
            <p:cNvPr name="Group 5" id="5"/>
            <p:cNvGrpSpPr/>
            <p:nvPr/>
          </p:nvGrpSpPr>
          <p:grpSpPr>
            <a:xfrm rot="5399999">
              <a:off x="14701299" y="12345659"/>
              <a:ext cx="1570966" cy="1504755"/>
              <a:chOff x="0" y="0"/>
              <a:chExt cx="812800" cy="778543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812800" cy="778543"/>
              </a:xfrm>
              <a:custGeom>
                <a:avLst/>
                <a:gdLst/>
                <a:ahLst/>
                <a:cxnLst/>
                <a:rect r="r" b="b" t="t" l="l"/>
                <a:pathLst>
                  <a:path h="778543" w="812800">
                    <a:moveTo>
                      <a:pt x="406400" y="0"/>
                    </a:moveTo>
                    <a:cubicBezTo>
                      <a:pt x="181951" y="0"/>
                      <a:pt x="0" y="174283"/>
                      <a:pt x="0" y="389272"/>
                    </a:cubicBezTo>
                    <a:cubicBezTo>
                      <a:pt x="0" y="604260"/>
                      <a:pt x="181951" y="778543"/>
                      <a:pt x="406400" y="778543"/>
                    </a:cubicBezTo>
                    <a:cubicBezTo>
                      <a:pt x="630849" y="778543"/>
                      <a:pt x="812800" y="604260"/>
                      <a:pt x="812800" y="389272"/>
                    </a:cubicBezTo>
                    <a:cubicBezTo>
                      <a:pt x="812800" y="174283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97B2"/>
              </a:solidFill>
              <a:ln w="2857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76200" y="34888"/>
                <a:ext cx="660400" cy="670666"/>
              </a:xfrm>
              <a:prstGeom prst="rect">
                <a:avLst/>
              </a:prstGeom>
            </p:spPr>
            <p:txBody>
              <a:bodyPr anchor="ctr" rtlCol="false" tIns="35873" lIns="35873" bIns="35873" rIns="35873"/>
              <a:lstStyle/>
              <a:p>
                <a:pPr algn="ctr">
                  <a:lnSpc>
                    <a:spcPts val="1384"/>
                  </a:lnSpc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16451467" y="12815830"/>
              <a:ext cx="7691639" cy="11624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37"/>
                </a:lnSpc>
              </a:pPr>
              <a:r>
                <a:rPr lang="en-US" sz="3178" b="true">
                  <a:solidFill>
                    <a:srgbClr val="8DE8E8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Gandwend Judicaël Oscar KAFANDO</a:t>
              </a:r>
            </a:p>
          </p:txBody>
        </p:sp>
        <p:grpSp>
          <p:nvGrpSpPr>
            <p:cNvPr name="Group 9" id="9"/>
            <p:cNvGrpSpPr/>
            <p:nvPr/>
          </p:nvGrpSpPr>
          <p:grpSpPr>
            <a:xfrm rot="2457872">
              <a:off x="13473117" y="9318915"/>
              <a:ext cx="1447270" cy="1570966"/>
              <a:chOff x="0" y="0"/>
              <a:chExt cx="748801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748801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748801">
                    <a:moveTo>
                      <a:pt x="374401" y="0"/>
                    </a:moveTo>
                    <a:cubicBezTo>
                      <a:pt x="167625" y="0"/>
                      <a:pt x="0" y="181951"/>
                      <a:pt x="0" y="406400"/>
                    </a:cubicBezTo>
                    <a:cubicBezTo>
                      <a:pt x="0" y="630849"/>
                      <a:pt x="167625" y="812800"/>
                      <a:pt x="374401" y="812800"/>
                    </a:cubicBezTo>
                    <a:cubicBezTo>
                      <a:pt x="581176" y="812800"/>
                      <a:pt x="748801" y="630849"/>
                      <a:pt x="748801" y="406400"/>
                    </a:cubicBezTo>
                    <a:cubicBezTo>
                      <a:pt x="748801" y="181951"/>
                      <a:pt x="581176" y="0"/>
                      <a:pt x="374401" y="0"/>
                    </a:cubicBezTo>
                    <a:close/>
                  </a:path>
                </a:pathLst>
              </a:custGeom>
              <a:solidFill>
                <a:srgbClr val="0097B2"/>
              </a:solidFill>
              <a:ln w="2857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70200" y="38100"/>
                <a:ext cx="608401" cy="698500"/>
              </a:xfrm>
              <a:prstGeom prst="rect">
                <a:avLst/>
              </a:prstGeom>
            </p:spPr>
            <p:txBody>
              <a:bodyPr anchor="ctr" rtlCol="false" tIns="35873" lIns="35873" bIns="35873" rIns="35873"/>
              <a:lstStyle/>
              <a:p>
                <a:pPr algn="ctr">
                  <a:lnSpc>
                    <a:spcPts val="1384"/>
                  </a:lnSpc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-2942127">
              <a:off x="13243222" y="6016682"/>
              <a:ext cx="8012527" cy="60251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37"/>
                </a:lnSpc>
              </a:pPr>
              <a:r>
                <a:rPr lang="en-US" sz="3178" b="true">
                  <a:solidFill>
                    <a:srgbClr val="8DE8E8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Albert ZINABA</a:t>
              </a:r>
            </a:p>
          </p:txBody>
        </p:sp>
        <p:grpSp>
          <p:nvGrpSpPr>
            <p:cNvPr name="Group 13" id="13"/>
            <p:cNvGrpSpPr/>
            <p:nvPr/>
          </p:nvGrpSpPr>
          <p:grpSpPr>
            <a:xfrm rot="0">
              <a:off x="10821264" y="8251732"/>
              <a:ext cx="1504755" cy="1570966"/>
              <a:chOff x="0" y="0"/>
              <a:chExt cx="778543" cy="8128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778543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778543">
                    <a:moveTo>
                      <a:pt x="389272" y="0"/>
                    </a:moveTo>
                    <a:cubicBezTo>
                      <a:pt x="174283" y="0"/>
                      <a:pt x="0" y="181951"/>
                      <a:pt x="0" y="406400"/>
                    </a:cubicBezTo>
                    <a:cubicBezTo>
                      <a:pt x="0" y="630849"/>
                      <a:pt x="174283" y="812800"/>
                      <a:pt x="389272" y="812800"/>
                    </a:cubicBezTo>
                    <a:cubicBezTo>
                      <a:pt x="604260" y="812800"/>
                      <a:pt x="778543" y="630849"/>
                      <a:pt x="778543" y="406400"/>
                    </a:cubicBezTo>
                    <a:cubicBezTo>
                      <a:pt x="778543" y="181951"/>
                      <a:pt x="604260" y="0"/>
                      <a:pt x="389272" y="0"/>
                    </a:cubicBezTo>
                    <a:close/>
                  </a:path>
                </a:pathLst>
              </a:custGeom>
              <a:solidFill>
                <a:srgbClr val="0097B2"/>
              </a:solidFill>
              <a:ln w="2857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72988" y="38100"/>
                <a:ext cx="632566" cy="698500"/>
              </a:xfrm>
              <a:prstGeom prst="rect">
                <a:avLst/>
              </a:prstGeom>
            </p:spPr>
            <p:txBody>
              <a:bodyPr anchor="ctr" rtlCol="false" tIns="35873" lIns="35873" bIns="35873" rIns="35873"/>
              <a:lstStyle/>
              <a:p>
                <a:pPr algn="ctr">
                  <a:lnSpc>
                    <a:spcPts val="1384"/>
                  </a:lnSpc>
                </a:pPr>
              </a:p>
            </p:txBody>
          </p:sp>
        </p:grpSp>
        <p:sp>
          <p:nvSpPr>
            <p:cNvPr name="TextBox 16" id="16"/>
            <p:cNvSpPr txBox="true"/>
            <p:nvPr/>
          </p:nvSpPr>
          <p:spPr>
            <a:xfrm rot="-5400000">
              <a:off x="7572927" y="3705007"/>
              <a:ext cx="8012527" cy="60251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37"/>
                </a:lnSpc>
              </a:pPr>
              <a:r>
                <a:rPr lang="en-US" sz="3178" b="true">
                  <a:solidFill>
                    <a:srgbClr val="1C6976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Mamady I BERETE</a:t>
              </a:r>
            </a:p>
          </p:txBody>
        </p:sp>
        <p:grpSp>
          <p:nvGrpSpPr>
            <p:cNvPr name="Group 17" id="17"/>
            <p:cNvGrpSpPr/>
            <p:nvPr/>
          </p:nvGrpSpPr>
          <p:grpSpPr>
            <a:xfrm rot="-3533298">
              <a:off x="7823862" y="10133668"/>
              <a:ext cx="1570966" cy="1464795"/>
              <a:chOff x="0" y="0"/>
              <a:chExt cx="812800" cy="757868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812800" cy="757868"/>
              </a:xfrm>
              <a:custGeom>
                <a:avLst/>
                <a:gdLst/>
                <a:ahLst/>
                <a:cxnLst/>
                <a:rect r="r" b="b" t="t" l="l"/>
                <a:pathLst>
                  <a:path h="757868" w="812800">
                    <a:moveTo>
                      <a:pt x="406400" y="0"/>
                    </a:moveTo>
                    <a:cubicBezTo>
                      <a:pt x="181951" y="0"/>
                      <a:pt x="0" y="169655"/>
                      <a:pt x="0" y="378934"/>
                    </a:cubicBezTo>
                    <a:cubicBezTo>
                      <a:pt x="0" y="588214"/>
                      <a:pt x="181951" y="757868"/>
                      <a:pt x="406400" y="757868"/>
                    </a:cubicBezTo>
                    <a:cubicBezTo>
                      <a:pt x="630849" y="757868"/>
                      <a:pt x="812800" y="588214"/>
                      <a:pt x="812800" y="378934"/>
                    </a:cubicBezTo>
                    <a:cubicBezTo>
                      <a:pt x="812800" y="169655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97B2"/>
              </a:solidFill>
              <a:ln w="2857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76200" y="32950"/>
                <a:ext cx="660400" cy="653868"/>
              </a:xfrm>
              <a:prstGeom prst="rect">
                <a:avLst/>
              </a:prstGeom>
            </p:spPr>
            <p:txBody>
              <a:bodyPr anchor="ctr" rtlCol="false" tIns="35873" lIns="35873" bIns="35873" rIns="35873"/>
              <a:lstStyle/>
              <a:p>
                <a:pPr algn="ctr">
                  <a:lnSpc>
                    <a:spcPts val="1384"/>
                  </a:lnSpc>
                </a:pPr>
              </a:p>
            </p:txBody>
          </p:sp>
        </p:grpSp>
        <p:sp>
          <p:nvSpPr>
            <p:cNvPr name="TextBox 20" id="20"/>
            <p:cNvSpPr txBox="true"/>
            <p:nvPr/>
          </p:nvSpPr>
          <p:spPr>
            <a:xfrm rot="-8933298">
              <a:off x="647796" y="7948965"/>
              <a:ext cx="7676156" cy="60251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37"/>
                </a:lnSpc>
              </a:pPr>
              <a:r>
                <a:rPr lang="en-US" sz="3178" b="true">
                  <a:solidFill>
                    <a:srgbClr val="1C6976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Jacques ILLY</a:t>
              </a:r>
            </a:p>
          </p:txBody>
        </p:sp>
        <p:grpSp>
          <p:nvGrpSpPr>
            <p:cNvPr name="Group 21" id="21"/>
            <p:cNvGrpSpPr/>
            <p:nvPr/>
          </p:nvGrpSpPr>
          <p:grpSpPr>
            <a:xfrm rot="-6345082">
              <a:off x="7629073" y="14350133"/>
              <a:ext cx="1570966" cy="1486079"/>
              <a:chOff x="0" y="0"/>
              <a:chExt cx="812800" cy="768881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812800" cy="768881"/>
              </a:xfrm>
              <a:custGeom>
                <a:avLst/>
                <a:gdLst/>
                <a:ahLst/>
                <a:cxnLst/>
                <a:rect r="r" b="b" t="t" l="l"/>
                <a:pathLst>
                  <a:path h="768881" w="812800">
                    <a:moveTo>
                      <a:pt x="406400" y="0"/>
                    </a:moveTo>
                    <a:cubicBezTo>
                      <a:pt x="181951" y="0"/>
                      <a:pt x="0" y="172120"/>
                      <a:pt x="0" y="384440"/>
                    </a:cubicBezTo>
                    <a:cubicBezTo>
                      <a:pt x="0" y="596761"/>
                      <a:pt x="181951" y="768881"/>
                      <a:pt x="406400" y="768881"/>
                    </a:cubicBezTo>
                    <a:cubicBezTo>
                      <a:pt x="630849" y="768881"/>
                      <a:pt x="812800" y="596761"/>
                      <a:pt x="812800" y="384440"/>
                    </a:cubicBezTo>
                    <a:cubicBezTo>
                      <a:pt x="812800" y="172120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97B2"/>
              </a:solidFill>
              <a:ln w="2857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76200" y="33983"/>
                <a:ext cx="660400" cy="662816"/>
              </a:xfrm>
              <a:prstGeom prst="rect">
                <a:avLst/>
              </a:prstGeom>
            </p:spPr>
            <p:txBody>
              <a:bodyPr anchor="ctr" rtlCol="false" tIns="35873" lIns="35873" bIns="35873" rIns="35873"/>
              <a:lstStyle/>
              <a:p>
                <a:pPr algn="ctr">
                  <a:lnSpc>
                    <a:spcPts val="1384"/>
                  </a:lnSpc>
                </a:pPr>
              </a:p>
            </p:txBody>
          </p:sp>
        </p:grpSp>
        <p:sp>
          <p:nvSpPr>
            <p:cNvPr name="TextBox 24" id="24"/>
            <p:cNvSpPr txBox="true"/>
            <p:nvPr/>
          </p:nvSpPr>
          <p:spPr>
            <a:xfrm rot="9854917">
              <a:off x="-62499" y="16139301"/>
              <a:ext cx="7684403" cy="60251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37"/>
                </a:lnSpc>
              </a:pPr>
              <a:r>
                <a:rPr lang="en-US" sz="3178" b="true">
                  <a:solidFill>
                    <a:srgbClr val="1C6976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Paul BALAFAI</a:t>
              </a:r>
            </a:p>
          </p:txBody>
        </p:sp>
        <p:grpSp>
          <p:nvGrpSpPr>
            <p:cNvPr name="Group 25" id="25"/>
            <p:cNvGrpSpPr/>
            <p:nvPr/>
          </p:nvGrpSpPr>
          <p:grpSpPr>
            <a:xfrm rot="8742762">
              <a:off x="13384698" y="15182145"/>
              <a:ext cx="1459610" cy="1570966"/>
              <a:chOff x="0" y="0"/>
              <a:chExt cx="755186" cy="81280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755186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755186">
                    <a:moveTo>
                      <a:pt x="377593" y="0"/>
                    </a:moveTo>
                    <a:cubicBezTo>
                      <a:pt x="169054" y="0"/>
                      <a:pt x="0" y="181951"/>
                      <a:pt x="0" y="406400"/>
                    </a:cubicBezTo>
                    <a:cubicBezTo>
                      <a:pt x="0" y="630849"/>
                      <a:pt x="169054" y="812800"/>
                      <a:pt x="377593" y="812800"/>
                    </a:cubicBezTo>
                    <a:cubicBezTo>
                      <a:pt x="586132" y="812800"/>
                      <a:pt x="755186" y="630849"/>
                      <a:pt x="755186" y="406400"/>
                    </a:cubicBezTo>
                    <a:cubicBezTo>
                      <a:pt x="755186" y="181951"/>
                      <a:pt x="586132" y="0"/>
                      <a:pt x="377593" y="0"/>
                    </a:cubicBezTo>
                    <a:close/>
                  </a:path>
                </a:pathLst>
              </a:custGeom>
              <a:solidFill>
                <a:srgbClr val="0097B2"/>
              </a:solidFill>
              <a:ln w="2857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70799" y="38100"/>
                <a:ext cx="613588" cy="698500"/>
              </a:xfrm>
              <a:prstGeom prst="rect">
                <a:avLst/>
              </a:prstGeom>
            </p:spPr>
            <p:txBody>
              <a:bodyPr anchor="ctr" rtlCol="false" tIns="35873" lIns="35873" bIns="35873" rIns="35873"/>
              <a:lstStyle/>
              <a:p>
                <a:pPr algn="ctr">
                  <a:lnSpc>
                    <a:spcPts val="1384"/>
                  </a:lnSpc>
                </a:pPr>
              </a:p>
            </p:txBody>
          </p:sp>
        </p:grpSp>
        <p:sp>
          <p:nvSpPr>
            <p:cNvPr name="TextBox 28" id="28"/>
            <p:cNvSpPr txBox="true"/>
            <p:nvPr/>
          </p:nvSpPr>
          <p:spPr>
            <a:xfrm rot="3342762">
              <a:off x="12700924" y="19833792"/>
              <a:ext cx="8012527" cy="60251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37"/>
                </a:lnSpc>
              </a:pPr>
              <a:r>
                <a:rPr lang="en-US" sz="3178" b="true">
                  <a:solidFill>
                    <a:srgbClr val="8DE8E8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Cheikh Oumar DIALLO</a:t>
              </a:r>
            </a:p>
          </p:txBody>
        </p:sp>
        <p:grpSp>
          <p:nvGrpSpPr>
            <p:cNvPr name="Group 29" id="29"/>
            <p:cNvGrpSpPr/>
            <p:nvPr/>
          </p:nvGrpSpPr>
          <p:grpSpPr>
            <a:xfrm rot="10631446">
              <a:off x="10170879" y="16289892"/>
              <a:ext cx="1501506" cy="1570966"/>
              <a:chOff x="0" y="0"/>
              <a:chExt cx="776862" cy="812800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776862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776862">
                    <a:moveTo>
                      <a:pt x="388431" y="0"/>
                    </a:moveTo>
                    <a:cubicBezTo>
                      <a:pt x="173906" y="0"/>
                      <a:pt x="0" y="181951"/>
                      <a:pt x="0" y="406400"/>
                    </a:cubicBezTo>
                    <a:cubicBezTo>
                      <a:pt x="0" y="630849"/>
                      <a:pt x="173906" y="812800"/>
                      <a:pt x="388431" y="812800"/>
                    </a:cubicBezTo>
                    <a:cubicBezTo>
                      <a:pt x="602956" y="812800"/>
                      <a:pt x="776862" y="630849"/>
                      <a:pt x="776862" y="406400"/>
                    </a:cubicBezTo>
                    <a:cubicBezTo>
                      <a:pt x="776862" y="181951"/>
                      <a:pt x="602956" y="0"/>
                      <a:pt x="388431" y="0"/>
                    </a:cubicBezTo>
                    <a:close/>
                  </a:path>
                </a:pathLst>
              </a:custGeom>
              <a:solidFill>
                <a:srgbClr val="0097B2"/>
              </a:solidFill>
              <a:ln w="2857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72831" y="38100"/>
                <a:ext cx="631200" cy="698500"/>
              </a:xfrm>
              <a:prstGeom prst="rect">
                <a:avLst/>
              </a:prstGeom>
            </p:spPr>
            <p:txBody>
              <a:bodyPr anchor="ctr" rtlCol="false" tIns="35873" lIns="35873" bIns="35873" rIns="35873"/>
              <a:lstStyle/>
              <a:p>
                <a:pPr algn="ctr">
                  <a:lnSpc>
                    <a:spcPts val="1384"/>
                  </a:lnSpc>
                </a:pPr>
              </a:p>
            </p:txBody>
          </p:sp>
        </p:grpSp>
        <p:sp>
          <p:nvSpPr>
            <p:cNvPr name="TextBox 32" id="32"/>
            <p:cNvSpPr txBox="true"/>
            <p:nvPr/>
          </p:nvSpPr>
          <p:spPr>
            <a:xfrm rot="5231446">
              <a:off x="6831153" y="21533733"/>
              <a:ext cx="8012527" cy="11624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37"/>
                </a:lnSpc>
              </a:pPr>
              <a:r>
                <a:rPr lang="en-US" sz="3178" b="true">
                  <a:solidFill>
                    <a:srgbClr val="8DE8E8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Ndeye Ramatoulaye Ndoye FALL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1353337" y="1028700"/>
            <a:ext cx="5905963" cy="1392427"/>
            <a:chOff x="0" y="0"/>
            <a:chExt cx="7874617" cy="1856570"/>
          </a:xfrm>
        </p:grpSpPr>
        <p:grpSp>
          <p:nvGrpSpPr>
            <p:cNvPr name="Group 34" id="34"/>
            <p:cNvGrpSpPr/>
            <p:nvPr/>
          </p:nvGrpSpPr>
          <p:grpSpPr>
            <a:xfrm rot="1471508">
              <a:off x="225077" y="32097"/>
              <a:ext cx="409715" cy="1173520"/>
              <a:chOff x="0" y="0"/>
              <a:chExt cx="106268" cy="304376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106268" cy="304376"/>
              </a:xfrm>
              <a:custGeom>
                <a:avLst/>
                <a:gdLst/>
                <a:ahLst/>
                <a:cxnLst/>
                <a:rect r="r" b="b" t="t" l="l"/>
                <a:pathLst>
                  <a:path h="304376" w="106268">
                    <a:moveTo>
                      <a:pt x="0" y="0"/>
                    </a:moveTo>
                    <a:lnTo>
                      <a:pt x="106268" y="0"/>
                    </a:lnTo>
                    <a:lnTo>
                      <a:pt x="106268" y="304376"/>
                    </a:lnTo>
                    <a:lnTo>
                      <a:pt x="0" y="304376"/>
                    </a:lnTo>
                    <a:close/>
                  </a:path>
                </a:pathLst>
              </a:custGeom>
              <a:solidFill>
                <a:srgbClr val="0097B2"/>
              </a:solidFill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0" y="-57150"/>
                <a:ext cx="106268" cy="36152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6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7" id="37"/>
            <p:cNvGrpSpPr/>
            <p:nvPr/>
          </p:nvGrpSpPr>
          <p:grpSpPr>
            <a:xfrm rot="1471508">
              <a:off x="494755" y="650953"/>
              <a:ext cx="409715" cy="1173520"/>
              <a:chOff x="0" y="0"/>
              <a:chExt cx="106268" cy="304376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106268" cy="304376"/>
              </a:xfrm>
              <a:custGeom>
                <a:avLst/>
                <a:gdLst/>
                <a:ahLst/>
                <a:cxnLst/>
                <a:rect r="r" b="b" t="t" l="l"/>
                <a:pathLst>
                  <a:path h="304376" w="106268">
                    <a:moveTo>
                      <a:pt x="0" y="0"/>
                    </a:moveTo>
                    <a:lnTo>
                      <a:pt x="106268" y="0"/>
                    </a:lnTo>
                    <a:lnTo>
                      <a:pt x="106268" y="304376"/>
                    </a:lnTo>
                    <a:lnTo>
                      <a:pt x="0" y="304376"/>
                    </a:lnTo>
                    <a:close/>
                  </a:path>
                </a:pathLst>
              </a:custGeom>
              <a:solidFill>
                <a:srgbClr val="0097B2"/>
              </a:solidFill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0" y="-57150"/>
                <a:ext cx="106268" cy="36152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6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40" id="40"/>
            <p:cNvSpPr txBox="true"/>
            <p:nvPr/>
          </p:nvSpPr>
          <p:spPr>
            <a:xfrm rot="0">
              <a:off x="1664633" y="260962"/>
              <a:ext cx="6209984" cy="8805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299"/>
                </a:lnSpc>
                <a:spcBef>
                  <a:spcPct val="0"/>
                </a:spcBef>
              </a:pPr>
              <a:r>
                <a:rPr lang="en-US" sz="3785" b="true">
                  <a:solidFill>
                    <a:srgbClr val="329A87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Séries temporelles</a:t>
              </a:r>
            </a:p>
          </p:txBody>
        </p:sp>
      </p:grpSp>
    </p:spTree>
  </p:cSld>
  <p:clrMapOvr>
    <a:masterClrMapping/>
  </p:clrMapOvr>
  <p:transition spd="fast">
    <p:cover dir="rd"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62576">
            <a:off x="-1630785" y="5754865"/>
            <a:ext cx="6056770" cy="5801474"/>
            <a:chOff x="0" y="0"/>
            <a:chExt cx="6350000" cy="6082343"/>
          </a:xfrm>
        </p:grpSpPr>
        <p:sp>
          <p:nvSpPr>
            <p:cNvPr name="Freeform 3" id="3"/>
            <p:cNvSpPr/>
            <p:nvPr/>
          </p:nvSpPr>
          <p:spPr>
            <a:xfrm flipH="false" flipV="false" rot="-119315">
              <a:off x="-56370" y="-59016"/>
              <a:ext cx="6462740" cy="6200375"/>
            </a:xfrm>
            <a:custGeom>
              <a:avLst/>
              <a:gdLst/>
              <a:ahLst/>
              <a:cxnLst/>
              <a:rect r="r" b="b" t="t" l="l"/>
              <a:pathLst>
                <a:path h="6200375" w="6462740">
                  <a:moveTo>
                    <a:pt x="6404457" y="3210399"/>
                  </a:moveTo>
                  <a:cubicBezTo>
                    <a:pt x="6346176" y="4888912"/>
                    <a:pt x="4878260" y="6200375"/>
                    <a:pt x="3125839" y="6139528"/>
                  </a:cubicBezTo>
                  <a:cubicBezTo>
                    <a:pt x="1373394" y="6078680"/>
                    <a:pt x="0" y="4668563"/>
                    <a:pt x="58281" y="2990050"/>
                  </a:cubicBezTo>
                  <a:cubicBezTo>
                    <a:pt x="116564" y="1311452"/>
                    <a:pt x="1584455" y="0"/>
                    <a:pt x="3336901" y="60848"/>
                  </a:cubicBezTo>
                  <a:cubicBezTo>
                    <a:pt x="5089346" y="121695"/>
                    <a:pt x="6462740" y="1531801"/>
                    <a:pt x="6404457" y="3210399"/>
                  </a:cubicBezTo>
                  <a:close/>
                </a:path>
              </a:pathLst>
            </a:custGeom>
            <a:blipFill>
              <a:blip r:embed="rId2"/>
              <a:stretch>
                <a:fillRect l="-38770" t="-1777" r="-38770" b="-1777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62576">
            <a:off x="860591" y="5229289"/>
            <a:ext cx="1178224" cy="1128566"/>
            <a:chOff x="0" y="0"/>
            <a:chExt cx="812800" cy="77854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778543"/>
            </a:xfrm>
            <a:custGeom>
              <a:avLst/>
              <a:gdLst/>
              <a:ahLst/>
              <a:cxnLst/>
              <a:rect r="r" b="b" t="t" l="l"/>
              <a:pathLst>
                <a:path h="778543" w="812800">
                  <a:moveTo>
                    <a:pt x="406400" y="0"/>
                  </a:moveTo>
                  <a:cubicBezTo>
                    <a:pt x="181951" y="0"/>
                    <a:pt x="0" y="174283"/>
                    <a:pt x="0" y="389272"/>
                  </a:cubicBezTo>
                  <a:cubicBezTo>
                    <a:pt x="0" y="604260"/>
                    <a:pt x="181951" y="778543"/>
                    <a:pt x="406400" y="778543"/>
                  </a:cubicBezTo>
                  <a:cubicBezTo>
                    <a:pt x="630849" y="778543"/>
                    <a:pt x="812800" y="604260"/>
                    <a:pt x="812800" y="389272"/>
                  </a:cubicBezTo>
                  <a:cubicBezTo>
                    <a:pt x="812800" y="174283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97B2"/>
            </a:solidFill>
            <a:ln w="2857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76200" y="34888"/>
              <a:ext cx="660400" cy="670666"/>
            </a:xfrm>
            <a:prstGeom prst="rect">
              <a:avLst/>
            </a:prstGeom>
          </p:spPr>
          <p:txBody>
            <a:bodyPr anchor="ctr" rtlCol="false" tIns="25103" lIns="25103" bIns="25103" rIns="25103"/>
            <a:lstStyle/>
            <a:p>
              <a:pPr algn="ctr">
                <a:lnSpc>
                  <a:spcPts val="1384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-5337423">
            <a:off x="-1140021" y="1759321"/>
            <a:ext cx="5768730" cy="862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37"/>
              </a:lnSpc>
            </a:pPr>
            <a:r>
              <a:rPr lang="en-US" sz="3178" b="true">
                <a:solidFill>
                  <a:srgbClr val="8DE8E8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Gandwend Judicaël Oscar KAFANDO</a:t>
            </a:r>
          </a:p>
        </p:txBody>
      </p:sp>
      <p:grpSp>
        <p:nvGrpSpPr>
          <p:cNvPr name="Group 8" id="8"/>
          <p:cNvGrpSpPr/>
          <p:nvPr/>
        </p:nvGrpSpPr>
        <p:grpSpPr>
          <a:xfrm rot="3405339">
            <a:off x="3035453" y="6272672"/>
            <a:ext cx="1094707" cy="1178224"/>
            <a:chOff x="0" y="0"/>
            <a:chExt cx="755186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55186" cy="812800"/>
            </a:xfrm>
            <a:custGeom>
              <a:avLst/>
              <a:gdLst/>
              <a:ahLst/>
              <a:cxnLst/>
              <a:rect r="r" b="b" t="t" l="l"/>
              <a:pathLst>
                <a:path h="812800" w="755186">
                  <a:moveTo>
                    <a:pt x="377593" y="0"/>
                  </a:moveTo>
                  <a:cubicBezTo>
                    <a:pt x="169054" y="0"/>
                    <a:pt x="0" y="181951"/>
                    <a:pt x="0" y="406400"/>
                  </a:cubicBezTo>
                  <a:cubicBezTo>
                    <a:pt x="0" y="630849"/>
                    <a:pt x="169054" y="812800"/>
                    <a:pt x="377593" y="812800"/>
                  </a:cubicBezTo>
                  <a:cubicBezTo>
                    <a:pt x="586132" y="812800"/>
                    <a:pt x="755186" y="630849"/>
                    <a:pt x="755186" y="406400"/>
                  </a:cubicBezTo>
                  <a:cubicBezTo>
                    <a:pt x="755186" y="181951"/>
                    <a:pt x="586132" y="0"/>
                    <a:pt x="377593" y="0"/>
                  </a:cubicBezTo>
                  <a:close/>
                </a:path>
              </a:pathLst>
            </a:custGeom>
            <a:solidFill>
              <a:srgbClr val="0097B2"/>
            </a:solidFill>
            <a:ln w="2857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0799" y="38100"/>
              <a:ext cx="613588" cy="698500"/>
            </a:xfrm>
            <a:prstGeom prst="rect">
              <a:avLst/>
            </a:prstGeom>
          </p:spPr>
          <p:txBody>
            <a:bodyPr anchor="ctr" rtlCol="false" tIns="25103" lIns="25103" bIns="25103" rIns="25103"/>
            <a:lstStyle/>
            <a:p>
              <a:pPr algn="ctr">
                <a:lnSpc>
                  <a:spcPts val="1384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-1994660">
            <a:off x="3741161" y="4757286"/>
            <a:ext cx="6009395" cy="442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37"/>
              </a:lnSpc>
            </a:pPr>
            <a:r>
              <a:rPr lang="en-US" sz="3178" b="true">
                <a:solidFill>
                  <a:srgbClr val="8DE8E8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Cheikh Oumar DIALLO</a:t>
            </a:r>
          </a:p>
        </p:txBody>
      </p:sp>
      <p:grpSp>
        <p:nvGrpSpPr>
          <p:cNvPr name="Group 12" id="12"/>
          <p:cNvGrpSpPr/>
          <p:nvPr/>
        </p:nvGrpSpPr>
        <p:grpSpPr>
          <a:xfrm rot="5294022">
            <a:off x="3806828" y="8682051"/>
            <a:ext cx="1126129" cy="1178224"/>
            <a:chOff x="0" y="0"/>
            <a:chExt cx="776862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76862" cy="812800"/>
            </a:xfrm>
            <a:custGeom>
              <a:avLst/>
              <a:gdLst/>
              <a:ahLst/>
              <a:cxnLst/>
              <a:rect r="r" b="b" t="t" l="l"/>
              <a:pathLst>
                <a:path h="812800" w="776862">
                  <a:moveTo>
                    <a:pt x="388431" y="0"/>
                  </a:moveTo>
                  <a:cubicBezTo>
                    <a:pt x="173906" y="0"/>
                    <a:pt x="0" y="181951"/>
                    <a:pt x="0" y="406400"/>
                  </a:cubicBezTo>
                  <a:cubicBezTo>
                    <a:pt x="0" y="630849"/>
                    <a:pt x="173906" y="812800"/>
                    <a:pt x="388431" y="812800"/>
                  </a:cubicBezTo>
                  <a:cubicBezTo>
                    <a:pt x="602956" y="812800"/>
                    <a:pt x="776862" y="630849"/>
                    <a:pt x="776862" y="406400"/>
                  </a:cubicBezTo>
                  <a:cubicBezTo>
                    <a:pt x="776862" y="181951"/>
                    <a:pt x="602956" y="0"/>
                    <a:pt x="388431" y="0"/>
                  </a:cubicBezTo>
                  <a:close/>
                </a:path>
              </a:pathLst>
            </a:custGeom>
            <a:solidFill>
              <a:srgbClr val="0097B2"/>
            </a:solidFill>
            <a:ln w="2857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72831" y="38100"/>
              <a:ext cx="631200" cy="698500"/>
            </a:xfrm>
            <a:prstGeom prst="rect">
              <a:avLst/>
            </a:prstGeom>
          </p:spPr>
          <p:txBody>
            <a:bodyPr anchor="ctr" rtlCol="false" tIns="25103" lIns="25103" bIns="25103" rIns="25103"/>
            <a:lstStyle/>
            <a:p>
              <a:pPr algn="ctr">
                <a:lnSpc>
                  <a:spcPts val="1384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-105977">
            <a:off x="5207328" y="8786092"/>
            <a:ext cx="6009395" cy="862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37"/>
              </a:lnSpc>
            </a:pPr>
            <a:r>
              <a:rPr lang="en-US" sz="3178" b="true">
                <a:solidFill>
                  <a:srgbClr val="1C6976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Ndeye Ramatoulaye Ndoye FALL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1228585" y="1028700"/>
            <a:ext cx="5905963" cy="1392427"/>
            <a:chOff x="0" y="0"/>
            <a:chExt cx="7874617" cy="1856570"/>
          </a:xfrm>
        </p:grpSpPr>
        <p:grpSp>
          <p:nvGrpSpPr>
            <p:cNvPr name="Group 17" id="17"/>
            <p:cNvGrpSpPr/>
            <p:nvPr/>
          </p:nvGrpSpPr>
          <p:grpSpPr>
            <a:xfrm rot="1471508">
              <a:off x="225077" y="32097"/>
              <a:ext cx="409715" cy="1173520"/>
              <a:chOff x="0" y="0"/>
              <a:chExt cx="106268" cy="304376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106268" cy="304376"/>
              </a:xfrm>
              <a:custGeom>
                <a:avLst/>
                <a:gdLst/>
                <a:ahLst/>
                <a:cxnLst/>
                <a:rect r="r" b="b" t="t" l="l"/>
                <a:pathLst>
                  <a:path h="304376" w="106268">
                    <a:moveTo>
                      <a:pt x="0" y="0"/>
                    </a:moveTo>
                    <a:lnTo>
                      <a:pt x="106268" y="0"/>
                    </a:lnTo>
                    <a:lnTo>
                      <a:pt x="106268" y="304376"/>
                    </a:lnTo>
                    <a:lnTo>
                      <a:pt x="0" y="304376"/>
                    </a:lnTo>
                    <a:close/>
                  </a:path>
                </a:pathLst>
              </a:custGeom>
              <a:solidFill>
                <a:srgbClr val="0097B2"/>
              </a:solid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57150"/>
                <a:ext cx="106268" cy="36152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6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0" id="20"/>
            <p:cNvGrpSpPr/>
            <p:nvPr/>
          </p:nvGrpSpPr>
          <p:grpSpPr>
            <a:xfrm rot="1471508">
              <a:off x="494755" y="650953"/>
              <a:ext cx="409715" cy="1173520"/>
              <a:chOff x="0" y="0"/>
              <a:chExt cx="106268" cy="304376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106268" cy="304376"/>
              </a:xfrm>
              <a:custGeom>
                <a:avLst/>
                <a:gdLst/>
                <a:ahLst/>
                <a:cxnLst/>
                <a:rect r="r" b="b" t="t" l="l"/>
                <a:pathLst>
                  <a:path h="304376" w="106268">
                    <a:moveTo>
                      <a:pt x="0" y="0"/>
                    </a:moveTo>
                    <a:lnTo>
                      <a:pt x="106268" y="0"/>
                    </a:lnTo>
                    <a:lnTo>
                      <a:pt x="106268" y="304376"/>
                    </a:lnTo>
                    <a:lnTo>
                      <a:pt x="0" y="304376"/>
                    </a:lnTo>
                    <a:close/>
                  </a:path>
                </a:pathLst>
              </a:custGeom>
              <a:solidFill>
                <a:srgbClr val="0097B2"/>
              </a:solid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57150"/>
                <a:ext cx="106268" cy="36152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6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23" id="23"/>
            <p:cNvSpPr txBox="true"/>
            <p:nvPr/>
          </p:nvSpPr>
          <p:spPr>
            <a:xfrm rot="0">
              <a:off x="1664633" y="260962"/>
              <a:ext cx="6209984" cy="8805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299"/>
                </a:lnSpc>
                <a:spcBef>
                  <a:spcPct val="0"/>
                </a:spcBef>
              </a:pPr>
              <a:r>
                <a:rPr lang="en-US" sz="3785" b="true">
                  <a:solidFill>
                    <a:srgbClr val="329A87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Séries temporelles</a:t>
              </a:r>
            </a:p>
          </p:txBody>
        </p:sp>
      </p:grpSp>
    </p:spTree>
  </p:cSld>
  <p:clrMapOvr>
    <a:masterClrMapping/>
  </p:clrMapOvr>
  <p:transition spd="fast">
    <p:cover dir="rd"/>
  </p:transition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2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59284" y="-3564050"/>
            <a:ext cx="3381440" cy="9185501"/>
            <a:chOff x="0" y="0"/>
            <a:chExt cx="4508587" cy="12247335"/>
          </a:xfrm>
        </p:grpSpPr>
        <p:grpSp>
          <p:nvGrpSpPr>
            <p:cNvPr name="Group 3" id="3"/>
            <p:cNvGrpSpPr/>
            <p:nvPr/>
          </p:nvGrpSpPr>
          <p:grpSpPr>
            <a:xfrm rot="-5400000">
              <a:off x="-3869374" y="3869374"/>
              <a:ext cx="12247335" cy="4508587"/>
              <a:chOff x="0" y="0"/>
              <a:chExt cx="1103964" cy="4064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17780" y="22860"/>
                <a:ext cx="1078564" cy="360680"/>
              </a:xfrm>
              <a:custGeom>
                <a:avLst/>
                <a:gdLst/>
                <a:ahLst/>
                <a:cxnLst/>
                <a:rect r="r" b="b" t="t" l="l"/>
                <a:pathLst>
                  <a:path h="360680" w="1078564">
                    <a:moveTo>
                      <a:pt x="1078564" y="180340"/>
                    </a:moveTo>
                    <a:cubicBezTo>
                      <a:pt x="1078564" y="81280"/>
                      <a:pt x="998554" y="0"/>
                      <a:pt x="898224" y="0"/>
                    </a:cubicBezTo>
                    <a:lnTo>
                      <a:pt x="172720" y="0"/>
                    </a:lnTo>
                    <a:lnTo>
                      <a:pt x="172720" y="1270"/>
                    </a:lnTo>
                    <a:cubicBezTo>
                      <a:pt x="76200" y="5080"/>
                      <a:pt x="0" y="83820"/>
                      <a:pt x="0" y="180340"/>
                    </a:cubicBezTo>
                    <a:cubicBezTo>
                      <a:pt x="0" y="276860"/>
                      <a:pt x="77470" y="355600"/>
                      <a:pt x="172720" y="359410"/>
                    </a:cubicBezTo>
                    <a:lnTo>
                      <a:pt x="172720" y="360680"/>
                    </a:lnTo>
                    <a:lnTo>
                      <a:pt x="898224" y="360680"/>
                    </a:lnTo>
                    <a:cubicBezTo>
                      <a:pt x="997284" y="360680"/>
                      <a:pt x="1078564" y="279400"/>
                      <a:pt x="1078564" y="180340"/>
                    </a:cubicBezTo>
                    <a:close/>
                  </a:path>
                </a:pathLst>
              </a:custGeom>
              <a:solidFill>
                <a:srgbClr val="41C1BA"/>
              </a:solidFill>
            </p:spPr>
          </p:sp>
        </p:grpSp>
        <p:sp>
          <p:nvSpPr>
            <p:cNvPr name="TextBox 5" id="5"/>
            <p:cNvSpPr txBox="true"/>
            <p:nvPr/>
          </p:nvSpPr>
          <p:spPr>
            <a:xfrm rot="0">
              <a:off x="1372192" y="10305142"/>
              <a:ext cx="1546983" cy="13049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398"/>
                </a:lnSpc>
              </a:pPr>
              <a:r>
                <a:rPr lang="en-US" sz="6998" spc="699">
                  <a:solidFill>
                    <a:srgbClr val="365B6D"/>
                  </a:solidFill>
                  <a:latin typeface="Sergio Trendy"/>
                  <a:ea typeface="Sergio Trendy"/>
                  <a:cs typeface="Sergio Trendy"/>
                  <a:sym typeface="Sergio Trendy"/>
                </a:rPr>
                <a:t>1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492555" y="7582752"/>
              <a:ext cx="3279166" cy="14668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500"/>
                </a:lnSpc>
              </a:pPr>
              <a:r>
                <a:rPr lang="en-US" sz="3000" b="true">
                  <a:solidFill>
                    <a:srgbClr val="191919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Contexte et justifications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801470" y="5448576"/>
            <a:ext cx="3381440" cy="9185501"/>
            <a:chOff x="0" y="0"/>
            <a:chExt cx="4508587" cy="12247335"/>
          </a:xfrm>
        </p:grpSpPr>
        <p:grpSp>
          <p:nvGrpSpPr>
            <p:cNvPr name="Group 8" id="8"/>
            <p:cNvGrpSpPr/>
            <p:nvPr/>
          </p:nvGrpSpPr>
          <p:grpSpPr>
            <a:xfrm rot="5400000">
              <a:off x="-3869374" y="3869374"/>
              <a:ext cx="12247335" cy="4508587"/>
              <a:chOff x="0" y="0"/>
              <a:chExt cx="1103964" cy="4064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17780" y="22860"/>
                <a:ext cx="1078564" cy="360680"/>
              </a:xfrm>
              <a:custGeom>
                <a:avLst/>
                <a:gdLst/>
                <a:ahLst/>
                <a:cxnLst/>
                <a:rect r="r" b="b" t="t" l="l"/>
                <a:pathLst>
                  <a:path h="360680" w="1078564">
                    <a:moveTo>
                      <a:pt x="1078564" y="180340"/>
                    </a:moveTo>
                    <a:cubicBezTo>
                      <a:pt x="1078564" y="81280"/>
                      <a:pt x="998554" y="0"/>
                      <a:pt x="898224" y="0"/>
                    </a:cubicBezTo>
                    <a:lnTo>
                      <a:pt x="172720" y="0"/>
                    </a:lnTo>
                    <a:lnTo>
                      <a:pt x="172720" y="1270"/>
                    </a:lnTo>
                    <a:cubicBezTo>
                      <a:pt x="76200" y="5080"/>
                      <a:pt x="0" y="83820"/>
                      <a:pt x="0" y="180340"/>
                    </a:cubicBezTo>
                    <a:cubicBezTo>
                      <a:pt x="0" y="276860"/>
                      <a:pt x="77470" y="355600"/>
                      <a:pt x="172720" y="359410"/>
                    </a:cubicBezTo>
                    <a:lnTo>
                      <a:pt x="172720" y="360680"/>
                    </a:lnTo>
                    <a:lnTo>
                      <a:pt x="898224" y="360680"/>
                    </a:lnTo>
                    <a:cubicBezTo>
                      <a:pt x="997284" y="360680"/>
                      <a:pt x="1078564" y="279400"/>
                      <a:pt x="1078564" y="180340"/>
                    </a:cubicBezTo>
                    <a:close/>
                  </a:path>
                </a:pathLst>
              </a:custGeom>
              <a:solidFill>
                <a:srgbClr val="62DDD6"/>
              </a:solidFill>
            </p:spPr>
          </p:sp>
        </p:grpSp>
        <p:sp>
          <p:nvSpPr>
            <p:cNvPr name="TextBox 10" id="10"/>
            <p:cNvSpPr txBox="true"/>
            <p:nvPr/>
          </p:nvSpPr>
          <p:spPr>
            <a:xfrm rot="0">
              <a:off x="1480802" y="624919"/>
              <a:ext cx="1546983" cy="13049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398"/>
                </a:lnSpc>
              </a:pPr>
              <a:r>
                <a:rPr lang="en-US" sz="6998" spc="699">
                  <a:solidFill>
                    <a:srgbClr val="365B6D"/>
                  </a:solidFill>
                  <a:latin typeface="Sergio Trendy"/>
                  <a:ea typeface="Sergio Trendy"/>
                  <a:cs typeface="Sergio Trendy"/>
                  <a:sym typeface="Sergio Trendy"/>
                </a:rPr>
                <a:t>9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558800" y="1908302"/>
              <a:ext cx="3279166" cy="37528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500"/>
                </a:lnSpc>
              </a:pPr>
              <a:r>
                <a:rPr lang="en-US" sz="3000" b="true">
                  <a:solidFill>
                    <a:srgbClr val="191919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Comparaison avec les résultats d’un lissage exponentiel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4182910" y="-5779985"/>
            <a:ext cx="3381440" cy="11401436"/>
            <a:chOff x="0" y="0"/>
            <a:chExt cx="4508587" cy="15201914"/>
          </a:xfrm>
        </p:grpSpPr>
        <p:grpSp>
          <p:nvGrpSpPr>
            <p:cNvPr name="Group 13" id="13"/>
            <p:cNvGrpSpPr/>
            <p:nvPr/>
          </p:nvGrpSpPr>
          <p:grpSpPr>
            <a:xfrm rot="-5400000">
              <a:off x="-5346664" y="5346664"/>
              <a:ext cx="15201914" cy="4508587"/>
              <a:chOff x="0" y="0"/>
              <a:chExt cx="1370287" cy="4064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17780" y="22860"/>
                <a:ext cx="1344887" cy="360680"/>
              </a:xfrm>
              <a:custGeom>
                <a:avLst/>
                <a:gdLst/>
                <a:ahLst/>
                <a:cxnLst/>
                <a:rect r="r" b="b" t="t" l="l"/>
                <a:pathLst>
                  <a:path h="360680" w="1344887">
                    <a:moveTo>
                      <a:pt x="1344887" y="180340"/>
                    </a:moveTo>
                    <a:cubicBezTo>
                      <a:pt x="1344887" y="81280"/>
                      <a:pt x="1264877" y="0"/>
                      <a:pt x="1164547" y="0"/>
                    </a:cubicBezTo>
                    <a:lnTo>
                      <a:pt x="172720" y="0"/>
                    </a:lnTo>
                    <a:lnTo>
                      <a:pt x="172720" y="1270"/>
                    </a:lnTo>
                    <a:cubicBezTo>
                      <a:pt x="76200" y="5080"/>
                      <a:pt x="0" y="83820"/>
                      <a:pt x="0" y="180340"/>
                    </a:cubicBezTo>
                    <a:cubicBezTo>
                      <a:pt x="0" y="276860"/>
                      <a:pt x="77470" y="355600"/>
                      <a:pt x="172720" y="359410"/>
                    </a:cubicBezTo>
                    <a:lnTo>
                      <a:pt x="172720" y="360680"/>
                    </a:lnTo>
                    <a:lnTo>
                      <a:pt x="1164547" y="360680"/>
                    </a:lnTo>
                    <a:cubicBezTo>
                      <a:pt x="1263607" y="360680"/>
                      <a:pt x="1344887" y="279400"/>
                      <a:pt x="1344887" y="180340"/>
                    </a:cubicBezTo>
                    <a:close/>
                  </a:path>
                </a:pathLst>
              </a:custGeom>
              <a:solidFill>
                <a:srgbClr val="41C1BA">
                  <a:alpha val="80000"/>
                </a:srgbClr>
              </a:solidFill>
            </p:spPr>
          </p:sp>
        </p:grpSp>
        <p:sp>
          <p:nvSpPr>
            <p:cNvPr name="TextBox 15" id="15"/>
            <p:cNvSpPr txBox="true"/>
            <p:nvPr/>
          </p:nvSpPr>
          <p:spPr>
            <a:xfrm rot="0">
              <a:off x="1480802" y="13259722"/>
              <a:ext cx="1546983" cy="13049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398"/>
                </a:lnSpc>
              </a:pPr>
              <a:r>
                <a:rPr lang="en-US" sz="6998" spc="699">
                  <a:solidFill>
                    <a:srgbClr val="365B6D"/>
                  </a:solidFill>
                  <a:latin typeface="Sergio Trendy"/>
                  <a:ea typeface="Sergio Trendy"/>
                  <a:cs typeface="Sergio Trendy"/>
                  <a:sym typeface="Sergio Trendy"/>
                </a:rPr>
                <a:t>5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558800" y="9394332"/>
              <a:ext cx="3279166" cy="37528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500"/>
                </a:lnSpc>
              </a:pPr>
              <a:r>
                <a:rPr lang="en-US" sz="3000" b="true">
                  <a:solidFill>
                    <a:srgbClr val="191919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Préparation des données et visualisation de la série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801470" y="-5278550"/>
            <a:ext cx="3381440" cy="10900001"/>
            <a:chOff x="0" y="0"/>
            <a:chExt cx="4508587" cy="14533335"/>
          </a:xfrm>
        </p:grpSpPr>
        <p:grpSp>
          <p:nvGrpSpPr>
            <p:cNvPr name="Group 18" id="18"/>
            <p:cNvGrpSpPr/>
            <p:nvPr/>
          </p:nvGrpSpPr>
          <p:grpSpPr>
            <a:xfrm rot="-5400000">
              <a:off x="-5012374" y="5012374"/>
              <a:ext cx="14533335" cy="4508587"/>
              <a:chOff x="0" y="0"/>
              <a:chExt cx="1310022" cy="40640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17780" y="22860"/>
                <a:ext cx="1284622" cy="360680"/>
              </a:xfrm>
              <a:custGeom>
                <a:avLst/>
                <a:gdLst/>
                <a:ahLst/>
                <a:cxnLst/>
                <a:rect r="r" b="b" t="t" l="l"/>
                <a:pathLst>
                  <a:path h="360680" w="1284622">
                    <a:moveTo>
                      <a:pt x="1284622" y="180340"/>
                    </a:moveTo>
                    <a:cubicBezTo>
                      <a:pt x="1284622" y="81280"/>
                      <a:pt x="1204612" y="0"/>
                      <a:pt x="1104282" y="0"/>
                    </a:cubicBezTo>
                    <a:lnTo>
                      <a:pt x="172720" y="0"/>
                    </a:lnTo>
                    <a:lnTo>
                      <a:pt x="172720" y="1270"/>
                    </a:lnTo>
                    <a:cubicBezTo>
                      <a:pt x="76200" y="5080"/>
                      <a:pt x="0" y="83820"/>
                      <a:pt x="0" y="180340"/>
                    </a:cubicBezTo>
                    <a:cubicBezTo>
                      <a:pt x="0" y="276860"/>
                      <a:pt x="77470" y="355600"/>
                      <a:pt x="172720" y="359410"/>
                    </a:cubicBezTo>
                    <a:lnTo>
                      <a:pt x="172720" y="360680"/>
                    </a:lnTo>
                    <a:lnTo>
                      <a:pt x="1104282" y="360680"/>
                    </a:lnTo>
                    <a:cubicBezTo>
                      <a:pt x="1203342" y="360680"/>
                      <a:pt x="1284622" y="279400"/>
                      <a:pt x="1284622" y="180340"/>
                    </a:cubicBezTo>
                    <a:close/>
                  </a:path>
                </a:pathLst>
              </a:custGeom>
              <a:solidFill>
                <a:srgbClr val="59DBC3">
                  <a:alpha val="84706"/>
                </a:srgbClr>
              </a:solidFill>
            </p:spPr>
          </p:sp>
        </p:grpSp>
        <p:sp>
          <p:nvSpPr>
            <p:cNvPr name="TextBox 20" id="20"/>
            <p:cNvSpPr txBox="true"/>
            <p:nvPr/>
          </p:nvSpPr>
          <p:spPr>
            <a:xfrm rot="0">
              <a:off x="1536700" y="12597305"/>
              <a:ext cx="1546983" cy="13049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398"/>
                </a:lnSpc>
              </a:pPr>
              <a:r>
                <a:rPr lang="en-US" sz="6998" spc="699">
                  <a:solidFill>
                    <a:srgbClr val="365B6D"/>
                  </a:solidFill>
                  <a:latin typeface="Sergio Trendy"/>
                  <a:ea typeface="Sergio Trendy"/>
                  <a:cs typeface="Sergio Trendy"/>
                  <a:sym typeface="Sergio Trendy"/>
                </a:rPr>
                <a:t>4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560764" y="10249752"/>
              <a:ext cx="3577703" cy="7048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500"/>
                </a:lnSpc>
              </a:pPr>
              <a:r>
                <a:rPr lang="en-US" sz="3000" b="true">
                  <a:solidFill>
                    <a:srgbClr val="191919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Méthodologie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7420030" y="-4707050"/>
            <a:ext cx="3381440" cy="10328501"/>
            <a:chOff x="0" y="0"/>
            <a:chExt cx="4508587" cy="13771335"/>
          </a:xfrm>
        </p:grpSpPr>
        <p:grpSp>
          <p:nvGrpSpPr>
            <p:cNvPr name="Group 23" id="23"/>
            <p:cNvGrpSpPr/>
            <p:nvPr/>
          </p:nvGrpSpPr>
          <p:grpSpPr>
            <a:xfrm rot="-5400000">
              <a:off x="-4631374" y="4631374"/>
              <a:ext cx="13771335" cy="4508587"/>
              <a:chOff x="0" y="0"/>
              <a:chExt cx="1241336" cy="40640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17780" y="22860"/>
                <a:ext cx="1215936" cy="360680"/>
              </a:xfrm>
              <a:custGeom>
                <a:avLst/>
                <a:gdLst/>
                <a:ahLst/>
                <a:cxnLst/>
                <a:rect r="r" b="b" t="t" l="l"/>
                <a:pathLst>
                  <a:path h="360680" w="1215936">
                    <a:moveTo>
                      <a:pt x="1215936" y="180340"/>
                    </a:moveTo>
                    <a:cubicBezTo>
                      <a:pt x="1215936" y="81280"/>
                      <a:pt x="1135926" y="0"/>
                      <a:pt x="1035596" y="0"/>
                    </a:cubicBezTo>
                    <a:lnTo>
                      <a:pt x="172720" y="0"/>
                    </a:lnTo>
                    <a:lnTo>
                      <a:pt x="172720" y="1270"/>
                    </a:lnTo>
                    <a:cubicBezTo>
                      <a:pt x="76200" y="5080"/>
                      <a:pt x="0" y="83820"/>
                      <a:pt x="0" y="180340"/>
                    </a:cubicBezTo>
                    <a:cubicBezTo>
                      <a:pt x="0" y="276860"/>
                      <a:pt x="77470" y="355600"/>
                      <a:pt x="172720" y="359410"/>
                    </a:cubicBezTo>
                    <a:lnTo>
                      <a:pt x="172720" y="360680"/>
                    </a:lnTo>
                    <a:lnTo>
                      <a:pt x="1035596" y="360680"/>
                    </a:lnTo>
                    <a:cubicBezTo>
                      <a:pt x="1134656" y="360680"/>
                      <a:pt x="1215936" y="279400"/>
                      <a:pt x="1215936" y="180340"/>
                    </a:cubicBezTo>
                    <a:close/>
                  </a:path>
                </a:pathLst>
              </a:custGeom>
              <a:solidFill>
                <a:srgbClr val="86EAE9">
                  <a:alpha val="89804"/>
                </a:srgbClr>
              </a:solidFill>
            </p:spPr>
          </p:sp>
        </p:grpSp>
        <p:sp>
          <p:nvSpPr>
            <p:cNvPr name="TextBox 25" id="25"/>
            <p:cNvSpPr txBox="true"/>
            <p:nvPr/>
          </p:nvSpPr>
          <p:spPr>
            <a:xfrm rot="0">
              <a:off x="1475691" y="11829142"/>
              <a:ext cx="1546983" cy="13049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398"/>
                </a:lnSpc>
              </a:pPr>
              <a:r>
                <a:rPr lang="en-US" sz="6998" spc="699">
                  <a:solidFill>
                    <a:srgbClr val="365B6D"/>
                  </a:solidFill>
                  <a:latin typeface="Sergio Trendy"/>
                  <a:ea typeface="Sergio Trendy"/>
                  <a:cs typeface="Sergio Trendy"/>
                  <a:sym typeface="Sergio Trendy"/>
                </a:rPr>
                <a:t>3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617555" y="9106752"/>
              <a:ext cx="3279166" cy="14668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500"/>
                </a:lnSpc>
              </a:pPr>
              <a:r>
                <a:rPr lang="en-US" sz="3000" b="true">
                  <a:solidFill>
                    <a:srgbClr val="191919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Présentation de la base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4038590" y="-4135550"/>
            <a:ext cx="3381440" cy="9757001"/>
            <a:chOff x="0" y="0"/>
            <a:chExt cx="4508587" cy="13009335"/>
          </a:xfrm>
        </p:grpSpPr>
        <p:grpSp>
          <p:nvGrpSpPr>
            <p:cNvPr name="Group 28" id="28"/>
            <p:cNvGrpSpPr/>
            <p:nvPr/>
          </p:nvGrpSpPr>
          <p:grpSpPr>
            <a:xfrm rot="-5400000">
              <a:off x="-4250374" y="4250374"/>
              <a:ext cx="13009335" cy="4508587"/>
              <a:chOff x="0" y="0"/>
              <a:chExt cx="1172650" cy="406400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17780" y="22860"/>
                <a:ext cx="1147250" cy="360680"/>
              </a:xfrm>
              <a:custGeom>
                <a:avLst/>
                <a:gdLst/>
                <a:ahLst/>
                <a:cxnLst/>
                <a:rect r="r" b="b" t="t" l="l"/>
                <a:pathLst>
                  <a:path h="360680" w="1147250">
                    <a:moveTo>
                      <a:pt x="1147250" y="180340"/>
                    </a:moveTo>
                    <a:cubicBezTo>
                      <a:pt x="1147250" y="81280"/>
                      <a:pt x="1067240" y="0"/>
                      <a:pt x="966910" y="0"/>
                    </a:cubicBezTo>
                    <a:lnTo>
                      <a:pt x="172720" y="0"/>
                    </a:lnTo>
                    <a:lnTo>
                      <a:pt x="172720" y="1270"/>
                    </a:lnTo>
                    <a:cubicBezTo>
                      <a:pt x="76200" y="5080"/>
                      <a:pt x="0" y="83820"/>
                      <a:pt x="0" y="180340"/>
                    </a:cubicBezTo>
                    <a:cubicBezTo>
                      <a:pt x="0" y="276860"/>
                      <a:pt x="77470" y="355600"/>
                      <a:pt x="172720" y="359410"/>
                    </a:cubicBezTo>
                    <a:lnTo>
                      <a:pt x="172720" y="360680"/>
                    </a:lnTo>
                    <a:lnTo>
                      <a:pt x="966910" y="360680"/>
                    </a:lnTo>
                    <a:cubicBezTo>
                      <a:pt x="1065970" y="360680"/>
                      <a:pt x="1147250" y="279400"/>
                      <a:pt x="1147250" y="180340"/>
                    </a:cubicBezTo>
                    <a:close/>
                  </a:path>
                </a:pathLst>
              </a:custGeom>
              <a:solidFill>
                <a:srgbClr val="62DDD6">
                  <a:alpha val="94902"/>
                </a:srgbClr>
              </a:solidFill>
            </p:spPr>
          </p:sp>
        </p:grpSp>
        <p:sp>
          <p:nvSpPr>
            <p:cNvPr name="TextBox 30" id="30"/>
            <p:cNvSpPr txBox="true"/>
            <p:nvPr/>
          </p:nvSpPr>
          <p:spPr>
            <a:xfrm rot="0">
              <a:off x="1539203" y="11067142"/>
              <a:ext cx="1546983" cy="13049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398"/>
                </a:lnSpc>
              </a:pPr>
              <a:r>
                <a:rPr lang="en-US" sz="6998" spc="699">
                  <a:solidFill>
                    <a:srgbClr val="365B6D"/>
                  </a:solidFill>
                  <a:latin typeface="Sergio Trendy"/>
                  <a:ea typeface="Sergio Trendy"/>
                  <a:cs typeface="Sergio Trendy"/>
                  <a:sym typeface="Sergio Trendy"/>
                </a:rPr>
                <a:t>2</a:t>
              </a:r>
            </a:p>
          </p:txBody>
        </p:sp>
        <p:sp>
          <p:nvSpPr>
            <p:cNvPr name="TextBox 31" id="31"/>
            <p:cNvSpPr txBox="true"/>
            <p:nvPr/>
          </p:nvSpPr>
          <p:spPr>
            <a:xfrm rot="0">
              <a:off x="673112" y="8344752"/>
              <a:ext cx="3279166" cy="14668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500"/>
                </a:lnSpc>
              </a:pPr>
              <a:r>
                <a:rPr lang="en-US" sz="3000" b="true">
                  <a:solidFill>
                    <a:srgbClr val="191919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Cadre conceptuel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7422164" y="5448576"/>
            <a:ext cx="3381440" cy="9757001"/>
            <a:chOff x="0" y="0"/>
            <a:chExt cx="4508587" cy="13009335"/>
          </a:xfrm>
        </p:grpSpPr>
        <p:grpSp>
          <p:nvGrpSpPr>
            <p:cNvPr name="Group 33" id="33"/>
            <p:cNvGrpSpPr/>
            <p:nvPr/>
          </p:nvGrpSpPr>
          <p:grpSpPr>
            <a:xfrm rot="5400000">
              <a:off x="-4250374" y="4250374"/>
              <a:ext cx="13009335" cy="4508587"/>
              <a:chOff x="0" y="0"/>
              <a:chExt cx="1172650" cy="406400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17780" y="22860"/>
                <a:ext cx="1147250" cy="360680"/>
              </a:xfrm>
              <a:custGeom>
                <a:avLst/>
                <a:gdLst/>
                <a:ahLst/>
                <a:cxnLst/>
                <a:rect r="r" b="b" t="t" l="l"/>
                <a:pathLst>
                  <a:path h="360680" w="1147250">
                    <a:moveTo>
                      <a:pt x="1147250" y="180340"/>
                    </a:moveTo>
                    <a:cubicBezTo>
                      <a:pt x="1147250" y="81280"/>
                      <a:pt x="1067240" y="0"/>
                      <a:pt x="966910" y="0"/>
                    </a:cubicBezTo>
                    <a:lnTo>
                      <a:pt x="172720" y="0"/>
                    </a:lnTo>
                    <a:lnTo>
                      <a:pt x="172720" y="1270"/>
                    </a:lnTo>
                    <a:cubicBezTo>
                      <a:pt x="76200" y="5080"/>
                      <a:pt x="0" y="83820"/>
                      <a:pt x="0" y="180340"/>
                    </a:cubicBezTo>
                    <a:cubicBezTo>
                      <a:pt x="0" y="276860"/>
                      <a:pt x="77470" y="355600"/>
                      <a:pt x="172720" y="359410"/>
                    </a:cubicBezTo>
                    <a:lnTo>
                      <a:pt x="172720" y="360680"/>
                    </a:lnTo>
                    <a:lnTo>
                      <a:pt x="966910" y="360680"/>
                    </a:lnTo>
                    <a:cubicBezTo>
                      <a:pt x="1065970" y="360680"/>
                      <a:pt x="1147250" y="279400"/>
                      <a:pt x="1147250" y="180340"/>
                    </a:cubicBezTo>
                    <a:close/>
                  </a:path>
                </a:pathLst>
              </a:custGeom>
              <a:solidFill>
                <a:srgbClr val="41C1BA">
                  <a:alpha val="94902"/>
                </a:srgbClr>
              </a:solidFill>
            </p:spPr>
          </p:sp>
        </p:grpSp>
        <p:sp>
          <p:nvSpPr>
            <p:cNvPr name="TextBox 35" id="35"/>
            <p:cNvSpPr txBox="true"/>
            <p:nvPr/>
          </p:nvSpPr>
          <p:spPr>
            <a:xfrm rot="-10800000">
              <a:off x="604469" y="2798431"/>
              <a:ext cx="3279166" cy="7386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318"/>
                </a:lnSpc>
              </a:pPr>
            </a:p>
          </p:txBody>
        </p:sp>
        <p:sp>
          <p:nvSpPr>
            <p:cNvPr name="TextBox 36" id="36"/>
            <p:cNvSpPr txBox="true"/>
            <p:nvPr/>
          </p:nvSpPr>
          <p:spPr>
            <a:xfrm rot="-10800000">
              <a:off x="604469" y="2145525"/>
              <a:ext cx="3279166" cy="5114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14"/>
                </a:lnSpc>
              </a:pPr>
            </a:p>
          </p:txBody>
        </p:sp>
        <p:sp>
          <p:nvSpPr>
            <p:cNvPr name="TextBox 37" id="37"/>
            <p:cNvSpPr txBox="true"/>
            <p:nvPr/>
          </p:nvSpPr>
          <p:spPr>
            <a:xfrm rot="0">
              <a:off x="1573279" y="624919"/>
              <a:ext cx="1546983" cy="13049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398"/>
                </a:lnSpc>
              </a:pPr>
              <a:r>
                <a:rPr lang="en-US" sz="6998" spc="699">
                  <a:solidFill>
                    <a:srgbClr val="365B6D"/>
                  </a:solidFill>
                  <a:latin typeface="Sergio Trendy"/>
                  <a:ea typeface="Sergio Trendy"/>
                  <a:cs typeface="Sergio Trendy"/>
                  <a:sym typeface="Sergio Trendy"/>
                </a:rPr>
                <a:t>8</a:t>
              </a:r>
            </a:p>
          </p:txBody>
        </p:sp>
        <p:sp>
          <p:nvSpPr>
            <p:cNvPr name="TextBox 38" id="38"/>
            <p:cNvSpPr txBox="true"/>
            <p:nvPr/>
          </p:nvSpPr>
          <p:spPr>
            <a:xfrm rot="0">
              <a:off x="673100" y="3127502"/>
              <a:ext cx="3279166" cy="7048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500"/>
                </a:lnSpc>
              </a:pPr>
              <a:r>
                <a:rPr lang="en-US" sz="3000" b="true">
                  <a:solidFill>
                    <a:srgbClr val="191919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Prévisions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4040724" y="5448576"/>
            <a:ext cx="3381440" cy="10328501"/>
            <a:chOff x="0" y="0"/>
            <a:chExt cx="4508587" cy="13771335"/>
          </a:xfrm>
        </p:grpSpPr>
        <p:grpSp>
          <p:nvGrpSpPr>
            <p:cNvPr name="Group 40" id="40"/>
            <p:cNvGrpSpPr/>
            <p:nvPr/>
          </p:nvGrpSpPr>
          <p:grpSpPr>
            <a:xfrm rot="5400000">
              <a:off x="-4631374" y="4631374"/>
              <a:ext cx="13771335" cy="4508587"/>
              <a:chOff x="0" y="0"/>
              <a:chExt cx="1241336" cy="406400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17780" y="22860"/>
                <a:ext cx="1215936" cy="360680"/>
              </a:xfrm>
              <a:custGeom>
                <a:avLst/>
                <a:gdLst/>
                <a:ahLst/>
                <a:cxnLst/>
                <a:rect r="r" b="b" t="t" l="l"/>
                <a:pathLst>
                  <a:path h="360680" w="1215936">
                    <a:moveTo>
                      <a:pt x="1215936" y="180340"/>
                    </a:moveTo>
                    <a:cubicBezTo>
                      <a:pt x="1215936" y="81280"/>
                      <a:pt x="1135926" y="0"/>
                      <a:pt x="1035596" y="0"/>
                    </a:cubicBezTo>
                    <a:lnTo>
                      <a:pt x="172720" y="0"/>
                    </a:lnTo>
                    <a:lnTo>
                      <a:pt x="172720" y="1270"/>
                    </a:lnTo>
                    <a:cubicBezTo>
                      <a:pt x="76200" y="5080"/>
                      <a:pt x="0" y="83820"/>
                      <a:pt x="0" y="180340"/>
                    </a:cubicBezTo>
                    <a:cubicBezTo>
                      <a:pt x="0" y="276860"/>
                      <a:pt x="77470" y="355600"/>
                      <a:pt x="172720" y="359410"/>
                    </a:cubicBezTo>
                    <a:lnTo>
                      <a:pt x="172720" y="360680"/>
                    </a:lnTo>
                    <a:lnTo>
                      <a:pt x="1035596" y="360680"/>
                    </a:lnTo>
                    <a:cubicBezTo>
                      <a:pt x="1134656" y="360680"/>
                      <a:pt x="1215936" y="279400"/>
                      <a:pt x="1215936" y="180340"/>
                    </a:cubicBezTo>
                    <a:close/>
                  </a:path>
                </a:pathLst>
              </a:custGeom>
              <a:solidFill>
                <a:srgbClr val="41C1BA">
                  <a:alpha val="89804"/>
                </a:srgbClr>
              </a:solidFill>
            </p:spPr>
          </p:sp>
        </p:grpSp>
        <p:sp>
          <p:nvSpPr>
            <p:cNvPr name="TextBox 42" id="42"/>
            <p:cNvSpPr txBox="true"/>
            <p:nvPr/>
          </p:nvSpPr>
          <p:spPr>
            <a:xfrm rot="0">
              <a:off x="1522290" y="624919"/>
              <a:ext cx="1546983" cy="13049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398"/>
                </a:lnSpc>
              </a:pPr>
              <a:r>
                <a:rPr lang="en-US" sz="6998" spc="699">
                  <a:solidFill>
                    <a:srgbClr val="365B6D"/>
                  </a:solidFill>
                  <a:latin typeface="Sergio Trendy"/>
                  <a:ea typeface="Sergio Trendy"/>
                  <a:cs typeface="Sergio Trendy"/>
                  <a:sym typeface="Sergio Trendy"/>
                </a:rPr>
                <a:t>7</a:t>
              </a:r>
            </a:p>
          </p:txBody>
        </p:sp>
        <p:sp>
          <p:nvSpPr>
            <p:cNvPr name="TextBox 43" id="43"/>
            <p:cNvSpPr txBox="true"/>
            <p:nvPr/>
          </p:nvSpPr>
          <p:spPr>
            <a:xfrm rot="0">
              <a:off x="606755" y="1941181"/>
              <a:ext cx="3279166" cy="29908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500"/>
                </a:lnSpc>
              </a:pPr>
              <a:r>
                <a:rPr lang="en-US" sz="3000" b="true">
                  <a:solidFill>
                    <a:srgbClr val="191919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Analyse de la série à partir de ses composantes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659284" y="5448576"/>
            <a:ext cx="3381440" cy="10900001"/>
            <a:chOff x="0" y="0"/>
            <a:chExt cx="4508587" cy="14533335"/>
          </a:xfrm>
        </p:grpSpPr>
        <p:grpSp>
          <p:nvGrpSpPr>
            <p:cNvPr name="Group 45" id="45"/>
            <p:cNvGrpSpPr/>
            <p:nvPr/>
          </p:nvGrpSpPr>
          <p:grpSpPr>
            <a:xfrm rot="5400000">
              <a:off x="-5012374" y="5012374"/>
              <a:ext cx="14533335" cy="4508587"/>
              <a:chOff x="0" y="0"/>
              <a:chExt cx="1310022" cy="406400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17780" y="22860"/>
                <a:ext cx="1284622" cy="360680"/>
              </a:xfrm>
              <a:custGeom>
                <a:avLst/>
                <a:gdLst/>
                <a:ahLst/>
                <a:cxnLst/>
                <a:rect r="r" b="b" t="t" l="l"/>
                <a:pathLst>
                  <a:path h="360680" w="1284622">
                    <a:moveTo>
                      <a:pt x="1284622" y="180340"/>
                    </a:moveTo>
                    <a:cubicBezTo>
                      <a:pt x="1284622" y="81280"/>
                      <a:pt x="1204612" y="0"/>
                      <a:pt x="1104282" y="0"/>
                    </a:cubicBezTo>
                    <a:lnTo>
                      <a:pt x="172720" y="0"/>
                    </a:lnTo>
                    <a:lnTo>
                      <a:pt x="172720" y="1270"/>
                    </a:lnTo>
                    <a:cubicBezTo>
                      <a:pt x="76200" y="5080"/>
                      <a:pt x="0" y="83820"/>
                      <a:pt x="0" y="180340"/>
                    </a:cubicBezTo>
                    <a:cubicBezTo>
                      <a:pt x="0" y="276860"/>
                      <a:pt x="77470" y="355600"/>
                      <a:pt x="172720" y="359410"/>
                    </a:cubicBezTo>
                    <a:lnTo>
                      <a:pt x="172720" y="360680"/>
                    </a:lnTo>
                    <a:lnTo>
                      <a:pt x="1104282" y="360680"/>
                    </a:lnTo>
                    <a:cubicBezTo>
                      <a:pt x="1203342" y="360680"/>
                      <a:pt x="1284622" y="279400"/>
                      <a:pt x="1284622" y="180340"/>
                    </a:cubicBezTo>
                    <a:close/>
                  </a:path>
                </a:pathLst>
              </a:custGeom>
              <a:solidFill>
                <a:srgbClr val="59DBC3">
                  <a:alpha val="84706"/>
                </a:srgbClr>
              </a:solidFill>
            </p:spPr>
          </p:sp>
        </p:grpSp>
        <p:sp>
          <p:nvSpPr>
            <p:cNvPr name="TextBox 47" id="47"/>
            <p:cNvSpPr txBox="true"/>
            <p:nvPr/>
          </p:nvSpPr>
          <p:spPr>
            <a:xfrm rot="0">
              <a:off x="1480802" y="624919"/>
              <a:ext cx="1546983" cy="13049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398"/>
                </a:lnSpc>
              </a:pPr>
              <a:r>
                <a:rPr lang="en-US" sz="6998" spc="699">
                  <a:solidFill>
                    <a:srgbClr val="365B6D"/>
                  </a:solidFill>
                  <a:latin typeface="Sergio Trendy"/>
                  <a:ea typeface="Sergio Trendy"/>
                  <a:cs typeface="Sergio Trendy"/>
                  <a:sym typeface="Sergio Trendy"/>
                </a:rPr>
                <a:t>6</a:t>
              </a:r>
            </a:p>
          </p:txBody>
        </p:sp>
        <p:sp>
          <p:nvSpPr>
            <p:cNvPr name="TextBox 48" id="48"/>
            <p:cNvSpPr txBox="true"/>
            <p:nvPr/>
          </p:nvSpPr>
          <p:spPr>
            <a:xfrm rot="0">
              <a:off x="670267" y="2703181"/>
              <a:ext cx="3279166" cy="14668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500"/>
                </a:lnSpc>
              </a:pPr>
              <a:r>
                <a:rPr lang="en-US" sz="3000" b="true">
                  <a:solidFill>
                    <a:srgbClr val="191919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Choix du modèle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4182910" y="5448576"/>
            <a:ext cx="3381440" cy="11401436"/>
            <a:chOff x="0" y="0"/>
            <a:chExt cx="4508587" cy="15201914"/>
          </a:xfrm>
        </p:grpSpPr>
        <p:grpSp>
          <p:nvGrpSpPr>
            <p:cNvPr name="Group 50" id="50"/>
            <p:cNvGrpSpPr/>
            <p:nvPr/>
          </p:nvGrpSpPr>
          <p:grpSpPr>
            <a:xfrm rot="5400000">
              <a:off x="-5346664" y="5346664"/>
              <a:ext cx="15201914" cy="4508587"/>
              <a:chOff x="0" y="0"/>
              <a:chExt cx="1370287" cy="406400"/>
            </a:xfrm>
          </p:grpSpPr>
          <p:sp>
            <p:nvSpPr>
              <p:cNvPr name="Freeform 51" id="51"/>
              <p:cNvSpPr/>
              <p:nvPr/>
            </p:nvSpPr>
            <p:spPr>
              <a:xfrm flipH="false" flipV="false" rot="0">
                <a:off x="17780" y="22860"/>
                <a:ext cx="1344887" cy="360680"/>
              </a:xfrm>
              <a:custGeom>
                <a:avLst/>
                <a:gdLst/>
                <a:ahLst/>
                <a:cxnLst/>
                <a:rect r="r" b="b" t="t" l="l"/>
                <a:pathLst>
                  <a:path h="360680" w="1344887">
                    <a:moveTo>
                      <a:pt x="1344887" y="180340"/>
                    </a:moveTo>
                    <a:cubicBezTo>
                      <a:pt x="1344887" y="81280"/>
                      <a:pt x="1264877" y="0"/>
                      <a:pt x="1164547" y="0"/>
                    </a:cubicBezTo>
                    <a:lnTo>
                      <a:pt x="172720" y="0"/>
                    </a:lnTo>
                    <a:lnTo>
                      <a:pt x="172720" y="1270"/>
                    </a:lnTo>
                    <a:cubicBezTo>
                      <a:pt x="76200" y="5080"/>
                      <a:pt x="0" y="83820"/>
                      <a:pt x="0" y="180340"/>
                    </a:cubicBezTo>
                    <a:cubicBezTo>
                      <a:pt x="0" y="276860"/>
                      <a:pt x="77470" y="355600"/>
                      <a:pt x="172720" y="359410"/>
                    </a:cubicBezTo>
                    <a:lnTo>
                      <a:pt x="172720" y="360680"/>
                    </a:lnTo>
                    <a:lnTo>
                      <a:pt x="1164547" y="360680"/>
                    </a:lnTo>
                    <a:cubicBezTo>
                      <a:pt x="1263607" y="360680"/>
                      <a:pt x="1344887" y="279400"/>
                      <a:pt x="1344887" y="180340"/>
                    </a:cubicBezTo>
                    <a:close/>
                  </a:path>
                </a:pathLst>
              </a:custGeom>
              <a:solidFill>
                <a:srgbClr val="8DE8E8">
                  <a:alpha val="80000"/>
                </a:srgbClr>
              </a:solidFill>
            </p:spPr>
          </p:sp>
        </p:grpSp>
        <p:sp>
          <p:nvSpPr>
            <p:cNvPr name="TextBox 52" id="52"/>
            <p:cNvSpPr txBox="true"/>
            <p:nvPr/>
          </p:nvSpPr>
          <p:spPr>
            <a:xfrm rot="-10800000">
              <a:off x="506101" y="2798431"/>
              <a:ext cx="3279166" cy="7386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318"/>
                </a:lnSpc>
              </a:pPr>
            </a:p>
          </p:txBody>
        </p:sp>
        <p:sp>
          <p:nvSpPr>
            <p:cNvPr name="TextBox 53" id="53"/>
            <p:cNvSpPr txBox="true"/>
            <p:nvPr/>
          </p:nvSpPr>
          <p:spPr>
            <a:xfrm rot="0">
              <a:off x="1445547" y="624919"/>
              <a:ext cx="1546983" cy="13049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398"/>
                </a:lnSpc>
              </a:pPr>
              <a:r>
                <a:rPr lang="en-US" sz="6998" spc="699">
                  <a:solidFill>
                    <a:srgbClr val="365B6D"/>
                  </a:solidFill>
                  <a:latin typeface="Sergio Trendy"/>
                  <a:ea typeface="Sergio Trendy"/>
                  <a:cs typeface="Sergio Trendy"/>
                  <a:sym typeface="Sergio Trendy"/>
                </a:rPr>
                <a:t>10</a:t>
              </a:r>
            </a:p>
          </p:txBody>
        </p:sp>
        <p:sp>
          <p:nvSpPr>
            <p:cNvPr name="TextBox 54" id="54"/>
            <p:cNvSpPr txBox="true"/>
            <p:nvPr/>
          </p:nvSpPr>
          <p:spPr>
            <a:xfrm rot="0">
              <a:off x="619820" y="3084181"/>
              <a:ext cx="3279166" cy="7048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500"/>
                </a:lnSpc>
              </a:pPr>
              <a:r>
                <a:rPr lang="en-US" sz="3000" b="true">
                  <a:solidFill>
                    <a:srgbClr val="191919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Conclusions</a:t>
              </a:r>
            </a:p>
          </p:txBody>
        </p:sp>
      </p:grpSp>
    </p:spTree>
  </p:cSld>
  <p:clrMapOvr>
    <a:masterClrMapping/>
  </p:clrMapOvr>
  <p:transition spd="fast">
    <p:push dir="l"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1471508">
            <a:off x="7442248" y="-3517885"/>
            <a:ext cx="2160993" cy="11665743"/>
            <a:chOff x="0" y="0"/>
            <a:chExt cx="597206" cy="322391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97206" cy="3223913"/>
            </a:xfrm>
            <a:custGeom>
              <a:avLst/>
              <a:gdLst/>
              <a:ahLst/>
              <a:cxnLst/>
              <a:rect r="r" b="b" t="t" l="l"/>
              <a:pathLst>
                <a:path h="3223913" w="597206">
                  <a:moveTo>
                    <a:pt x="0" y="0"/>
                  </a:moveTo>
                  <a:lnTo>
                    <a:pt x="597206" y="0"/>
                  </a:lnTo>
                  <a:lnTo>
                    <a:pt x="597206" y="3223913"/>
                  </a:lnTo>
                  <a:lnTo>
                    <a:pt x="0" y="3223913"/>
                  </a:lnTo>
                  <a:close/>
                </a:path>
              </a:pathLst>
            </a:custGeom>
            <a:solidFill>
              <a:srgbClr val="D5DADA">
                <a:alpha val="23922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97206" cy="3262013"/>
            </a:xfrm>
            <a:prstGeom prst="rect">
              <a:avLst/>
            </a:prstGeom>
          </p:spPr>
          <p:txBody>
            <a:bodyPr anchor="ctr" rtlCol="false" tIns="35873" lIns="35873" bIns="35873" rIns="35873"/>
            <a:lstStyle/>
            <a:p>
              <a:pPr algn="ctr">
                <a:lnSpc>
                  <a:spcPts val="1384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1471508">
            <a:off x="7842796" y="1744300"/>
            <a:ext cx="2160993" cy="11212989"/>
            <a:chOff x="0" y="0"/>
            <a:chExt cx="597206" cy="309879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97206" cy="3098791"/>
            </a:xfrm>
            <a:custGeom>
              <a:avLst/>
              <a:gdLst/>
              <a:ahLst/>
              <a:cxnLst/>
              <a:rect r="r" b="b" t="t" l="l"/>
              <a:pathLst>
                <a:path h="3098791" w="597206">
                  <a:moveTo>
                    <a:pt x="0" y="0"/>
                  </a:moveTo>
                  <a:lnTo>
                    <a:pt x="597206" y="0"/>
                  </a:lnTo>
                  <a:lnTo>
                    <a:pt x="597206" y="3098791"/>
                  </a:lnTo>
                  <a:lnTo>
                    <a:pt x="0" y="3098791"/>
                  </a:lnTo>
                  <a:close/>
                </a:path>
              </a:pathLst>
            </a:custGeom>
            <a:solidFill>
              <a:srgbClr val="D5DADA">
                <a:alpha val="23922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97206" cy="3136892"/>
            </a:xfrm>
            <a:prstGeom prst="rect">
              <a:avLst/>
            </a:prstGeom>
          </p:spPr>
          <p:txBody>
            <a:bodyPr anchor="ctr" rtlCol="false" tIns="35873" lIns="35873" bIns="35873" rIns="35873"/>
            <a:lstStyle/>
            <a:p>
              <a:pPr algn="ctr">
                <a:lnSpc>
                  <a:spcPts val="1384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015140" y="5027944"/>
            <a:ext cx="10518155" cy="10518113"/>
            <a:chOff x="0" y="0"/>
            <a:chExt cx="6350000" cy="634997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350000" cy="6349975"/>
            </a:xfrm>
            <a:custGeom>
              <a:avLst/>
              <a:gdLst/>
              <a:ahLst/>
              <a:cxnLst/>
              <a:rect r="r" b="b" t="t" l="l"/>
              <a:pathLst>
                <a:path h="6349975" w="6350000">
                  <a:moveTo>
                    <a:pt x="6350000" y="3175025"/>
                  </a:moveTo>
                  <a:cubicBezTo>
                    <a:pt x="6350000" y="4928451"/>
                    <a:pt x="4928476" y="6349975"/>
                    <a:pt x="3175000" y="6349975"/>
                  </a:cubicBezTo>
                  <a:cubicBezTo>
                    <a:pt x="1421498" y="6349975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2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2"/>
              <a:stretch>
                <a:fillRect l="-25471" t="0" r="-25471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800842" y="5813625"/>
            <a:ext cx="8946750" cy="8946750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0477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35873" lIns="35873" bIns="35873" rIns="35873"/>
            <a:lstStyle/>
            <a:p>
              <a:pPr algn="ctr">
                <a:lnSpc>
                  <a:spcPts val="1384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-4524129" y="-3792316"/>
            <a:ext cx="10518155" cy="10518113"/>
            <a:chOff x="0" y="0"/>
            <a:chExt cx="6350000" cy="634997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350000" cy="6349975"/>
            </a:xfrm>
            <a:custGeom>
              <a:avLst/>
              <a:gdLst/>
              <a:ahLst/>
              <a:cxnLst/>
              <a:rect r="r" b="b" t="t" l="l"/>
              <a:pathLst>
                <a:path h="6349975" w="6350000">
                  <a:moveTo>
                    <a:pt x="6350000" y="3175025"/>
                  </a:moveTo>
                  <a:cubicBezTo>
                    <a:pt x="6350000" y="4928451"/>
                    <a:pt x="4928476" y="6349975"/>
                    <a:pt x="3175000" y="6349975"/>
                  </a:cubicBezTo>
                  <a:cubicBezTo>
                    <a:pt x="1421498" y="6349975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2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3"/>
              <a:stretch>
                <a:fillRect l="-25471" t="0" r="-25471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-3738427" y="-3006635"/>
            <a:ext cx="8946750" cy="8946750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0477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35873" lIns="35873" bIns="35873" rIns="35873"/>
            <a:lstStyle/>
            <a:p>
              <a:pPr algn="ctr">
                <a:lnSpc>
                  <a:spcPts val="1384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4872773" y="3729254"/>
            <a:ext cx="10153157" cy="1734271"/>
            <a:chOff x="0" y="0"/>
            <a:chExt cx="1552428" cy="26517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552428" cy="265172"/>
            </a:xfrm>
            <a:custGeom>
              <a:avLst/>
              <a:gdLst/>
              <a:ahLst/>
              <a:cxnLst/>
              <a:rect r="r" b="b" t="t" l="l"/>
              <a:pathLst>
                <a:path h="265172" w="1552428">
                  <a:moveTo>
                    <a:pt x="12963" y="0"/>
                  </a:moveTo>
                  <a:lnTo>
                    <a:pt x="1539466" y="0"/>
                  </a:lnTo>
                  <a:cubicBezTo>
                    <a:pt x="1542904" y="0"/>
                    <a:pt x="1546201" y="1366"/>
                    <a:pt x="1548632" y="3797"/>
                  </a:cubicBezTo>
                  <a:cubicBezTo>
                    <a:pt x="1551063" y="6228"/>
                    <a:pt x="1552428" y="9525"/>
                    <a:pt x="1552428" y="12963"/>
                  </a:cubicBezTo>
                  <a:lnTo>
                    <a:pt x="1552428" y="252209"/>
                  </a:lnTo>
                  <a:cubicBezTo>
                    <a:pt x="1552428" y="255647"/>
                    <a:pt x="1551063" y="258944"/>
                    <a:pt x="1548632" y="261375"/>
                  </a:cubicBezTo>
                  <a:cubicBezTo>
                    <a:pt x="1546201" y="263806"/>
                    <a:pt x="1542904" y="265172"/>
                    <a:pt x="1539466" y="265172"/>
                  </a:cubicBezTo>
                  <a:lnTo>
                    <a:pt x="12963" y="265172"/>
                  </a:lnTo>
                  <a:cubicBezTo>
                    <a:pt x="9525" y="265172"/>
                    <a:pt x="6228" y="263806"/>
                    <a:pt x="3797" y="261375"/>
                  </a:cubicBezTo>
                  <a:cubicBezTo>
                    <a:pt x="1366" y="258944"/>
                    <a:pt x="0" y="255647"/>
                    <a:pt x="0" y="252209"/>
                  </a:cubicBezTo>
                  <a:lnTo>
                    <a:pt x="0" y="12963"/>
                  </a:lnTo>
                  <a:cubicBezTo>
                    <a:pt x="0" y="9525"/>
                    <a:pt x="1366" y="6228"/>
                    <a:pt x="3797" y="3797"/>
                  </a:cubicBezTo>
                  <a:cubicBezTo>
                    <a:pt x="6228" y="1366"/>
                    <a:pt x="9525" y="0"/>
                    <a:pt x="12963" y="0"/>
                  </a:cubicBezTo>
                  <a:close/>
                </a:path>
              </a:pathLst>
            </a:custGeom>
            <a:solidFill>
              <a:srgbClr val="FAFAFA"/>
            </a:solidFill>
            <a:ln w="28575" cap="sq">
              <a:solidFill>
                <a:srgbClr val="0097B2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57150"/>
              <a:ext cx="1552428" cy="322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5994026" y="3760202"/>
            <a:ext cx="9031905" cy="10030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82"/>
              </a:lnSpc>
              <a:spcBef>
                <a:spcPct val="0"/>
              </a:spcBef>
            </a:pPr>
            <a:r>
              <a:rPr lang="en-US" b="true" sz="5558">
                <a:solidFill>
                  <a:srgbClr val="329A87"/>
                </a:solidFill>
                <a:latin typeface="Telegraf Bold"/>
                <a:ea typeface="Telegraf Bold"/>
                <a:cs typeface="Telegraf Bold"/>
                <a:sym typeface="Telegraf Bold"/>
              </a:rPr>
              <a:t>Contexte et justifications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994026" y="4489057"/>
            <a:ext cx="6794376" cy="782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56"/>
              </a:lnSpc>
              <a:spcBef>
                <a:spcPct val="0"/>
              </a:spcBef>
            </a:pPr>
            <a:r>
              <a:rPr lang="en-US" sz="4326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Objectifs de l’étude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4067426" y="3633090"/>
            <a:ext cx="1926599" cy="1926599"/>
          </a:xfrm>
          <a:custGeom>
            <a:avLst/>
            <a:gdLst/>
            <a:ahLst/>
            <a:cxnLst/>
            <a:rect r="r" b="b" t="t" l="l"/>
            <a:pathLst>
              <a:path h="1926599" w="1926599">
                <a:moveTo>
                  <a:pt x="0" y="0"/>
                </a:moveTo>
                <a:lnTo>
                  <a:pt x="1926600" y="0"/>
                </a:lnTo>
                <a:lnTo>
                  <a:pt x="1926600" y="1926599"/>
                </a:lnTo>
                <a:lnTo>
                  <a:pt x="0" y="192659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6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4" id="24"/>
          <p:cNvGrpSpPr/>
          <p:nvPr/>
        </p:nvGrpSpPr>
        <p:grpSpPr>
          <a:xfrm rot="0">
            <a:off x="4252211" y="3817875"/>
            <a:ext cx="1557029" cy="1557029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97B2"/>
            </a:solidFill>
            <a:ln cap="sq">
              <a:noFill/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4357484" y="3784937"/>
            <a:ext cx="1346483" cy="13943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785"/>
              </a:lnSpc>
              <a:spcBef>
                <a:spcPct val="0"/>
              </a:spcBef>
            </a:pPr>
            <a:r>
              <a:rPr lang="en-US" b="true" sz="7703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1</a:t>
            </a:r>
          </a:p>
        </p:txBody>
      </p:sp>
    </p:spTree>
  </p:cSld>
  <p:clrMapOvr>
    <a:masterClrMapping/>
  </p:clrMapOvr>
  <p:transition spd="slow">
    <p:cover dir="l"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885825"/>
            <a:ext cx="7573238" cy="8565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94"/>
              </a:lnSpc>
              <a:spcBef>
                <a:spcPct val="0"/>
              </a:spcBef>
            </a:pPr>
            <a:r>
              <a:rPr lang="en-US" b="true" sz="4710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C</a:t>
            </a:r>
            <a:r>
              <a:rPr lang="en-US" b="true" sz="4710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ontexte de l'étude</a:t>
            </a:r>
          </a:p>
        </p:txBody>
      </p:sp>
      <p:grpSp>
        <p:nvGrpSpPr>
          <p:cNvPr name="Group 3" id="3"/>
          <p:cNvGrpSpPr/>
          <p:nvPr/>
        </p:nvGrpSpPr>
        <p:grpSpPr>
          <a:xfrm rot="1471508">
            <a:off x="7442248" y="-3517885"/>
            <a:ext cx="2160993" cy="11665743"/>
            <a:chOff x="0" y="0"/>
            <a:chExt cx="597206" cy="322391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97206" cy="3223913"/>
            </a:xfrm>
            <a:custGeom>
              <a:avLst/>
              <a:gdLst/>
              <a:ahLst/>
              <a:cxnLst/>
              <a:rect r="r" b="b" t="t" l="l"/>
              <a:pathLst>
                <a:path h="3223913" w="597206">
                  <a:moveTo>
                    <a:pt x="0" y="0"/>
                  </a:moveTo>
                  <a:lnTo>
                    <a:pt x="597206" y="0"/>
                  </a:lnTo>
                  <a:lnTo>
                    <a:pt x="597206" y="3223913"/>
                  </a:lnTo>
                  <a:lnTo>
                    <a:pt x="0" y="3223913"/>
                  </a:lnTo>
                  <a:close/>
                </a:path>
              </a:pathLst>
            </a:custGeom>
            <a:solidFill>
              <a:srgbClr val="D5DADA">
                <a:alpha val="23922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97206" cy="3262013"/>
            </a:xfrm>
            <a:prstGeom prst="rect">
              <a:avLst/>
            </a:prstGeom>
          </p:spPr>
          <p:txBody>
            <a:bodyPr anchor="ctr" rtlCol="false" tIns="35873" lIns="35873" bIns="35873" rIns="35873"/>
            <a:lstStyle/>
            <a:p>
              <a:pPr algn="ctr">
                <a:lnSpc>
                  <a:spcPts val="1384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1471508">
            <a:off x="7842796" y="1744300"/>
            <a:ext cx="2160993" cy="11212989"/>
            <a:chOff x="0" y="0"/>
            <a:chExt cx="597206" cy="309879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97206" cy="3098791"/>
            </a:xfrm>
            <a:custGeom>
              <a:avLst/>
              <a:gdLst/>
              <a:ahLst/>
              <a:cxnLst/>
              <a:rect r="r" b="b" t="t" l="l"/>
              <a:pathLst>
                <a:path h="3098791" w="597206">
                  <a:moveTo>
                    <a:pt x="0" y="0"/>
                  </a:moveTo>
                  <a:lnTo>
                    <a:pt x="597206" y="0"/>
                  </a:lnTo>
                  <a:lnTo>
                    <a:pt x="597206" y="3098791"/>
                  </a:lnTo>
                  <a:lnTo>
                    <a:pt x="0" y="3098791"/>
                  </a:lnTo>
                  <a:close/>
                </a:path>
              </a:pathLst>
            </a:custGeom>
            <a:solidFill>
              <a:srgbClr val="D5DADA">
                <a:alpha val="23922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597206" cy="3136892"/>
            </a:xfrm>
            <a:prstGeom prst="rect">
              <a:avLst/>
            </a:prstGeom>
          </p:spPr>
          <p:txBody>
            <a:bodyPr anchor="ctr" rtlCol="false" tIns="35873" lIns="35873" bIns="35873" rIns="35873"/>
            <a:lstStyle/>
            <a:p>
              <a:pPr algn="ctr">
                <a:lnSpc>
                  <a:spcPts val="1384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3387697" y="4551352"/>
            <a:ext cx="1105344" cy="1105344"/>
          </a:xfrm>
          <a:custGeom>
            <a:avLst/>
            <a:gdLst/>
            <a:ahLst/>
            <a:cxnLst/>
            <a:rect r="r" b="b" t="t" l="l"/>
            <a:pathLst>
              <a:path h="1105344" w="1105344">
                <a:moveTo>
                  <a:pt x="0" y="0"/>
                </a:moveTo>
                <a:lnTo>
                  <a:pt x="1105344" y="0"/>
                </a:lnTo>
                <a:lnTo>
                  <a:pt x="1105344" y="1105343"/>
                </a:lnTo>
                <a:lnTo>
                  <a:pt x="0" y="11053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8128514" y="4464409"/>
            <a:ext cx="2172022" cy="2172022"/>
          </a:xfrm>
          <a:custGeom>
            <a:avLst/>
            <a:gdLst/>
            <a:ahLst/>
            <a:cxnLst/>
            <a:rect r="r" b="b" t="t" l="l"/>
            <a:pathLst>
              <a:path h="2172022" w="2172022">
                <a:moveTo>
                  <a:pt x="0" y="0"/>
                </a:moveTo>
                <a:lnTo>
                  <a:pt x="2172022" y="0"/>
                </a:lnTo>
                <a:lnTo>
                  <a:pt x="2172022" y="2172022"/>
                </a:lnTo>
                <a:lnTo>
                  <a:pt x="0" y="21720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6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8336838" y="4672733"/>
            <a:ext cx="1755374" cy="1755374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97B2"/>
            </a:soli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4436553" y="7397135"/>
            <a:ext cx="9395845" cy="16186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33"/>
              </a:lnSpc>
              <a:spcBef>
                <a:spcPct val="0"/>
              </a:spcBef>
            </a:pPr>
            <a:r>
              <a:rPr lang="en-US" sz="3023">
                <a:solidFill>
                  <a:srgbClr val="024854"/>
                </a:solidFill>
                <a:latin typeface="Telegraf"/>
                <a:ea typeface="Telegraf"/>
                <a:cs typeface="Telegraf"/>
                <a:sym typeface="Telegraf"/>
              </a:rPr>
              <a:t>Analyser rigoureusement l’évolution du PIB du Sénégal à fréquence trimestrielle, pour modéliser sa structure et prévoir son évolution future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314870" y="6581646"/>
            <a:ext cx="5658261" cy="6440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26"/>
              </a:lnSpc>
              <a:spcBef>
                <a:spcPct val="0"/>
              </a:spcBef>
            </a:pPr>
            <a:r>
              <a:rPr lang="en-US" sz="351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Objectif défini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310731" y="2219737"/>
            <a:ext cx="11647488" cy="5193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3"/>
              </a:lnSpc>
              <a:spcBef>
                <a:spcPct val="0"/>
              </a:spcBef>
            </a:pPr>
            <a:r>
              <a:rPr lang="en-US" b="true" sz="2802">
                <a:solidFill>
                  <a:srgbClr val="1C6976"/>
                </a:solidFill>
                <a:latin typeface="Telegraf Bold"/>
                <a:ea typeface="Telegraf Bold"/>
                <a:cs typeface="Telegraf Bold"/>
                <a:sym typeface="Telegraf Bold"/>
              </a:rPr>
              <a:t>La période 2008–2024 est marquée par des événements majeurs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90014" y="2768959"/>
            <a:ext cx="4323051" cy="1123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00"/>
              </a:lnSpc>
            </a:pPr>
            <a:r>
              <a:rPr lang="en-US" sz="3000" b="true">
                <a:solidFill>
                  <a:srgbClr val="191919"/>
                </a:solidFill>
                <a:latin typeface="Aileron Bold"/>
                <a:ea typeface="Aileron Bold"/>
                <a:cs typeface="Aileron Bold"/>
                <a:sym typeface="Aileron Bold"/>
              </a:rPr>
              <a:t>Crise financière mondiale (2008–2009)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023785" y="2768959"/>
            <a:ext cx="2459375" cy="1123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00"/>
              </a:lnSpc>
            </a:pPr>
            <a:r>
              <a:rPr lang="en-US" sz="3000" b="true">
                <a:solidFill>
                  <a:srgbClr val="191919"/>
                </a:solidFill>
                <a:latin typeface="Aileron Bold"/>
                <a:ea typeface="Aileron Bold"/>
                <a:cs typeface="Aileron Bold"/>
                <a:sym typeface="Aileron Bold"/>
              </a:rPr>
              <a:t>Pandémie de COVID-19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776436" y="2768959"/>
            <a:ext cx="4735127" cy="1123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00"/>
              </a:lnSpc>
            </a:pPr>
            <a:r>
              <a:rPr lang="en-US" sz="3000" b="true">
                <a:solidFill>
                  <a:srgbClr val="191919"/>
                </a:solidFill>
                <a:latin typeface="Aileron Bold"/>
                <a:ea typeface="Aileron Bold"/>
                <a:cs typeface="Aileron Bold"/>
                <a:sym typeface="Aileron Bold"/>
              </a:rPr>
              <a:t>Lancement du Plan Sénégal Émergent (2014)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8661853" y="4997748"/>
            <a:ext cx="1105344" cy="1105344"/>
          </a:xfrm>
          <a:custGeom>
            <a:avLst/>
            <a:gdLst/>
            <a:ahLst/>
            <a:cxnLst/>
            <a:rect r="r" b="b" t="t" l="l"/>
            <a:pathLst>
              <a:path h="1105344" w="1105344">
                <a:moveTo>
                  <a:pt x="0" y="0"/>
                </a:moveTo>
                <a:lnTo>
                  <a:pt x="1105344" y="0"/>
                </a:lnTo>
                <a:lnTo>
                  <a:pt x="1105344" y="1105344"/>
                </a:lnTo>
                <a:lnTo>
                  <a:pt x="0" y="11053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2725475" y="297514"/>
            <a:ext cx="12837050" cy="9691972"/>
          </a:xfrm>
          <a:custGeom>
            <a:avLst/>
            <a:gdLst/>
            <a:ahLst/>
            <a:cxnLst/>
            <a:rect r="r" b="b" t="t" l="l"/>
            <a:pathLst>
              <a:path h="9691972" w="12837050">
                <a:moveTo>
                  <a:pt x="0" y="0"/>
                </a:moveTo>
                <a:lnTo>
                  <a:pt x="12837050" y="0"/>
                </a:lnTo>
                <a:lnTo>
                  <a:pt x="12837050" y="9691972"/>
                </a:lnTo>
                <a:lnTo>
                  <a:pt x="0" y="969197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9999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push dir="l"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1471508">
            <a:off x="7442248" y="-3517885"/>
            <a:ext cx="2160993" cy="11665743"/>
            <a:chOff x="0" y="0"/>
            <a:chExt cx="597206" cy="322391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97206" cy="3223913"/>
            </a:xfrm>
            <a:custGeom>
              <a:avLst/>
              <a:gdLst/>
              <a:ahLst/>
              <a:cxnLst/>
              <a:rect r="r" b="b" t="t" l="l"/>
              <a:pathLst>
                <a:path h="3223913" w="597206">
                  <a:moveTo>
                    <a:pt x="0" y="0"/>
                  </a:moveTo>
                  <a:lnTo>
                    <a:pt x="597206" y="0"/>
                  </a:lnTo>
                  <a:lnTo>
                    <a:pt x="597206" y="3223913"/>
                  </a:lnTo>
                  <a:lnTo>
                    <a:pt x="0" y="3223913"/>
                  </a:lnTo>
                  <a:close/>
                </a:path>
              </a:pathLst>
            </a:custGeom>
            <a:solidFill>
              <a:srgbClr val="D5DADA">
                <a:alpha val="23922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97206" cy="3262013"/>
            </a:xfrm>
            <a:prstGeom prst="rect">
              <a:avLst/>
            </a:prstGeom>
          </p:spPr>
          <p:txBody>
            <a:bodyPr anchor="ctr" rtlCol="false" tIns="35873" lIns="35873" bIns="35873" rIns="35873"/>
            <a:lstStyle/>
            <a:p>
              <a:pPr algn="ctr">
                <a:lnSpc>
                  <a:spcPts val="1384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1471508">
            <a:off x="7842796" y="1744300"/>
            <a:ext cx="2160993" cy="11212989"/>
            <a:chOff x="0" y="0"/>
            <a:chExt cx="597206" cy="309879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97206" cy="3098791"/>
            </a:xfrm>
            <a:custGeom>
              <a:avLst/>
              <a:gdLst/>
              <a:ahLst/>
              <a:cxnLst/>
              <a:rect r="r" b="b" t="t" l="l"/>
              <a:pathLst>
                <a:path h="3098791" w="597206">
                  <a:moveTo>
                    <a:pt x="0" y="0"/>
                  </a:moveTo>
                  <a:lnTo>
                    <a:pt x="597206" y="0"/>
                  </a:lnTo>
                  <a:lnTo>
                    <a:pt x="597206" y="3098791"/>
                  </a:lnTo>
                  <a:lnTo>
                    <a:pt x="0" y="3098791"/>
                  </a:lnTo>
                  <a:close/>
                </a:path>
              </a:pathLst>
            </a:custGeom>
            <a:solidFill>
              <a:srgbClr val="D5DADA">
                <a:alpha val="23922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97206" cy="3136892"/>
            </a:xfrm>
            <a:prstGeom prst="rect">
              <a:avLst/>
            </a:prstGeom>
          </p:spPr>
          <p:txBody>
            <a:bodyPr anchor="ctr" rtlCol="false" tIns="35873" lIns="35873" bIns="35873" rIns="35873"/>
            <a:lstStyle/>
            <a:p>
              <a:pPr algn="ctr">
                <a:lnSpc>
                  <a:spcPts val="1384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015140" y="5027944"/>
            <a:ext cx="10518155" cy="10518113"/>
            <a:chOff x="0" y="0"/>
            <a:chExt cx="6350000" cy="634997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350000" cy="6349975"/>
            </a:xfrm>
            <a:custGeom>
              <a:avLst/>
              <a:gdLst/>
              <a:ahLst/>
              <a:cxnLst/>
              <a:rect r="r" b="b" t="t" l="l"/>
              <a:pathLst>
                <a:path h="6349975" w="6350000">
                  <a:moveTo>
                    <a:pt x="6350000" y="3175025"/>
                  </a:moveTo>
                  <a:cubicBezTo>
                    <a:pt x="6350000" y="4928451"/>
                    <a:pt x="4928476" y="6349975"/>
                    <a:pt x="3175000" y="6349975"/>
                  </a:cubicBezTo>
                  <a:cubicBezTo>
                    <a:pt x="1421498" y="6349975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2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2"/>
              <a:stretch>
                <a:fillRect l="-25471" t="0" r="-25471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800842" y="5813625"/>
            <a:ext cx="8946750" cy="8946750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0477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35873" lIns="35873" bIns="35873" rIns="35873"/>
            <a:lstStyle/>
            <a:p>
              <a:pPr algn="ctr">
                <a:lnSpc>
                  <a:spcPts val="1384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-4524129" y="-3792316"/>
            <a:ext cx="10518155" cy="10518113"/>
            <a:chOff x="0" y="0"/>
            <a:chExt cx="6350000" cy="634997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350000" cy="6349975"/>
            </a:xfrm>
            <a:custGeom>
              <a:avLst/>
              <a:gdLst/>
              <a:ahLst/>
              <a:cxnLst/>
              <a:rect r="r" b="b" t="t" l="l"/>
              <a:pathLst>
                <a:path h="6349975" w="6350000">
                  <a:moveTo>
                    <a:pt x="6350000" y="3175025"/>
                  </a:moveTo>
                  <a:cubicBezTo>
                    <a:pt x="6350000" y="4928451"/>
                    <a:pt x="4928476" y="6349975"/>
                    <a:pt x="3175000" y="6349975"/>
                  </a:cubicBezTo>
                  <a:cubicBezTo>
                    <a:pt x="1421498" y="6349975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2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3"/>
              <a:stretch>
                <a:fillRect l="-24906" t="0" r="-24906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-3738427" y="-3006635"/>
            <a:ext cx="8946750" cy="8946750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0477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35873" lIns="35873" bIns="35873" rIns="35873"/>
            <a:lstStyle/>
            <a:p>
              <a:pPr algn="ctr">
                <a:lnSpc>
                  <a:spcPts val="1384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4872773" y="3729254"/>
            <a:ext cx="9283384" cy="1734271"/>
            <a:chOff x="0" y="0"/>
            <a:chExt cx="1419439" cy="26517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419439" cy="265172"/>
            </a:xfrm>
            <a:custGeom>
              <a:avLst/>
              <a:gdLst/>
              <a:ahLst/>
              <a:cxnLst/>
              <a:rect r="r" b="b" t="t" l="l"/>
              <a:pathLst>
                <a:path h="265172" w="1419439">
                  <a:moveTo>
                    <a:pt x="14177" y="0"/>
                  </a:moveTo>
                  <a:lnTo>
                    <a:pt x="1405262" y="0"/>
                  </a:lnTo>
                  <a:cubicBezTo>
                    <a:pt x="1409022" y="0"/>
                    <a:pt x="1412628" y="1494"/>
                    <a:pt x="1415287" y="4152"/>
                  </a:cubicBezTo>
                  <a:cubicBezTo>
                    <a:pt x="1417946" y="6811"/>
                    <a:pt x="1419439" y="10417"/>
                    <a:pt x="1419439" y="14177"/>
                  </a:cubicBezTo>
                  <a:lnTo>
                    <a:pt x="1419439" y="250995"/>
                  </a:lnTo>
                  <a:cubicBezTo>
                    <a:pt x="1419439" y="254755"/>
                    <a:pt x="1417946" y="258361"/>
                    <a:pt x="1415287" y="261019"/>
                  </a:cubicBezTo>
                  <a:cubicBezTo>
                    <a:pt x="1412628" y="263678"/>
                    <a:pt x="1409022" y="265172"/>
                    <a:pt x="1405262" y="265172"/>
                  </a:cubicBezTo>
                  <a:lnTo>
                    <a:pt x="14177" y="265172"/>
                  </a:lnTo>
                  <a:cubicBezTo>
                    <a:pt x="10417" y="265172"/>
                    <a:pt x="6811" y="263678"/>
                    <a:pt x="4152" y="261019"/>
                  </a:cubicBezTo>
                  <a:cubicBezTo>
                    <a:pt x="1494" y="258361"/>
                    <a:pt x="0" y="254755"/>
                    <a:pt x="0" y="250995"/>
                  </a:cubicBezTo>
                  <a:lnTo>
                    <a:pt x="0" y="14177"/>
                  </a:lnTo>
                  <a:cubicBezTo>
                    <a:pt x="0" y="10417"/>
                    <a:pt x="1494" y="6811"/>
                    <a:pt x="4152" y="4152"/>
                  </a:cubicBezTo>
                  <a:cubicBezTo>
                    <a:pt x="6811" y="1494"/>
                    <a:pt x="10417" y="0"/>
                    <a:pt x="14177" y="0"/>
                  </a:cubicBezTo>
                  <a:close/>
                </a:path>
              </a:pathLst>
            </a:custGeom>
            <a:solidFill>
              <a:srgbClr val="FAFAFA"/>
            </a:solidFill>
            <a:ln w="28575" cap="sq">
              <a:solidFill>
                <a:srgbClr val="0097B2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57150"/>
              <a:ext cx="1419439" cy="322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5994026" y="3760202"/>
            <a:ext cx="8162131" cy="10030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82"/>
              </a:lnSpc>
              <a:spcBef>
                <a:spcPct val="0"/>
              </a:spcBef>
            </a:pPr>
            <a:r>
              <a:rPr lang="en-US" b="true" sz="5558">
                <a:solidFill>
                  <a:srgbClr val="329A87"/>
                </a:solidFill>
                <a:latin typeface="Telegraf Bold"/>
                <a:ea typeface="Telegraf Bold"/>
                <a:cs typeface="Telegraf Bold"/>
                <a:sym typeface="Telegraf Bold"/>
              </a:rPr>
              <a:t>Cadre conceptuel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994026" y="4489057"/>
            <a:ext cx="8162131" cy="782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56"/>
              </a:lnSpc>
              <a:spcBef>
                <a:spcPct val="0"/>
              </a:spcBef>
            </a:pPr>
            <a:r>
              <a:rPr lang="en-US" sz="4326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Définitions des mots-clés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4067426" y="3633090"/>
            <a:ext cx="1926599" cy="1926599"/>
          </a:xfrm>
          <a:custGeom>
            <a:avLst/>
            <a:gdLst/>
            <a:ahLst/>
            <a:cxnLst/>
            <a:rect r="r" b="b" t="t" l="l"/>
            <a:pathLst>
              <a:path h="1926599" w="1926599">
                <a:moveTo>
                  <a:pt x="0" y="0"/>
                </a:moveTo>
                <a:lnTo>
                  <a:pt x="1926600" y="0"/>
                </a:lnTo>
                <a:lnTo>
                  <a:pt x="1926600" y="1926599"/>
                </a:lnTo>
                <a:lnTo>
                  <a:pt x="0" y="192659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6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4" id="24"/>
          <p:cNvGrpSpPr/>
          <p:nvPr/>
        </p:nvGrpSpPr>
        <p:grpSpPr>
          <a:xfrm rot="0">
            <a:off x="4252211" y="3817875"/>
            <a:ext cx="1557029" cy="1557029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97B2"/>
            </a:solidFill>
            <a:ln cap="sq">
              <a:noFill/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4357484" y="3784937"/>
            <a:ext cx="1346483" cy="13943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785"/>
              </a:lnSpc>
              <a:spcBef>
                <a:spcPct val="0"/>
              </a:spcBef>
            </a:pPr>
            <a:r>
              <a:rPr lang="en-US" b="true" sz="7703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2</a:t>
            </a:r>
          </a:p>
        </p:txBody>
      </p:sp>
    </p:spTree>
  </p:cSld>
  <p:clrMapOvr>
    <a:masterClrMapping/>
  </p:clrMapOvr>
  <p:transition spd="slow">
    <p:cover dir="l"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697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664993" y="2600325"/>
            <a:ext cx="4096628" cy="7686675"/>
          </a:xfrm>
          <a:prstGeom prst="rect">
            <a:avLst/>
          </a:prstGeom>
          <a:solidFill>
            <a:srgbClr val="FFFFFF"/>
          </a:solidFill>
        </p:spPr>
      </p:sp>
      <p:sp>
        <p:nvSpPr>
          <p:cNvPr name="AutoShape 3" id="3"/>
          <p:cNvSpPr/>
          <p:nvPr/>
        </p:nvSpPr>
        <p:spPr>
          <a:xfrm rot="0">
            <a:off x="4952122" y="2600325"/>
            <a:ext cx="4096628" cy="7686675"/>
          </a:xfrm>
          <a:prstGeom prst="rect">
            <a:avLst/>
          </a:prstGeom>
          <a:solidFill>
            <a:srgbClr val="FFFFFF"/>
          </a:solidFill>
        </p:spPr>
      </p:sp>
      <p:sp>
        <p:nvSpPr>
          <p:cNvPr name="AutoShape 4" id="4"/>
          <p:cNvSpPr/>
          <p:nvPr/>
        </p:nvSpPr>
        <p:spPr>
          <a:xfrm rot="0">
            <a:off x="9239250" y="2600325"/>
            <a:ext cx="4096628" cy="7686675"/>
          </a:xfrm>
          <a:prstGeom prst="rect">
            <a:avLst/>
          </a:prstGeom>
          <a:solidFill>
            <a:srgbClr val="FFFFFF"/>
          </a:solidFill>
        </p:spPr>
      </p:sp>
      <p:grpSp>
        <p:nvGrpSpPr>
          <p:cNvPr name="Group 5" id="5"/>
          <p:cNvGrpSpPr/>
          <p:nvPr/>
        </p:nvGrpSpPr>
        <p:grpSpPr>
          <a:xfrm rot="0">
            <a:off x="4867374" y="810166"/>
            <a:ext cx="4266123" cy="4266123"/>
            <a:chOff x="0" y="0"/>
            <a:chExt cx="5688164" cy="568816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688164" cy="5688164"/>
            </a:xfrm>
            <a:custGeom>
              <a:avLst/>
              <a:gdLst/>
              <a:ahLst/>
              <a:cxnLst/>
              <a:rect r="r" b="b" t="t" l="l"/>
              <a:pathLst>
                <a:path h="5688164" w="5688164">
                  <a:moveTo>
                    <a:pt x="0" y="0"/>
                  </a:moveTo>
                  <a:lnTo>
                    <a:pt x="5688164" y="0"/>
                  </a:lnTo>
                  <a:lnTo>
                    <a:pt x="5688164" y="5688164"/>
                  </a:lnTo>
                  <a:lnTo>
                    <a:pt x="0" y="56881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153216" y="153216"/>
              <a:ext cx="5381733" cy="5381733"/>
            </a:xfrm>
            <a:custGeom>
              <a:avLst/>
              <a:gdLst/>
              <a:ahLst/>
              <a:cxnLst/>
              <a:rect r="r" b="b" t="t" l="l"/>
              <a:pathLst>
                <a:path h="5381733" w="5381733">
                  <a:moveTo>
                    <a:pt x="0" y="0"/>
                  </a:moveTo>
                  <a:lnTo>
                    <a:pt x="5381733" y="0"/>
                  </a:lnTo>
                  <a:lnTo>
                    <a:pt x="5381733" y="5381733"/>
                  </a:lnTo>
                  <a:lnTo>
                    <a:pt x="0" y="53817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623862" y="812065"/>
            <a:ext cx="4179770" cy="4179770"/>
            <a:chOff x="0" y="0"/>
            <a:chExt cx="5573026" cy="557302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573026" cy="5573026"/>
            </a:xfrm>
            <a:custGeom>
              <a:avLst/>
              <a:gdLst/>
              <a:ahLst/>
              <a:cxnLst/>
              <a:rect r="r" b="b" t="t" l="l"/>
              <a:pathLst>
                <a:path h="5573026" w="5573026">
                  <a:moveTo>
                    <a:pt x="0" y="0"/>
                  </a:moveTo>
                  <a:lnTo>
                    <a:pt x="5573026" y="0"/>
                  </a:lnTo>
                  <a:lnTo>
                    <a:pt x="5573026" y="5573026"/>
                  </a:lnTo>
                  <a:lnTo>
                    <a:pt x="0" y="55730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150114" y="150114"/>
              <a:ext cx="5272798" cy="5272798"/>
            </a:xfrm>
            <a:custGeom>
              <a:avLst/>
              <a:gdLst/>
              <a:ahLst/>
              <a:cxnLst/>
              <a:rect r="r" b="b" t="t" l="l"/>
              <a:pathLst>
                <a:path h="5272798" w="5272798">
                  <a:moveTo>
                    <a:pt x="0" y="0"/>
                  </a:moveTo>
                  <a:lnTo>
                    <a:pt x="5272798" y="0"/>
                  </a:lnTo>
                  <a:lnTo>
                    <a:pt x="5272798" y="5272798"/>
                  </a:lnTo>
                  <a:lnTo>
                    <a:pt x="0" y="52727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144000" y="856372"/>
            <a:ext cx="4287128" cy="4287128"/>
            <a:chOff x="0" y="0"/>
            <a:chExt cx="5716171" cy="571617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716171" cy="5716171"/>
            </a:xfrm>
            <a:custGeom>
              <a:avLst/>
              <a:gdLst/>
              <a:ahLst/>
              <a:cxnLst/>
              <a:rect r="r" b="b" t="t" l="l"/>
              <a:pathLst>
                <a:path h="5716171" w="5716171">
                  <a:moveTo>
                    <a:pt x="0" y="0"/>
                  </a:moveTo>
                  <a:lnTo>
                    <a:pt x="5716171" y="0"/>
                  </a:lnTo>
                  <a:lnTo>
                    <a:pt x="5716171" y="5716171"/>
                  </a:lnTo>
                  <a:lnTo>
                    <a:pt x="0" y="57161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153970" y="153970"/>
              <a:ext cx="5408231" cy="5408231"/>
            </a:xfrm>
            <a:custGeom>
              <a:avLst/>
              <a:gdLst/>
              <a:ahLst/>
              <a:cxnLst/>
              <a:rect r="r" b="b" t="t" l="l"/>
              <a:pathLst>
                <a:path h="5408231" w="5408231">
                  <a:moveTo>
                    <a:pt x="0" y="0"/>
                  </a:moveTo>
                  <a:lnTo>
                    <a:pt x="5408231" y="0"/>
                  </a:lnTo>
                  <a:lnTo>
                    <a:pt x="5408231" y="5408231"/>
                  </a:lnTo>
                  <a:lnTo>
                    <a:pt x="0" y="54082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664178" y="2601913"/>
            <a:ext cx="2098258" cy="720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00"/>
              </a:lnSpc>
            </a:pPr>
            <a:r>
              <a:rPr lang="en-US" sz="5000" b="true">
                <a:solidFill>
                  <a:srgbClr val="2C92D5"/>
                </a:solidFill>
                <a:latin typeface="Aileron Heavy"/>
                <a:ea typeface="Aileron Heavy"/>
                <a:cs typeface="Aileron Heavy"/>
                <a:sym typeface="Aileron Heavy"/>
              </a:rPr>
              <a:t>PIB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324036" y="2333627"/>
            <a:ext cx="3352800" cy="1257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49"/>
              </a:lnSpc>
            </a:pPr>
            <a:r>
              <a:rPr lang="en-US" sz="4499" b="true">
                <a:solidFill>
                  <a:srgbClr val="E41D25"/>
                </a:solidFill>
                <a:latin typeface="Aileron Heavy"/>
                <a:ea typeface="Aileron Heavy"/>
                <a:cs typeface="Aileron Heavy"/>
                <a:sym typeface="Aileron Heavy"/>
              </a:rPr>
              <a:t>Série temporelle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525439" y="2643190"/>
            <a:ext cx="3623017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49"/>
              </a:lnSpc>
            </a:pPr>
            <a:r>
              <a:rPr lang="en-US" sz="4499" b="true">
                <a:solidFill>
                  <a:srgbClr val="DFA612"/>
                </a:solidFill>
                <a:latin typeface="Aileron Heavy"/>
                <a:ea typeface="Aileron Heavy"/>
                <a:cs typeface="Aileron Heavy"/>
                <a:sym typeface="Aileron Heavy"/>
              </a:rPr>
              <a:t>Saisonnalité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32572" y="5187315"/>
            <a:ext cx="3562350" cy="4173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52"/>
              </a:lnSpc>
            </a:pPr>
            <a:r>
              <a:rPr lang="en-US" b="true" sz="2180" spc="109">
                <a:solidFill>
                  <a:srgbClr val="191919"/>
                </a:solidFill>
                <a:latin typeface="Aileron Bold"/>
                <a:ea typeface="Aileron Bold"/>
                <a:cs typeface="Aileron Bold"/>
                <a:sym typeface="Aileron Bold"/>
              </a:rPr>
              <a:t>Indicateur économique qui mesure la valeur totale des biens et services produits à l’intérieur d’un pays au cours d’une période donnée</a:t>
            </a:r>
          </a:p>
          <a:p>
            <a:pPr algn="ctr">
              <a:lnSpc>
                <a:spcPts val="3052"/>
              </a:lnSpc>
            </a:pPr>
            <a:r>
              <a:rPr lang="en-US" b="true" sz="2180" spc="109">
                <a:solidFill>
                  <a:srgbClr val="191919"/>
                </a:solidFill>
                <a:latin typeface="Aileron Bold"/>
                <a:ea typeface="Aileron Bold"/>
                <a:cs typeface="Aileron Bold"/>
                <a:sym typeface="Aileron Bold"/>
              </a:rPr>
              <a:t>Référence centrale pour évaluer la croissance et la santé économique d’une nation.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219261" y="5744528"/>
            <a:ext cx="3562350" cy="3030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52"/>
              </a:lnSpc>
            </a:pPr>
            <a:r>
              <a:rPr lang="en-US" b="true" sz="2180" spc="109">
                <a:solidFill>
                  <a:srgbClr val="191919"/>
                </a:solidFill>
                <a:latin typeface="Aileron Bold"/>
                <a:ea typeface="Aileron Bold"/>
                <a:cs typeface="Aileron Bold"/>
                <a:sym typeface="Aileron Bold"/>
              </a:rPr>
              <a:t>Suite d’observations chiffrées et indexées par le temps, généralement à intervalles réguliers (jours, mois, trimestres, années), qui rend compte de l’évolution d’un phénomène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525439" y="5516880"/>
            <a:ext cx="3524250" cy="3411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5"/>
              </a:lnSpc>
            </a:pPr>
            <a:r>
              <a:rPr lang="en-US" b="true" sz="2175" spc="108">
                <a:solidFill>
                  <a:srgbClr val="191919"/>
                </a:solidFill>
                <a:latin typeface="Aileron Bold"/>
                <a:ea typeface="Aileron Bold"/>
                <a:cs typeface="Aileron Bold"/>
                <a:sym typeface="Aileron Bold"/>
              </a:rPr>
              <a:t>Composante relativement régulière de période intra-annuelle et traduit des variations saisonnières (ou conjoncturelles) qui se répètent à l’identique aux mêmes périodes de chaque année</a:t>
            </a:r>
          </a:p>
        </p:txBody>
      </p:sp>
      <p:sp>
        <p:nvSpPr>
          <p:cNvPr name="AutoShape 20" id="20"/>
          <p:cNvSpPr/>
          <p:nvPr/>
        </p:nvSpPr>
        <p:spPr>
          <a:xfrm rot="0">
            <a:off x="13526378" y="2600325"/>
            <a:ext cx="4096628" cy="7686675"/>
          </a:xfrm>
          <a:prstGeom prst="rect">
            <a:avLst/>
          </a:prstGeom>
          <a:solidFill>
            <a:srgbClr val="FFFFFF"/>
          </a:solidFill>
        </p:spPr>
      </p:sp>
      <p:grpSp>
        <p:nvGrpSpPr>
          <p:cNvPr name="Group 21" id="21"/>
          <p:cNvGrpSpPr/>
          <p:nvPr/>
        </p:nvGrpSpPr>
        <p:grpSpPr>
          <a:xfrm rot="0">
            <a:off x="13433723" y="943477"/>
            <a:ext cx="4281938" cy="4281938"/>
            <a:chOff x="0" y="0"/>
            <a:chExt cx="5709251" cy="570925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709251" cy="5709251"/>
            </a:xfrm>
            <a:custGeom>
              <a:avLst/>
              <a:gdLst/>
              <a:ahLst/>
              <a:cxnLst/>
              <a:rect r="r" b="b" t="t" l="l"/>
              <a:pathLst>
                <a:path h="5709251" w="5709251">
                  <a:moveTo>
                    <a:pt x="0" y="0"/>
                  </a:moveTo>
                  <a:lnTo>
                    <a:pt x="5709251" y="0"/>
                  </a:lnTo>
                  <a:lnTo>
                    <a:pt x="5709251" y="5709251"/>
                  </a:lnTo>
                  <a:lnTo>
                    <a:pt x="0" y="57092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153784" y="153784"/>
              <a:ext cx="5401684" cy="5401684"/>
            </a:xfrm>
            <a:custGeom>
              <a:avLst/>
              <a:gdLst/>
              <a:ahLst/>
              <a:cxnLst/>
              <a:rect r="r" b="b" t="t" l="l"/>
              <a:pathLst>
                <a:path h="5401684" w="5401684">
                  <a:moveTo>
                    <a:pt x="0" y="0"/>
                  </a:moveTo>
                  <a:lnTo>
                    <a:pt x="5401684" y="0"/>
                  </a:lnTo>
                  <a:lnTo>
                    <a:pt x="5401684" y="5401684"/>
                  </a:lnTo>
                  <a:lnTo>
                    <a:pt x="0" y="54016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14023167" y="2699898"/>
            <a:ext cx="3103050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49"/>
              </a:lnSpc>
            </a:pPr>
            <a:r>
              <a:rPr lang="en-US" sz="4499" b="true">
                <a:solidFill>
                  <a:srgbClr val="86EAE9"/>
                </a:solidFill>
                <a:latin typeface="Aileron Heavy"/>
                <a:ea typeface="Aileron Heavy"/>
                <a:cs typeface="Aileron Heavy"/>
                <a:sym typeface="Aileron Heavy"/>
              </a:rPr>
              <a:t>Tendance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793078" y="5517007"/>
            <a:ext cx="3562350" cy="3411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52"/>
              </a:lnSpc>
            </a:pPr>
            <a:r>
              <a:rPr lang="en-US" b="true" sz="2180" spc="109">
                <a:solidFill>
                  <a:srgbClr val="191919"/>
                </a:solidFill>
                <a:latin typeface="Aileron Bold"/>
                <a:ea typeface="Aileron Bold"/>
                <a:cs typeface="Aileron Bold"/>
                <a:sym typeface="Aileron Bold"/>
              </a:rPr>
              <a:t> Composante déterministe qui donne le comportement de la variable observée sur le long terme, généralement représentée par des formes analytiques simples</a:t>
            </a:r>
          </a:p>
        </p:txBody>
      </p:sp>
    </p:spTree>
  </p:cSld>
  <p:clrMapOvr>
    <a:masterClrMapping/>
  </p:clrMapOvr>
  <p:transition spd="slow">
    <p:push dir="l"/>
  </p:transition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697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664993" y="2600325"/>
            <a:ext cx="4096628" cy="7686675"/>
          </a:xfrm>
          <a:prstGeom prst="rect">
            <a:avLst/>
          </a:prstGeom>
          <a:solidFill>
            <a:srgbClr val="FFFFFF"/>
          </a:solidFill>
        </p:spPr>
      </p:sp>
      <p:sp>
        <p:nvSpPr>
          <p:cNvPr name="AutoShape 3" id="3"/>
          <p:cNvSpPr/>
          <p:nvPr/>
        </p:nvSpPr>
        <p:spPr>
          <a:xfrm rot="0">
            <a:off x="4952122" y="2600325"/>
            <a:ext cx="4096628" cy="7686675"/>
          </a:xfrm>
          <a:prstGeom prst="rect">
            <a:avLst/>
          </a:prstGeom>
          <a:solidFill>
            <a:srgbClr val="FFFFFF"/>
          </a:solidFill>
        </p:spPr>
      </p:sp>
      <p:sp>
        <p:nvSpPr>
          <p:cNvPr name="AutoShape 4" id="4"/>
          <p:cNvSpPr/>
          <p:nvPr/>
        </p:nvSpPr>
        <p:spPr>
          <a:xfrm rot="0">
            <a:off x="9239250" y="2600325"/>
            <a:ext cx="4096628" cy="7686675"/>
          </a:xfrm>
          <a:prstGeom prst="rect">
            <a:avLst/>
          </a:prstGeom>
          <a:solidFill>
            <a:srgbClr val="FFFFFF"/>
          </a:solidFill>
        </p:spPr>
      </p:sp>
      <p:grpSp>
        <p:nvGrpSpPr>
          <p:cNvPr name="Group 5" id="5"/>
          <p:cNvGrpSpPr/>
          <p:nvPr/>
        </p:nvGrpSpPr>
        <p:grpSpPr>
          <a:xfrm rot="0">
            <a:off x="4847347" y="856372"/>
            <a:ext cx="4287128" cy="4287128"/>
            <a:chOff x="0" y="0"/>
            <a:chExt cx="5716171" cy="571617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716171" cy="5716171"/>
            </a:xfrm>
            <a:custGeom>
              <a:avLst/>
              <a:gdLst/>
              <a:ahLst/>
              <a:cxnLst/>
              <a:rect r="r" b="b" t="t" l="l"/>
              <a:pathLst>
                <a:path h="5716171" w="5716171">
                  <a:moveTo>
                    <a:pt x="0" y="0"/>
                  </a:moveTo>
                  <a:lnTo>
                    <a:pt x="5716171" y="0"/>
                  </a:lnTo>
                  <a:lnTo>
                    <a:pt x="5716171" y="5716171"/>
                  </a:lnTo>
                  <a:lnTo>
                    <a:pt x="0" y="57161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153970" y="153970"/>
              <a:ext cx="5408231" cy="5408231"/>
            </a:xfrm>
            <a:custGeom>
              <a:avLst/>
              <a:gdLst/>
              <a:ahLst/>
              <a:cxnLst/>
              <a:rect r="r" b="b" t="t" l="l"/>
              <a:pathLst>
                <a:path h="5408231" w="5408231">
                  <a:moveTo>
                    <a:pt x="0" y="0"/>
                  </a:moveTo>
                  <a:lnTo>
                    <a:pt x="5408231" y="0"/>
                  </a:lnTo>
                  <a:lnTo>
                    <a:pt x="5408231" y="5408231"/>
                  </a:lnTo>
                  <a:lnTo>
                    <a:pt x="0" y="54082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14620" y="810773"/>
            <a:ext cx="4332727" cy="4332727"/>
            <a:chOff x="0" y="0"/>
            <a:chExt cx="5776969" cy="577696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776969" cy="5776969"/>
            </a:xfrm>
            <a:custGeom>
              <a:avLst/>
              <a:gdLst/>
              <a:ahLst/>
              <a:cxnLst/>
              <a:rect r="r" b="b" t="t" l="l"/>
              <a:pathLst>
                <a:path h="5776969" w="5776969">
                  <a:moveTo>
                    <a:pt x="0" y="0"/>
                  </a:moveTo>
                  <a:lnTo>
                    <a:pt x="5776969" y="0"/>
                  </a:lnTo>
                  <a:lnTo>
                    <a:pt x="5776969" y="5776969"/>
                  </a:lnTo>
                  <a:lnTo>
                    <a:pt x="0" y="57769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155608" y="155608"/>
              <a:ext cx="5465753" cy="5465753"/>
            </a:xfrm>
            <a:custGeom>
              <a:avLst/>
              <a:gdLst/>
              <a:ahLst/>
              <a:cxnLst/>
              <a:rect r="r" b="b" t="t" l="l"/>
              <a:pathLst>
                <a:path h="5465753" w="5465753">
                  <a:moveTo>
                    <a:pt x="0" y="0"/>
                  </a:moveTo>
                  <a:lnTo>
                    <a:pt x="5465753" y="0"/>
                  </a:lnTo>
                  <a:lnTo>
                    <a:pt x="5465753" y="5465753"/>
                  </a:lnTo>
                  <a:lnTo>
                    <a:pt x="0" y="54657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048750" y="761122"/>
            <a:ext cx="4382378" cy="4382378"/>
            <a:chOff x="0" y="0"/>
            <a:chExt cx="5843171" cy="584317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843171" cy="5843171"/>
            </a:xfrm>
            <a:custGeom>
              <a:avLst/>
              <a:gdLst/>
              <a:ahLst/>
              <a:cxnLst/>
              <a:rect r="r" b="b" t="t" l="l"/>
              <a:pathLst>
                <a:path h="5843171" w="5843171">
                  <a:moveTo>
                    <a:pt x="0" y="0"/>
                  </a:moveTo>
                  <a:lnTo>
                    <a:pt x="5843171" y="0"/>
                  </a:lnTo>
                  <a:lnTo>
                    <a:pt x="5843171" y="5843171"/>
                  </a:lnTo>
                  <a:lnTo>
                    <a:pt x="0" y="58431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157391" y="157391"/>
              <a:ext cx="5528389" cy="5528389"/>
            </a:xfrm>
            <a:custGeom>
              <a:avLst/>
              <a:gdLst/>
              <a:ahLst/>
              <a:cxnLst/>
              <a:rect r="r" b="b" t="t" l="l"/>
              <a:pathLst>
                <a:path h="5528389" w="5528389">
                  <a:moveTo>
                    <a:pt x="0" y="0"/>
                  </a:moveTo>
                  <a:lnTo>
                    <a:pt x="5528389" y="0"/>
                  </a:lnTo>
                  <a:lnTo>
                    <a:pt x="5528389" y="5528389"/>
                  </a:lnTo>
                  <a:lnTo>
                    <a:pt x="0" y="55283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631854" y="2381906"/>
            <a:ext cx="2098258" cy="1276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50"/>
              </a:lnSpc>
            </a:pPr>
            <a:r>
              <a:rPr lang="en-US" sz="4500" b="true">
                <a:solidFill>
                  <a:srgbClr val="2C92D5"/>
                </a:solidFill>
                <a:latin typeface="Aileron Heavy"/>
                <a:ea typeface="Aileron Heavy"/>
                <a:cs typeface="Aileron Heavy"/>
                <a:sym typeface="Aileron Heavy"/>
              </a:rPr>
              <a:t>Série CVS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324036" y="2367537"/>
            <a:ext cx="3352800" cy="1257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49"/>
              </a:lnSpc>
            </a:pPr>
            <a:r>
              <a:rPr lang="en-US" sz="4499" b="true">
                <a:solidFill>
                  <a:srgbClr val="E41D25"/>
                </a:solidFill>
                <a:latin typeface="Aileron Heavy"/>
                <a:ea typeface="Aileron Heavy"/>
                <a:cs typeface="Aileron Heavy"/>
                <a:sym typeface="Aileron Heavy"/>
              </a:rPr>
              <a:t>Désaisonna-lisation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048750" y="2479040"/>
            <a:ext cx="4383476" cy="1257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49"/>
              </a:lnSpc>
            </a:pPr>
            <a:r>
              <a:rPr lang="en-US" sz="4499" b="true">
                <a:solidFill>
                  <a:srgbClr val="DFA612"/>
                </a:solidFill>
                <a:latin typeface="Aileron Heavy"/>
                <a:ea typeface="Aileron Heavy"/>
                <a:cs typeface="Aileron Heavy"/>
                <a:sym typeface="Aileron Heavy"/>
              </a:rPr>
              <a:t>Décomposition de série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32133" y="6010323"/>
            <a:ext cx="3562350" cy="3337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b="true" sz="2100" spc="105">
                <a:solidFill>
                  <a:srgbClr val="191919"/>
                </a:solidFill>
                <a:latin typeface="Aileron Bold"/>
                <a:ea typeface="Aileron Bold"/>
                <a:cs typeface="Aileron Bold"/>
                <a:sym typeface="Aileron Bold"/>
              </a:rPr>
              <a:t>Série Corrigée des Variations Saisonnières utilisée pour faire des comparaisons inter temporelles afin d’appréhender l’évolution du phénomène sans tenir compte de la périodicité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219261" y="6413945"/>
            <a:ext cx="3562350" cy="222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b="true" sz="2100" spc="105">
                <a:solidFill>
                  <a:srgbClr val="191919"/>
                </a:solidFill>
                <a:latin typeface="Aileron Bold"/>
                <a:ea typeface="Aileron Bold"/>
                <a:cs typeface="Aileron Bold"/>
                <a:sym typeface="Aileron Bold"/>
              </a:rPr>
              <a:t>Eliminer ou neutraliser la composante saisonnière </a:t>
            </a:r>
            <a:r>
              <a:rPr lang="en-US" b="true" sz="2100" i="true" spc="105">
                <a:solidFill>
                  <a:srgbClr val="191919"/>
                </a:solidFill>
                <a:latin typeface="Aileron Bold Italics"/>
                <a:ea typeface="Aileron Bold Italics"/>
                <a:cs typeface="Aileron Bold Italics"/>
                <a:sym typeface="Aileron Bold Italics"/>
              </a:rPr>
              <a:t>S</a:t>
            </a:r>
            <a:r>
              <a:rPr lang="en-US" b="true" sz="2100" spc="105">
                <a:solidFill>
                  <a:srgbClr val="191919"/>
                </a:solidFill>
                <a:latin typeface="Aileron Bold"/>
                <a:ea typeface="Aileron Bold"/>
                <a:cs typeface="Aileron Bold"/>
                <a:sym typeface="Aileron Bold"/>
              </a:rPr>
              <a:t>t​ d’une série temporelle afin de mieux analyser la tendance et les variations irrégulières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525439" y="6010323"/>
            <a:ext cx="3524250" cy="3337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b="true" sz="2100" spc="105">
                <a:solidFill>
                  <a:srgbClr val="191919"/>
                </a:solidFill>
                <a:latin typeface="Aileron Bold"/>
                <a:ea typeface="Aileron Bold"/>
                <a:cs typeface="Aileron Bold"/>
                <a:sym typeface="Aileron Bold"/>
              </a:rPr>
              <a:t>Processus statistique qui consiste à diviser une série chronologique en plusieurs composantes pour mieux comprendre ses différents aspects</a:t>
            </a:r>
          </a:p>
          <a:p>
            <a:pPr algn="ctr">
              <a:lnSpc>
                <a:spcPts val="2940"/>
              </a:lnSpc>
            </a:pPr>
            <a:r>
              <a:rPr lang="en-US" b="true" sz="2100" spc="105">
                <a:solidFill>
                  <a:srgbClr val="191919"/>
                </a:solidFill>
                <a:latin typeface="Aileron Bold"/>
                <a:ea typeface="Aileron Bold"/>
                <a:cs typeface="Aileron Bold"/>
                <a:sym typeface="Aileron Bold"/>
              </a:rPr>
              <a:t>Réalisée selon différents modèles: additif ou multiplicatif</a:t>
            </a:r>
          </a:p>
        </p:txBody>
      </p:sp>
      <p:sp>
        <p:nvSpPr>
          <p:cNvPr name="AutoShape 20" id="20"/>
          <p:cNvSpPr/>
          <p:nvPr/>
        </p:nvSpPr>
        <p:spPr>
          <a:xfrm rot="0">
            <a:off x="13526378" y="2600325"/>
            <a:ext cx="4096628" cy="7686675"/>
          </a:xfrm>
          <a:prstGeom prst="rect">
            <a:avLst/>
          </a:prstGeom>
          <a:solidFill>
            <a:srgbClr val="FFFFFF"/>
          </a:solidFill>
        </p:spPr>
      </p:sp>
      <p:grpSp>
        <p:nvGrpSpPr>
          <p:cNvPr name="Group 21" id="21"/>
          <p:cNvGrpSpPr/>
          <p:nvPr/>
        </p:nvGrpSpPr>
        <p:grpSpPr>
          <a:xfrm rot="0">
            <a:off x="13432226" y="858567"/>
            <a:ext cx="4284933" cy="4284933"/>
            <a:chOff x="0" y="0"/>
            <a:chExt cx="5713243" cy="5713243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713243" cy="5713243"/>
            </a:xfrm>
            <a:custGeom>
              <a:avLst/>
              <a:gdLst/>
              <a:ahLst/>
              <a:cxnLst/>
              <a:rect r="r" b="b" t="t" l="l"/>
              <a:pathLst>
                <a:path h="5713243" w="5713243">
                  <a:moveTo>
                    <a:pt x="0" y="0"/>
                  </a:moveTo>
                  <a:lnTo>
                    <a:pt x="5713243" y="0"/>
                  </a:lnTo>
                  <a:lnTo>
                    <a:pt x="5713243" y="5713243"/>
                  </a:lnTo>
                  <a:lnTo>
                    <a:pt x="0" y="57132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153891" y="153891"/>
              <a:ext cx="5405461" cy="5405461"/>
            </a:xfrm>
            <a:custGeom>
              <a:avLst/>
              <a:gdLst/>
              <a:ahLst/>
              <a:cxnLst/>
              <a:rect r="r" b="b" t="t" l="l"/>
              <a:pathLst>
                <a:path h="5405461" w="5405461">
                  <a:moveTo>
                    <a:pt x="0" y="0"/>
                  </a:moveTo>
                  <a:lnTo>
                    <a:pt x="5405461" y="0"/>
                  </a:lnTo>
                  <a:lnTo>
                    <a:pt x="5405461" y="5405461"/>
                  </a:lnTo>
                  <a:lnTo>
                    <a:pt x="0" y="54054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14077200" y="2788603"/>
            <a:ext cx="2994985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49"/>
              </a:lnSpc>
            </a:pPr>
            <a:r>
              <a:rPr lang="en-US" sz="4499" b="true">
                <a:solidFill>
                  <a:srgbClr val="86EAE9"/>
                </a:solidFill>
                <a:latin typeface="Aileron Heavy"/>
                <a:ea typeface="Aileron Heavy"/>
                <a:cs typeface="Aileron Heavy"/>
                <a:sym typeface="Aileron Heavy"/>
              </a:rPr>
              <a:t>Prévision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793517" y="5453110"/>
            <a:ext cx="3562350" cy="4451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b="true" sz="2100" spc="105">
                <a:solidFill>
                  <a:srgbClr val="191919"/>
                </a:solidFill>
                <a:latin typeface="Aileron Bold"/>
                <a:ea typeface="Aileron Bold"/>
                <a:cs typeface="Aileron Bold"/>
                <a:sym typeface="Aileron Bold"/>
              </a:rPr>
              <a:t>Estimation des valeurs futures d’une série temporelle sur la base des observations passées et des structures identifiées en intégrant les composantes essentielles telles que la tendance, la saisonnalité à l’aide de méthodes statistiques et mathématiques</a:t>
            </a:r>
          </a:p>
        </p:txBody>
      </p:sp>
    </p:spTree>
  </p:cSld>
  <p:clrMapOvr>
    <a:masterClrMapping/>
  </p:clrMapOvr>
  <p:transition spd="slow">
    <p:push dir="l"/>
  </p:transition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1471508">
            <a:off x="7442248" y="-3517885"/>
            <a:ext cx="2160993" cy="11665743"/>
            <a:chOff x="0" y="0"/>
            <a:chExt cx="597206" cy="322391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97206" cy="3223913"/>
            </a:xfrm>
            <a:custGeom>
              <a:avLst/>
              <a:gdLst/>
              <a:ahLst/>
              <a:cxnLst/>
              <a:rect r="r" b="b" t="t" l="l"/>
              <a:pathLst>
                <a:path h="3223913" w="597206">
                  <a:moveTo>
                    <a:pt x="0" y="0"/>
                  </a:moveTo>
                  <a:lnTo>
                    <a:pt x="597206" y="0"/>
                  </a:lnTo>
                  <a:lnTo>
                    <a:pt x="597206" y="3223913"/>
                  </a:lnTo>
                  <a:lnTo>
                    <a:pt x="0" y="3223913"/>
                  </a:lnTo>
                  <a:close/>
                </a:path>
              </a:pathLst>
            </a:custGeom>
            <a:solidFill>
              <a:srgbClr val="D5DADA">
                <a:alpha val="23922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97206" cy="3262013"/>
            </a:xfrm>
            <a:prstGeom prst="rect">
              <a:avLst/>
            </a:prstGeom>
          </p:spPr>
          <p:txBody>
            <a:bodyPr anchor="ctr" rtlCol="false" tIns="35873" lIns="35873" bIns="35873" rIns="35873"/>
            <a:lstStyle/>
            <a:p>
              <a:pPr algn="ctr">
                <a:lnSpc>
                  <a:spcPts val="1384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1471508">
            <a:off x="7842796" y="1744300"/>
            <a:ext cx="2160993" cy="11212989"/>
            <a:chOff x="0" y="0"/>
            <a:chExt cx="597206" cy="309879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97206" cy="3098791"/>
            </a:xfrm>
            <a:custGeom>
              <a:avLst/>
              <a:gdLst/>
              <a:ahLst/>
              <a:cxnLst/>
              <a:rect r="r" b="b" t="t" l="l"/>
              <a:pathLst>
                <a:path h="3098791" w="597206">
                  <a:moveTo>
                    <a:pt x="0" y="0"/>
                  </a:moveTo>
                  <a:lnTo>
                    <a:pt x="597206" y="0"/>
                  </a:lnTo>
                  <a:lnTo>
                    <a:pt x="597206" y="3098791"/>
                  </a:lnTo>
                  <a:lnTo>
                    <a:pt x="0" y="3098791"/>
                  </a:lnTo>
                  <a:close/>
                </a:path>
              </a:pathLst>
            </a:custGeom>
            <a:solidFill>
              <a:srgbClr val="D5DADA">
                <a:alpha val="23922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97206" cy="3136892"/>
            </a:xfrm>
            <a:prstGeom prst="rect">
              <a:avLst/>
            </a:prstGeom>
          </p:spPr>
          <p:txBody>
            <a:bodyPr anchor="ctr" rtlCol="false" tIns="35873" lIns="35873" bIns="35873" rIns="35873"/>
            <a:lstStyle/>
            <a:p>
              <a:pPr algn="ctr">
                <a:lnSpc>
                  <a:spcPts val="1384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015140" y="5027944"/>
            <a:ext cx="10518155" cy="10518113"/>
            <a:chOff x="0" y="0"/>
            <a:chExt cx="6350000" cy="634997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350000" cy="6349975"/>
            </a:xfrm>
            <a:custGeom>
              <a:avLst/>
              <a:gdLst/>
              <a:ahLst/>
              <a:cxnLst/>
              <a:rect r="r" b="b" t="t" l="l"/>
              <a:pathLst>
                <a:path h="6349975" w="6350000">
                  <a:moveTo>
                    <a:pt x="6350000" y="3175025"/>
                  </a:moveTo>
                  <a:cubicBezTo>
                    <a:pt x="6350000" y="4928451"/>
                    <a:pt x="4928476" y="6349975"/>
                    <a:pt x="3175000" y="6349975"/>
                  </a:cubicBezTo>
                  <a:cubicBezTo>
                    <a:pt x="1421498" y="6349975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2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2"/>
              <a:stretch>
                <a:fillRect l="-25471" t="0" r="-25471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800842" y="5813625"/>
            <a:ext cx="8946750" cy="8946750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0477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35873" lIns="35873" bIns="35873" rIns="35873"/>
            <a:lstStyle/>
            <a:p>
              <a:pPr algn="ctr">
                <a:lnSpc>
                  <a:spcPts val="1384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-4524129" y="-3792316"/>
            <a:ext cx="10518155" cy="10518113"/>
            <a:chOff x="0" y="0"/>
            <a:chExt cx="6350000" cy="634997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350000" cy="6349975"/>
            </a:xfrm>
            <a:custGeom>
              <a:avLst/>
              <a:gdLst/>
              <a:ahLst/>
              <a:cxnLst/>
              <a:rect r="r" b="b" t="t" l="l"/>
              <a:pathLst>
                <a:path h="6349975" w="6350000">
                  <a:moveTo>
                    <a:pt x="6350000" y="3175025"/>
                  </a:moveTo>
                  <a:cubicBezTo>
                    <a:pt x="6350000" y="4928451"/>
                    <a:pt x="4928476" y="6349975"/>
                    <a:pt x="3175000" y="6349975"/>
                  </a:cubicBezTo>
                  <a:cubicBezTo>
                    <a:pt x="1421498" y="6349975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2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3"/>
              <a:stretch>
                <a:fillRect l="-25471" t="0" r="-25471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-3738427" y="-3006635"/>
            <a:ext cx="8946750" cy="8946750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0477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35873" lIns="35873" bIns="35873" rIns="35873"/>
            <a:lstStyle/>
            <a:p>
              <a:pPr algn="ctr">
                <a:lnSpc>
                  <a:spcPts val="1384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4872773" y="3729254"/>
            <a:ext cx="9603851" cy="1734271"/>
            <a:chOff x="0" y="0"/>
            <a:chExt cx="1468439" cy="26517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468439" cy="265172"/>
            </a:xfrm>
            <a:custGeom>
              <a:avLst/>
              <a:gdLst/>
              <a:ahLst/>
              <a:cxnLst/>
              <a:rect r="r" b="b" t="t" l="l"/>
              <a:pathLst>
                <a:path h="265172" w="1468439">
                  <a:moveTo>
                    <a:pt x="13704" y="0"/>
                  </a:moveTo>
                  <a:lnTo>
                    <a:pt x="1454735" y="0"/>
                  </a:lnTo>
                  <a:cubicBezTo>
                    <a:pt x="1462303" y="0"/>
                    <a:pt x="1468439" y="6136"/>
                    <a:pt x="1468439" y="13704"/>
                  </a:cubicBezTo>
                  <a:lnTo>
                    <a:pt x="1468439" y="251468"/>
                  </a:lnTo>
                  <a:cubicBezTo>
                    <a:pt x="1468439" y="255102"/>
                    <a:pt x="1466995" y="258588"/>
                    <a:pt x="1464425" y="261158"/>
                  </a:cubicBezTo>
                  <a:cubicBezTo>
                    <a:pt x="1461855" y="263728"/>
                    <a:pt x="1458370" y="265172"/>
                    <a:pt x="1454735" y="265172"/>
                  </a:cubicBezTo>
                  <a:lnTo>
                    <a:pt x="13704" y="265172"/>
                  </a:lnTo>
                  <a:cubicBezTo>
                    <a:pt x="6136" y="265172"/>
                    <a:pt x="0" y="259036"/>
                    <a:pt x="0" y="251468"/>
                  </a:cubicBezTo>
                  <a:lnTo>
                    <a:pt x="0" y="13704"/>
                  </a:lnTo>
                  <a:cubicBezTo>
                    <a:pt x="0" y="6136"/>
                    <a:pt x="6136" y="0"/>
                    <a:pt x="13704" y="0"/>
                  </a:cubicBezTo>
                  <a:close/>
                </a:path>
              </a:pathLst>
            </a:custGeom>
            <a:solidFill>
              <a:srgbClr val="FAFAFA"/>
            </a:solidFill>
            <a:ln w="28575" cap="sq">
              <a:solidFill>
                <a:srgbClr val="0097B2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57150"/>
              <a:ext cx="1468439" cy="322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5994026" y="3760202"/>
            <a:ext cx="8482599" cy="10030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82"/>
              </a:lnSpc>
              <a:spcBef>
                <a:spcPct val="0"/>
              </a:spcBef>
            </a:pPr>
            <a:r>
              <a:rPr lang="en-US" b="true" sz="5558">
                <a:solidFill>
                  <a:srgbClr val="329A87"/>
                </a:solidFill>
                <a:latin typeface="Telegraf Bold"/>
                <a:ea typeface="Telegraf Bold"/>
                <a:cs typeface="Telegraf Bold"/>
                <a:sym typeface="Telegraf Bold"/>
              </a:rPr>
              <a:t>Présentation de la base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994026" y="4489057"/>
            <a:ext cx="8162131" cy="782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56"/>
              </a:lnSpc>
              <a:spcBef>
                <a:spcPct val="0"/>
              </a:spcBef>
            </a:pPr>
            <a:r>
              <a:rPr lang="en-US" sz="4326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Série brute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4067426" y="3633090"/>
            <a:ext cx="1926599" cy="1926599"/>
          </a:xfrm>
          <a:custGeom>
            <a:avLst/>
            <a:gdLst/>
            <a:ahLst/>
            <a:cxnLst/>
            <a:rect r="r" b="b" t="t" l="l"/>
            <a:pathLst>
              <a:path h="1926599" w="1926599">
                <a:moveTo>
                  <a:pt x="0" y="0"/>
                </a:moveTo>
                <a:lnTo>
                  <a:pt x="1926600" y="0"/>
                </a:lnTo>
                <a:lnTo>
                  <a:pt x="1926600" y="1926599"/>
                </a:lnTo>
                <a:lnTo>
                  <a:pt x="0" y="192659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6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4" id="24"/>
          <p:cNvGrpSpPr/>
          <p:nvPr/>
        </p:nvGrpSpPr>
        <p:grpSpPr>
          <a:xfrm rot="0">
            <a:off x="4252211" y="3817875"/>
            <a:ext cx="1557029" cy="1557029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97B2"/>
            </a:solidFill>
            <a:ln cap="sq">
              <a:noFill/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4357484" y="3784937"/>
            <a:ext cx="1346483" cy="13943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785"/>
              </a:lnSpc>
              <a:spcBef>
                <a:spcPct val="0"/>
              </a:spcBef>
            </a:pPr>
            <a:r>
              <a:rPr lang="en-US" b="true" sz="7703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3</a:t>
            </a:r>
          </a:p>
        </p:txBody>
      </p:sp>
    </p:spTree>
  </p:cSld>
  <p:clrMapOvr>
    <a:masterClrMapping/>
  </p:clrMapOvr>
  <p:transition spd="slow">
    <p:cover dir="l"/>
  </p:transition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12621" y="192807"/>
            <a:ext cx="16062759" cy="64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b="true" sz="3500">
                <a:solidFill>
                  <a:srgbClr val="1C6976"/>
                </a:solidFill>
                <a:latin typeface="Telegraf Bold"/>
                <a:ea typeface="Telegraf Bold"/>
                <a:cs typeface="Telegraf Bold"/>
                <a:sym typeface="Telegraf Bold"/>
              </a:rPr>
              <a:t>Evolution de la série du PIB trimestriel du Sénégal (en milliards de FCFA)</a:t>
            </a:r>
          </a:p>
        </p:txBody>
      </p:sp>
      <p:graphicFrame>
        <p:nvGraphicFramePr>
          <p:cNvPr name="Object 3" id="3"/>
          <p:cNvGraphicFramePr/>
          <p:nvPr/>
        </p:nvGraphicFramePr>
        <p:xfrm>
          <a:off x="1383045" y="1028700"/>
          <a:ext cx="6286500" cy="7543800"/>
        </p:xfrm>
        <a:graphic>
          <a:graphicData uri="http://schemas.openxmlformats.org/presentationml/2006/ole">
            <p:oleObj imgW="7785100" imgH="90424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</p:spTree>
  </p:cSld>
  <p:clrMapOvr>
    <a:masterClrMapping/>
  </p:clrMapOvr>
  <p:transition spd="slow">
    <p:cover dir="l"/>
  </p:transition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1471508">
            <a:off x="7442248" y="-3517885"/>
            <a:ext cx="2160993" cy="11665743"/>
            <a:chOff x="0" y="0"/>
            <a:chExt cx="597206" cy="322391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97206" cy="3223913"/>
            </a:xfrm>
            <a:custGeom>
              <a:avLst/>
              <a:gdLst/>
              <a:ahLst/>
              <a:cxnLst/>
              <a:rect r="r" b="b" t="t" l="l"/>
              <a:pathLst>
                <a:path h="3223913" w="597206">
                  <a:moveTo>
                    <a:pt x="0" y="0"/>
                  </a:moveTo>
                  <a:lnTo>
                    <a:pt x="597206" y="0"/>
                  </a:lnTo>
                  <a:lnTo>
                    <a:pt x="597206" y="3223913"/>
                  </a:lnTo>
                  <a:lnTo>
                    <a:pt x="0" y="3223913"/>
                  </a:lnTo>
                  <a:close/>
                </a:path>
              </a:pathLst>
            </a:custGeom>
            <a:solidFill>
              <a:srgbClr val="D5DADA">
                <a:alpha val="23922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97206" cy="3262013"/>
            </a:xfrm>
            <a:prstGeom prst="rect">
              <a:avLst/>
            </a:prstGeom>
          </p:spPr>
          <p:txBody>
            <a:bodyPr anchor="ctr" rtlCol="false" tIns="35873" lIns="35873" bIns="35873" rIns="35873"/>
            <a:lstStyle/>
            <a:p>
              <a:pPr algn="ctr">
                <a:lnSpc>
                  <a:spcPts val="1384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1471508">
            <a:off x="7842796" y="1744300"/>
            <a:ext cx="2160993" cy="11212989"/>
            <a:chOff x="0" y="0"/>
            <a:chExt cx="597206" cy="309879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97206" cy="3098791"/>
            </a:xfrm>
            <a:custGeom>
              <a:avLst/>
              <a:gdLst/>
              <a:ahLst/>
              <a:cxnLst/>
              <a:rect r="r" b="b" t="t" l="l"/>
              <a:pathLst>
                <a:path h="3098791" w="597206">
                  <a:moveTo>
                    <a:pt x="0" y="0"/>
                  </a:moveTo>
                  <a:lnTo>
                    <a:pt x="597206" y="0"/>
                  </a:lnTo>
                  <a:lnTo>
                    <a:pt x="597206" y="3098791"/>
                  </a:lnTo>
                  <a:lnTo>
                    <a:pt x="0" y="3098791"/>
                  </a:lnTo>
                  <a:close/>
                </a:path>
              </a:pathLst>
            </a:custGeom>
            <a:solidFill>
              <a:srgbClr val="D5DADA">
                <a:alpha val="23922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97206" cy="3136892"/>
            </a:xfrm>
            <a:prstGeom prst="rect">
              <a:avLst/>
            </a:prstGeom>
          </p:spPr>
          <p:txBody>
            <a:bodyPr anchor="ctr" rtlCol="false" tIns="35873" lIns="35873" bIns="35873" rIns="35873"/>
            <a:lstStyle/>
            <a:p>
              <a:pPr algn="ctr">
                <a:lnSpc>
                  <a:spcPts val="1384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015140" y="5027944"/>
            <a:ext cx="10518155" cy="10518113"/>
            <a:chOff x="0" y="0"/>
            <a:chExt cx="6350000" cy="634997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350000" cy="6349975"/>
            </a:xfrm>
            <a:custGeom>
              <a:avLst/>
              <a:gdLst/>
              <a:ahLst/>
              <a:cxnLst/>
              <a:rect r="r" b="b" t="t" l="l"/>
              <a:pathLst>
                <a:path h="6349975" w="6350000">
                  <a:moveTo>
                    <a:pt x="6350000" y="3175025"/>
                  </a:moveTo>
                  <a:cubicBezTo>
                    <a:pt x="6350000" y="4928451"/>
                    <a:pt x="4928476" y="6349975"/>
                    <a:pt x="3175000" y="6349975"/>
                  </a:cubicBezTo>
                  <a:cubicBezTo>
                    <a:pt x="1421498" y="6349975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2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2"/>
              <a:stretch>
                <a:fillRect l="-25471" t="0" r="-25471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800842" y="5813625"/>
            <a:ext cx="8946750" cy="8946750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0477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35873" lIns="35873" bIns="35873" rIns="35873"/>
            <a:lstStyle/>
            <a:p>
              <a:pPr algn="ctr">
                <a:lnSpc>
                  <a:spcPts val="1384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-4524129" y="-3792316"/>
            <a:ext cx="10518155" cy="10518113"/>
            <a:chOff x="0" y="0"/>
            <a:chExt cx="6350000" cy="634997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350000" cy="6349975"/>
            </a:xfrm>
            <a:custGeom>
              <a:avLst/>
              <a:gdLst/>
              <a:ahLst/>
              <a:cxnLst/>
              <a:rect r="r" b="b" t="t" l="l"/>
              <a:pathLst>
                <a:path h="6349975" w="6350000">
                  <a:moveTo>
                    <a:pt x="6350000" y="3175025"/>
                  </a:moveTo>
                  <a:cubicBezTo>
                    <a:pt x="6350000" y="4928451"/>
                    <a:pt x="4928476" y="6349975"/>
                    <a:pt x="3175000" y="6349975"/>
                  </a:cubicBezTo>
                  <a:cubicBezTo>
                    <a:pt x="1421498" y="6349975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2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3"/>
              <a:stretch>
                <a:fillRect l="-25471" t="0" r="-25471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-3738427" y="-3006635"/>
            <a:ext cx="8946750" cy="8946750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0477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35873" lIns="35873" bIns="35873" rIns="35873"/>
            <a:lstStyle/>
            <a:p>
              <a:pPr algn="ctr">
                <a:lnSpc>
                  <a:spcPts val="1384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4872773" y="3729254"/>
            <a:ext cx="9283384" cy="1734271"/>
            <a:chOff x="0" y="0"/>
            <a:chExt cx="1419439" cy="26517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419439" cy="265172"/>
            </a:xfrm>
            <a:custGeom>
              <a:avLst/>
              <a:gdLst/>
              <a:ahLst/>
              <a:cxnLst/>
              <a:rect r="r" b="b" t="t" l="l"/>
              <a:pathLst>
                <a:path h="265172" w="1419439">
                  <a:moveTo>
                    <a:pt x="14177" y="0"/>
                  </a:moveTo>
                  <a:lnTo>
                    <a:pt x="1405262" y="0"/>
                  </a:lnTo>
                  <a:cubicBezTo>
                    <a:pt x="1409022" y="0"/>
                    <a:pt x="1412628" y="1494"/>
                    <a:pt x="1415287" y="4152"/>
                  </a:cubicBezTo>
                  <a:cubicBezTo>
                    <a:pt x="1417946" y="6811"/>
                    <a:pt x="1419439" y="10417"/>
                    <a:pt x="1419439" y="14177"/>
                  </a:cubicBezTo>
                  <a:lnTo>
                    <a:pt x="1419439" y="250995"/>
                  </a:lnTo>
                  <a:cubicBezTo>
                    <a:pt x="1419439" y="254755"/>
                    <a:pt x="1417946" y="258361"/>
                    <a:pt x="1415287" y="261019"/>
                  </a:cubicBezTo>
                  <a:cubicBezTo>
                    <a:pt x="1412628" y="263678"/>
                    <a:pt x="1409022" y="265172"/>
                    <a:pt x="1405262" y="265172"/>
                  </a:cubicBezTo>
                  <a:lnTo>
                    <a:pt x="14177" y="265172"/>
                  </a:lnTo>
                  <a:cubicBezTo>
                    <a:pt x="10417" y="265172"/>
                    <a:pt x="6811" y="263678"/>
                    <a:pt x="4152" y="261019"/>
                  </a:cubicBezTo>
                  <a:cubicBezTo>
                    <a:pt x="1494" y="258361"/>
                    <a:pt x="0" y="254755"/>
                    <a:pt x="0" y="250995"/>
                  </a:cubicBezTo>
                  <a:lnTo>
                    <a:pt x="0" y="14177"/>
                  </a:lnTo>
                  <a:cubicBezTo>
                    <a:pt x="0" y="10417"/>
                    <a:pt x="1494" y="6811"/>
                    <a:pt x="4152" y="4152"/>
                  </a:cubicBezTo>
                  <a:cubicBezTo>
                    <a:pt x="6811" y="1494"/>
                    <a:pt x="10417" y="0"/>
                    <a:pt x="14177" y="0"/>
                  </a:cubicBezTo>
                  <a:close/>
                </a:path>
              </a:pathLst>
            </a:custGeom>
            <a:solidFill>
              <a:srgbClr val="FAFAFA"/>
            </a:solidFill>
            <a:ln w="28575" cap="sq">
              <a:solidFill>
                <a:srgbClr val="0097B2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57150"/>
              <a:ext cx="1419439" cy="322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5994026" y="3760202"/>
            <a:ext cx="8162131" cy="10030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82"/>
              </a:lnSpc>
              <a:spcBef>
                <a:spcPct val="0"/>
              </a:spcBef>
            </a:pPr>
            <a:r>
              <a:rPr lang="en-US" b="true" sz="5558">
                <a:solidFill>
                  <a:srgbClr val="329A87"/>
                </a:solidFill>
                <a:latin typeface="Telegraf Bold"/>
                <a:ea typeface="Telegraf Bold"/>
                <a:cs typeface="Telegraf Bold"/>
                <a:sym typeface="Telegraf Bold"/>
              </a:rPr>
              <a:t>Méthodologie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994026" y="4489057"/>
            <a:ext cx="8162131" cy="782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56"/>
              </a:lnSpc>
              <a:spcBef>
                <a:spcPct val="0"/>
              </a:spcBef>
            </a:pPr>
            <a:r>
              <a:rPr lang="en-US" sz="4326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Etapes de l’analyse du PIB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4067426" y="3633090"/>
            <a:ext cx="1926599" cy="1926599"/>
          </a:xfrm>
          <a:custGeom>
            <a:avLst/>
            <a:gdLst/>
            <a:ahLst/>
            <a:cxnLst/>
            <a:rect r="r" b="b" t="t" l="l"/>
            <a:pathLst>
              <a:path h="1926599" w="1926599">
                <a:moveTo>
                  <a:pt x="0" y="0"/>
                </a:moveTo>
                <a:lnTo>
                  <a:pt x="1926600" y="0"/>
                </a:lnTo>
                <a:lnTo>
                  <a:pt x="1926600" y="1926599"/>
                </a:lnTo>
                <a:lnTo>
                  <a:pt x="0" y="192659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6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4" id="24"/>
          <p:cNvGrpSpPr/>
          <p:nvPr/>
        </p:nvGrpSpPr>
        <p:grpSpPr>
          <a:xfrm rot="0">
            <a:off x="4252211" y="3817875"/>
            <a:ext cx="1557029" cy="1557029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97B2"/>
            </a:solidFill>
            <a:ln cap="sq">
              <a:noFill/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4357484" y="3784937"/>
            <a:ext cx="1346483" cy="13943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785"/>
              </a:lnSpc>
              <a:spcBef>
                <a:spcPct val="0"/>
              </a:spcBef>
            </a:pPr>
            <a:r>
              <a:rPr lang="en-US" b="true" sz="7703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4</a:t>
            </a:r>
          </a:p>
        </p:txBody>
      </p:sp>
    </p:spTree>
  </p:cSld>
  <p:clrMapOvr>
    <a:masterClrMapping/>
  </p:clrMapOvr>
  <p:transition spd="slow">
    <p:push dir="l"/>
  </p:transition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8199636" y="652506"/>
            <a:ext cx="8541823" cy="8541823"/>
          </a:xfrm>
          <a:prstGeom prst="rect">
            <a:avLst/>
          </a:prstGeom>
        </p:spPr>
      </p:pic>
      <p:sp>
        <p:nvSpPr>
          <p:cNvPr name="Freeform 3" id="3"/>
          <p:cNvSpPr/>
          <p:nvPr/>
        </p:nvSpPr>
        <p:spPr>
          <a:xfrm flipH="false" flipV="false" rot="0">
            <a:off x="9469004" y="1851342"/>
            <a:ext cx="6051674" cy="6051674"/>
          </a:xfrm>
          <a:custGeom>
            <a:avLst/>
            <a:gdLst/>
            <a:ahLst/>
            <a:cxnLst/>
            <a:rect r="r" b="b" t="t" l="l"/>
            <a:pathLst>
              <a:path h="6051674" w="6051674">
                <a:moveTo>
                  <a:pt x="0" y="0"/>
                </a:moveTo>
                <a:lnTo>
                  <a:pt x="6051674" y="0"/>
                </a:lnTo>
                <a:lnTo>
                  <a:pt x="6051674" y="6051674"/>
                </a:lnTo>
                <a:lnTo>
                  <a:pt x="0" y="605167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513284" y="4637601"/>
            <a:ext cx="3963116" cy="587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16"/>
              </a:lnSpc>
            </a:pPr>
            <a:r>
              <a:rPr lang="en-US" b="true" sz="3600" spc="107">
                <a:solidFill>
                  <a:srgbClr val="365B6D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MÉTHODOLOGIE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651170" y="1950994"/>
            <a:ext cx="445592" cy="847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4499" spc="584">
                <a:solidFill>
                  <a:srgbClr val="F7F7F7"/>
                </a:solidFill>
                <a:latin typeface="Kaftus"/>
                <a:ea typeface="Kaftus"/>
                <a:cs typeface="Kaftus"/>
                <a:sym typeface="Kaftus"/>
              </a:rPr>
              <a:t>1</a:t>
            </a:r>
          </a:p>
        </p:txBody>
      </p:sp>
      <p:sp>
        <p:nvSpPr>
          <p:cNvPr name="AutoShape 6" id="6"/>
          <p:cNvSpPr/>
          <p:nvPr/>
        </p:nvSpPr>
        <p:spPr>
          <a:xfrm rot="0">
            <a:off x="1028700" y="1197941"/>
            <a:ext cx="6202838" cy="1137904"/>
          </a:xfrm>
          <a:prstGeom prst="rect">
            <a:avLst/>
          </a:prstGeom>
          <a:solidFill>
            <a:srgbClr val="1D4355"/>
          </a:solidFill>
        </p:spPr>
      </p:sp>
      <p:sp>
        <p:nvSpPr>
          <p:cNvPr name="TextBox 7" id="7"/>
          <p:cNvSpPr txBox="true"/>
          <p:nvPr/>
        </p:nvSpPr>
        <p:spPr>
          <a:xfrm rot="0">
            <a:off x="1268623" y="1275754"/>
            <a:ext cx="3837454" cy="915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8"/>
              </a:lnSpc>
            </a:pPr>
            <a:r>
              <a:rPr lang="en-US" b="true" sz="2577" spc="335">
                <a:solidFill>
                  <a:srgbClr val="F7F7F7"/>
                </a:solidFill>
                <a:latin typeface="Aileron Bold"/>
                <a:ea typeface="Aileron Bold"/>
                <a:cs typeface="Aileron Bold"/>
                <a:sym typeface="Aileron Bold"/>
              </a:rPr>
              <a:t>PRÉPARATION DES DONNÉES</a:t>
            </a:r>
          </a:p>
        </p:txBody>
      </p:sp>
      <p:sp>
        <p:nvSpPr>
          <p:cNvPr name="AutoShape 8" id="8"/>
          <p:cNvSpPr/>
          <p:nvPr/>
        </p:nvSpPr>
        <p:spPr>
          <a:xfrm rot="0">
            <a:off x="1028700" y="2548255"/>
            <a:ext cx="6202838" cy="1137904"/>
          </a:xfrm>
          <a:prstGeom prst="rect">
            <a:avLst/>
          </a:prstGeom>
          <a:solidFill>
            <a:srgbClr val="289DD2"/>
          </a:solidFill>
        </p:spPr>
      </p:sp>
      <p:sp>
        <p:nvSpPr>
          <p:cNvPr name="AutoShape 9" id="9"/>
          <p:cNvSpPr/>
          <p:nvPr/>
        </p:nvSpPr>
        <p:spPr>
          <a:xfrm rot="0">
            <a:off x="1028700" y="3898569"/>
            <a:ext cx="6202838" cy="1137904"/>
          </a:xfrm>
          <a:prstGeom prst="rect">
            <a:avLst/>
          </a:prstGeom>
          <a:solidFill>
            <a:srgbClr val="62DDD6"/>
          </a:solidFill>
        </p:spPr>
      </p:sp>
      <p:sp>
        <p:nvSpPr>
          <p:cNvPr name="AutoShape 10" id="10"/>
          <p:cNvSpPr/>
          <p:nvPr/>
        </p:nvSpPr>
        <p:spPr>
          <a:xfrm rot="0">
            <a:off x="1028700" y="5248883"/>
            <a:ext cx="6202838" cy="1137904"/>
          </a:xfrm>
          <a:prstGeom prst="rect">
            <a:avLst/>
          </a:prstGeom>
          <a:solidFill>
            <a:srgbClr val="39B6AF"/>
          </a:solidFill>
        </p:spPr>
      </p:sp>
      <p:sp>
        <p:nvSpPr>
          <p:cNvPr name="AutoShape 11" id="11"/>
          <p:cNvSpPr/>
          <p:nvPr/>
        </p:nvSpPr>
        <p:spPr>
          <a:xfrm rot="0">
            <a:off x="1028700" y="6599197"/>
            <a:ext cx="6202838" cy="1137904"/>
          </a:xfrm>
          <a:prstGeom prst="rect">
            <a:avLst/>
          </a:prstGeom>
          <a:solidFill>
            <a:srgbClr val="4F7486"/>
          </a:solidFill>
        </p:spPr>
      </p:sp>
      <p:sp>
        <p:nvSpPr>
          <p:cNvPr name="AutoShape 12" id="12"/>
          <p:cNvSpPr/>
          <p:nvPr/>
        </p:nvSpPr>
        <p:spPr>
          <a:xfrm rot="0">
            <a:off x="1028700" y="7949511"/>
            <a:ext cx="6202838" cy="1137904"/>
          </a:xfrm>
          <a:prstGeom prst="rect">
            <a:avLst/>
          </a:prstGeom>
          <a:solidFill>
            <a:srgbClr val="6C9286"/>
          </a:solidFill>
        </p:spPr>
      </p:sp>
      <p:sp>
        <p:nvSpPr>
          <p:cNvPr name="TextBox 13" id="13"/>
          <p:cNvSpPr txBox="true"/>
          <p:nvPr/>
        </p:nvSpPr>
        <p:spPr>
          <a:xfrm rot="0">
            <a:off x="1268623" y="2626068"/>
            <a:ext cx="3837454" cy="915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8"/>
              </a:lnSpc>
            </a:pPr>
            <a:r>
              <a:rPr lang="en-US" b="true" sz="2577" spc="335">
                <a:solidFill>
                  <a:srgbClr val="F7F7F7"/>
                </a:solidFill>
                <a:latin typeface="Aileron Bold"/>
                <a:ea typeface="Aileron Bold"/>
                <a:cs typeface="Aileron Bold"/>
                <a:sym typeface="Aileron Bold"/>
              </a:rPr>
              <a:t>VISUALISATION DE LA SÉRIE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68623" y="4204982"/>
            <a:ext cx="3837454" cy="458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8"/>
              </a:lnSpc>
            </a:pPr>
            <a:r>
              <a:rPr lang="en-US" b="true" sz="2577" spc="335">
                <a:solidFill>
                  <a:srgbClr val="F7F7F7"/>
                </a:solidFill>
                <a:latin typeface="Aileron Bold"/>
                <a:ea typeface="Aileron Bold"/>
                <a:cs typeface="Aileron Bold"/>
                <a:sym typeface="Aileron Bold"/>
              </a:rPr>
              <a:t>CHOIX DU MODÈLE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68623" y="5326696"/>
            <a:ext cx="5397792" cy="915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8"/>
              </a:lnSpc>
            </a:pPr>
            <a:r>
              <a:rPr lang="en-US" b="true" sz="2577" spc="335">
                <a:solidFill>
                  <a:srgbClr val="F7F7F7"/>
                </a:solidFill>
                <a:latin typeface="Aileron Bold"/>
                <a:ea typeface="Aileron Bold"/>
                <a:cs typeface="Aileron Bold"/>
                <a:sym typeface="Aileron Bold"/>
              </a:rPr>
              <a:t>ANALYSE DE LA SÉRIE À PARTIR DES COMPOSANTES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68623" y="6905610"/>
            <a:ext cx="3837454" cy="458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8"/>
              </a:lnSpc>
            </a:pPr>
            <a:r>
              <a:rPr lang="en-US" b="true" sz="2577" spc="335">
                <a:solidFill>
                  <a:srgbClr val="F7F7F7"/>
                </a:solidFill>
                <a:latin typeface="Aileron Bold"/>
                <a:ea typeface="Aileron Bold"/>
                <a:cs typeface="Aileron Bold"/>
                <a:sym typeface="Aileron Bold"/>
              </a:rPr>
              <a:t>PRÉVISION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68623" y="7855851"/>
            <a:ext cx="4785313" cy="1272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82"/>
              </a:lnSpc>
            </a:pPr>
            <a:r>
              <a:rPr lang="en-US" b="true" sz="2416" spc="314">
                <a:solidFill>
                  <a:srgbClr val="F7F7F7"/>
                </a:solidFill>
                <a:latin typeface="Aileron Bold"/>
                <a:ea typeface="Aileron Bold"/>
                <a:cs typeface="Aileron Bold"/>
                <a:sym typeface="Aileron Bold"/>
              </a:rPr>
              <a:t>COMPARAISON AVEC LES RÉSULTATS DU LISSAGE EXPONENTIEL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405373" y="1170685"/>
            <a:ext cx="522083" cy="992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81"/>
              </a:lnSpc>
            </a:pPr>
            <a:r>
              <a:rPr lang="en-US" sz="5272" spc="685">
                <a:solidFill>
                  <a:srgbClr val="F7F7F7"/>
                </a:solidFill>
                <a:latin typeface="Kaftus"/>
                <a:ea typeface="Kaftus"/>
                <a:cs typeface="Kaftus"/>
                <a:sym typeface="Kaftus"/>
              </a:rPr>
              <a:t>1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405373" y="6577364"/>
            <a:ext cx="522083" cy="992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81"/>
              </a:lnSpc>
            </a:pPr>
            <a:r>
              <a:rPr lang="en-US" sz="5272" spc="685">
                <a:solidFill>
                  <a:srgbClr val="F7F7F7"/>
                </a:solidFill>
                <a:latin typeface="Kaftus"/>
                <a:ea typeface="Kaftus"/>
                <a:cs typeface="Kaftus"/>
                <a:sym typeface="Kaftus"/>
              </a:rPr>
              <a:t>5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405373" y="2520998"/>
            <a:ext cx="522083" cy="992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81"/>
              </a:lnSpc>
            </a:pPr>
            <a:r>
              <a:rPr lang="en-US" sz="5272" spc="685">
                <a:solidFill>
                  <a:srgbClr val="F7F7F7"/>
                </a:solidFill>
                <a:latin typeface="Kaftus"/>
                <a:ea typeface="Kaftus"/>
                <a:cs typeface="Kaftus"/>
                <a:sym typeface="Kaftus"/>
              </a:rPr>
              <a:t>2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405373" y="3865888"/>
            <a:ext cx="522083" cy="992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81"/>
              </a:lnSpc>
            </a:pPr>
            <a:r>
              <a:rPr lang="en-US" sz="5272" spc="685">
                <a:solidFill>
                  <a:srgbClr val="F7F7F7"/>
                </a:solidFill>
                <a:latin typeface="Kaftus"/>
                <a:ea typeface="Kaftus"/>
                <a:cs typeface="Kaftus"/>
                <a:sym typeface="Kaftus"/>
              </a:rPr>
              <a:t>3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405373" y="5048858"/>
            <a:ext cx="522083" cy="992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81"/>
              </a:lnSpc>
            </a:pPr>
            <a:r>
              <a:rPr lang="en-US" sz="5272" spc="685">
                <a:solidFill>
                  <a:srgbClr val="F7F7F7"/>
                </a:solidFill>
                <a:latin typeface="Kaftus"/>
                <a:ea typeface="Kaftus"/>
                <a:cs typeface="Kaftus"/>
                <a:sym typeface="Kaftus"/>
              </a:rPr>
              <a:t>4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405373" y="7927678"/>
            <a:ext cx="522083" cy="992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81"/>
              </a:lnSpc>
            </a:pPr>
            <a:r>
              <a:rPr lang="en-US" sz="5272" spc="685">
                <a:solidFill>
                  <a:srgbClr val="F7F7F7"/>
                </a:solidFill>
                <a:latin typeface="Kaftus"/>
                <a:ea typeface="Kaftus"/>
                <a:cs typeface="Kaftus"/>
                <a:sym typeface="Kaftus"/>
              </a:rPr>
              <a:t>6</a:t>
            </a:r>
          </a:p>
        </p:txBody>
      </p:sp>
    </p:spTree>
  </p:cSld>
  <p:clrMapOvr>
    <a:masterClrMapping/>
  </p:clrMapOvr>
  <p:transition spd="slow">
    <p:push dir="l"/>
  </p:transition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384115" y="4912535"/>
            <a:ext cx="3519769" cy="486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8"/>
              </a:lnSpc>
            </a:pPr>
            <a:r>
              <a:rPr lang="en-US" b="true" sz="3052" spc="91">
                <a:solidFill>
                  <a:srgbClr val="365B6D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MÉTHODOLOGIE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5488608" y="1514767"/>
            <a:ext cx="7310785" cy="7310785"/>
            <a:chOff x="0" y="0"/>
            <a:chExt cx="9747713" cy="9747713"/>
          </a:xfrm>
        </p:grpSpPr>
        <p:pic>
          <p:nvPicPr>
            <p:cNvPr name="Picture 4" id="4"/>
            <p:cNvPicPr>
              <a:picLocks noChangeAspect="true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0">
              <a:off x="-974771" y="-974771"/>
              <a:ext cx="11697256" cy="11697256"/>
            </a:xfrm>
            <a:prstGeom prst="rect">
              <a:avLst/>
            </a:prstGeom>
          </p:spPr>
        </p:pic>
        <p:sp>
          <p:nvSpPr>
            <p:cNvPr name="TextBox 5" id="5"/>
            <p:cNvSpPr txBox="true"/>
            <p:nvPr/>
          </p:nvSpPr>
          <p:spPr>
            <a:xfrm rot="0">
              <a:off x="6266033" y="866616"/>
              <a:ext cx="696111" cy="125651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381"/>
                </a:lnSpc>
              </a:pPr>
              <a:r>
                <a:rPr lang="en-US" sz="5272" spc="685">
                  <a:solidFill>
                    <a:srgbClr val="F7F7F7"/>
                  </a:solidFill>
                  <a:latin typeface="Kaftus"/>
                  <a:ea typeface="Kaftus"/>
                  <a:cs typeface="Kaftus"/>
                  <a:sym typeface="Kaftus"/>
                </a:rPr>
                <a:t>1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8102668" y="4085617"/>
              <a:ext cx="696111" cy="125651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381"/>
                </a:lnSpc>
              </a:pPr>
              <a:r>
                <a:rPr lang="en-US" sz="5272" spc="685">
                  <a:solidFill>
                    <a:srgbClr val="F7F7F7"/>
                  </a:solidFill>
                  <a:latin typeface="Kaftus"/>
                  <a:ea typeface="Kaftus"/>
                  <a:cs typeface="Kaftus"/>
                  <a:sym typeface="Kaftus"/>
                </a:rPr>
                <a:t>2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6266033" y="7318795"/>
              <a:ext cx="696111" cy="125651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381"/>
                </a:lnSpc>
              </a:pPr>
              <a:r>
                <a:rPr lang="en-US" sz="5272" spc="685">
                  <a:solidFill>
                    <a:srgbClr val="F7F7F7"/>
                  </a:solidFill>
                  <a:latin typeface="Kaftus"/>
                  <a:ea typeface="Kaftus"/>
                  <a:cs typeface="Kaftus"/>
                  <a:sym typeface="Kaftus"/>
                </a:rPr>
                <a:t>3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2407291" y="7294475"/>
              <a:ext cx="696111" cy="125651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381"/>
                </a:lnSpc>
              </a:pPr>
              <a:r>
                <a:rPr lang="en-US" sz="5272" spc="685">
                  <a:solidFill>
                    <a:srgbClr val="F7F7F7"/>
                  </a:solidFill>
                  <a:latin typeface="Kaftus"/>
                  <a:ea typeface="Kaftus"/>
                  <a:cs typeface="Kaftus"/>
                  <a:sym typeface="Kaftus"/>
                </a:rPr>
                <a:t>4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1049992" y="4091521"/>
              <a:ext cx="696111" cy="125651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381"/>
                </a:lnSpc>
              </a:pPr>
              <a:r>
                <a:rPr lang="en-US" sz="5272" spc="685">
                  <a:solidFill>
                    <a:srgbClr val="F7F7F7"/>
                  </a:solidFill>
                  <a:latin typeface="Kaftus"/>
                  <a:ea typeface="Kaftus"/>
                  <a:cs typeface="Kaftus"/>
                  <a:sym typeface="Kaftus"/>
                </a:rPr>
                <a:t>5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2755347" y="866616"/>
              <a:ext cx="696111" cy="125651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381"/>
                </a:lnSpc>
              </a:pPr>
              <a:r>
                <a:rPr lang="en-US" sz="5272" spc="685">
                  <a:solidFill>
                    <a:srgbClr val="F7F7F7"/>
                  </a:solidFill>
                  <a:latin typeface="Kaftus"/>
                  <a:ea typeface="Kaftus"/>
                  <a:cs typeface="Kaftus"/>
                  <a:sym typeface="Kaftus"/>
                </a:rPr>
                <a:t>6</a:t>
              </a:r>
            </a:p>
          </p:txBody>
        </p:sp>
      </p:grpSp>
    </p:spTree>
  </p:cSld>
  <p:clrMapOvr>
    <a:masterClrMapping/>
  </p:clrMapOvr>
  <p:transition spd="fast">
    <p:push dir="l"/>
  </p:transition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2217840"/>
            <a:ext cx="385386" cy="385386"/>
          </a:xfrm>
          <a:custGeom>
            <a:avLst/>
            <a:gdLst/>
            <a:ahLst/>
            <a:cxnLst/>
            <a:rect r="r" b="b" t="t" l="l"/>
            <a:pathLst>
              <a:path h="385386" w="385386">
                <a:moveTo>
                  <a:pt x="0" y="0"/>
                </a:moveTo>
                <a:lnTo>
                  <a:pt x="385386" y="0"/>
                </a:lnTo>
                <a:lnTo>
                  <a:pt x="385386" y="385386"/>
                </a:lnTo>
                <a:lnTo>
                  <a:pt x="0" y="3853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8633534" y="555758"/>
            <a:ext cx="8772942" cy="8772942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028700" y="926884"/>
            <a:ext cx="6107037" cy="587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16"/>
              </a:lnSpc>
            </a:pPr>
            <a:r>
              <a:rPr lang="en-US" b="true" sz="3600" spc="107">
                <a:solidFill>
                  <a:srgbClr val="365B6D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MÉTHODOLOGIE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064138" y="1886792"/>
            <a:ext cx="522083" cy="992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81"/>
              </a:lnSpc>
            </a:pPr>
            <a:r>
              <a:rPr lang="en-US" sz="5272" spc="685">
                <a:solidFill>
                  <a:srgbClr val="F7F7F7"/>
                </a:solidFill>
                <a:latin typeface="Kaftus"/>
                <a:ea typeface="Kaftus"/>
                <a:cs typeface="Kaftus"/>
                <a:sym typeface="Kaftus"/>
              </a:rPr>
              <a:t>1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441614" y="4301043"/>
            <a:ext cx="522083" cy="992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81"/>
              </a:lnSpc>
            </a:pPr>
            <a:r>
              <a:rPr lang="en-US" sz="5272" spc="685">
                <a:solidFill>
                  <a:srgbClr val="F7F7F7"/>
                </a:solidFill>
                <a:latin typeface="Kaftus"/>
                <a:ea typeface="Kaftus"/>
                <a:cs typeface="Kaftus"/>
                <a:sym typeface="Kaftus"/>
              </a:rPr>
              <a:t>2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064138" y="6725927"/>
            <a:ext cx="522083" cy="992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81"/>
              </a:lnSpc>
            </a:pPr>
            <a:r>
              <a:rPr lang="en-US" sz="5272" spc="685">
                <a:solidFill>
                  <a:srgbClr val="F7F7F7"/>
                </a:solidFill>
                <a:latin typeface="Kaftus"/>
                <a:ea typeface="Kaftus"/>
                <a:cs typeface="Kaftus"/>
                <a:sym typeface="Kaftus"/>
              </a:rPr>
              <a:t>3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170082" y="6707687"/>
            <a:ext cx="522083" cy="992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81"/>
              </a:lnSpc>
            </a:pPr>
            <a:r>
              <a:rPr lang="en-US" sz="5272" spc="685">
                <a:solidFill>
                  <a:srgbClr val="F7F7F7"/>
                </a:solidFill>
                <a:latin typeface="Kaftus"/>
                <a:ea typeface="Kaftus"/>
                <a:cs typeface="Kaftus"/>
                <a:sym typeface="Kaftus"/>
              </a:rPr>
              <a:t>4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152107" y="4305471"/>
            <a:ext cx="522083" cy="992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81"/>
              </a:lnSpc>
            </a:pPr>
            <a:r>
              <a:rPr lang="en-US" sz="5272" spc="685">
                <a:solidFill>
                  <a:srgbClr val="F7F7F7"/>
                </a:solidFill>
                <a:latin typeface="Kaftus"/>
                <a:ea typeface="Kaftus"/>
                <a:cs typeface="Kaftus"/>
                <a:sym typeface="Kaftus"/>
              </a:rPr>
              <a:t>5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431124" y="1886792"/>
            <a:ext cx="522083" cy="992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81"/>
              </a:lnSpc>
            </a:pPr>
            <a:r>
              <a:rPr lang="en-US" sz="5272" spc="685">
                <a:solidFill>
                  <a:srgbClr val="F7F7F7"/>
                </a:solidFill>
                <a:latin typeface="Kaftus"/>
                <a:ea typeface="Kaftus"/>
                <a:cs typeface="Kaftus"/>
                <a:sym typeface="Kaftus"/>
              </a:rPr>
              <a:t>6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41202" y="1972396"/>
            <a:ext cx="6839755" cy="752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76"/>
              </a:lnSpc>
              <a:spcBef>
                <a:spcPct val="0"/>
              </a:spcBef>
            </a:pPr>
            <a:r>
              <a:rPr lang="en-US" b="true" sz="4126">
                <a:solidFill>
                  <a:srgbClr val="024854"/>
                </a:solidFill>
                <a:latin typeface="Telegraf Bold"/>
                <a:ea typeface="Telegraf Bold"/>
                <a:cs typeface="Telegraf Bold"/>
                <a:sym typeface="Telegraf Bold"/>
              </a:rPr>
              <a:t>Préparation des données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3851609"/>
            <a:ext cx="8771947" cy="27686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20"/>
              </a:lnSpc>
            </a:pPr>
            <a:r>
              <a:rPr lang="en-US" sz="3871">
                <a:solidFill>
                  <a:srgbClr val="191919"/>
                </a:solidFill>
                <a:latin typeface="Telegraf"/>
                <a:ea typeface="Telegraf"/>
                <a:cs typeface="Telegraf"/>
                <a:sym typeface="Telegraf"/>
              </a:rPr>
              <a:t>Nettoyage, structuration et harmonisation du format des données trimestrielles du PIB pour une analyse cohérente</a:t>
            </a:r>
          </a:p>
        </p:txBody>
      </p:sp>
    </p:spTree>
  </p:cSld>
  <p:clrMapOvr>
    <a:masterClrMapping/>
  </p:clrMapOvr>
  <p:transition spd="slow">
    <p:push dir="r"/>
  </p:transition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2217840"/>
            <a:ext cx="385386" cy="385386"/>
          </a:xfrm>
          <a:custGeom>
            <a:avLst/>
            <a:gdLst/>
            <a:ahLst/>
            <a:cxnLst/>
            <a:rect r="r" b="b" t="t" l="l"/>
            <a:pathLst>
              <a:path h="385386" w="385386">
                <a:moveTo>
                  <a:pt x="0" y="0"/>
                </a:moveTo>
                <a:lnTo>
                  <a:pt x="385386" y="0"/>
                </a:lnTo>
                <a:lnTo>
                  <a:pt x="385386" y="385386"/>
                </a:lnTo>
                <a:lnTo>
                  <a:pt x="0" y="3853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8633534" y="555758"/>
            <a:ext cx="8772942" cy="8772942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028700" y="926884"/>
            <a:ext cx="6107037" cy="587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16"/>
              </a:lnSpc>
            </a:pPr>
            <a:r>
              <a:rPr lang="en-US" b="true" sz="3600" spc="107">
                <a:solidFill>
                  <a:srgbClr val="365B6D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MÉTHODOLOGIE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064138" y="1886792"/>
            <a:ext cx="522083" cy="992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81"/>
              </a:lnSpc>
            </a:pPr>
            <a:r>
              <a:rPr lang="en-US" sz="5272" spc="685">
                <a:solidFill>
                  <a:srgbClr val="F7F7F7"/>
                </a:solidFill>
                <a:latin typeface="Kaftus"/>
                <a:ea typeface="Kaftus"/>
                <a:cs typeface="Kaftus"/>
                <a:sym typeface="Kaftus"/>
              </a:rPr>
              <a:t>1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441614" y="4301043"/>
            <a:ext cx="522083" cy="992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81"/>
              </a:lnSpc>
            </a:pPr>
            <a:r>
              <a:rPr lang="en-US" sz="5272" spc="685">
                <a:solidFill>
                  <a:srgbClr val="F7F7F7"/>
                </a:solidFill>
                <a:latin typeface="Kaftus"/>
                <a:ea typeface="Kaftus"/>
                <a:cs typeface="Kaftus"/>
                <a:sym typeface="Kaftus"/>
              </a:rPr>
              <a:t>2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064138" y="6725927"/>
            <a:ext cx="522083" cy="992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81"/>
              </a:lnSpc>
            </a:pPr>
            <a:r>
              <a:rPr lang="en-US" sz="5272" spc="685">
                <a:solidFill>
                  <a:srgbClr val="F7F7F7"/>
                </a:solidFill>
                <a:latin typeface="Kaftus"/>
                <a:ea typeface="Kaftus"/>
                <a:cs typeface="Kaftus"/>
                <a:sym typeface="Kaftus"/>
              </a:rPr>
              <a:t>3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170082" y="6707687"/>
            <a:ext cx="522083" cy="992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81"/>
              </a:lnSpc>
            </a:pPr>
            <a:r>
              <a:rPr lang="en-US" sz="5272" spc="685">
                <a:solidFill>
                  <a:srgbClr val="F7F7F7"/>
                </a:solidFill>
                <a:latin typeface="Kaftus"/>
                <a:ea typeface="Kaftus"/>
                <a:cs typeface="Kaftus"/>
                <a:sym typeface="Kaftus"/>
              </a:rPr>
              <a:t>4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152107" y="4305471"/>
            <a:ext cx="522083" cy="992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81"/>
              </a:lnSpc>
            </a:pPr>
            <a:r>
              <a:rPr lang="en-US" sz="5272" spc="685">
                <a:solidFill>
                  <a:srgbClr val="F7F7F7"/>
                </a:solidFill>
                <a:latin typeface="Kaftus"/>
                <a:ea typeface="Kaftus"/>
                <a:cs typeface="Kaftus"/>
                <a:sym typeface="Kaftus"/>
              </a:rPr>
              <a:t>5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431124" y="1886792"/>
            <a:ext cx="522083" cy="992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81"/>
              </a:lnSpc>
            </a:pPr>
            <a:r>
              <a:rPr lang="en-US" sz="5272" spc="685">
                <a:solidFill>
                  <a:srgbClr val="F7F7F7"/>
                </a:solidFill>
                <a:latin typeface="Kaftus"/>
                <a:ea typeface="Kaftus"/>
                <a:cs typeface="Kaftus"/>
                <a:sym typeface="Kaftus"/>
              </a:rPr>
              <a:t>6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41202" y="1972396"/>
            <a:ext cx="6839755" cy="752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76"/>
              </a:lnSpc>
              <a:spcBef>
                <a:spcPct val="0"/>
              </a:spcBef>
            </a:pPr>
            <a:r>
              <a:rPr lang="en-US" b="true" sz="4126">
                <a:solidFill>
                  <a:srgbClr val="024854"/>
                </a:solidFill>
                <a:latin typeface="Telegraf Bold"/>
                <a:ea typeface="Telegraf Bold"/>
                <a:cs typeface="Telegraf Bold"/>
                <a:sym typeface="Telegraf Bold"/>
              </a:rPr>
              <a:t>Visualisation de la série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3851609"/>
            <a:ext cx="8771947" cy="27686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20"/>
              </a:lnSpc>
            </a:pPr>
            <a:r>
              <a:rPr lang="en-US" sz="3871">
                <a:solidFill>
                  <a:srgbClr val="191919"/>
                </a:solidFill>
                <a:latin typeface="Telegraf"/>
                <a:ea typeface="Telegraf"/>
                <a:cs typeface="Telegraf"/>
                <a:sym typeface="Telegraf"/>
              </a:rPr>
              <a:t>Représentation graphique pour identifier les tendances générales, les fluctuations saisonnières et les ruptures éventuelles</a:t>
            </a:r>
          </a:p>
        </p:txBody>
      </p:sp>
    </p:spTree>
  </p:cSld>
  <p:clrMapOvr>
    <a:masterClrMapping/>
  </p:clrMapOvr>
  <p:transition spd="fast">
    <p:fade/>
  </p:transition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2217840"/>
            <a:ext cx="385386" cy="385386"/>
          </a:xfrm>
          <a:custGeom>
            <a:avLst/>
            <a:gdLst/>
            <a:ahLst/>
            <a:cxnLst/>
            <a:rect r="r" b="b" t="t" l="l"/>
            <a:pathLst>
              <a:path h="385386" w="385386">
                <a:moveTo>
                  <a:pt x="0" y="0"/>
                </a:moveTo>
                <a:lnTo>
                  <a:pt x="385386" y="0"/>
                </a:lnTo>
                <a:lnTo>
                  <a:pt x="385386" y="385386"/>
                </a:lnTo>
                <a:lnTo>
                  <a:pt x="0" y="3853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8633534" y="555758"/>
            <a:ext cx="8772942" cy="8772942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028700" y="926884"/>
            <a:ext cx="6107037" cy="587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16"/>
              </a:lnSpc>
            </a:pPr>
            <a:r>
              <a:rPr lang="en-US" b="true" sz="3600" spc="107">
                <a:solidFill>
                  <a:srgbClr val="365B6D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MÉTHODOLOGIE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064138" y="1886792"/>
            <a:ext cx="522083" cy="992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81"/>
              </a:lnSpc>
            </a:pPr>
            <a:r>
              <a:rPr lang="en-US" sz="5272" spc="685">
                <a:solidFill>
                  <a:srgbClr val="F7F7F7"/>
                </a:solidFill>
                <a:latin typeface="Kaftus"/>
                <a:ea typeface="Kaftus"/>
                <a:cs typeface="Kaftus"/>
                <a:sym typeface="Kaftus"/>
              </a:rPr>
              <a:t>1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441614" y="4301043"/>
            <a:ext cx="522083" cy="992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81"/>
              </a:lnSpc>
            </a:pPr>
            <a:r>
              <a:rPr lang="en-US" sz="5272" spc="685">
                <a:solidFill>
                  <a:srgbClr val="F7F7F7"/>
                </a:solidFill>
                <a:latin typeface="Kaftus"/>
                <a:ea typeface="Kaftus"/>
                <a:cs typeface="Kaftus"/>
                <a:sym typeface="Kaftus"/>
              </a:rPr>
              <a:t>2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064138" y="6725927"/>
            <a:ext cx="522083" cy="992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81"/>
              </a:lnSpc>
            </a:pPr>
            <a:r>
              <a:rPr lang="en-US" sz="5272" spc="685">
                <a:solidFill>
                  <a:srgbClr val="F7F7F7"/>
                </a:solidFill>
                <a:latin typeface="Kaftus"/>
                <a:ea typeface="Kaftus"/>
                <a:cs typeface="Kaftus"/>
                <a:sym typeface="Kaftus"/>
              </a:rPr>
              <a:t>3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170082" y="6707687"/>
            <a:ext cx="522083" cy="992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81"/>
              </a:lnSpc>
            </a:pPr>
            <a:r>
              <a:rPr lang="en-US" sz="5272" spc="685">
                <a:solidFill>
                  <a:srgbClr val="F7F7F7"/>
                </a:solidFill>
                <a:latin typeface="Kaftus"/>
                <a:ea typeface="Kaftus"/>
                <a:cs typeface="Kaftus"/>
                <a:sym typeface="Kaftus"/>
              </a:rPr>
              <a:t>4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152107" y="4305471"/>
            <a:ext cx="522083" cy="992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81"/>
              </a:lnSpc>
            </a:pPr>
            <a:r>
              <a:rPr lang="en-US" sz="5272" spc="685">
                <a:solidFill>
                  <a:srgbClr val="F7F7F7"/>
                </a:solidFill>
                <a:latin typeface="Kaftus"/>
                <a:ea typeface="Kaftus"/>
                <a:cs typeface="Kaftus"/>
                <a:sym typeface="Kaftus"/>
              </a:rPr>
              <a:t>5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431124" y="1886792"/>
            <a:ext cx="522083" cy="992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81"/>
              </a:lnSpc>
            </a:pPr>
            <a:r>
              <a:rPr lang="en-US" sz="5272" spc="685">
                <a:solidFill>
                  <a:srgbClr val="F7F7F7"/>
                </a:solidFill>
                <a:latin typeface="Kaftus"/>
                <a:ea typeface="Kaftus"/>
                <a:cs typeface="Kaftus"/>
                <a:sym typeface="Kaftus"/>
              </a:rPr>
              <a:t>6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41202" y="1972396"/>
            <a:ext cx="6839755" cy="752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76"/>
              </a:lnSpc>
              <a:spcBef>
                <a:spcPct val="0"/>
              </a:spcBef>
            </a:pPr>
            <a:r>
              <a:rPr lang="en-US" b="true" sz="4126">
                <a:solidFill>
                  <a:srgbClr val="024854"/>
                </a:solidFill>
                <a:latin typeface="Telegraf Bold"/>
                <a:ea typeface="Telegraf Bold"/>
                <a:cs typeface="Telegraf Bold"/>
                <a:sym typeface="Telegraf Bold"/>
              </a:rPr>
              <a:t>Choix du modèle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3851609"/>
            <a:ext cx="8771947" cy="27686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20"/>
              </a:lnSpc>
            </a:pPr>
            <a:r>
              <a:rPr lang="en-US" sz="3871">
                <a:solidFill>
                  <a:srgbClr val="191919"/>
                </a:solidFill>
                <a:latin typeface="Telegraf"/>
                <a:ea typeface="Telegraf"/>
                <a:cs typeface="Telegraf"/>
                <a:sym typeface="Telegraf"/>
              </a:rPr>
              <a:t>Evaluation des composantes de la série (tendance, saisonnalité, bruit) et sélection d’un modèle adapté (additif ou multiplicatif)</a:t>
            </a:r>
          </a:p>
        </p:txBody>
      </p:sp>
    </p:spTree>
  </p:cSld>
  <p:clrMapOvr>
    <a:masterClrMapping/>
  </p:clrMapOvr>
  <p:transition spd="fast">
    <p:fade/>
  </p:transition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2217840"/>
            <a:ext cx="385386" cy="385386"/>
          </a:xfrm>
          <a:custGeom>
            <a:avLst/>
            <a:gdLst/>
            <a:ahLst/>
            <a:cxnLst/>
            <a:rect r="r" b="b" t="t" l="l"/>
            <a:pathLst>
              <a:path h="385386" w="385386">
                <a:moveTo>
                  <a:pt x="0" y="0"/>
                </a:moveTo>
                <a:lnTo>
                  <a:pt x="385386" y="0"/>
                </a:lnTo>
                <a:lnTo>
                  <a:pt x="385386" y="385386"/>
                </a:lnTo>
                <a:lnTo>
                  <a:pt x="0" y="3853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8633534" y="555758"/>
            <a:ext cx="8772942" cy="8772942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028700" y="926884"/>
            <a:ext cx="6107037" cy="587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16"/>
              </a:lnSpc>
            </a:pPr>
            <a:r>
              <a:rPr lang="en-US" b="true" sz="3600" spc="107">
                <a:solidFill>
                  <a:srgbClr val="365B6D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MÉTHODOLOGIE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064138" y="1886792"/>
            <a:ext cx="522083" cy="992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81"/>
              </a:lnSpc>
            </a:pPr>
            <a:r>
              <a:rPr lang="en-US" sz="5272" spc="685">
                <a:solidFill>
                  <a:srgbClr val="F7F7F7"/>
                </a:solidFill>
                <a:latin typeface="Kaftus"/>
                <a:ea typeface="Kaftus"/>
                <a:cs typeface="Kaftus"/>
                <a:sym typeface="Kaftus"/>
              </a:rPr>
              <a:t>1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441614" y="4301043"/>
            <a:ext cx="522083" cy="992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81"/>
              </a:lnSpc>
            </a:pPr>
            <a:r>
              <a:rPr lang="en-US" sz="5272" spc="685">
                <a:solidFill>
                  <a:srgbClr val="F7F7F7"/>
                </a:solidFill>
                <a:latin typeface="Kaftus"/>
                <a:ea typeface="Kaftus"/>
                <a:cs typeface="Kaftus"/>
                <a:sym typeface="Kaftus"/>
              </a:rPr>
              <a:t>2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064138" y="6725927"/>
            <a:ext cx="522083" cy="992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81"/>
              </a:lnSpc>
            </a:pPr>
            <a:r>
              <a:rPr lang="en-US" sz="5272" spc="685">
                <a:solidFill>
                  <a:srgbClr val="F7F7F7"/>
                </a:solidFill>
                <a:latin typeface="Kaftus"/>
                <a:ea typeface="Kaftus"/>
                <a:cs typeface="Kaftus"/>
                <a:sym typeface="Kaftus"/>
              </a:rPr>
              <a:t>3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170082" y="6707687"/>
            <a:ext cx="522083" cy="992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81"/>
              </a:lnSpc>
            </a:pPr>
            <a:r>
              <a:rPr lang="en-US" sz="5272" spc="685">
                <a:solidFill>
                  <a:srgbClr val="F7F7F7"/>
                </a:solidFill>
                <a:latin typeface="Kaftus"/>
                <a:ea typeface="Kaftus"/>
                <a:cs typeface="Kaftus"/>
                <a:sym typeface="Kaftus"/>
              </a:rPr>
              <a:t>4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152107" y="4305471"/>
            <a:ext cx="522083" cy="992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81"/>
              </a:lnSpc>
            </a:pPr>
            <a:r>
              <a:rPr lang="en-US" sz="5272" spc="685">
                <a:solidFill>
                  <a:srgbClr val="F7F7F7"/>
                </a:solidFill>
                <a:latin typeface="Kaftus"/>
                <a:ea typeface="Kaftus"/>
                <a:cs typeface="Kaftus"/>
                <a:sym typeface="Kaftus"/>
              </a:rPr>
              <a:t>5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431124" y="1886792"/>
            <a:ext cx="522083" cy="992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81"/>
              </a:lnSpc>
            </a:pPr>
            <a:r>
              <a:rPr lang="en-US" sz="5272" spc="685">
                <a:solidFill>
                  <a:srgbClr val="F7F7F7"/>
                </a:solidFill>
                <a:latin typeface="Kaftus"/>
                <a:ea typeface="Kaftus"/>
                <a:cs typeface="Kaftus"/>
                <a:sym typeface="Kaftus"/>
              </a:rPr>
              <a:t>6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41202" y="1605683"/>
            <a:ext cx="6839755" cy="1485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76"/>
              </a:lnSpc>
              <a:spcBef>
                <a:spcPct val="0"/>
              </a:spcBef>
            </a:pPr>
            <a:r>
              <a:rPr lang="en-US" b="true" sz="4126">
                <a:solidFill>
                  <a:srgbClr val="024854"/>
                </a:solidFill>
                <a:latin typeface="Telegraf Bold"/>
                <a:ea typeface="Telegraf Bold"/>
                <a:cs typeface="Telegraf Bold"/>
                <a:sym typeface="Telegraf Bold"/>
              </a:rPr>
              <a:t>Analyse de la série à partir de ses composantes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3851609"/>
            <a:ext cx="8771947" cy="27686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20"/>
              </a:lnSpc>
            </a:pPr>
            <a:r>
              <a:rPr lang="en-US" sz="3871">
                <a:solidFill>
                  <a:srgbClr val="191919"/>
                </a:solidFill>
                <a:latin typeface="Telegraf"/>
                <a:ea typeface="Telegraf"/>
                <a:cs typeface="Telegraf"/>
                <a:sym typeface="Telegraf"/>
              </a:rPr>
              <a:t>Décomposition de la série pour estimer séparément la tendance, la saisonnalité et la série corrigée des variations saisonnières (CVS)</a:t>
            </a:r>
          </a:p>
        </p:txBody>
      </p:sp>
    </p:spTree>
  </p:cSld>
  <p:clrMapOvr>
    <a:masterClrMapping/>
  </p:clrMapOvr>
  <p:transition spd="fast">
    <p:fade/>
  </p:transition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2217840"/>
            <a:ext cx="385386" cy="385386"/>
          </a:xfrm>
          <a:custGeom>
            <a:avLst/>
            <a:gdLst/>
            <a:ahLst/>
            <a:cxnLst/>
            <a:rect r="r" b="b" t="t" l="l"/>
            <a:pathLst>
              <a:path h="385386" w="385386">
                <a:moveTo>
                  <a:pt x="0" y="0"/>
                </a:moveTo>
                <a:lnTo>
                  <a:pt x="385386" y="0"/>
                </a:lnTo>
                <a:lnTo>
                  <a:pt x="385386" y="385386"/>
                </a:lnTo>
                <a:lnTo>
                  <a:pt x="0" y="3853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8633534" y="555758"/>
            <a:ext cx="8772942" cy="8772942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028700" y="926884"/>
            <a:ext cx="6107037" cy="587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16"/>
              </a:lnSpc>
            </a:pPr>
            <a:r>
              <a:rPr lang="en-US" b="true" sz="3600" spc="107">
                <a:solidFill>
                  <a:srgbClr val="365B6D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MÉTHODOLOGIE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064138" y="1886792"/>
            <a:ext cx="522083" cy="992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81"/>
              </a:lnSpc>
            </a:pPr>
            <a:r>
              <a:rPr lang="en-US" sz="5272" spc="685">
                <a:solidFill>
                  <a:srgbClr val="F7F7F7"/>
                </a:solidFill>
                <a:latin typeface="Kaftus"/>
                <a:ea typeface="Kaftus"/>
                <a:cs typeface="Kaftus"/>
                <a:sym typeface="Kaftus"/>
              </a:rPr>
              <a:t>1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441614" y="4301043"/>
            <a:ext cx="522083" cy="992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81"/>
              </a:lnSpc>
            </a:pPr>
            <a:r>
              <a:rPr lang="en-US" sz="5272" spc="685">
                <a:solidFill>
                  <a:srgbClr val="F7F7F7"/>
                </a:solidFill>
                <a:latin typeface="Kaftus"/>
                <a:ea typeface="Kaftus"/>
                <a:cs typeface="Kaftus"/>
                <a:sym typeface="Kaftus"/>
              </a:rPr>
              <a:t>2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064138" y="6725927"/>
            <a:ext cx="522083" cy="992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81"/>
              </a:lnSpc>
            </a:pPr>
            <a:r>
              <a:rPr lang="en-US" sz="5272" spc="685">
                <a:solidFill>
                  <a:srgbClr val="F7F7F7"/>
                </a:solidFill>
                <a:latin typeface="Kaftus"/>
                <a:ea typeface="Kaftus"/>
                <a:cs typeface="Kaftus"/>
                <a:sym typeface="Kaftus"/>
              </a:rPr>
              <a:t>3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170082" y="6707687"/>
            <a:ext cx="522083" cy="992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81"/>
              </a:lnSpc>
            </a:pPr>
            <a:r>
              <a:rPr lang="en-US" sz="5272" spc="685">
                <a:solidFill>
                  <a:srgbClr val="F7F7F7"/>
                </a:solidFill>
                <a:latin typeface="Kaftus"/>
                <a:ea typeface="Kaftus"/>
                <a:cs typeface="Kaftus"/>
                <a:sym typeface="Kaftus"/>
              </a:rPr>
              <a:t>4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152107" y="4305471"/>
            <a:ext cx="522083" cy="992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81"/>
              </a:lnSpc>
            </a:pPr>
            <a:r>
              <a:rPr lang="en-US" sz="5272" spc="685">
                <a:solidFill>
                  <a:srgbClr val="F7F7F7"/>
                </a:solidFill>
                <a:latin typeface="Kaftus"/>
                <a:ea typeface="Kaftus"/>
                <a:cs typeface="Kaftus"/>
                <a:sym typeface="Kaftus"/>
              </a:rPr>
              <a:t>5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431124" y="1886792"/>
            <a:ext cx="522083" cy="992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81"/>
              </a:lnSpc>
            </a:pPr>
            <a:r>
              <a:rPr lang="en-US" sz="5272" spc="685">
                <a:solidFill>
                  <a:srgbClr val="F7F7F7"/>
                </a:solidFill>
                <a:latin typeface="Kaftus"/>
                <a:ea typeface="Kaftus"/>
                <a:cs typeface="Kaftus"/>
                <a:sym typeface="Kaftus"/>
              </a:rPr>
              <a:t>6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41202" y="1972396"/>
            <a:ext cx="6839755" cy="752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76"/>
              </a:lnSpc>
              <a:spcBef>
                <a:spcPct val="0"/>
              </a:spcBef>
            </a:pPr>
            <a:r>
              <a:rPr lang="en-US" b="true" sz="4126">
                <a:solidFill>
                  <a:srgbClr val="024854"/>
                </a:solidFill>
                <a:latin typeface="Telegraf Bold"/>
                <a:ea typeface="Telegraf Bold"/>
                <a:cs typeface="Telegraf Bold"/>
                <a:sym typeface="Telegraf Bold"/>
              </a:rPr>
              <a:t>Prévisions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3851609"/>
            <a:ext cx="7697286" cy="1397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20"/>
              </a:lnSpc>
            </a:pPr>
            <a:r>
              <a:rPr lang="en-US" sz="3871">
                <a:solidFill>
                  <a:srgbClr val="191919"/>
                </a:solidFill>
                <a:latin typeface="Telegraf"/>
                <a:ea typeface="Telegraf"/>
                <a:cs typeface="Telegraf"/>
                <a:sym typeface="Telegraf"/>
              </a:rPr>
              <a:t>Projection des valeurs futures du PIB à partir du modèle retenu</a:t>
            </a:r>
          </a:p>
        </p:txBody>
      </p:sp>
    </p:spTree>
  </p:cSld>
  <p:clrMapOvr>
    <a:masterClrMapping/>
  </p:clrMapOvr>
  <p:transition spd="fast">
    <p:fade/>
  </p:transition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2217840"/>
            <a:ext cx="385386" cy="385386"/>
          </a:xfrm>
          <a:custGeom>
            <a:avLst/>
            <a:gdLst/>
            <a:ahLst/>
            <a:cxnLst/>
            <a:rect r="r" b="b" t="t" l="l"/>
            <a:pathLst>
              <a:path h="385386" w="385386">
                <a:moveTo>
                  <a:pt x="0" y="0"/>
                </a:moveTo>
                <a:lnTo>
                  <a:pt x="385386" y="0"/>
                </a:lnTo>
                <a:lnTo>
                  <a:pt x="385386" y="385386"/>
                </a:lnTo>
                <a:lnTo>
                  <a:pt x="0" y="3853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8633534" y="555758"/>
            <a:ext cx="8772942" cy="8772942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028700" y="926884"/>
            <a:ext cx="6107037" cy="587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16"/>
              </a:lnSpc>
            </a:pPr>
            <a:r>
              <a:rPr lang="en-US" b="true" sz="3600" spc="107">
                <a:solidFill>
                  <a:srgbClr val="365B6D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MÉTHODOLOGIE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064138" y="1886792"/>
            <a:ext cx="522083" cy="992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81"/>
              </a:lnSpc>
            </a:pPr>
            <a:r>
              <a:rPr lang="en-US" sz="5272" spc="685">
                <a:solidFill>
                  <a:srgbClr val="F7F7F7"/>
                </a:solidFill>
                <a:latin typeface="Kaftus"/>
                <a:ea typeface="Kaftus"/>
                <a:cs typeface="Kaftus"/>
                <a:sym typeface="Kaftus"/>
              </a:rPr>
              <a:t>1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441614" y="4301043"/>
            <a:ext cx="522083" cy="992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81"/>
              </a:lnSpc>
            </a:pPr>
            <a:r>
              <a:rPr lang="en-US" sz="5272" spc="685">
                <a:solidFill>
                  <a:srgbClr val="F7F7F7"/>
                </a:solidFill>
                <a:latin typeface="Kaftus"/>
                <a:ea typeface="Kaftus"/>
                <a:cs typeface="Kaftus"/>
                <a:sym typeface="Kaftus"/>
              </a:rPr>
              <a:t>2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064138" y="6725927"/>
            <a:ext cx="522083" cy="992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81"/>
              </a:lnSpc>
            </a:pPr>
            <a:r>
              <a:rPr lang="en-US" sz="5272" spc="685">
                <a:solidFill>
                  <a:srgbClr val="F7F7F7"/>
                </a:solidFill>
                <a:latin typeface="Kaftus"/>
                <a:ea typeface="Kaftus"/>
                <a:cs typeface="Kaftus"/>
                <a:sym typeface="Kaftus"/>
              </a:rPr>
              <a:t>3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170082" y="6707687"/>
            <a:ext cx="522083" cy="992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81"/>
              </a:lnSpc>
            </a:pPr>
            <a:r>
              <a:rPr lang="en-US" sz="5272" spc="685">
                <a:solidFill>
                  <a:srgbClr val="F7F7F7"/>
                </a:solidFill>
                <a:latin typeface="Kaftus"/>
                <a:ea typeface="Kaftus"/>
                <a:cs typeface="Kaftus"/>
                <a:sym typeface="Kaftus"/>
              </a:rPr>
              <a:t>4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152107" y="4305471"/>
            <a:ext cx="522083" cy="992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81"/>
              </a:lnSpc>
            </a:pPr>
            <a:r>
              <a:rPr lang="en-US" sz="5272" spc="685">
                <a:solidFill>
                  <a:srgbClr val="F7F7F7"/>
                </a:solidFill>
                <a:latin typeface="Kaftus"/>
                <a:ea typeface="Kaftus"/>
                <a:cs typeface="Kaftus"/>
                <a:sym typeface="Kaftus"/>
              </a:rPr>
              <a:t>5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431124" y="1886792"/>
            <a:ext cx="522083" cy="992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81"/>
              </a:lnSpc>
            </a:pPr>
            <a:r>
              <a:rPr lang="en-US" sz="5272" spc="685">
                <a:solidFill>
                  <a:srgbClr val="F7F7F7"/>
                </a:solidFill>
                <a:latin typeface="Kaftus"/>
                <a:ea typeface="Kaftus"/>
                <a:cs typeface="Kaftus"/>
                <a:sym typeface="Kaftus"/>
              </a:rPr>
              <a:t>6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13653" y="1605683"/>
            <a:ext cx="6949953" cy="1485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76"/>
              </a:lnSpc>
              <a:spcBef>
                <a:spcPct val="0"/>
              </a:spcBef>
            </a:pPr>
            <a:r>
              <a:rPr lang="en-US" b="true" sz="4126">
                <a:solidFill>
                  <a:srgbClr val="024854"/>
                </a:solidFill>
                <a:latin typeface="Telegraf Bold"/>
                <a:ea typeface="Telegraf Bold"/>
                <a:cs typeface="Telegraf Bold"/>
                <a:sym typeface="Telegraf Bold"/>
              </a:rPr>
              <a:t>Analyse comparative avec le lissage exponentiel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3851609"/>
            <a:ext cx="7840613" cy="34544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20"/>
              </a:lnSpc>
            </a:pPr>
            <a:r>
              <a:rPr lang="en-US" sz="3871">
                <a:solidFill>
                  <a:srgbClr val="191919"/>
                </a:solidFill>
                <a:latin typeface="Telegraf"/>
                <a:ea typeface="Telegraf"/>
                <a:cs typeface="Telegraf"/>
                <a:sym typeface="Telegraf"/>
              </a:rPr>
              <a:t>Evaluation de la performance du modèle en confrontant les prévisions issues de différentes méthodes, notamment le lissage exponentiel</a:t>
            </a:r>
          </a:p>
        </p:txBody>
      </p:sp>
    </p:spTree>
  </p:cSld>
  <p:clrMapOvr>
    <a:masterClrMapping/>
  </p:clrMapOvr>
  <p:transition spd="fast">
    <p:fade/>
  </p:transition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1471508">
            <a:off x="7442248" y="-3517885"/>
            <a:ext cx="2160993" cy="11665743"/>
            <a:chOff x="0" y="0"/>
            <a:chExt cx="597206" cy="322391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97206" cy="3223913"/>
            </a:xfrm>
            <a:custGeom>
              <a:avLst/>
              <a:gdLst/>
              <a:ahLst/>
              <a:cxnLst/>
              <a:rect r="r" b="b" t="t" l="l"/>
              <a:pathLst>
                <a:path h="3223913" w="597206">
                  <a:moveTo>
                    <a:pt x="0" y="0"/>
                  </a:moveTo>
                  <a:lnTo>
                    <a:pt x="597206" y="0"/>
                  </a:lnTo>
                  <a:lnTo>
                    <a:pt x="597206" y="3223913"/>
                  </a:lnTo>
                  <a:lnTo>
                    <a:pt x="0" y="3223913"/>
                  </a:lnTo>
                  <a:close/>
                </a:path>
              </a:pathLst>
            </a:custGeom>
            <a:solidFill>
              <a:srgbClr val="D5DADA">
                <a:alpha val="23922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97206" cy="3262013"/>
            </a:xfrm>
            <a:prstGeom prst="rect">
              <a:avLst/>
            </a:prstGeom>
          </p:spPr>
          <p:txBody>
            <a:bodyPr anchor="ctr" rtlCol="false" tIns="35873" lIns="35873" bIns="35873" rIns="35873"/>
            <a:lstStyle/>
            <a:p>
              <a:pPr algn="ctr">
                <a:lnSpc>
                  <a:spcPts val="1384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1471508">
            <a:off x="7842796" y="1744300"/>
            <a:ext cx="2160993" cy="11212989"/>
            <a:chOff x="0" y="0"/>
            <a:chExt cx="597206" cy="309879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97206" cy="3098791"/>
            </a:xfrm>
            <a:custGeom>
              <a:avLst/>
              <a:gdLst/>
              <a:ahLst/>
              <a:cxnLst/>
              <a:rect r="r" b="b" t="t" l="l"/>
              <a:pathLst>
                <a:path h="3098791" w="597206">
                  <a:moveTo>
                    <a:pt x="0" y="0"/>
                  </a:moveTo>
                  <a:lnTo>
                    <a:pt x="597206" y="0"/>
                  </a:lnTo>
                  <a:lnTo>
                    <a:pt x="597206" y="3098791"/>
                  </a:lnTo>
                  <a:lnTo>
                    <a:pt x="0" y="3098791"/>
                  </a:lnTo>
                  <a:close/>
                </a:path>
              </a:pathLst>
            </a:custGeom>
            <a:solidFill>
              <a:srgbClr val="D5DADA">
                <a:alpha val="23922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97206" cy="3136892"/>
            </a:xfrm>
            <a:prstGeom prst="rect">
              <a:avLst/>
            </a:prstGeom>
          </p:spPr>
          <p:txBody>
            <a:bodyPr anchor="ctr" rtlCol="false" tIns="35873" lIns="35873" bIns="35873" rIns="35873"/>
            <a:lstStyle/>
            <a:p>
              <a:pPr algn="ctr">
                <a:lnSpc>
                  <a:spcPts val="1384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015140" y="5027944"/>
            <a:ext cx="10518155" cy="10518113"/>
            <a:chOff x="0" y="0"/>
            <a:chExt cx="6350000" cy="634997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350000" cy="6349975"/>
            </a:xfrm>
            <a:custGeom>
              <a:avLst/>
              <a:gdLst/>
              <a:ahLst/>
              <a:cxnLst/>
              <a:rect r="r" b="b" t="t" l="l"/>
              <a:pathLst>
                <a:path h="6349975" w="6350000">
                  <a:moveTo>
                    <a:pt x="6350000" y="3175025"/>
                  </a:moveTo>
                  <a:cubicBezTo>
                    <a:pt x="6350000" y="4928451"/>
                    <a:pt x="4928476" y="6349975"/>
                    <a:pt x="3175000" y="6349975"/>
                  </a:cubicBezTo>
                  <a:cubicBezTo>
                    <a:pt x="1421498" y="6349975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2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2"/>
              <a:stretch>
                <a:fillRect l="-25471" t="0" r="-25471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800842" y="5813625"/>
            <a:ext cx="8946750" cy="8946750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0477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35873" lIns="35873" bIns="35873" rIns="35873"/>
            <a:lstStyle/>
            <a:p>
              <a:pPr algn="ctr">
                <a:lnSpc>
                  <a:spcPts val="1384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-4524129" y="-3792316"/>
            <a:ext cx="10518155" cy="10518113"/>
            <a:chOff x="0" y="0"/>
            <a:chExt cx="6350000" cy="634997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350000" cy="6349975"/>
            </a:xfrm>
            <a:custGeom>
              <a:avLst/>
              <a:gdLst/>
              <a:ahLst/>
              <a:cxnLst/>
              <a:rect r="r" b="b" t="t" l="l"/>
              <a:pathLst>
                <a:path h="6349975" w="6350000">
                  <a:moveTo>
                    <a:pt x="6350000" y="3175025"/>
                  </a:moveTo>
                  <a:cubicBezTo>
                    <a:pt x="6350000" y="4928451"/>
                    <a:pt x="4928476" y="6349975"/>
                    <a:pt x="3175000" y="6349975"/>
                  </a:cubicBezTo>
                  <a:cubicBezTo>
                    <a:pt x="1421498" y="6349975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2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3"/>
              <a:stretch>
                <a:fillRect l="-25471" t="0" r="-25471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-3738427" y="-3006635"/>
            <a:ext cx="8946750" cy="8946750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0477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35873" lIns="35873" bIns="35873" rIns="35873"/>
            <a:lstStyle/>
            <a:p>
              <a:pPr algn="ctr">
                <a:lnSpc>
                  <a:spcPts val="1384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4872582" y="3417055"/>
            <a:ext cx="10405019" cy="2523060"/>
            <a:chOff x="0" y="0"/>
            <a:chExt cx="1590939" cy="38577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590939" cy="385779"/>
            </a:xfrm>
            <a:custGeom>
              <a:avLst/>
              <a:gdLst/>
              <a:ahLst/>
              <a:cxnLst/>
              <a:rect r="r" b="b" t="t" l="l"/>
              <a:pathLst>
                <a:path h="385779" w="1590939">
                  <a:moveTo>
                    <a:pt x="12649" y="0"/>
                  </a:moveTo>
                  <a:lnTo>
                    <a:pt x="1578290" y="0"/>
                  </a:lnTo>
                  <a:cubicBezTo>
                    <a:pt x="1585275" y="0"/>
                    <a:pt x="1590939" y="5663"/>
                    <a:pt x="1590939" y="12649"/>
                  </a:cubicBezTo>
                  <a:lnTo>
                    <a:pt x="1590939" y="373130"/>
                  </a:lnTo>
                  <a:cubicBezTo>
                    <a:pt x="1590939" y="376484"/>
                    <a:pt x="1589606" y="379702"/>
                    <a:pt x="1587234" y="382074"/>
                  </a:cubicBezTo>
                  <a:cubicBezTo>
                    <a:pt x="1584862" y="384446"/>
                    <a:pt x="1581644" y="385779"/>
                    <a:pt x="1578290" y="385779"/>
                  </a:cubicBezTo>
                  <a:lnTo>
                    <a:pt x="12649" y="385779"/>
                  </a:lnTo>
                  <a:cubicBezTo>
                    <a:pt x="9294" y="385779"/>
                    <a:pt x="6077" y="384446"/>
                    <a:pt x="3705" y="382074"/>
                  </a:cubicBezTo>
                  <a:cubicBezTo>
                    <a:pt x="1333" y="379702"/>
                    <a:pt x="0" y="376484"/>
                    <a:pt x="0" y="373130"/>
                  </a:cubicBezTo>
                  <a:lnTo>
                    <a:pt x="0" y="12649"/>
                  </a:lnTo>
                  <a:cubicBezTo>
                    <a:pt x="0" y="9294"/>
                    <a:pt x="1333" y="6077"/>
                    <a:pt x="3705" y="3705"/>
                  </a:cubicBezTo>
                  <a:cubicBezTo>
                    <a:pt x="6077" y="1333"/>
                    <a:pt x="9294" y="0"/>
                    <a:pt x="12649" y="0"/>
                  </a:cubicBezTo>
                  <a:close/>
                </a:path>
              </a:pathLst>
            </a:custGeom>
            <a:solidFill>
              <a:srgbClr val="FAFAFA"/>
            </a:solidFill>
            <a:ln w="28575" cap="sq">
              <a:solidFill>
                <a:srgbClr val="0097B2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57150"/>
              <a:ext cx="1590939" cy="4429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5994026" y="3389553"/>
            <a:ext cx="9059440" cy="19853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82"/>
              </a:lnSpc>
              <a:spcBef>
                <a:spcPct val="0"/>
              </a:spcBef>
            </a:pPr>
            <a:r>
              <a:rPr lang="en-US" b="true" sz="5558">
                <a:solidFill>
                  <a:srgbClr val="329A87"/>
                </a:solidFill>
                <a:latin typeface="Telegraf Bold"/>
                <a:ea typeface="Telegraf Bold"/>
                <a:cs typeface="Telegraf Bold"/>
                <a:sym typeface="Telegraf Bold"/>
              </a:rPr>
              <a:t>Préparation des données et visualisation de la série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994026" y="5157590"/>
            <a:ext cx="8162131" cy="782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56"/>
              </a:lnSpc>
              <a:spcBef>
                <a:spcPct val="0"/>
              </a:spcBef>
            </a:pPr>
            <a:r>
              <a:rPr lang="en-US" sz="4326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Traitement et visualisation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4067426" y="3633090"/>
            <a:ext cx="1926599" cy="1926599"/>
          </a:xfrm>
          <a:custGeom>
            <a:avLst/>
            <a:gdLst/>
            <a:ahLst/>
            <a:cxnLst/>
            <a:rect r="r" b="b" t="t" l="l"/>
            <a:pathLst>
              <a:path h="1926599" w="1926599">
                <a:moveTo>
                  <a:pt x="0" y="0"/>
                </a:moveTo>
                <a:lnTo>
                  <a:pt x="1926600" y="0"/>
                </a:lnTo>
                <a:lnTo>
                  <a:pt x="1926600" y="1926599"/>
                </a:lnTo>
                <a:lnTo>
                  <a:pt x="0" y="192659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6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4" id="24"/>
          <p:cNvGrpSpPr/>
          <p:nvPr/>
        </p:nvGrpSpPr>
        <p:grpSpPr>
          <a:xfrm rot="0">
            <a:off x="4252211" y="3817875"/>
            <a:ext cx="1557029" cy="1557029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97B2"/>
            </a:solidFill>
            <a:ln cap="sq">
              <a:noFill/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4357484" y="3784937"/>
            <a:ext cx="1346483" cy="13943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785"/>
              </a:lnSpc>
              <a:spcBef>
                <a:spcPct val="0"/>
              </a:spcBef>
            </a:pPr>
            <a:r>
              <a:rPr lang="en-US" b="true" sz="7703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5</a:t>
            </a:r>
          </a:p>
        </p:txBody>
      </p:sp>
    </p:spTree>
  </p:cSld>
  <p:clrMapOvr>
    <a:masterClrMapping/>
  </p:clrMapOvr>
  <p:transition spd="slow">
    <p:cover dir="l"/>
  </p:transition>
</p:sld>
</file>

<file path=ppt/slides/slide27.xml><?xml version="1.0" encoding="utf-8"?>
<p:sld xmlns:p="http://schemas.openxmlformats.org/presentationml/2006/main" xmlns:a="http://schemas.openxmlformats.org/drawingml/2006/main">
  <p:cSld>
    <p:bg>
      <p:bgPr>
        <a:solidFill>
          <a:srgbClr val="F0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614280" y="866775"/>
            <a:ext cx="9059440" cy="10030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82"/>
              </a:lnSpc>
              <a:spcBef>
                <a:spcPct val="0"/>
              </a:spcBef>
            </a:pPr>
            <a:r>
              <a:rPr lang="en-US" b="true" sz="5558">
                <a:solidFill>
                  <a:srgbClr val="329A87"/>
                </a:solidFill>
                <a:latin typeface="Telegraf Bold"/>
                <a:ea typeface="Telegraf Bold"/>
                <a:cs typeface="Telegraf Bold"/>
                <a:sym typeface="Telegraf Bold"/>
              </a:rPr>
              <a:t>Préparation des données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3439619"/>
            <a:ext cx="11621305" cy="3264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90147" indent="-495074" lvl="1">
              <a:lnSpc>
                <a:spcPts val="6420"/>
              </a:lnSpc>
              <a:buFont typeface="Arial"/>
              <a:buChar char="•"/>
            </a:pPr>
            <a:r>
              <a:rPr lang="en-US" b="true" sz="4586">
                <a:solidFill>
                  <a:srgbClr val="1C6976"/>
                </a:solidFill>
                <a:latin typeface="Telegraf Bold"/>
                <a:ea typeface="Telegraf Bold"/>
                <a:cs typeface="Telegraf Bold"/>
                <a:sym typeface="Telegraf Bold"/>
              </a:rPr>
              <a:t>Base déjà apurée, traitement de données non nécessaire</a:t>
            </a:r>
          </a:p>
          <a:p>
            <a:pPr algn="l" marL="990147" indent="-495074" lvl="1">
              <a:lnSpc>
                <a:spcPts val="6420"/>
              </a:lnSpc>
              <a:buFont typeface="Arial"/>
              <a:buChar char="•"/>
            </a:pPr>
            <a:r>
              <a:rPr lang="en-US" b="true" sz="4586">
                <a:solidFill>
                  <a:srgbClr val="1C6976"/>
                </a:solidFill>
                <a:latin typeface="Telegraf Bold"/>
                <a:ea typeface="Telegraf Bold"/>
                <a:cs typeface="Telegraf Bold"/>
                <a:sym typeface="Telegraf Bold"/>
              </a:rPr>
              <a:t>Transformation de la série brute en objet de type ts (Time Series)</a:t>
            </a:r>
          </a:p>
        </p:txBody>
      </p:sp>
    </p:spTree>
  </p:cSld>
  <p:clrMapOvr>
    <a:masterClrMapping/>
  </p:clrMapOvr>
  <p:transition spd="slow">
    <p:push dir="l"/>
  </p:transition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1486416" y="-631187"/>
            <a:ext cx="21305826" cy="126290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2248836" y="169213"/>
            <a:ext cx="13790329" cy="64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b="true" sz="3500">
                <a:solidFill>
                  <a:srgbClr val="1C6976"/>
                </a:solidFill>
                <a:latin typeface="Telegraf Bold"/>
                <a:ea typeface="Telegraf Bold"/>
                <a:cs typeface="Telegraf Bold"/>
                <a:sym typeface="Telegraf Bold"/>
              </a:rPr>
              <a:t>Evolution du PIB trimestriel du Sénégal (en milliards de FCFA)</a:t>
            </a:r>
          </a:p>
        </p:txBody>
      </p:sp>
    </p:spTree>
  </p:cSld>
  <p:clrMapOvr>
    <a:masterClrMapping/>
  </p:clrMapOvr>
  <p:transition spd="slow">
    <p:push dir="l"/>
  </p:transition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1471508">
            <a:off x="7442248" y="-3517885"/>
            <a:ext cx="2160993" cy="11665743"/>
            <a:chOff x="0" y="0"/>
            <a:chExt cx="597206" cy="322391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97206" cy="3223913"/>
            </a:xfrm>
            <a:custGeom>
              <a:avLst/>
              <a:gdLst/>
              <a:ahLst/>
              <a:cxnLst/>
              <a:rect r="r" b="b" t="t" l="l"/>
              <a:pathLst>
                <a:path h="3223913" w="597206">
                  <a:moveTo>
                    <a:pt x="0" y="0"/>
                  </a:moveTo>
                  <a:lnTo>
                    <a:pt x="597206" y="0"/>
                  </a:lnTo>
                  <a:lnTo>
                    <a:pt x="597206" y="3223913"/>
                  </a:lnTo>
                  <a:lnTo>
                    <a:pt x="0" y="3223913"/>
                  </a:lnTo>
                  <a:close/>
                </a:path>
              </a:pathLst>
            </a:custGeom>
            <a:solidFill>
              <a:srgbClr val="D5DADA">
                <a:alpha val="23922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97206" cy="3262013"/>
            </a:xfrm>
            <a:prstGeom prst="rect">
              <a:avLst/>
            </a:prstGeom>
          </p:spPr>
          <p:txBody>
            <a:bodyPr anchor="ctr" rtlCol="false" tIns="35873" lIns="35873" bIns="35873" rIns="35873"/>
            <a:lstStyle/>
            <a:p>
              <a:pPr algn="ctr">
                <a:lnSpc>
                  <a:spcPts val="1384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1471508">
            <a:off x="7842796" y="1744300"/>
            <a:ext cx="2160993" cy="11212989"/>
            <a:chOff x="0" y="0"/>
            <a:chExt cx="597206" cy="309879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97206" cy="3098791"/>
            </a:xfrm>
            <a:custGeom>
              <a:avLst/>
              <a:gdLst/>
              <a:ahLst/>
              <a:cxnLst/>
              <a:rect r="r" b="b" t="t" l="l"/>
              <a:pathLst>
                <a:path h="3098791" w="597206">
                  <a:moveTo>
                    <a:pt x="0" y="0"/>
                  </a:moveTo>
                  <a:lnTo>
                    <a:pt x="597206" y="0"/>
                  </a:lnTo>
                  <a:lnTo>
                    <a:pt x="597206" y="3098791"/>
                  </a:lnTo>
                  <a:lnTo>
                    <a:pt x="0" y="3098791"/>
                  </a:lnTo>
                  <a:close/>
                </a:path>
              </a:pathLst>
            </a:custGeom>
            <a:solidFill>
              <a:srgbClr val="D5DADA">
                <a:alpha val="23922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97206" cy="3136892"/>
            </a:xfrm>
            <a:prstGeom prst="rect">
              <a:avLst/>
            </a:prstGeom>
          </p:spPr>
          <p:txBody>
            <a:bodyPr anchor="ctr" rtlCol="false" tIns="35873" lIns="35873" bIns="35873" rIns="35873"/>
            <a:lstStyle/>
            <a:p>
              <a:pPr algn="ctr">
                <a:lnSpc>
                  <a:spcPts val="1384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015140" y="5027944"/>
            <a:ext cx="10518155" cy="10518113"/>
            <a:chOff x="0" y="0"/>
            <a:chExt cx="6350000" cy="634997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350000" cy="6349975"/>
            </a:xfrm>
            <a:custGeom>
              <a:avLst/>
              <a:gdLst/>
              <a:ahLst/>
              <a:cxnLst/>
              <a:rect r="r" b="b" t="t" l="l"/>
              <a:pathLst>
                <a:path h="6349975" w="6350000">
                  <a:moveTo>
                    <a:pt x="6350000" y="3175025"/>
                  </a:moveTo>
                  <a:cubicBezTo>
                    <a:pt x="6350000" y="4928451"/>
                    <a:pt x="4928476" y="6349975"/>
                    <a:pt x="3175000" y="6349975"/>
                  </a:cubicBezTo>
                  <a:cubicBezTo>
                    <a:pt x="1421498" y="6349975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2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2"/>
              <a:stretch>
                <a:fillRect l="-25471" t="0" r="-25471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800842" y="5813625"/>
            <a:ext cx="8946750" cy="8946750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0477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35873" lIns="35873" bIns="35873" rIns="35873"/>
            <a:lstStyle/>
            <a:p>
              <a:pPr algn="ctr">
                <a:lnSpc>
                  <a:spcPts val="1384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-4524129" y="-3792316"/>
            <a:ext cx="10518155" cy="10518113"/>
            <a:chOff x="0" y="0"/>
            <a:chExt cx="6350000" cy="634997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350000" cy="6349975"/>
            </a:xfrm>
            <a:custGeom>
              <a:avLst/>
              <a:gdLst/>
              <a:ahLst/>
              <a:cxnLst/>
              <a:rect r="r" b="b" t="t" l="l"/>
              <a:pathLst>
                <a:path h="6349975" w="6350000">
                  <a:moveTo>
                    <a:pt x="6350000" y="3175025"/>
                  </a:moveTo>
                  <a:cubicBezTo>
                    <a:pt x="6350000" y="4928451"/>
                    <a:pt x="4928476" y="6349975"/>
                    <a:pt x="3175000" y="6349975"/>
                  </a:cubicBezTo>
                  <a:cubicBezTo>
                    <a:pt x="1421498" y="6349975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2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3"/>
              <a:stretch>
                <a:fillRect l="-25471" t="0" r="-25471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-3738427" y="-3006635"/>
            <a:ext cx="8946750" cy="8946750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0477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35873" lIns="35873" bIns="35873" rIns="35873"/>
            <a:lstStyle/>
            <a:p>
              <a:pPr algn="ctr">
                <a:lnSpc>
                  <a:spcPts val="1384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4872773" y="3729254"/>
            <a:ext cx="9283384" cy="2301384"/>
            <a:chOff x="0" y="0"/>
            <a:chExt cx="1419439" cy="35188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419439" cy="351884"/>
            </a:xfrm>
            <a:custGeom>
              <a:avLst/>
              <a:gdLst/>
              <a:ahLst/>
              <a:cxnLst/>
              <a:rect r="r" b="b" t="t" l="l"/>
              <a:pathLst>
                <a:path h="351884" w="1419439">
                  <a:moveTo>
                    <a:pt x="14177" y="0"/>
                  </a:moveTo>
                  <a:lnTo>
                    <a:pt x="1405262" y="0"/>
                  </a:lnTo>
                  <a:cubicBezTo>
                    <a:pt x="1409022" y="0"/>
                    <a:pt x="1412628" y="1494"/>
                    <a:pt x="1415287" y="4152"/>
                  </a:cubicBezTo>
                  <a:cubicBezTo>
                    <a:pt x="1417946" y="6811"/>
                    <a:pt x="1419439" y="10417"/>
                    <a:pt x="1419439" y="14177"/>
                  </a:cubicBezTo>
                  <a:lnTo>
                    <a:pt x="1419439" y="337707"/>
                  </a:lnTo>
                  <a:cubicBezTo>
                    <a:pt x="1419439" y="341467"/>
                    <a:pt x="1417946" y="345073"/>
                    <a:pt x="1415287" y="347732"/>
                  </a:cubicBezTo>
                  <a:cubicBezTo>
                    <a:pt x="1412628" y="350390"/>
                    <a:pt x="1409022" y="351884"/>
                    <a:pt x="1405262" y="351884"/>
                  </a:cubicBezTo>
                  <a:lnTo>
                    <a:pt x="14177" y="351884"/>
                  </a:lnTo>
                  <a:cubicBezTo>
                    <a:pt x="10417" y="351884"/>
                    <a:pt x="6811" y="350390"/>
                    <a:pt x="4152" y="347732"/>
                  </a:cubicBezTo>
                  <a:cubicBezTo>
                    <a:pt x="1494" y="345073"/>
                    <a:pt x="0" y="341467"/>
                    <a:pt x="0" y="337707"/>
                  </a:cubicBezTo>
                  <a:lnTo>
                    <a:pt x="0" y="14177"/>
                  </a:lnTo>
                  <a:cubicBezTo>
                    <a:pt x="0" y="10417"/>
                    <a:pt x="1494" y="6811"/>
                    <a:pt x="4152" y="4152"/>
                  </a:cubicBezTo>
                  <a:cubicBezTo>
                    <a:pt x="6811" y="1494"/>
                    <a:pt x="10417" y="0"/>
                    <a:pt x="14177" y="0"/>
                  </a:cubicBezTo>
                  <a:close/>
                </a:path>
              </a:pathLst>
            </a:custGeom>
            <a:solidFill>
              <a:srgbClr val="FAFAFA"/>
            </a:solidFill>
            <a:ln w="28575" cap="sq">
              <a:solidFill>
                <a:srgbClr val="0097B2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57150"/>
              <a:ext cx="1419439" cy="4090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5994026" y="3760202"/>
            <a:ext cx="8162131" cy="10030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82"/>
              </a:lnSpc>
              <a:spcBef>
                <a:spcPct val="0"/>
              </a:spcBef>
            </a:pPr>
            <a:r>
              <a:rPr lang="en-US" b="true" sz="5558">
                <a:solidFill>
                  <a:srgbClr val="329A87"/>
                </a:solidFill>
                <a:latin typeface="Telegraf Bold"/>
                <a:ea typeface="Telegraf Bold"/>
                <a:cs typeface="Telegraf Bold"/>
                <a:sym typeface="Telegraf Bold"/>
              </a:rPr>
              <a:t>Choix du modèle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994026" y="4489057"/>
            <a:ext cx="8162131" cy="15415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56"/>
              </a:lnSpc>
              <a:spcBef>
                <a:spcPct val="0"/>
              </a:spcBef>
            </a:pPr>
            <a:r>
              <a:rPr lang="en-US" sz="4326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Composantes de la série et décomposition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4067426" y="3633090"/>
            <a:ext cx="1926599" cy="1926599"/>
          </a:xfrm>
          <a:custGeom>
            <a:avLst/>
            <a:gdLst/>
            <a:ahLst/>
            <a:cxnLst/>
            <a:rect r="r" b="b" t="t" l="l"/>
            <a:pathLst>
              <a:path h="1926599" w="1926599">
                <a:moveTo>
                  <a:pt x="0" y="0"/>
                </a:moveTo>
                <a:lnTo>
                  <a:pt x="1926600" y="0"/>
                </a:lnTo>
                <a:lnTo>
                  <a:pt x="1926600" y="1926599"/>
                </a:lnTo>
                <a:lnTo>
                  <a:pt x="0" y="192659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6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4" id="24"/>
          <p:cNvGrpSpPr/>
          <p:nvPr/>
        </p:nvGrpSpPr>
        <p:grpSpPr>
          <a:xfrm rot="0">
            <a:off x="4252211" y="3817875"/>
            <a:ext cx="1557029" cy="1557029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97B2"/>
            </a:solidFill>
            <a:ln cap="sq">
              <a:noFill/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4357484" y="3784937"/>
            <a:ext cx="1346483" cy="13943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785"/>
              </a:lnSpc>
              <a:spcBef>
                <a:spcPct val="0"/>
              </a:spcBef>
            </a:pPr>
            <a:r>
              <a:rPr lang="en-US" b="true" sz="7703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6</a:t>
            </a:r>
          </a:p>
        </p:txBody>
      </p:sp>
    </p:spTree>
  </p:cSld>
  <p:clrMapOvr>
    <a:masterClrMapping/>
  </p:clrMapOvr>
  <p:transition spd="slow">
    <p:push dir="l"/>
  </p:transition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51200" y="866775"/>
            <a:ext cx="15785599" cy="10030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82"/>
              </a:lnSpc>
              <a:spcBef>
                <a:spcPct val="0"/>
              </a:spcBef>
            </a:pPr>
            <a:r>
              <a:rPr lang="en-US" b="true" sz="5558">
                <a:solidFill>
                  <a:srgbClr val="329A87"/>
                </a:solidFill>
                <a:latin typeface="Telegraf Bold"/>
                <a:ea typeface="Telegraf Bold"/>
                <a:cs typeface="Telegraf Bold"/>
                <a:sym typeface="Telegraf Bold"/>
              </a:rPr>
              <a:t>Vérification de l’existence des composantes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139950" y="1992735"/>
            <a:ext cx="16008100" cy="2390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4499">
                <a:solidFill>
                  <a:srgbClr val="191919"/>
                </a:solidFill>
                <a:latin typeface="Telegraf"/>
                <a:ea typeface="Telegraf"/>
                <a:cs typeface="Telegraf"/>
                <a:sym typeface="Telegraf"/>
              </a:rPr>
              <a:t>L’aperçu graphique nous a permis d’émettre certaines hypothèses que nous essaierons de vérifier par des tests statistiques. 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9231827" y="4928928"/>
            <a:ext cx="2779448" cy="2779448"/>
          </a:xfrm>
          <a:custGeom>
            <a:avLst/>
            <a:gdLst/>
            <a:ahLst/>
            <a:cxnLst/>
            <a:rect r="r" b="b" t="t" l="l"/>
            <a:pathLst>
              <a:path h="2779448" w="2779448">
                <a:moveTo>
                  <a:pt x="0" y="0"/>
                </a:moveTo>
                <a:lnTo>
                  <a:pt x="2779448" y="0"/>
                </a:lnTo>
                <a:lnTo>
                  <a:pt x="2779448" y="2779448"/>
                </a:lnTo>
                <a:lnTo>
                  <a:pt x="0" y="27794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947025" y="4928928"/>
            <a:ext cx="2779448" cy="2779448"/>
          </a:xfrm>
          <a:custGeom>
            <a:avLst/>
            <a:gdLst/>
            <a:ahLst/>
            <a:cxnLst/>
            <a:rect r="r" b="b" t="t" l="l"/>
            <a:pathLst>
              <a:path h="2779448" w="2779448">
                <a:moveTo>
                  <a:pt x="0" y="0"/>
                </a:moveTo>
                <a:lnTo>
                  <a:pt x="2779448" y="0"/>
                </a:lnTo>
                <a:lnTo>
                  <a:pt x="2779448" y="2779448"/>
                </a:lnTo>
                <a:lnTo>
                  <a:pt x="0" y="277944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063695" y="5445162"/>
            <a:ext cx="2546108" cy="1624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9"/>
              </a:lnSpc>
            </a:pPr>
            <a:r>
              <a:rPr lang="en-US" b="true" sz="3330" spc="166">
                <a:solidFill>
                  <a:srgbClr val="37C9EF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TEST DE</a:t>
            </a:r>
          </a:p>
          <a:p>
            <a:pPr algn="ctr">
              <a:lnSpc>
                <a:spcPts val="4329"/>
              </a:lnSpc>
            </a:pPr>
            <a:r>
              <a:rPr lang="en-US" b="true" sz="3330" spc="166">
                <a:solidFill>
                  <a:srgbClr val="37C9EF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 MANN-</a:t>
            </a:r>
          </a:p>
          <a:p>
            <a:pPr algn="ctr">
              <a:lnSpc>
                <a:spcPts val="4329"/>
              </a:lnSpc>
            </a:pPr>
            <a:r>
              <a:rPr lang="en-US" b="true" sz="3330" spc="166">
                <a:solidFill>
                  <a:srgbClr val="37C9EF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KENDALL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516100" y="4921287"/>
            <a:ext cx="4191000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spc="150" b="true">
                <a:solidFill>
                  <a:srgbClr val="53786D"/>
                </a:solidFill>
                <a:latin typeface="Aileron Bold"/>
                <a:ea typeface="Aileron Bold"/>
                <a:cs typeface="Aileron Bold"/>
                <a:sym typeface="Aileron Bold"/>
              </a:rPr>
              <a:t>Détection de la saisonnalité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348497" y="5514445"/>
            <a:ext cx="2546108" cy="1624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9"/>
              </a:lnSpc>
            </a:pPr>
            <a:r>
              <a:rPr lang="en-US" b="true" sz="3330" spc="166">
                <a:solidFill>
                  <a:srgbClr val="329A87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TEST ANOVA DE FISHER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51200" y="4921287"/>
            <a:ext cx="4191000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200"/>
              </a:lnSpc>
            </a:pPr>
            <a:r>
              <a:rPr lang="en-US" b="true" sz="3000" spc="150">
                <a:solidFill>
                  <a:srgbClr val="365B6D"/>
                </a:solidFill>
                <a:latin typeface="Aileron Bold"/>
                <a:ea typeface="Aileron Bold"/>
                <a:cs typeface="Aileron Bold"/>
                <a:sym typeface="Aileron Bold"/>
              </a:rPr>
              <a:t>Détection de la tendance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67618" y="6392899"/>
            <a:ext cx="5796077" cy="2325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 spc="109">
                <a:solidFill>
                  <a:srgbClr val="191919"/>
                </a:solidFill>
                <a:latin typeface="Aileron"/>
                <a:ea typeface="Aileron"/>
                <a:cs typeface="Aileron"/>
                <a:sym typeface="Aileron"/>
              </a:rPr>
              <a:t>H0 : Absence de tendance.</a:t>
            </a:r>
          </a:p>
          <a:p>
            <a:pPr algn="ctr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 spc="109">
                <a:solidFill>
                  <a:srgbClr val="191919"/>
                </a:solidFill>
                <a:latin typeface="Aileron"/>
                <a:ea typeface="Aileron"/>
                <a:cs typeface="Aileron"/>
                <a:sym typeface="Aileron"/>
              </a:rPr>
              <a:t>Critère : Rejeter H0 si p-value &lt; 0.05.</a:t>
            </a:r>
          </a:p>
          <a:p>
            <a:pPr algn="ctr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 spc="109">
                <a:solidFill>
                  <a:srgbClr val="191919"/>
                </a:solidFill>
                <a:latin typeface="Aileron"/>
                <a:ea typeface="Aileron"/>
                <a:cs typeface="Aileron"/>
                <a:sym typeface="Aileron"/>
              </a:rPr>
              <a:t>Résultat : p-value &lt; 2.2e-16. &lt; 0.05</a:t>
            </a:r>
          </a:p>
          <a:p>
            <a:pPr algn="ctr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 spc="109">
                <a:solidFill>
                  <a:srgbClr val="191919"/>
                </a:solidFill>
                <a:latin typeface="Aileron"/>
                <a:ea typeface="Aileron"/>
                <a:cs typeface="Aileron"/>
                <a:sym typeface="Aileron"/>
              </a:rPr>
              <a:t>Conclusion : Présence de tendance significative.</a:t>
            </a:r>
          </a:p>
          <a:p>
            <a:pPr algn="ctr">
              <a:lnSpc>
                <a:spcPts val="3079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2516100" y="6392899"/>
            <a:ext cx="5771900" cy="1934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474978" indent="-237489" lvl="1">
              <a:lnSpc>
                <a:spcPts val="3079"/>
              </a:lnSpc>
              <a:buFont typeface="Arial"/>
              <a:buChar char="•"/>
            </a:pPr>
            <a:r>
              <a:rPr lang="en-US" sz="2199" spc="109">
                <a:solidFill>
                  <a:srgbClr val="191919"/>
                </a:solidFill>
                <a:latin typeface="Aileron"/>
                <a:ea typeface="Aileron"/>
                <a:cs typeface="Aileron"/>
                <a:sym typeface="Aileron"/>
              </a:rPr>
              <a:t>H0 : Absence de saisonnalité .</a:t>
            </a:r>
          </a:p>
          <a:p>
            <a:pPr algn="ctr" marL="474978" indent="-237489" lvl="1">
              <a:lnSpc>
                <a:spcPts val="3079"/>
              </a:lnSpc>
              <a:buFont typeface="Arial"/>
              <a:buChar char="•"/>
            </a:pPr>
            <a:r>
              <a:rPr lang="en-US" sz="2199" spc="109">
                <a:solidFill>
                  <a:srgbClr val="191919"/>
                </a:solidFill>
                <a:latin typeface="Aileron"/>
                <a:ea typeface="Aileron"/>
                <a:cs typeface="Aileron"/>
                <a:sym typeface="Aileron"/>
              </a:rPr>
              <a:t>Critère : Rejeter H0 si p &lt; 0.05.</a:t>
            </a:r>
          </a:p>
          <a:p>
            <a:pPr algn="ctr" marL="474978" indent="-237489" lvl="1">
              <a:lnSpc>
                <a:spcPts val="3079"/>
              </a:lnSpc>
              <a:buFont typeface="Arial"/>
              <a:buChar char="•"/>
            </a:pPr>
            <a:r>
              <a:rPr lang="en-US" sz="2199" spc="109">
                <a:solidFill>
                  <a:srgbClr val="191919"/>
                </a:solidFill>
                <a:latin typeface="Aileron"/>
                <a:ea typeface="Aileron"/>
                <a:cs typeface="Aileron"/>
                <a:sym typeface="Aileron"/>
              </a:rPr>
              <a:t>Résultat : p-value = 0.0695 &gt; 0.05.</a:t>
            </a:r>
          </a:p>
          <a:p>
            <a:pPr algn="ctr" marL="474978" indent="-237489" lvl="1">
              <a:lnSpc>
                <a:spcPts val="3079"/>
              </a:lnSpc>
              <a:buFont typeface="Arial"/>
              <a:buChar char="•"/>
            </a:pPr>
            <a:r>
              <a:rPr lang="en-US" sz="2199" spc="109">
                <a:solidFill>
                  <a:srgbClr val="191919"/>
                </a:solidFill>
                <a:latin typeface="Aileron"/>
                <a:ea typeface="Aileron"/>
                <a:cs typeface="Aileron"/>
                <a:sym typeface="Aileron"/>
              </a:rPr>
              <a:t>Conclusion : Globalement, pas de saisonnalité.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62451" y="8696325"/>
            <a:ext cx="15785599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b="true" sz="3000" spc="150">
                <a:solidFill>
                  <a:srgbClr val="E41D25"/>
                </a:solidFill>
                <a:latin typeface="Aileron Bold"/>
                <a:ea typeface="Aileron Bold"/>
                <a:cs typeface="Aileron Bold"/>
                <a:sym typeface="Aileron Bold"/>
              </a:rPr>
              <a:t>Tests supplémentaires à effectuer sur les sous-séries à effectuer pour analyser la saisonnalité sur 2008-2013 et 2014-2024. </a:t>
            </a:r>
          </a:p>
        </p:txBody>
      </p:sp>
    </p:spTree>
  </p:cSld>
  <p:clrMapOvr>
    <a:masterClrMapping/>
  </p:clrMapOvr>
  <p:transition spd="slow">
    <p:push dir="l"/>
  </p:transition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49200" y="1275670"/>
            <a:ext cx="5772865" cy="7735661"/>
            <a:chOff x="0" y="0"/>
            <a:chExt cx="5190628" cy="69554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90628" cy="6955461"/>
            </a:xfrm>
            <a:custGeom>
              <a:avLst/>
              <a:gdLst/>
              <a:ahLst/>
              <a:cxnLst/>
              <a:rect r="r" b="b" t="t" l="l"/>
              <a:pathLst>
                <a:path h="6955461" w="5190628">
                  <a:moveTo>
                    <a:pt x="0" y="0"/>
                  </a:moveTo>
                  <a:lnTo>
                    <a:pt x="0" y="6955461"/>
                  </a:lnTo>
                  <a:lnTo>
                    <a:pt x="5190628" y="6955461"/>
                  </a:lnTo>
                  <a:lnTo>
                    <a:pt x="5190628" y="0"/>
                  </a:lnTo>
                  <a:lnTo>
                    <a:pt x="0" y="0"/>
                  </a:lnTo>
                  <a:close/>
                  <a:moveTo>
                    <a:pt x="5129668" y="6894500"/>
                  </a:moveTo>
                  <a:lnTo>
                    <a:pt x="59690" y="6894500"/>
                  </a:lnTo>
                  <a:lnTo>
                    <a:pt x="59690" y="59690"/>
                  </a:lnTo>
                  <a:lnTo>
                    <a:pt x="5129668" y="59690"/>
                  </a:lnTo>
                  <a:lnTo>
                    <a:pt x="5129668" y="6894500"/>
                  </a:lnTo>
                  <a:close/>
                </a:path>
              </a:pathLst>
            </a:custGeom>
            <a:solidFill>
              <a:srgbClr val="365B6D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976781" y="1275670"/>
            <a:ext cx="5862019" cy="7735661"/>
            <a:chOff x="0" y="0"/>
            <a:chExt cx="5270790" cy="69554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270790" cy="6955461"/>
            </a:xfrm>
            <a:custGeom>
              <a:avLst/>
              <a:gdLst/>
              <a:ahLst/>
              <a:cxnLst/>
              <a:rect r="r" b="b" t="t" l="l"/>
              <a:pathLst>
                <a:path h="6955461" w="5270790">
                  <a:moveTo>
                    <a:pt x="0" y="0"/>
                  </a:moveTo>
                  <a:lnTo>
                    <a:pt x="0" y="6955461"/>
                  </a:lnTo>
                  <a:lnTo>
                    <a:pt x="5270790" y="6955461"/>
                  </a:lnTo>
                  <a:lnTo>
                    <a:pt x="5270790" y="0"/>
                  </a:lnTo>
                  <a:lnTo>
                    <a:pt x="0" y="0"/>
                  </a:lnTo>
                  <a:close/>
                  <a:moveTo>
                    <a:pt x="5209830" y="6894500"/>
                  </a:moveTo>
                  <a:lnTo>
                    <a:pt x="59690" y="6894500"/>
                  </a:lnTo>
                  <a:lnTo>
                    <a:pt x="59690" y="59690"/>
                  </a:lnTo>
                  <a:lnTo>
                    <a:pt x="5209830" y="59690"/>
                  </a:lnTo>
                  <a:lnTo>
                    <a:pt x="5209830" y="6894500"/>
                  </a:lnTo>
                  <a:close/>
                </a:path>
              </a:pathLst>
            </a:custGeom>
            <a:solidFill>
              <a:srgbClr val="365B6D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507594" y="2479356"/>
            <a:ext cx="4191000" cy="1307377"/>
            <a:chOff x="0" y="0"/>
            <a:chExt cx="5588000" cy="1743169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24249"/>
              <a:ext cx="5588000" cy="5793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42"/>
                </a:lnSpc>
              </a:pPr>
              <a:r>
                <a:rPr lang="en-US" b="true" sz="2724">
                  <a:solidFill>
                    <a:srgbClr val="365B6D"/>
                  </a:solidFill>
                  <a:latin typeface="Barlow Semi-Bold"/>
                  <a:ea typeface="Barlow Semi-Bold"/>
                  <a:cs typeface="Barlow Semi-Bold"/>
                  <a:sym typeface="Barlow Semi-Bold"/>
                </a:rPr>
                <a:t>Résultat du test ANOVA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858553"/>
              <a:ext cx="5588000" cy="7727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934"/>
                </a:lnSpc>
              </a:pPr>
              <a:r>
                <a:rPr lang="en-US" sz="3524" spc="14">
                  <a:solidFill>
                    <a:srgbClr val="1C6976"/>
                  </a:solidFill>
                  <a:latin typeface="Barlow"/>
                  <a:ea typeface="Barlow"/>
                  <a:cs typeface="Barlow"/>
                  <a:sym typeface="Barlow"/>
                </a:rPr>
                <a:t>p-value = 0.892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2500252" y="2466780"/>
            <a:ext cx="4191000" cy="1332529"/>
            <a:chOff x="0" y="0"/>
            <a:chExt cx="5588000" cy="1776705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-24249"/>
              <a:ext cx="5588000" cy="5793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42"/>
                </a:lnSpc>
              </a:pPr>
              <a:r>
                <a:rPr lang="en-US" b="true" sz="2724">
                  <a:solidFill>
                    <a:srgbClr val="365B6D"/>
                  </a:solidFill>
                  <a:latin typeface="Barlow Semi-Bold"/>
                  <a:ea typeface="Barlow Semi-Bold"/>
                  <a:cs typeface="Barlow Semi-Bold"/>
                  <a:sym typeface="Barlow Semi-Bold"/>
                </a:rPr>
                <a:t>Résultat du test ANOVA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854366"/>
              <a:ext cx="5588000" cy="8051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039"/>
                </a:lnSpc>
              </a:pPr>
              <a:r>
                <a:rPr lang="en-US" sz="3599" spc="14">
                  <a:solidFill>
                    <a:srgbClr val="1C6976"/>
                  </a:solidFill>
                  <a:latin typeface="Barlow"/>
                  <a:ea typeface="Barlow"/>
                  <a:cs typeface="Barlow"/>
                  <a:sym typeface="Barlow"/>
                </a:rPr>
                <a:t>p-value = 0.00097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507594" y="6053817"/>
            <a:ext cx="4191000" cy="2200276"/>
            <a:chOff x="0" y="0"/>
            <a:chExt cx="5588000" cy="2933702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-24249"/>
              <a:ext cx="5588000" cy="5793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42"/>
                </a:lnSpc>
              </a:pPr>
              <a:r>
                <a:rPr lang="en-US" b="true" sz="2724">
                  <a:solidFill>
                    <a:srgbClr val="365B6D"/>
                  </a:solidFill>
                  <a:latin typeface="Barlow Semi-Bold"/>
                  <a:ea typeface="Barlow Semi-Bold"/>
                  <a:cs typeface="Barlow Semi-Bold"/>
                  <a:sym typeface="Barlow Semi-Bold"/>
                </a:rPr>
                <a:t>Conclusion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915763"/>
              <a:ext cx="5588000" cy="18298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599"/>
                </a:lnSpc>
              </a:pPr>
              <a:r>
                <a:rPr lang="en-US" sz="3999" spc="15">
                  <a:solidFill>
                    <a:srgbClr val="1C6976"/>
                  </a:solidFill>
                  <a:latin typeface="Barlow"/>
                  <a:ea typeface="Barlow"/>
                  <a:cs typeface="Barlow"/>
                  <a:sym typeface="Barlow"/>
                </a:rPr>
                <a:t>Absence de saisonnalité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366521" y="5945885"/>
            <a:ext cx="5082539" cy="2093894"/>
            <a:chOff x="0" y="0"/>
            <a:chExt cx="6776718" cy="2791858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-24249"/>
              <a:ext cx="6776718" cy="5793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42"/>
                </a:lnSpc>
              </a:pPr>
              <a:r>
                <a:rPr lang="en-US" b="true" sz="2724">
                  <a:solidFill>
                    <a:srgbClr val="365B6D"/>
                  </a:solidFill>
                  <a:latin typeface="Barlow Semi-Bold"/>
                  <a:ea typeface="Barlow Semi-Bold"/>
                  <a:cs typeface="Barlow Semi-Bold"/>
                  <a:sym typeface="Barlow Semi-Bold"/>
                </a:rPr>
                <a:t>Conclusion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844841"/>
              <a:ext cx="6776718" cy="18298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599"/>
                </a:lnSpc>
              </a:pPr>
              <a:r>
                <a:rPr lang="en-US" sz="3999" spc="15">
                  <a:solidFill>
                    <a:srgbClr val="1C6976"/>
                  </a:solidFill>
                  <a:latin typeface="Barlow"/>
                  <a:ea typeface="Barlow"/>
                  <a:cs typeface="Barlow"/>
                  <a:sym typeface="Barlow"/>
                </a:rPr>
                <a:t>Présence de saisonnalité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0119002" y="3952875"/>
            <a:ext cx="2381250" cy="2381250"/>
            <a:chOff x="0" y="0"/>
            <a:chExt cx="3175000" cy="3175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175000" cy="3175000"/>
            </a:xfrm>
            <a:custGeom>
              <a:avLst/>
              <a:gdLst/>
              <a:ahLst/>
              <a:cxnLst/>
              <a:rect r="r" b="b" t="t" l="l"/>
              <a:pathLst>
                <a:path h="3175000" w="3175000">
                  <a:moveTo>
                    <a:pt x="0" y="0"/>
                  </a:moveTo>
                  <a:lnTo>
                    <a:pt x="3175000" y="0"/>
                  </a:lnTo>
                  <a:lnTo>
                    <a:pt x="3175000" y="3175000"/>
                  </a:lnTo>
                  <a:lnTo>
                    <a:pt x="0" y="3175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85521" y="85521"/>
              <a:ext cx="3003957" cy="3003957"/>
            </a:xfrm>
            <a:custGeom>
              <a:avLst/>
              <a:gdLst/>
              <a:ahLst/>
              <a:cxnLst/>
              <a:rect r="r" b="b" t="t" l="l"/>
              <a:pathLst>
                <a:path h="3003957" w="3003957">
                  <a:moveTo>
                    <a:pt x="0" y="0"/>
                  </a:moveTo>
                  <a:lnTo>
                    <a:pt x="3003958" y="0"/>
                  </a:lnTo>
                  <a:lnTo>
                    <a:pt x="3003958" y="3003958"/>
                  </a:lnTo>
                  <a:lnTo>
                    <a:pt x="0" y="30039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21" id="21"/>
          <p:cNvSpPr/>
          <p:nvPr/>
        </p:nvSpPr>
        <p:spPr>
          <a:xfrm flipH="false" flipV="false" rot="0">
            <a:off x="5698594" y="3952875"/>
            <a:ext cx="2381250" cy="2381250"/>
          </a:xfrm>
          <a:custGeom>
            <a:avLst/>
            <a:gdLst/>
            <a:ahLst/>
            <a:cxnLst/>
            <a:rect r="r" b="b" t="t" l="l"/>
            <a:pathLst>
              <a:path h="2381250" w="2381250">
                <a:moveTo>
                  <a:pt x="0" y="0"/>
                </a:moveTo>
                <a:lnTo>
                  <a:pt x="2381250" y="0"/>
                </a:lnTo>
                <a:lnTo>
                  <a:pt x="2381250" y="2381250"/>
                </a:lnTo>
                <a:lnTo>
                  <a:pt x="0" y="23812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5762735" y="4017016"/>
            <a:ext cx="2252968" cy="2252968"/>
          </a:xfrm>
          <a:custGeom>
            <a:avLst/>
            <a:gdLst/>
            <a:ahLst/>
            <a:cxnLst/>
            <a:rect r="r" b="b" t="t" l="l"/>
            <a:pathLst>
              <a:path h="2252968" w="2252968">
                <a:moveTo>
                  <a:pt x="0" y="0"/>
                </a:moveTo>
                <a:lnTo>
                  <a:pt x="2252968" y="0"/>
                </a:lnTo>
                <a:lnTo>
                  <a:pt x="2252968" y="2252968"/>
                </a:lnTo>
                <a:lnTo>
                  <a:pt x="0" y="22529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5543089" y="4219575"/>
            <a:ext cx="2692260" cy="1895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50"/>
              </a:lnSpc>
            </a:pPr>
            <a:r>
              <a:rPr lang="en-US" b="true" sz="4500">
                <a:solidFill>
                  <a:srgbClr val="365B6D"/>
                </a:solidFill>
                <a:latin typeface="Barlow Bold"/>
                <a:ea typeface="Barlow Bold"/>
                <a:cs typeface="Barlow Bold"/>
                <a:sym typeface="Barlow Bold"/>
              </a:rPr>
              <a:t>2008</a:t>
            </a:r>
          </a:p>
          <a:p>
            <a:pPr algn="ctr">
              <a:lnSpc>
                <a:spcPts val="4950"/>
              </a:lnSpc>
            </a:pPr>
            <a:r>
              <a:rPr lang="en-US" b="true" sz="4500">
                <a:solidFill>
                  <a:srgbClr val="365B6D"/>
                </a:solidFill>
                <a:latin typeface="Barlow Bold"/>
                <a:ea typeface="Barlow Bold"/>
                <a:cs typeface="Barlow Bold"/>
                <a:sym typeface="Barlow Bold"/>
              </a:rPr>
              <a:t>-</a:t>
            </a:r>
          </a:p>
          <a:p>
            <a:pPr algn="ctr">
              <a:lnSpc>
                <a:spcPts val="4950"/>
              </a:lnSpc>
            </a:pPr>
            <a:r>
              <a:rPr lang="en-US" b="true" sz="4500">
                <a:solidFill>
                  <a:srgbClr val="365B6D"/>
                </a:solidFill>
                <a:latin typeface="Barlow Bold"/>
                <a:ea typeface="Barlow Bold"/>
                <a:cs typeface="Barlow Bold"/>
                <a:sym typeface="Barlow Bold"/>
              </a:rPr>
              <a:t>2013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963497" y="4219575"/>
            <a:ext cx="2692260" cy="1895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50"/>
              </a:lnSpc>
            </a:pPr>
            <a:r>
              <a:rPr lang="en-US" b="true" sz="4500">
                <a:solidFill>
                  <a:srgbClr val="365B6D"/>
                </a:solidFill>
                <a:latin typeface="Barlow Bold"/>
                <a:ea typeface="Barlow Bold"/>
                <a:cs typeface="Barlow Bold"/>
                <a:sym typeface="Barlow Bold"/>
              </a:rPr>
              <a:t>2014</a:t>
            </a:r>
          </a:p>
          <a:p>
            <a:pPr algn="ctr">
              <a:lnSpc>
                <a:spcPts val="4950"/>
              </a:lnSpc>
            </a:pPr>
            <a:r>
              <a:rPr lang="en-US" b="true" sz="4500">
                <a:solidFill>
                  <a:srgbClr val="365B6D"/>
                </a:solidFill>
                <a:latin typeface="Barlow Bold"/>
                <a:ea typeface="Barlow Bold"/>
                <a:cs typeface="Barlow Bold"/>
                <a:sym typeface="Barlow Bold"/>
              </a:rPr>
              <a:t>-</a:t>
            </a:r>
          </a:p>
          <a:p>
            <a:pPr algn="ctr">
              <a:lnSpc>
                <a:spcPts val="4950"/>
              </a:lnSpc>
            </a:pPr>
            <a:r>
              <a:rPr lang="en-US" b="true" sz="4500">
                <a:solidFill>
                  <a:srgbClr val="365B6D"/>
                </a:solidFill>
                <a:latin typeface="Barlow Bold"/>
                <a:ea typeface="Barlow Bold"/>
                <a:cs typeface="Barlow Bold"/>
                <a:sym typeface="Barlow Bold"/>
              </a:rPr>
              <a:t>2024</a:t>
            </a:r>
          </a:p>
        </p:txBody>
      </p:sp>
    </p:spTree>
  </p:cSld>
  <p:clrMapOvr>
    <a:masterClrMapping/>
  </p:clrMapOvr>
  <p:transition spd="slow">
    <p:push dir="l"/>
  </p:transition>
</p:sld>
</file>

<file path=ppt/slides/slide32.xml><?xml version="1.0" encoding="utf-8"?>
<p:sld xmlns:p="http://schemas.openxmlformats.org/presentationml/2006/main" xmlns:a="http://schemas.openxmlformats.org/drawingml/2006/main">
  <p:cSld>
    <p:bg>
      <p:bgPr>
        <a:solidFill>
          <a:srgbClr val="F0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516511" y="1693051"/>
            <a:ext cx="13254978" cy="6442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32"/>
              </a:lnSpc>
            </a:pPr>
            <a:r>
              <a:rPr lang="en-US" b="true" sz="4024">
                <a:solidFill>
                  <a:srgbClr val="024854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Conclusion globale sur la saisonnalité de la série: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516511" y="3924300"/>
            <a:ext cx="13254978" cy="2362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b="true" sz="4500" spc="18">
                <a:solidFill>
                  <a:srgbClr val="191919"/>
                </a:solidFill>
                <a:latin typeface="Barlow Bold"/>
                <a:ea typeface="Barlow Bold"/>
                <a:cs typeface="Barlow Bold"/>
                <a:sym typeface="Barlow Bold"/>
              </a:rPr>
              <a:t>La période de 2008-2013 a une forte influence sur la saisonnalité globale de la série.</a:t>
            </a:r>
          </a:p>
          <a:p>
            <a:pPr algn="ctr">
              <a:lnSpc>
                <a:spcPts val="6299"/>
              </a:lnSpc>
            </a:pPr>
          </a:p>
        </p:txBody>
      </p:sp>
    </p:spTree>
  </p:cSld>
  <p:clrMapOvr>
    <a:masterClrMapping/>
  </p:clrMapOvr>
  <p:transition spd="slow">
    <p:push dir="l"/>
  </p:transition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3097316"/>
            <a:ext cx="18288000" cy="95250"/>
          </a:xfrm>
          <a:prstGeom prst="rect">
            <a:avLst/>
          </a:prstGeom>
          <a:solidFill>
            <a:srgbClr val="86EAE9"/>
          </a:solidFill>
        </p:spPr>
      </p:sp>
      <p:grpSp>
        <p:nvGrpSpPr>
          <p:cNvPr name="Group 3" id="3"/>
          <p:cNvGrpSpPr/>
          <p:nvPr/>
        </p:nvGrpSpPr>
        <p:grpSpPr>
          <a:xfrm rot="0">
            <a:off x="846799" y="1573316"/>
            <a:ext cx="3143250" cy="3143250"/>
            <a:chOff x="0" y="0"/>
            <a:chExt cx="4191000" cy="4191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191000" cy="4191000"/>
            </a:xfrm>
            <a:custGeom>
              <a:avLst/>
              <a:gdLst/>
              <a:ahLst/>
              <a:cxnLst/>
              <a:rect r="r" b="b" t="t" l="l"/>
              <a:pathLst>
                <a:path h="4191000" w="4191000">
                  <a:moveTo>
                    <a:pt x="0" y="0"/>
                  </a:moveTo>
                  <a:lnTo>
                    <a:pt x="4191000" y="0"/>
                  </a:lnTo>
                  <a:lnTo>
                    <a:pt x="4191000" y="4191000"/>
                  </a:lnTo>
                  <a:lnTo>
                    <a:pt x="0" y="419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12888" y="112888"/>
              <a:ext cx="3965223" cy="3965223"/>
            </a:xfrm>
            <a:custGeom>
              <a:avLst/>
              <a:gdLst/>
              <a:ahLst/>
              <a:cxnLst/>
              <a:rect r="r" b="b" t="t" l="l"/>
              <a:pathLst>
                <a:path h="3965223" w="3965223">
                  <a:moveTo>
                    <a:pt x="0" y="0"/>
                  </a:moveTo>
                  <a:lnTo>
                    <a:pt x="3965224" y="0"/>
                  </a:lnTo>
                  <a:lnTo>
                    <a:pt x="3965224" y="3965224"/>
                  </a:lnTo>
                  <a:lnTo>
                    <a:pt x="0" y="39652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5302072" y="1573316"/>
            <a:ext cx="3143250" cy="3143250"/>
            <a:chOff x="0" y="0"/>
            <a:chExt cx="4191000" cy="4191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191000" cy="4191000"/>
            </a:xfrm>
            <a:custGeom>
              <a:avLst/>
              <a:gdLst/>
              <a:ahLst/>
              <a:cxnLst/>
              <a:rect r="r" b="b" t="t" l="l"/>
              <a:pathLst>
                <a:path h="4191000" w="4191000">
                  <a:moveTo>
                    <a:pt x="0" y="0"/>
                  </a:moveTo>
                  <a:lnTo>
                    <a:pt x="4191000" y="0"/>
                  </a:lnTo>
                  <a:lnTo>
                    <a:pt x="4191000" y="4191000"/>
                  </a:lnTo>
                  <a:lnTo>
                    <a:pt x="0" y="419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112888" y="112888"/>
              <a:ext cx="3965223" cy="3965223"/>
            </a:xfrm>
            <a:custGeom>
              <a:avLst/>
              <a:gdLst/>
              <a:ahLst/>
              <a:cxnLst/>
              <a:rect r="r" b="b" t="t" l="l"/>
              <a:pathLst>
                <a:path h="3965223" w="3965223">
                  <a:moveTo>
                    <a:pt x="0" y="0"/>
                  </a:moveTo>
                  <a:lnTo>
                    <a:pt x="3965224" y="0"/>
                  </a:lnTo>
                  <a:lnTo>
                    <a:pt x="3965224" y="3965224"/>
                  </a:lnTo>
                  <a:lnTo>
                    <a:pt x="0" y="39652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9757345" y="1573316"/>
            <a:ext cx="3143250" cy="3143250"/>
            <a:chOff x="0" y="0"/>
            <a:chExt cx="4191000" cy="4191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191000" cy="4191000"/>
            </a:xfrm>
            <a:custGeom>
              <a:avLst/>
              <a:gdLst/>
              <a:ahLst/>
              <a:cxnLst/>
              <a:rect r="r" b="b" t="t" l="l"/>
              <a:pathLst>
                <a:path h="4191000" w="4191000">
                  <a:moveTo>
                    <a:pt x="0" y="0"/>
                  </a:moveTo>
                  <a:lnTo>
                    <a:pt x="4191000" y="0"/>
                  </a:lnTo>
                  <a:lnTo>
                    <a:pt x="4191000" y="4191000"/>
                  </a:lnTo>
                  <a:lnTo>
                    <a:pt x="0" y="419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12888" y="112888"/>
              <a:ext cx="3965223" cy="3965223"/>
            </a:xfrm>
            <a:custGeom>
              <a:avLst/>
              <a:gdLst/>
              <a:ahLst/>
              <a:cxnLst/>
              <a:rect r="r" b="b" t="t" l="l"/>
              <a:pathLst>
                <a:path h="3965223" w="3965223">
                  <a:moveTo>
                    <a:pt x="0" y="0"/>
                  </a:moveTo>
                  <a:lnTo>
                    <a:pt x="3965224" y="0"/>
                  </a:lnTo>
                  <a:lnTo>
                    <a:pt x="3965224" y="3965224"/>
                  </a:lnTo>
                  <a:lnTo>
                    <a:pt x="0" y="39652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4212617" y="1573316"/>
            <a:ext cx="3143250" cy="3143250"/>
            <a:chOff x="0" y="0"/>
            <a:chExt cx="4191000" cy="4191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191000" cy="4191000"/>
            </a:xfrm>
            <a:custGeom>
              <a:avLst/>
              <a:gdLst/>
              <a:ahLst/>
              <a:cxnLst/>
              <a:rect r="r" b="b" t="t" l="l"/>
              <a:pathLst>
                <a:path h="4191000" w="4191000">
                  <a:moveTo>
                    <a:pt x="0" y="0"/>
                  </a:moveTo>
                  <a:lnTo>
                    <a:pt x="4191000" y="0"/>
                  </a:lnTo>
                  <a:lnTo>
                    <a:pt x="4191000" y="4191000"/>
                  </a:lnTo>
                  <a:lnTo>
                    <a:pt x="0" y="419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112888" y="112888"/>
              <a:ext cx="3965223" cy="3965223"/>
            </a:xfrm>
            <a:custGeom>
              <a:avLst/>
              <a:gdLst/>
              <a:ahLst/>
              <a:cxnLst/>
              <a:rect r="r" b="b" t="t" l="l"/>
              <a:pathLst>
                <a:path h="3965223" w="3965223">
                  <a:moveTo>
                    <a:pt x="0" y="0"/>
                  </a:moveTo>
                  <a:lnTo>
                    <a:pt x="3965224" y="0"/>
                  </a:lnTo>
                  <a:lnTo>
                    <a:pt x="3965224" y="3965224"/>
                  </a:lnTo>
                  <a:lnTo>
                    <a:pt x="0" y="39652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637249" y="2848237"/>
            <a:ext cx="3562350" cy="5648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82"/>
              </a:lnSpc>
            </a:pPr>
            <a:r>
              <a:rPr lang="en-US" b="true" sz="3524" spc="176">
                <a:solidFill>
                  <a:srgbClr val="13538A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OBJECTIF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37249" y="4897541"/>
            <a:ext cx="3562350" cy="1471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spc="139">
                <a:solidFill>
                  <a:srgbClr val="191919"/>
                </a:solidFill>
                <a:latin typeface="Aileron"/>
                <a:ea typeface="Aileron"/>
                <a:cs typeface="Aileron"/>
                <a:sym typeface="Aileron"/>
              </a:rPr>
              <a:t>Choix entre le modèle multiplicatif et le modèle additif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092522" y="2848237"/>
            <a:ext cx="3562350" cy="5648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82"/>
              </a:lnSpc>
            </a:pPr>
            <a:r>
              <a:rPr lang="en-US" b="true" sz="3524" spc="176">
                <a:solidFill>
                  <a:srgbClr val="2C92D5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MÉTHODE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092522" y="4897541"/>
            <a:ext cx="3562350" cy="2462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spc="139">
                <a:solidFill>
                  <a:srgbClr val="191919"/>
                </a:solidFill>
                <a:latin typeface="Aileron"/>
                <a:ea typeface="Aileron"/>
                <a:cs typeface="Aileron"/>
                <a:sym typeface="Aileron"/>
              </a:rPr>
              <a:t>Pentes de Buys-Ballot, relation entre moyenne et écart-type des trimestres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566845" y="2848237"/>
            <a:ext cx="3524250" cy="5648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82"/>
              </a:lnSpc>
            </a:pPr>
            <a:r>
              <a:rPr lang="en-US" b="true" sz="3524" spc="176">
                <a:solidFill>
                  <a:srgbClr val="37C9EF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TEST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566845" y="4897541"/>
            <a:ext cx="3524250" cy="1471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spc="139">
                <a:solidFill>
                  <a:srgbClr val="191919"/>
                </a:solidFill>
                <a:latin typeface="Aileron"/>
                <a:ea typeface="Aileron"/>
                <a:cs typeface="Aileron"/>
                <a:sym typeface="Aileron"/>
              </a:rPr>
              <a:t>Régression linéaire de l’écart-type sur la moyenne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003067" y="2848237"/>
            <a:ext cx="3562350" cy="5648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82"/>
              </a:lnSpc>
            </a:pPr>
            <a:r>
              <a:rPr lang="en-US" b="true" sz="3524" spc="176">
                <a:solidFill>
                  <a:srgbClr val="3EDAD8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RÉSULTAT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4003067" y="4897541"/>
            <a:ext cx="3562350" cy="2462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spc="139">
                <a:solidFill>
                  <a:srgbClr val="191919"/>
                </a:solidFill>
                <a:latin typeface="Aileron"/>
                <a:ea typeface="Aileron"/>
                <a:cs typeface="Aileron"/>
                <a:sym typeface="Aileron"/>
              </a:rPr>
              <a:t>p-value pour la moyenne &lt; 5 %, pente statistiquement non nulle.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490458" y="335196"/>
            <a:ext cx="9307084" cy="10030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82"/>
              </a:lnSpc>
              <a:spcBef>
                <a:spcPct val="0"/>
              </a:spcBef>
            </a:pPr>
            <a:r>
              <a:rPr lang="en-US" b="true" sz="5558">
                <a:solidFill>
                  <a:srgbClr val="329A87"/>
                </a:solidFill>
                <a:latin typeface="Telegraf Bold"/>
                <a:ea typeface="Telegraf Bold"/>
                <a:cs typeface="Telegraf Bold"/>
                <a:sym typeface="Telegraf Bold"/>
              </a:rPr>
              <a:t>Décomposition de la série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2939356" y="7598196"/>
            <a:ext cx="13254978" cy="1688467"/>
            <a:chOff x="0" y="0"/>
            <a:chExt cx="17673304" cy="2251289"/>
          </a:xfrm>
        </p:grpSpPr>
        <p:sp>
          <p:nvSpPr>
            <p:cNvPr name="TextBox 25" id="25"/>
            <p:cNvSpPr txBox="true"/>
            <p:nvPr/>
          </p:nvSpPr>
          <p:spPr>
            <a:xfrm rot="0">
              <a:off x="0" y="-33774"/>
              <a:ext cx="17673304" cy="84624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232"/>
                </a:lnSpc>
              </a:pPr>
              <a:r>
                <a:rPr lang="en-US" b="true" sz="4024">
                  <a:solidFill>
                    <a:srgbClr val="024854"/>
                  </a:solidFill>
                  <a:latin typeface="Barlow Semi-Bold"/>
                  <a:ea typeface="Barlow Semi-Bold"/>
                  <a:cs typeface="Barlow Semi-Bold"/>
                  <a:sym typeface="Barlow Semi-Bold"/>
                </a:rPr>
                <a:t>Conclusion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0" y="1173150"/>
              <a:ext cx="17673304" cy="8900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599"/>
                </a:lnSpc>
              </a:pPr>
              <a:r>
                <a:rPr lang="en-US" sz="3999" spc="15">
                  <a:solidFill>
                    <a:srgbClr val="E41D25"/>
                  </a:solidFill>
                  <a:latin typeface="Barlow"/>
                  <a:ea typeface="Barlow"/>
                  <a:cs typeface="Barlow"/>
                  <a:sym typeface="Barlow"/>
                </a:rPr>
                <a:t>Choix porté sur le modèle multiplicatif</a:t>
              </a:r>
            </a:p>
          </p:txBody>
        </p:sp>
      </p:grpSp>
    </p:spTree>
  </p:cSld>
  <p:clrMapOvr>
    <a:masterClrMapping/>
  </p:clrMapOvr>
  <p:transition spd="slow">
    <p:push dir="l"/>
  </p:transition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1471508">
            <a:off x="7442248" y="-3517885"/>
            <a:ext cx="2160993" cy="11665743"/>
            <a:chOff x="0" y="0"/>
            <a:chExt cx="597206" cy="322391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97206" cy="3223913"/>
            </a:xfrm>
            <a:custGeom>
              <a:avLst/>
              <a:gdLst/>
              <a:ahLst/>
              <a:cxnLst/>
              <a:rect r="r" b="b" t="t" l="l"/>
              <a:pathLst>
                <a:path h="3223913" w="597206">
                  <a:moveTo>
                    <a:pt x="0" y="0"/>
                  </a:moveTo>
                  <a:lnTo>
                    <a:pt x="597206" y="0"/>
                  </a:lnTo>
                  <a:lnTo>
                    <a:pt x="597206" y="3223913"/>
                  </a:lnTo>
                  <a:lnTo>
                    <a:pt x="0" y="3223913"/>
                  </a:lnTo>
                  <a:close/>
                </a:path>
              </a:pathLst>
            </a:custGeom>
            <a:solidFill>
              <a:srgbClr val="D5DADA">
                <a:alpha val="23922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97206" cy="3262013"/>
            </a:xfrm>
            <a:prstGeom prst="rect">
              <a:avLst/>
            </a:prstGeom>
          </p:spPr>
          <p:txBody>
            <a:bodyPr anchor="ctr" rtlCol="false" tIns="35873" lIns="35873" bIns="35873" rIns="35873"/>
            <a:lstStyle/>
            <a:p>
              <a:pPr algn="ctr">
                <a:lnSpc>
                  <a:spcPts val="1384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1471508">
            <a:off x="7842796" y="1744300"/>
            <a:ext cx="2160993" cy="11212989"/>
            <a:chOff x="0" y="0"/>
            <a:chExt cx="597206" cy="309879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97206" cy="3098791"/>
            </a:xfrm>
            <a:custGeom>
              <a:avLst/>
              <a:gdLst/>
              <a:ahLst/>
              <a:cxnLst/>
              <a:rect r="r" b="b" t="t" l="l"/>
              <a:pathLst>
                <a:path h="3098791" w="597206">
                  <a:moveTo>
                    <a:pt x="0" y="0"/>
                  </a:moveTo>
                  <a:lnTo>
                    <a:pt x="597206" y="0"/>
                  </a:lnTo>
                  <a:lnTo>
                    <a:pt x="597206" y="3098791"/>
                  </a:lnTo>
                  <a:lnTo>
                    <a:pt x="0" y="3098791"/>
                  </a:lnTo>
                  <a:close/>
                </a:path>
              </a:pathLst>
            </a:custGeom>
            <a:solidFill>
              <a:srgbClr val="D5DADA">
                <a:alpha val="23922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97206" cy="3136892"/>
            </a:xfrm>
            <a:prstGeom prst="rect">
              <a:avLst/>
            </a:prstGeom>
          </p:spPr>
          <p:txBody>
            <a:bodyPr anchor="ctr" rtlCol="false" tIns="35873" lIns="35873" bIns="35873" rIns="35873"/>
            <a:lstStyle/>
            <a:p>
              <a:pPr algn="ctr">
                <a:lnSpc>
                  <a:spcPts val="1384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015140" y="5027944"/>
            <a:ext cx="10518155" cy="10518113"/>
            <a:chOff x="0" y="0"/>
            <a:chExt cx="6350000" cy="634997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350000" cy="6349975"/>
            </a:xfrm>
            <a:custGeom>
              <a:avLst/>
              <a:gdLst/>
              <a:ahLst/>
              <a:cxnLst/>
              <a:rect r="r" b="b" t="t" l="l"/>
              <a:pathLst>
                <a:path h="6349975" w="6350000">
                  <a:moveTo>
                    <a:pt x="6350000" y="3175025"/>
                  </a:moveTo>
                  <a:cubicBezTo>
                    <a:pt x="6350000" y="4928451"/>
                    <a:pt x="4928476" y="6349975"/>
                    <a:pt x="3175000" y="6349975"/>
                  </a:cubicBezTo>
                  <a:cubicBezTo>
                    <a:pt x="1421498" y="6349975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2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2"/>
              <a:stretch>
                <a:fillRect l="-25471" t="0" r="-25471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800842" y="5813625"/>
            <a:ext cx="8946750" cy="8946750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0477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35873" lIns="35873" bIns="35873" rIns="35873"/>
            <a:lstStyle/>
            <a:p>
              <a:pPr algn="ctr">
                <a:lnSpc>
                  <a:spcPts val="1384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-4524129" y="-3792316"/>
            <a:ext cx="10518155" cy="10518113"/>
            <a:chOff x="0" y="0"/>
            <a:chExt cx="6350000" cy="634997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350000" cy="6349975"/>
            </a:xfrm>
            <a:custGeom>
              <a:avLst/>
              <a:gdLst/>
              <a:ahLst/>
              <a:cxnLst/>
              <a:rect r="r" b="b" t="t" l="l"/>
              <a:pathLst>
                <a:path h="6349975" w="6350000">
                  <a:moveTo>
                    <a:pt x="6350000" y="3175025"/>
                  </a:moveTo>
                  <a:cubicBezTo>
                    <a:pt x="6350000" y="4928451"/>
                    <a:pt x="4928476" y="6349975"/>
                    <a:pt x="3175000" y="6349975"/>
                  </a:cubicBezTo>
                  <a:cubicBezTo>
                    <a:pt x="1421498" y="6349975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2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3"/>
              <a:stretch>
                <a:fillRect l="-25471" t="0" r="-25471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-3738427" y="-3006635"/>
            <a:ext cx="8946750" cy="8946750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0477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35873" lIns="35873" bIns="35873" rIns="35873"/>
            <a:lstStyle/>
            <a:p>
              <a:pPr algn="ctr">
                <a:lnSpc>
                  <a:spcPts val="1384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4872773" y="3335569"/>
            <a:ext cx="10946295" cy="4015226"/>
            <a:chOff x="0" y="0"/>
            <a:chExt cx="1673700" cy="61393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673700" cy="613932"/>
            </a:xfrm>
            <a:custGeom>
              <a:avLst/>
              <a:gdLst/>
              <a:ahLst/>
              <a:cxnLst/>
              <a:rect r="r" b="b" t="t" l="l"/>
              <a:pathLst>
                <a:path h="613932" w="1673700">
                  <a:moveTo>
                    <a:pt x="12023" y="0"/>
                  </a:moveTo>
                  <a:lnTo>
                    <a:pt x="1661677" y="0"/>
                  </a:lnTo>
                  <a:cubicBezTo>
                    <a:pt x="1668317" y="0"/>
                    <a:pt x="1673700" y="5383"/>
                    <a:pt x="1673700" y="12023"/>
                  </a:cubicBezTo>
                  <a:lnTo>
                    <a:pt x="1673700" y="601909"/>
                  </a:lnTo>
                  <a:cubicBezTo>
                    <a:pt x="1673700" y="608549"/>
                    <a:pt x="1668317" y="613932"/>
                    <a:pt x="1661677" y="613932"/>
                  </a:cubicBezTo>
                  <a:lnTo>
                    <a:pt x="12023" y="613932"/>
                  </a:lnTo>
                  <a:cubicBezTo>
                    <a:pt x="5383" y="613932"/>
                    <a:pt x="0" y="608549"/>
                    <a:pt x="0" y="601909"/>
                  </a:cubicBezTo>
                  <a:lnTo>
                    <a:pt x="0" y="12023"/>
                  </a:lnTo>
                  <a:cubicBezTo>
                    <a:pt x="0" y="5383"/>
                    <a:pt x="5383" y="0"/>
                    <a:pt x="12023" y="0"/>
                  </a:cubicBezTo>
                  <a:close/>
                </a:path>
              </a:pathLst>
            </a:custGeom>
            <a:solidFill>
              <a:srgbClr val="FAFAFA"/>
            </a:solidFill>
            <a:ln w="28575" cap="sq">
              <a:solidFill>
                <a:srgbClr val="0097B2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57150"/>
              <a:ext cx="1673700" cy="6710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5809240" y="3655950"/>
            <a:ext cx="9347860" cy="19853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82"/>
              </a:lnSpc>
              <a:spcBef>
                <a:spcPct val="0"/>
              </a:spcBef>
            </a:pPr>
            <a:r>
              <a:rPr lang="en-US" b="true" sz="5558">
                <a:solidFill>
                  <a:srgbClr val="329A87"/>
                </a:solidFill>
                <a:latin typeface="Telegraf Bold"/>
                <a:ea typeface="Telegraf Bold"/>
                <a:cs typeface="Telegraf Bold"/>
                <a:sym typeface="Telegraf Bold"/>
              </a:rPr>
              <a:t>Analyse de la série à partir des composantes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4067426" y="3633090"/>
            <a:ext cx="1926599" cy="1926599"/>
          </a:xfrm>
          <a:custGeom>
            <a:avLst/>
            <a:gdLst/>
            <a:ahLst/>
            <a:cxnLst/>
            <a:rect r="r" b="b" t="t" l="l"/>
            <a:pathLst>
              <a:path h="1926599" w="1926599">
                <a:moveTo>
                  <a:pt x="0" y="0"/>
                </a:moveTo>
                <a:lnTo>
                  <a:pt x="1926600" y="0"/>
                </a:lnTo>
                <a:lnTo>
                  <a:pt x="1926600" y="1926599"/>
                </a:lnTo>
                <a:lnTo>
                  <a:pt x="0" y="192659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6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3" id="23"/>
          <p:cNvGrpSpPr/>
          <p:nvPr/>
        </p:nvGrpSpPr>
        <p:grpSpPr>
          <a:xfrm rot="0">
            <a:off x="4252211" y="3817875"/>
            <a:ext cx="1557029" cy="1557029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97B2"/>
            </a:solidFill>
            <a:ln cap="sq">
              <a:noFill/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4357484" y="3784937"/>
            <a:ext cx="1346483" cy="13943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785"/>
              </a:lnSpc>
              <a:spcBef>
                <a:spcPct val="0"/>
              </a:spcBef>
            </a:pPr>
            <a:r>
              <a:rPr lang="en-US" b="true" sz="7703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7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5809240" y="5426339"/>
            <a:ext cx="8162131" cy="15415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56"/>
              </a:lnSpc>
              <a:spcBef>
                <a:spcPct val="0"/>
              </a:spcBef>
            </a:pPr>
            <a:r>
              <a:rPr lang="en-US" sz="4326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Estimation de la tendance et de la saisonnalité</a:t>
            </a:r>
          </a:p>
        </p:txBody>
      </p:sp>
    </p:spTree>
  </p:cSld>
  <p:clrMapOvr>
    <a:masterClrMapping/>
  </p:clrMapOvr>
  <p:transition spd="slow">
    <p:cover dir="l"/>
  </p:transition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490458" y="446216"/>
            <a:ext cx="9307084" cy="10030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82"/>
              </a:lnSpc>
              <a:spcBef>
                <a:spcPct val="0"/>
              </a:spcBef>
            </a:pPr>
            <a:r>
              <a:rPr lang="en-US" b="true" sz="5558">
                <a:solidFill>
                  <a:srgbClr val="329A87"/>
                </a:solidFill>
                <a:latin typeface="Telegraf Bold"/>
                <a:ea typeface="Telegraf Bold"/>
                <a:cs typeface="Telegraf Bold"/>
                <a:sym typeface="Telegraf Bold"/>
              </a:rPr>
              <a:t>Estimation de la tendance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2525530" y="1722611"/>
            <a:ext cx="13236940" cy="8004409"/>
          </a:xfrm>
          <a:custGeom>
            <a:avLst/>
            <a:gdLst/>
            <a:ahLst/>
            <a:cxnLst/>
            <a:rect r="r" b="b" t="t" l="l"/>
            <a:pathLst>
              <a:path h="8004409" w="13236940">
                <a:moveTo>
                  <a:pt x="0" y="0"/>
                </a:moveTo>
                <a:lnTo>
                  <a:pt x="13236940" y="0"/>
                </a:lnTo>
                <a:lnTo>
                  <a:pt x="13236940" y="8004409"/>
                </a:lnTo>
                <a:lnTo>
                  <a:pt x="0" y="800440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560" t="0" r="-2560" b="-8214"/>
            </a:stretch>
          </a:blipFill>
        </p:spPr>
      </p:sp>
    </p:spTree>
  </p:cSld>
  <p:clrMapOvr>
    <a:masterClrMapping/>
  </p:clrMapOvr>
  <p:transition spd="slow">
    <p:push dir="l"/>
  </p:transition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Object 2" id="2"/>
          <p:cNvGraphicFramePr/>
          <p:nvPr/>
        </p:nvGraphicFramePr>
        <p:xfrm>
          <a:off x="4545551" y="5614670"/>
          <a:ext cx="7586157" cy="4274588"/>
        </p:xfrm>
        <a:graphic>
          <a:graphicData uri="http://schemas.openxmlformats.org/presentationml/2006/ole">
            <p:oleObj imgW="9105900" imgH="57912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3" id="3"/>
          <p:cNvSpPr txBox="true"/>
          <p:nvPr/>
        </p:nvSpPr>
        <p:spPr>
          <a:xfrm rot="0">
            <a:off x="4490458" y="446216"/>
            <a:ext cx="9307084" cy="10030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82"/>
              </a:lnSpc>
              <a:spcBef>
                <a:spcPct val="0"/>
              </a:spcBef>
            </a:pPr>
            <a:r>
              <a:rPr lang="en-US" b="true" sz="5558">
                <a:solidFill>
                  <a:srgbClr val="329A87"/>
                </a:solidFill>
                <a:latin typeface="Telegraf Bold"/>
                <a:ea typeface="Telegraf Bold"/>
                <a:cs typeface="Telegraf Bold"/>
                <a:sym typeface="Telegraf Bold"/>
              </a:rPr>
              <a:t>Estimation de la tendance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542146"/>
            <a:ext cx="15896471" cy="6442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32"/>
              </a:lnSpc>
            </a:pPr>
            <a:r>
              <a:rPr lang="en-US" b="true" sz="4024">
                <a:solidFill>
                  <a:srgbClr val="024854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Choix de la meilleure estimation en se basant sur des mesures d’erreur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39447" y="2891204"/>
            <a:ext cx="5174582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b="true" sz="3000" spc="150">
                <a:solidFill>
                  <a:srgbClr val="6C9286"/>
                </a:solidFill>
                <a:latin typeface="Aileron Bold"/>
                <a:ea typeface="Aileron Bold"/>
                <a:cs typeface="Aileron Bold"/>
                <a:sym typeface="Aileron Bold"/>
              </a:rPr>
              <a:t>RMSE (Erreur quadratique moyenne)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4299585"/>
            <a:ext cx="5796077" cy="905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</a:pPr>
            <a:r>
              <a:rPr lang="en-US" sz="2599" spc="129">
                <a:solidFill>
                  <a:srgbClr val="191919"/>
                </a:solidFill>
                <a:latin typeface="Aileron"/>
                <a:ea typeface="Aileron"/>
                <a:cs typeface="Aileron"/>
                <a:sym typeface="Aileron"/>
              </a:rPr>
              <a:t>Critère: Plus le RMSE est bas, plus le modèle est performant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340813" y="2891204"/>
            <a:ext cx="5174582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b="true" sz="3000" spc="150">
                <a:solidFill>
                  <a:srgbClr val="6C9286"/>
                </a:solidFill>
                <a:latin typeface="Aileron Bold"/>
                <a:ea typeface="Aileron Bold"/>
                <a:cs typeface="Aileron Bold"/>
                <a:sym typeface="Aileron Bold"/>
              </a:rPr>
              <a:t>MAE(Erreur Absolue Moyenne)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030065" y="4299585"/>
            <a:ext cx="5796077" cy="905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</a:pPr>
            <a:r>
              <a:rPr lang="en-US" sz="2599" spc="129">
                <a:solidFill>
                  <a:srgbClr val="191919"/>
                </a:solidFill>
                <a:latin typeface="Aileron"/>
                <a:ea typeface="Aileron"/>
                <a:cs typeface="Aileron"/>
                <a:sym typeface="Aileron"/>
              </a:rPr>
              <a:t>Critère: Un MAE plus fable indique des prévisions plus fiables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4365880" y="8312773"/>
            <a:ext cx="9556239" cy="1688467"/>
            <a:chOff x="0" y="0"/>
            <a:chExt cx="12741653" cy="2251289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-33774"/>
              <a:ext cx="12741653" cy="84624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232"/>
                </a:lnSpc>
              </a:pPr>
              <a:r>
                <a:rPr lang="en-US" b="true" sz="4024">
                  <a:solidFill>
                    <a:srgbClr val="024854"/>
                  </a:solidFill>
                  <a:latin typeface="Barlow Semi-Bold"/>
                  <a:ea typeface="Barlow Semi-Bold"/>
                  <a:cs typeface="Barlow Semi-Bold"/>
                  <a:sym typeface="Barlow Semi-Bold"/>
                </a:rPr>
                <a:t>Conclusion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1173150"/>
              <a:ext cx="12741653" cy="8900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599"/>
                </a:lnSpc>
              </a:pPr>
              <a:r>
                <a:rPr lang="en-US" sz="3999" spc="15">
                  <a:solidFill>
                    <a:srgbClr val="E41D25"/>
                  </a:solidFill>
                  <a:latin typeface="Barlow"/>
                  <a:ea typeface="Barlow"/>
                  <a:cs typeface="Barlow"/>
                  <a:sym typeface="Barlow"/>
                </a:rPr>
                <a:t>Choix porté sur l’estimation par les MCO</a:t>
              </a:r>
            </a:p>
          </p:txBody>
        </p:sp>
      </p:grpSp>
    </p:spTree>
  </p:cSld>
  <p:clrMapOvr>
    <a:masterClrMapping/>
  </p:clrMapOvr>
  <p:transition spd="slow">
    <p:push dir="l"/>
  </p:transition>
</p:sld>
</file>

<file path=ppt/slides/slide37.xml><?xml version="1.0" encoding="utf-8"?>
<p:sld xmlns:p="http://schemas.openxmlformats.org/presentationml/2006/main" xmlns:a="http://schemas.openxmlformats.org/drawingml/2006/main">
  <p:cSld>
    <p:bg>
      <p:bgPr>
        <a:solidFill>
          <a:srgbClr val="F0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938819" y="866775"/>
            <a:ext cx="10410363" cy="10030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82"/>
              </a:lnSpc>
              <a:spcBef>
                <a:spcPct val="0"/>
              </a:spcBef>
            </a:pPr>
            <a:r>
              <a:rPr lang="en-US" b="true" sz="5558">
                <a:solidFill>
                  <a:srgbClr val="329A87"/>
                </a:solidFill>
                <a:latin typeface="Telegraf Bold"/>
                <a:ea typeface="Telegraf Bold"/>
                <a:cs typeface="Telegraf Bold"/>
                <a:sym typeface="Telegraf Bold"/>
              </a:rPr>
              <a:t>Estimation de la saisonnalité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3874334"/>
            <a:ext cx="16852198" cy="308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b="true" sz="3500" spc="175">
                <a:solidFill>
                  <a:srgbClr val="024854"/>
                </a:solidFill>
                <a:latin typeface="Aileron Bold"/>
                <a:ea typeface="Aileron Bold"/>
                <a:cs typeface="Aileron Bold"/>
                <a:sym typeface="Aileron Bold"/>
              </a:rPr>
              <a:t>Période considérée: 2014–2024 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b="true" sz="3500" spc="175">
                <a:solidFill>
                  <a:srgbClr val="024854"/>
                </a:solidFill>
                <a:latin typeface="Aileron Bold"/>
                <a:ea typeface="Aileron Bold"/>
                <a:cs typeface="Aileron Bold"/>
                <a:sym typeface="Aileron Bold"/>
              </a:rPr>
              <a:t>Désaisonnalisation 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b="true" sz="3500" spc="175">
                <a:solidFill>
                  <a:srgbClr val="024854"/>
                </a:solidFill>
                <a:latin typeface="Aileron Bold"/>
                <a:ea typeface="Aileron Bold"/>
                <a:cs typeface="Aileron Bold"/>
                <a:sym typeface="Aileron Bold"/>
              </a:rPr>
              <a:t>Vérification du respect du Principe de Compensation des Aires.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b="true" sz="3500" spc="175">
                <a:solidFill>
                  <a:srgbClr val="024854"/>
                </a:solidFill>
                <a:latin typeface="Aileron Bold"/>
                <a:ea typeface="Aileron Bold"/>
                <a:cs typeface="Aileron Bold"/>
                <a:sym typeface="Aileron Bold"/>
              </a:rPr>
              <a:t>Estimation de la série CVS après retrait de la saisonnalité, avec un raccordement des périodes 2008–2013 et 2014–2024.</a:t>
            </a:r>
          </a:p>
        </p:txBody>
      </p:sp>
    </p:spTree>
  </p:cSld>
  <p:clrMapOvr>
    <a:masterClrMapping/>
  </p:clrMapOvr>
  <p:transition spd="slow">
    <p:push dir="l"/>
  </p:transition>
</p:sld>
</file>

<file path=ppt/slides/slide3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80286" y="1449259"/>
            <a:ext cx="15327428" cy="8123537"/>
          </a:xfrm>
          <a:custGeom>
            <a:avLst/>
            <a:gdLst/>
            <a:ahLst/>
            <a:cxnLst/>
            <a:rect r="r" b="b" t="t" l="l"/>
            <a:pathLst>
              <a:path h="8123537" w="15327428">
                <a:moveTo>
                  <a:pt x="0" y="0"/>
                </a:moveTo>
                <a:lnTo>
                  <a:pt x="15327428" y="0"/>
                </a:lnTo>
                <a:lnTo>
                  <a:pt x="15327428" y="8123537"/>
                </a:lnTo>
                <a:lnTo>
                  <a:pt x="0" y="812353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490458" y="446216"/>
            <a:ext cx="9307084" cy="10030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82"/>
              </a:lnSpc>
              <a:spcBef>
                <a:spcPct val="0"/>
              </a:spcBef>
            </a:pPr>
            <a:r>
              <a:rPr lang="en-US" b="true" sz="5558">
                <a:solidFill>
                  <a:srgbClr val="329A87"/>
                </a:solidFill>
                <a:latin typeface="Telegraf Bold"/>
                <a:ea typeface="Telegraf Bold"/>
                <a:cs typeface="Telegraf Bold"/>
                <a:sym typeface="Telegraf Bold"/>
              </a:rPr>
              <a:t>Estimation de la série CVS</a:t>
            </a:r>
          </a:p>
        </p:txBody>
      </p:sp>
    </p:spTree>
  </p:cSld>
  <p:clrMapOvr>
    <a:masterClrMapping/>
  </p:clrMapOvr>
  <p:transition spd="slow">
    <p:push dir="l"/>
  </p:transition>
</p:sld>
</file>

<file path=ppt/slides/slide3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1471508">
            <a:off x="7442248" y="-3517885"/>
            <a:ext cx="2160993" cy="11665743"/>
            <a:chOff x="0" y="0"/>
            <a:chExt cx="597206" cy="322391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97206" cy="3223913"/>
            </a:xfrm>
            <a:custGeom>
              <a:avLst/>
              <a:gdLst/>
              <a:ahLst/>
              <a:cxnLst/>
              <a:rect r="r" b="b" t="t" l="l"/>
              <a:pathLst>
                <a:path h="3223913" w="597206">
                  <a:moveTo>
                    <a:pt x="0" y="0"/>
                  </a:moveTo>
                  <a:lnTo>
                    <a:pt x="597206" y="0"/>
                  </a:lnTo>
                  <a:lnTo>
                    <a:pt x="597206" y="3223913"/>
                  </a:lnTo>
                  <a:lnTo>
                    <a:pt x="0" y="3223913"/>
                  </a:lnTo>
                  <a:close/>
                </a:path>
              </a:pathLst>
            </a:custGeom>
            <a:solidFill>
              <a:srgbClr val="D5DADA">
                <a:alpha val="23922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97206" cy="3262013"/>
            </a:xfrm>
            <a:prstGeom prst="rect">
              <a:avLst/>
            </a:prstGeom>
          </p:spPr>
          <p:txBody>
            <a:bodyPr anchor="ctr" rtlCol="false" tIns="35873" lIns="35873" bIns="35873" rIns="35873"/>
            <a:lstStyle/>
            <a:p>
              <a:pPr algn="ctr">
                <a:lnSpc>
                  <a:spcPts val="1384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1471508">
            <a:off x="7842796" y="1744300"/>
            <a:ext cx="2160993" cy="11212989"/>
            <a:chOff x="0" y="0"/>
            <a:chExt cx="597206" cy="309879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97206" cy="3098791"/>
            </a:xfrm>
            <a:custGeom>
              <a:avLst/>
              <a:gdLst/>
              <a:ahLst/>
              <a:cxnLst/>
              <a:rect r="r" b="b" t="t" l="l"/>
              <a:pathLst>
                <a:path h="3098791" w="597206">
                  <a:moveTo>
                    <a:pt x="0" y="0"/>
                  </a:moveTo>
                  <a:lnTo>
                    <a:pt x="597206" y="0"/>
                  </a:lnTo>
                  <a:lnTo>
                    <a:pt x="597206" y="3098791"/>
                  </a:lnTo>
                  <a:lnTo>
                    <a:pt x="0" y="3098791"/>
                  </a:lnTo>
                  <a:close/>
                </a:path>
              </a:pathLst>
            </a:custGeom>
            <a:solidFill>
              <a:srgbClr val="D5DADA">
                <a:alpha val="23922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97206" cy="3136892"/>
            </a:xfrm>
            <a:prstGeom prst="rect">
              <a:avLst/>
            </a:prstGeom>
          </p:spPr>
          <p:txBody>
            <a:bodyPr anchor="ctr" rtlCol="false" tIns="35873" lIns="35873" bIns="35873" rIns="35873"/>
            <a:lstStyle/>
            <a:p>
              <a:pPr algn="ctr">
                <a:lnSpc>
                  <a:spcPts val="1384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015140" y="5027944"/>
            <a:ext cx="10518155" cy="10518113"/>
            <a:chOff x="0" y="0"/>
            <a:chExt cx="6350000" cy="634997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350000" cy="6349975"/>
            </a:xfrm>
            <a:custGeom>
              <a:avLst/>
              <a:gdLst/>
              <a:ahLst/>
              <a:cxnLst/>
              <a:rect r="r" b="b" t="t" l="l"/>
              <a:pathLst>
                <a:path h="6349975" w="6350000">
                  <a:moveTo>
                    <a:pt x="6350000" y="3175025"/>
                  </a:moveTo>
                  <a:cubicBezTo>
                    <a:pt x="6350000" y="4928451"/>
                    <a:pt x="4928476" y="6349975"/>
                    <a:pt x="3175000" y="6349975"/>
                  </a:cubicBezTo>
                  <a:cubicBezTo>
                    <a:pt x="1421498" y="6349975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2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2"/>
              <a:stretch>
                <a:fillRect l="-25471" t="0" r="-25471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800842" y="5813625"/>
            <a:ext cx="8946750" cy="8946750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0477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35873" lIns="35873" bIns="35873" rIns="35873"/>
            <a:lstStyle/>
            <a:p>
              <a:pPr algn="ctr">
                <a:lnSpc>
                  <a:spcPts val="1384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-4524129" y="-3792316"/>
            <a:ext cx="10518155" cy="10518113"/>
            <a:chOff x="0" y="0"/>
            <a:chExt cx="6350000" cy="634997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350000" cy="6349975"/>
            </a:xfrm>
            <a:custGeom>
              <a:avLst/>
              <a:gdLst/>
              <a:ahLst/>
              <a:cxnLst/>
              <a:rect r="r" b="b" t="t" l="l"/>
              <a:pathLst>
                <a:path h="6349975" w="6350000">
                  <a:moveTo>
                    <a:pt x="6350000" y="3175025"/>
                  </a:moveTo>
                  <a:cubicBezTo>
                    <a:pt x="6350000" y="4928451"/>
                    <a:pt x="4928476" y="6349975"/>
                    <a:pt x="3175000" y="6349975"/>
                  </a:cubicBezTo>
                  <a:cubicBezTo>
                    <a:pt x="1421498" y="6349975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2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3"/>
              <a:stretch>
                <a:fillRect l="-25471" t="0" r="-25471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-3738427" y="-3006635"/>
            <a:ext cx="8946750" cy="8946750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0477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35873" lIns="35873" bIns="35873" rIns="35873"/>
            <a:lstStyle/>
            <a:p>
              <a:pPr algn="ctr">
                <a:lnSpc>
                  <a:spcPts val="1384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4872773" y="3729254"/>
            <a:ext cx="6928069" cy="1734271"/>
            <a:chOff x="0" y="0"/>
            <a:chExt cx="1059309" cy="26517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59309" cy="265172"/>
            </a:xfrm>
            <a:custGeom>
              <a:avLst/>
              <a:gdLst/>
              <a:ahLst/>
              <a:cxnLst/>
              <a:rect r="r" b="b" t="t" l="l"/>
              <a:pathLst>
                <a:path h="265172" w="1059309">
                  <a:moveTo>
                    <a:pt x="18997" y="0"/>
                  </a:moveTo>
                  <a:lnTo>
                    <a:pt x="1040312" y="0"/>
                  </a:lnTo>
                  <a:cubicBezTo>
                    <a:pt x="1045350" y="0"/>
                    <a:pt x="1050182" y="2001"/>
                    <a:pt x="1053745" y="5564"/>
                  </a:cubicBezTo>
                  <a:cubicBezTo>
                    <a:pt x="1057308" y="9127"/>
                    <a:pt x="1059309" y="13959"/>
                    <a:pt x="1059309" y="18997"/>
                  </a:cubicBezTo>
                  <a:lnTo>
                    <a:pt x="1059309" y="246175"/>
                  </a:lnTo>
                  <a:cubicBezTo>
                    <a:pt x="1059309" y="251213"/>
                    <a:pt x="1057308" y="256045"/>
                    <a:pt x="1053745" y="259608"/>
                  </a:cubicBezTo>
                  <a:cubicBezTo>
                    <a:pt x="1050182" y="263170"/>
                    <a:pt x="1045350" y="265172"/>
                    <a:pt x="1040312" y="265172"/>
                  </a:cubicBezTo>
                  <a:lnTo>
                    <a:pt x="18997" y="265172"/>
                  </a:lnTo>
                  <a:cubicBezTo>
                    <a:pt x="8505" y="265172"/>
                    <a:pt x="0" y="256667"/>
                    <a:pt x="0" y="246175"/>
                  </a:cubicBezTo>
                  <a:lnTo>
                    <a:pt x="0" y="18997"/>
                  </a:lnTo>
                  <a:cubicBezTo>
                    <a:pt x="0" y="13959"/>
                    <a:pt x="2001" y="9127"/>
                    <a:pt x="5564" y="5564"/>
                  </a:cubicBezTo>
                  <a:cubicBezTo>
                    <a:pt x="9127" y="2001"/>
                    <a:pt x="13959" y="0"/>
                    <a:pt x="18997" y="0"/>
                  </a:cubicBezTo>
                  <a:close/>
                </a:path>
              </a:pathLst>
            </a:custGeom>
            <a:solidFill>
              <a:srgbClr val="FAFAFA"/>
            </a:solidFill>
            <a:ln w="28575" cap="sq">
              <a:solidFill>
                <a:srgbClr val="0097B2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57150"/>
              <a:ext cx="1059309" cy="322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  <a:r>
                <a:rPr lang="en-US" sz="1400">
                  <a:solidFill>
                    <a:srgbClr val="000000"/>
                  </a:solidFill>
                  <a:latin typeface="Telegraf"/>
                  <a:ea typeface="Telegraf"/>
                  <a:cs typeface="Telegraf"/>
                  <a:sym typeface="Telegraf"/>
                </a:rPr>
                <a:t>l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5994026" y="4013906"/>
            <a:ext cx="4081257" cy="10030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82"/>
              </a:lnSpc>
              <a:spcBef>
                <a:spcPct val="0"/>
              </a:spcBef>
            </a:pPr>
            <a:r>
              <a:rPr lang="en-US" b="true" sz="5558">
                <a:solidFill>
                  <a:srgbClr val="329A87"/>
                </a:solidFill>
                <a:latin typeface="Telegraf Bold"/>
                <a:ea typeface="Telegraf Bold"/>
                <a:cs typeface="Telegraf Bold"/>
                <a:sym typeface="Telegraf Bold"/>
              </a:rPr>
              <a:t>Prévisions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4067426" y="3633090"/>
            <a:ext cx="1926599" cy="1926599"/>
          </a:xfrm>
          <a:custGeom>
            <a:avLst/>
            <a:gdLst/>
            <a:ahLst/>
            <a:cxnLst/>
            <a:rect r="r" b="b" t="t" l="l"/>
            <a:pathLst>
              <a:path h="1926599" w="1926599">
                <a:moveTo>
                  <a:pt x="0" y="0"/>
                </a:moveTo>
                <a:lnTo>
                  <a:pt x="1926600" y="0"/>
                </a:lnTo>
                <a:lnTo>
                  <a:pt x="1926600" y="1926599"/>
                </a:lnTo>
                <a:lnTo>
                  <a:pt x="0" y="192659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6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3" id="23"/>
          <p:cNvGrpSpPr/>
          <p:nvPr/>
        </p:nvGrpSpPr>
        <p:grpSpPr>
          <a:xfrm rot="0">
            <a:off x="4252211" y="3817875"/>
            <a:ext cx="1557029" cy="1557029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97B2"/>
            </a:solidFill>
            <a:ln cap="sq">
              <a:noFill/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4357484" y="3784937"/>
            <a:ext cx="1346483" cy="13943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785"/>
              </a:lnSpc>
              <a:spcBef>
                <a:spcPct val="0"/>
              </a:spcBef>
            </a:pPr>
            <a:r>
              <a:rPr lang="en-US" b="true" sz="7703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8</a:t>
            </a:r>
          </a:p>
        </p:txBody>
      </p:sp>
    </p:spTree>
  </p:cSld>
  <p:clrMapOvr>
    <a:masterClrMapping/>
  </p:clrMapOvr>
  <p:transition spd="slow">
    <p:cover dir="l"/>
  </p:transition>
</p:sld>
</file>

<file path=ppt/slides/slide4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08983" y="4057796"/>
            <a:ext cx="18796234" cy="1030669"/>
            <a:chOff x="0" y="0"/>
            <a:chExt cx="25061645" cy="1374225"/>
          </a:xfrm>
        </p:grpSpPr>
        <p:sp>
          <p:nvSpPr>
            <p:cNvPr name="AutoShape 3" id="3"/>
            <p:cNvSpPr/>
            <p:nvPr/>
          </p:nvSpPr>
          <p:spPr>
            <a:xfrm rot="0">
              <a:off x="0" y="601922"/>
              <a:ext cx="24795977" cy="170382"/>
            </a:xfrm>
            <a:prstGeom prst="rect">
              <a:avLst/>
            </a:prstGeom>
            <a:solidFill>
              <a:srgbClr val="86EAE9"/>
            </a:solidFill>
          </p:spPr>
        </p:sp>
        <p:grpSp>
          <p:nvGrpSpPr>
            <p:cNvPr name="Group 4" id="4"/>
            <p:cNvGrpSpPr/>
            <p:nvPr/>
          </p:nvGrpSpPr>
          <p:grpSpPr>
            <a:xfrm rot="5400000">
              <a:off x="23773309" y="85889"/>
              <a:ext cx="1374225" cy="1202447"/>
              <a:chOff x="0" y="0"/>
              <a:chExt cx="812800" cy="7112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62DDD6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127000" y="273050"/>
                <a:ext cx="558800" cy="3873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60"/>
                  </a:lnSpc>
                </a:pPr>
              </a:p>
            </p:txBody>
          </p:sp>
        </p:grpSp>
      </p:grpSp>
      <p:grpSp>
        <p:nvGrpSpPr>
          <p:cNvPr name="Group 7" id="7"/>
          <p:cNvGrpSpPr/>
          <p:nvPr/>
        </p:nvGrpSpPr>
        <p:grpSpPr>
          <a:xfrm rot="0">
            <a:off x="47959" y="2756822"/>
            <a:ext cx="3760402" cy="3760402"/>
            <a:chOff x="0" y="0"/>
            <a:chExt cx="5013869" cy="501386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013869" cy="5013869"/>
            </a:xfrm>
            <a:custGeom>
              <a:avLst/>
              <a:gdLst/>
              <a:ahLst/>
              <a:cxnLst/>
              <a:rect r="r" b="b" t="t" l="l"/>
              <a:pathLst>
                <a:path h="5013869" w="5013869">
                  <a:moveTo>
                    <a:pt x="0" y="0"/>
                  </a:moveTo>
                  <a:lnTo>
                    <a:pt x="5013869" y="0"/>
                  </a:lnTo>
                  <a:lnTo>
                    <a:pt x="5013869" y="5013869"/>
                  </a:lnTo>
                  <a:lnTo>
                    <a:pt x="0" y="50138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35053" y="135053"/>
              <a:ext cx="4743763" cy="4743763"/>
            </a:xfrm>
            <a:custGeom>
              <a:avLst/>
              <a:gdLst/>
              <a:ahLst/>
              <a:cxnLst/>
              <a:rect r="r" b="b" t="t" l="l"/>
              <a:pathLst>
                <a:path h="4743763" w="4743763">
                  <a:moveTo>
                    <a:pt x="0" y="0"/>
                  </a:moveTo>
                  <a:lnTo>
                    <a:pt x="4743763" y="0"/>
                  </a:lnTo>
                  <a:lnTo>
                    <a:pt x="4743763" y="4743763"/>
                  </a:lnTo>
                  <a:lnTo>
                    <a:pt x="0" y="47437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4692189" y="2766188"/>
            <a:ext cx="3760402" cy="3760402"/>
            <a:chOff x="0" y="0"/>
            <a:chExt cx="5013869" cy="501386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013869" cy="5013869"/>
            </a:xfrm>
            <a:custGeom>
              <a:avLst/>
              <a:gdLst/>
              <a:ahLst/>
              <a:cxnLst/>
              <a:rect r="r" b="b" t="t" l="l"/>
              <a:pathLst>
                <a:path h="5013869" w="5013869">
                  <a:moveTo>
                    <a:pt x="0" y="0"/>
                  </a:moveTo>
                  <a:lnTo>
                    <a:pt x="5013869" y="0"/>
                  </a:lnTo>
                  <a:lnTo>
                    <a:pt x="5013869" y="5013869"/>
                  </a:lnTo>
                  <a:lnTo>
                    <a:pt x="0" y="50138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135053" y="135053"/>
              <a:ext cx="4743763" cy="4743763"/>
            </a:xfrm>
            <a:custGeom>
              <a:avLst/>
              <a:gdLst/>
              <a:ahLst/>
              <a:cxnLst/>
              <a:rect r="r" b="b" t="t" l="l"/>
              <a:pathLst>
                <a:path h="4743763" w="4743763">
                  <a:moveTo>
                    <a:pt x="0" y="0"/>
                  </a:moveTo>
                  <a:lnTo>
                    <a:pt x="4743763" y="0"/>
                  </a:lnTo>
                  <a:lnTo>
                    <a:pt x="4743763" y="4743763"/>
                  </a:lnTo>
                  <a:lnTo>
                    <a:pt x="0" y="47437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9338415" y="2766188"/>
            <a:ext cx="3760402" cy="3760402"/>
            <a:chOff x="0" y="0"/>
            <a:chExt cx="5013869" cy="501386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013869" cy="5013869"/>
            </a:xfrm>
            <a:custGeom>
              <a:avLst/>
              <a:gdLst/>
              <a:ahLst/>
              <a:cxnLst/>
              <a:rect r="r" b="b" t="t" l="l"/>
              <a:pathLst>
                <a:path h="5013869" w="5013869">
                  <a:moveTo>
                    <a:pt x="0" y="0"/>
                  </a:moveTo>
                  <a:lnTo>
                    <a:pt x="5013869" y="0"/>
                  </a:lnTo>
                  <a:lnTo>
                    <a:pt x="5013869" y="5013869"/>
                  </a:lnTo>
                  <a:lnTo>
                    <a:pt x="0" y="50138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135053" y="135053"/>
              <a:ext cx="4743763" cy="4743763"/>
            </a:xfrm>
            <a:custGeom>
              <a:avLst/>
              <a:gdLst/>
              <a:ahLst/>
              <a:cxnLst/>
              <a:rect r="r" b="b" t="t" l="l"/>
              <a:pathLst>
                <a:path h="4743763" w="4743763">
                  <a:moveTo>
                    <a:pt x="0" y="0"/>
                  </a:moveTo>
                  <a:lnTo>
                    <a:pt x="4743763" y="0"/>
                  </a:lnTo>
                  <a:lnTo>
                    <a:pt x="4743763" y="4743763"/>
                  </a:lnTo>
                  <a:lnTo>
                    <a:pt x="0" y="47437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3498898" y="2766188"/>
            <a:ext cx="3760402" cy="3760402"/>
            <a:chOff x="0" y="0"/>
            <a:chExt cx="5013869" cy="501386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013869" cy="5013869"/>
            </a:xfrm>
            <a:custGeom>
              <a:avLst/>
              <a:gdLst/>
              <a:ahLst/>
              <a:cxnLst/>
              <a:rect r="r" b="b" t="t" l="l"/>
              <a:pathLst>
                <a:path h="5013869" w="5013869">
                  <a:moveTo>
                    <a:pt x="0" y="0"/>
                  </a:moveTo>
                  <a:lnTo>
                    <a:pt x="5013869" y="0"/>
                  </a:lnTo>
                  <a:lnTo>
                    <a:pt x="5013869" y="5013869"/>
                  </a:lnTo>
                  <a:lnTo>
                    <a:pt x="0" y="50138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135053" y="135053"/>
              <a:ext cx="4743763" cy="4743763"/>
            </a:xfrm>
            <a:custGeom>
              <a:avLst/>
              <a:gdLst/>
              <a:ahLst/>
              <a:cxnLst/>
              <a:rect r="r" b="b" t="t" l="l"/>
              <a:pathLst>
                <a:path h="4743763" w="4743763">
                  <a:moveTo>
                    <a:pt x="0" y="0"/>
                  </a:moveTo>
                  <a:lnTo>
                    <a:pt x="4743763" y="0"/>
                  </a:lnTo>
                  <a:lnTo>
                    <a:pt x="4743763" y="4743763"/>
                  </a:lnTo>
                  <a:lnTo>
                    <a:pt x="0" y="47437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2483759" y="446216"/>
            <a:ext cx="13320481" cy="10030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82"/>
              </a:lnSpc>
              <a:spcBef>
                <a:spcPct val="0"/>
              </a:spcBef>
            </a:pPr>
            <a:r>
              <a:rPr lang="en-US" b="true" sz="5558">
                <a:solidFill>
                  <a:srgbClr val="329A87"/>
                </a:solidFill>
                <a:latin typeface="Telegraf Bold"/>
                <a:ea typeface="Telegraf Bold"/>
                <a:cs typeface="Telegraf Bold"/>
                <a:sym typeface="Telegraf Bold"/>
              </a:rPr>
              <a:t>Prévision avec le modèle multiplicatif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6985" y="3808590"/>
            <a:ext cx="3562350" cy="1471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b="true" sz="2799" spc="139">
                <a:solidFill>
                  <a:srgbClr val="13538A"/>
                </a:solidFill>
                <a:latin typeface="Aileron Bold"/>
                <a:ea typeface="Aileron Bold"/>
                <a:cs typeface="Aileron Bold"/>
                <a:sym typeface="Aileron Bold"/>
              </a:rPr>
              <a:t>Régression MCO appliquée à la série CVS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792213" y="3624833"/>
            <a:ext cx="3562350" cy="1967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b="true" sz="2799" spc="139">
                <a:solidFill>
                  <a:srgbClr val="2C92D5"/>
                </a:solidFill>
                <a:latin typeface="Aileron Bold"/>
                <a:ea typeface="Aileron Bold"/>
                <a:cs typeface="Aileron Bold"/>
                <a:sym typeface="Aileron Bold"/>
              </a:rPr>
              <a:t>Prévisions réalisées sur les 12 </a:t>
            </a:r>
          </a:p>
          <a:p>
            <a:pPr algn="ctr">
              <a:lnSpc>
                <a:spcPts val="3919"/>
              </a:lnSpc>
            </a:pPr>
            <a:r>
              <a:rPr lang="en-US" b="true" sz="2799" spc="139">
                <a:solidFill>
                  <a:srgbClr val="2C92D5"/>
                </a:solidFill>
                <a:latin typeface="Aileron Bold"/>
                <a:ea typeface="Aileron Bold"/>
                <a:cs typeface="Aileron Bold"/>
                <a:sym typeface="Aileron Bold"/>
              </a:rPr>
              <a:t>trimestres à venir (2025–2027)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538440" y="3404511"/>
            <a:ext cx="3420859" cy="2818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37"/>
              </a:lnSpc>
            </a:pPr>
            <a:r>
              <a:rPr lang="en-US" b="true" sz="2669" spc="133">
                <a:solidFill>
                  <a:srgbClr val="289DD2"/>
                </a:solidFill>
                <a:latin typeface="Aileron Bold"/>
                <a:ea typeface="Aileron Bold"/>
                <a:cs typeface="Aileron Bold"/>
                <a:sym typeface="Aileron Bold"/>
              </a:rPr>
              <a:t>Réintroduction </a:t>
            </a:r>
          </a:p>
          <a:p>
            <a:pPr algn="ctr">
              <a:lnSpc>
                <a:spcPts val="3737"/>
              </a:lnSpc>
            </a:pPr>
            <a:r>
              <a:rPr lang="en-US" b="true" sz="2669" spc="133">
                <a:solidFill>
                  <a:srgbClr val="289DD2"/>
                </a:solidFill>
                <a:latin typeface="Aileron Bold"/>
                <a:ea typeface="Aileron Bold"/>
                <a:cs typeface="Aileron Bold"/>
                <a:sym typeface="Aileron Bold"/>
              </a:rPr>
              <a:t>de la saisonnalité estimée pour ajuster les prévisions à la </a:t>
            </a:r>
          </a:p>
          <a:p>
            <a:pPr algn="ctr">
              <a:lnSpc>
                <a:spcPts val="3737"/>
              </a:lnSpc>
            </a:pPr>
            <a:r>
              <a:rPr lang="en-US" b="true" sz="2669" spc="133">
                <a:solidFill>
                  <a:srgbClr val="289DD2"/>
                </a:solidFill>
                <a:latin typeface="Aileron Bold"/>
                <a:ea typeface="Aileron Bold"/>
                <a:cs typeface="Aileron Bold"/>
                <a:sym typeface="Aileron Bold"/>
              </a:rPr>
              <a:t>série brute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597924" y="3634199"/>
            <a:ext cx="3562350" cy="1967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b="true" sz="2799" spc="139">
                <a:solidFill>
                  <a:srgbClr val="53786D"/>
                </a:solidFill>
                <a:latin typeface="Aileron Bold"/>
                <a:ea typeface="Aileron Bold"/>
                <a:cs typeface="Aileron Bold"/>
                <a:sym typeface="Aileron Bold"/>
              </a:rPr>
              <a:t>Projection de la série brute sur la période de prévision</a:t>
            </a:r>
          </a:p>
        </p:txBody>
      </p:sp>
    </p:spTree>
  </p:cSld>
  <p:clrMapOvr>
    <a:masterClrMapping/>
  </p:clrMapOvr>
  <p:transition spd="slow">
    <p:push dir="l"/>
  </p:transition>
</p:sld>
</file>

<file path=ppt/slides/slide4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68061" y="963933"/>
            <a:ext cx="15551878" cy="8359134"/>
          </a:xfrm>
          <a:custGeom>
            <a:avLst/>
            <a:gdLst/>
            <a:ahLst/>
            <a:cxnLst/>
            <a:rect r="r" b="b" t="t" l="l"/>
            <a:pathLst>
              <a:path h="8359134" w="15551878">
                <a:moveTo>
                  <a:pt x="0" y="0"/>
                </a:moveTo>
                <a:lnTo>
                  <a:pt x="15551878" y="0"/>
                </a:lnTo>
                <a:lnTo>
                  <a:pt x="15551878" y="8359134"/>
                </a:lnTo>
                <a:lnTo>
                  <a:pt x="0" y="83591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push dir="l"/>
  </p:transition>
</p:sld>
</file>

<file path=ppt/slides/slide42.xml><?xml version="1.0" encoding="utf-8"?>
<p:sld xmlns:p="http://schemas.openxmlformats.org/presentationml/2006/main" xmlns:a="http://schemas.openxmlformats.org/drawingml/2006/main">
  <p:cSld>
    <p:bg>
      <p:bgPr>
        <a:solidFill>
          <a:srgbClr val="F0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424578" y="1756265"/>
            <a:ext cx="10834722" cy="7735661"/>
            <a:chOff x="0" y="0"/>
            <a:chExt cx="9741958" cy="69554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741958" cy="6955461"/>
            </a:xfrm>
            <a:custGeom>
              <a:avLst/>
              <a:gdLst/>
              <a:ahLst/>
              <a:cxnLst/>
              <a:rect r="r" b="b" t="t" l="l"/>
              <a:pathLst>
                <a:path h="6955461" w="9741958">
                  <a:moveTo>
                    <a:pt x="0" y="0"/>
                  </a:moveTo>
                  <a:lnTo>
                    <a:pt x="0" y="6955461"/>
                  </a:lnTo>
                  <a:lnTo>
                    <a:pt x="9741958" y="6955461"/>
                  </a:lnTo>
                  <a:lnTo>
                    <a:pt x="9741958" y="0"/>
                  </a:lnTo>
                  <a:lnTo>
                    <a:pt x="0" y="0"/>
                  </a:lnTo>
                  <a:close/>
                  <a:moveTo>
                    <a:pt x="9680998" y="6894500"/>
                  </a:moveTo>
                  <a:lnTo>
                    <a:pt x="59690" y="6894500"/>
                  </a:lnTo>
                  <a:lnTo>
                    <a:pt x="59690" y="59690"/>
                  </a:lnTo>
                  <a:lnTo>
                    <a:pt x="9680998" y="59690"/>
                  </a:lnTo>
                  <a:lnTo>
                    <a:pt x="9680998" y="6894500"/>
                  </a:lnTo>
                  <a:close/>
                </a:path>
              </a:pathLst>
            </a:custGeom>
            <a:solidFill>
              <a:srgbClr val="365B6D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490005" y="1813676"/>
            <a:ext cx="10703867" cy="7620839"/>
            <a:chOff x="0" y="0"/>
            <a:chExt cx="2819126" cy="200713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819126" cy="2007134"/>
            </a:xfrm>
            <a:custGeom>
              <a:avLst/>
              <a:gdLst/>
              <a:ahLst/>
              <a:cxnLst/>
              <a:rect r="r" b="b" t="t" l="l"/>
              <a:pathLst>
                <a:path h="2007134" w="2819126">
                  <a:moveTo>
                    <a:pt x="0" y="0"/>
                  </a:moveTo>
                  <a:lnTo>
                    <a:pt x="2819126" y="0"/>
                  </a:lnTo>
                  <a:lnTo>
                    <a:pt x="2819126" y="2007134"/>
                  </a:lnTo>
                  <a:lnTo>
                    <a:pt x="0" y="200713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2819126" cy="20642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  <a:r>
                <a:rPr lang="en-US" sz="1400">
                  <a:solidFill>
                    <a:srgbClr val="000000"/>
                  </a:solidFill>
                  <a:latin typeface="Telegraf"/>
                  <a:ea typeface="Telegraf"/>
                  <a:cs typeface="Telegraf"/>
                  <a:sym typeface="Telegraf"/>
                </a:rPr>
                <a:t>g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2679702" y="446216"/>
            <a:ext cx="12928596" cy="10030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82"/>
              </a:lnSpc>
              <a:spcBef>
                <a:spcPct val="0"/>
              </a:spcBef>
            </a:pPr>
            <a:r>
              <a:rPr lang="en-US" b="true" sz="5558">
                <a:solidFill>
                  <a:srgbClr val="329A87"/>
                </a:solidFill>
                <a:latin typeface="Telegraf Bold"/>
                <a:ea typeface="Telegraf Bold"/>
                <a:cs typeface="Telegraf Bold"/>
                <a:sym typeface="Telegraf Bold"/>
              </a:rPr>
              <a:t>Prévision avec le lissage exponentiel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14800" y="7367851"/>
            <a:ext cx="3243943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b="true" sz="3000" spc="150">
                <a:solidFill>
                  <a:srgbClr val="365B6D"/>
                </a:solidFill>
                <a:latin typeface="Aileron Bold"/>
                <a:ea typeface="Aileron Bold"/>
                <a:cs typeface="Aileron Bold"/>
                <a:sym typeface="Aileron Bold"/>
              </a:rPr>
              <a:t>Saisonnalité multiplicative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14800" y="5557421"/>
            <a:ext cx="3243943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b="true" sz="3000" spc="150">
                <a:solidFill>
                  <a:srgbClr val="365B6D"/>
                </a:solidFill>
                <a:latin typeface="Aileron Bold"/>
                <a:ea typeface="Aileron Bold"/>
                <a:cs typeface="Aileron Bold"/>
                <a:sym typeface="Aileron Bold"/>
              </a:rPr>
              <a:t>Tendance additive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14700" y="1952625"/>
            <a:ext cx="4844143" cy="3190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b="true" sz="3000" spc="150">
                <a:solidFill>
                  <a:srgbClr val="365B6D"/>
                </a:solidFill>
                <a:latin typeface="Aileron Bold"/>
                <a:ea typeface="Aileron Bold"/>
                <a:cs typeface="Aileron Bold"/>
                <a:sym typeface="Aileron Bold"/>
              </a:rPr>
              <a:t>Niveau </a:t>
            </a:r>
          </a:p>
          <a:p>
            <a:pPr algn="ctr">
              <a:lnSpc>
                <a:spcPts val="4200"/>
              </a:lnSpc>
            </a:pPr>
            <a:r>
              <a:rPr lang="en-US" b="true" sz="3000" spc="150">
                <a:solidFill>
                  <a:srgbClr val="365B6D"/>
                </a:solidFill>
                <a:latin typeface="Aileron Bold"/>
                <a:ea typeface="Aileron Bold"/>
                <a:cs typeface="Aileron Bold"/>
                <a:sym typeface="Aileron Bold"/>
              </a:rPr>
              <a:t>multiplicatif </a:t>
            </a:r>
          </a:p>
          <a:p>
            <a:pPr algn="ctr">
              <a:lnSpc>
                <a:spcPts val="4200"/>
              </a:lnSpc>
            </a:pPr>
            <a:r>
              <a:rPr lang="en-US" sz="3000" spc="150">
                <a:solidFill>
                  <a:srgbClr val="365B6D"/>
                </a:solidFill>
                <a:latin typeface="Aileron"/>
                <a:ea typeface="Aileron"/>
                <a:cs typeface="Aileron"/>
                <a:sym typeface="Aileron"/>
              </a:rPr>
              <a:t>(les variations saisonnières augmentent proportionnellement au niveau de la série)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439096" y="2281501"/>
            <a:ext cx="4805685" cy="5502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68"/>
              </a:lnSpc>
            </a:pPr>
            <a:r>
              <a:rPr lang="en-US" b="true" sz="3192" spc="159">
                <a:solidFill>
                  <a:srgbClr val="13538A"/>
                </a:solidFill>
                <a:latin typeface="Aileron Bold"/>
                <a:ea typeface="Aileron Bold"/>
                <a:cs typeface="Aileron Bold"/>
                <a:sym typeface="Aileron Bold"/>
              </a:rPr>
              <a:t>Paramètres de lissage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022604" y="3458406"/>
            <a:ext cx="9638669" cy="4471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93"/>
              </a:lnSpc>
            </a:pPr>
            <a:r>
              <a:rPr lang="en-US" b="true" sz="3209" spc="160">
                <a:solidFill>
                  <a:srgbClr val="191919"/>
                </a:solidFill>
                <a:latin typeface="Aileron Bold"/>
                <a:ea typeface="Aileron Bold"/>
                <a:cs typeface="Aileron Bold"/>
                <a:sym typeface="Aileron Bold"/>
              </a:rPr>
              <a:t>• α (niveau) = 0.2122 :</a:t>
            </a:r>
            <a:r>
              <a:rPr lang="en-US" sz="3209" spc="160">
                <a:solidFill>
                  <a:srgbClr val="191919"/>
                </a:solidFill>
                <a:latin typeface="Aileron"/>
                <a:ea typeface="Aileron"/>
                <a:cs typeface="Aileron"/>
                <a:sym typeface="Aileron"/>
              </a:rPr>
              <a:t> la mise à jour du niveau est modérée, reflétant une adaptation prudente aux nouvelles données. </a:t>
            </a:r>
          </a:p>
          <a:p>
            <a:pPr algn="just">
              <a:lnSpc>
                <a:spcPts val="4493"/>
              </a:lnSpc>
            </a:pPr>
            <a:r>
              <a:rPr lang="en-US" b="true" sz="3209" spc="160">
                <a:solidFill>
                  <a:srgbClr val="191919"/>
                </a:solidFill>
                <a:latin typeface="Aileron Bold"/>
                <a:ea typeface="Aileron Bold"/>
                <a:cs typeface="Aileron Bold"/>
                <a:sym typeface="Aileron Bold"/>
              </a:rPr>
              <a:t>• β (tendance) = 0.0238 :</a:t>
            </a:r>
            <a:r>
              <a:rPr lang="en-US" sz="3209" spc="160">
                <a:solidFill>
                  <a:srgbClr val="191919"/>
                </a:solidFill>
                <a:latin typeface="Aileron"/>
                <a:ea typeface="Aileron"/>
                <a:cs typeface="Aileron"/>
                <a:sym typeface="Aileron"/>
              </a:rPr>
              <a:t> faible, suggérant une tendance relativement stable. </a:t>
            </a:r>
          </a:p>
          <a:p>
            <a:pPr algn="just">
              <a:lnSpc>
                <a:spcPts val="4493"/>
              </a:lnSpc>
            </a:pPr>
            <a:r>
              <a:rPr lang="en-US" b="true" sz="3209" spc="160">
                <a:solidFill>
                  <a:srgbClr val="191919"/>
                </a:solidFill>
                <a:latin typeface="Aileron Bold"/>
                <a:ea typeface="Aileron Bold"/>
                <a:cs typeface="Aileron Bold"/>
                <a:sym typeface="Aileron Bold"/>
              </a:rPr>
              <a:t>• γ (saisonnalité) = 0.7629 :</a:t>
            </a:r>
            <a:r>
              <a:rPr lang="en-US" sz="3209" spc="160">
                <a:solidFill>
                  <a:srgbClr val="191919"/>
                </a:solidFill>
                <a:latin typeface="Aileron"/>
                <a:ea typeface="Aileron"/>
                <a:cs typeface="Aileron"/>
                <a:sym typeface="Aileron"/>
              </a:rPr>
              <a:t> élevé, ce qui indique une forte réactivité du modèle aux changements saisonniers.</a:t>
            </a:r>
          </a:p>
        </p:txBody>
      </p:sp>
    </p:spTree>
  </p:cSld>
  <p:clrMapOvr>
    <a:masterClrMapping/>
  </p:clrMapOvr>
  <p:transition spd="slow">
    <p:push dir="l"/>
  </p:transition>
</p:sld>
</file>

<file path=ppt/slides/slide4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1213081"/>
            <a:ext cx="18288000" cy="7697553"/>
          </a:xfrm>
          <a:custGeom>
            <a:avLst/>
            <a:gdLst/>
            <a:ahLst/>
            <a:cxnLst/>
            <a:rect r="r" b="b" t="t" l="l"/>
            <a:pathLst>
              <a:path h="7697553" w="18288000">
                <a:moveTo>
                  <a:pt x="0" y="0"/>
                </a:moveTo>
                <a:lnTo>
                  <a:pt x="18288000" y="0"/>
                </a:lnTo>
                <a:lnTo>
                  <a:pt x="18288000" y="7697553"/>
                </a:lnTo>
                <a:lnTo>
                  <a:pt x="0" y="769755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19" t="0" r="-1019" b="-2121"/>
            </a:stretch>
          </a:blipFill>
        </p:spPr>
      </p:sp>
    </p:spTree>
  </p:cSld>
  <p:clrMapOvr>
    <a:masterClrMapping/>
  </p:clrMapOvr>
  <p:transition spd="slow">
    <p:push dir="l"/>
  </p:transition>
</p:sld>
</file>

<file path=ppt/slides/slide4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1471508">
            <a:off x="7442248" y="-3517885"/>
            <a:ext cx="2160993" cy="11665743"/>
            <a:chOff x="0" y="0"/>
            <a:chExt cx="597206" cy="322391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97206" cy="3223913"/>
            </a:xfrm>
            <a:custGeom>
              <a:avLst/>
              <a:gdLst/>
              <a:ahLst/>
              <a:cxnLst/>
              <a:rect r="r" b="b" t="t" l="l"/>
              <a:pathLst>
                <a:path h="3223913" w="597206">
                  <a:moveTo>
                    <a:pt x="0" y="0"/>
                  </a:moveTo>
                  <a:lnTo>
                    <a:pt x="597206" y="0"/>
                  </a:lnTo>
                  <a:lnTo>
                    <a:pt x="597206" y="3223913"/>
                  </a:lnTo>
                  <a:lnTo>
                    <a:pt x="0" y="3223913"/>
                  </a:lnTo>
                  <a:close/>
                </a:path>
              </a:pathLst>
            </a:custGeom>
            <a:solidFill>
              <a:srgbClr val="D5DADA">
                <a:alpha val="23922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97206" cy="3262013"/>
            </a:xfrm>
            <a:prstGeom prst="rect">
              <a:avLst/>
            </a:prstGeom>
          </p:spPr>
          <p:txBody>
            <a:bodyPr anchor="ctr" rtlCol="false" tIns="35873" lIns="35873" bIns="35873" rIns="35873"/>
            <a:lstStyle/>
            <a:p>
              <a:pPr algn="ctr">
                <a:lnSpc>
                  <a:spcPts val="1384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1471508">
            <a:off x="7842796" y="1744300"/>
            <a:ext cx="2160993" cy="11212989"/>
            <a:chOff x="0" y="0"/>
            <a:chExt cx="597206" cy="309879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97206" cy="3098791"/>
            </a:xfrm>
            <a:custGeom>
              <a:avLst/>
              <a:gdLst/>
              <a:ahLst/>
              <a:cxnLst/>
              <a:rect r="r" b="b" t="t" l="l"/>
              <a:pathLst>
                <a:path h="3098791" w="597206">
                  <a:moveTo>
                    <a:pt x="0" y="0"/>
                  </a:moveTo>
                  <a:lnTo>
                    <a:pt x="597206" y="0"/>
                  </a:lnTo>
                  <a:lnTo>
                    <a:pt x="597206" y="3098791"/>
                  </a:lnTo>
                  <a:lnTo>
                    <a:pt x="0" y="3098791"/>
                  </a:lnTo>
                  <a:close/>
                </a:path>
              </a:pathLst>
            </a:custGeom>
            <a:solidFill>
              <a:srgbClr val="D5DADA">
                <a:alpha val="23922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97206" cy="3136892"/>
            </a:xfrm>
            <a:prstGeom prst="rect">
              <a:avLst/>
            </a:prstGeom>
          </p:spPr>
          <p:txBody>
            <a:bodyPr anchor="ctr" rtlCol="false" tIns="35873" lIns="35873" bIns="35873" rIns="35873"/>
            <a:lstStyle/>
            <a:p>
              <a:pPr algn="ctr">
                <a:lnSpc>
                  <a:spcPts val="1384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015140" y="5027944"/>
            <a:ext cx="10518155" cy="10518113"/>
            <a:chOff x="0" y="0"/>
            <a:chExt cx="6350000" cy="634997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350000" cy="6349975"/>
            </a:xfrm>
            <a:custGeom>
              <a:avLst/>
              <a:gdLst/>
              <a:ahLst/>
              <a:cxnLst/>
              <a:rect r="r" b="b" t="t" l="l"/>
              <a:pathLst>
                <a:path h="6349975" w="6350000">
                  <a:moveTo>
                    <a:pt x="6350000" y="3175025"/>
                  </a:moveTo>
                  <a:cubicBezTo>
                    <a:pt x="6350000" y="4928451"/>
                    <a:pt x="4928476" y="6349975"/>
                    <a:pt x="3175000" y="6349975"/>
                  </a:cubicBezTo>
                  <a:cubicBezTo>
                    <a:pt x="1421498" y="6349975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2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2"/>
              <a:stretch>
                <a:fillRect l="-25471" t="0" r="-25471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800842" y="5813625"/>
            <a:ext cx="8946750" cy="8946750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0477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35873" lIns="35873" bIns="35873" rIns="35873"/>
            <a:lstStyle/>
            <a:p>
              <a:pPr algn="ctr">
                <a:lnSpc>
                  <a:spcPts val="1384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-4524129" y="-3792316"/>
            <a:ext cx="10518155" cy="10518113"/>
            <a:chOff x="0" y="0"/>
            <a:chExt cx="6350000" cy="634997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350000" cy="6349975"/>
            </a:xfrm>
            <a:custGeom>
              <a:avLst/>
              <a:gdLst/>
              <a:ahLst/>
              <a:cxnLst/>
              <a:rect r="r" b="b" t="t" l="l"/>
              <a:pathLst>
                <a:path h="6349975" w="6350000">
                  <a:moveTo>
                    <a:pt x="6350000" y="3175025"/>
                  </a:moveTo>
                  <a:cubicBezTo>
                    <a:pt x="6350000" y="4928451"/>
                    <a:pt x="4928476" y="6349975"/>
                    <a:pt x="3175000" y="6349975"/>
                  </a:cubicBezTo>
                  <a:cubicBezTo>
                    <a:pt x="1421498" y="6349975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2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3"/>
              <a:stretch>
                <a:fillRect l="-25471" t="0" r="-25471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-3738427" y="-3006635"/>
            <a:ext cx="8946750" cy="8946750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0477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35873" lIns="35873" bIns="35873" rIns="35873"/>
            <a:lstStyle/>
            <a:p>
              <a:pPr algn="ctr">
                <a:lnSpc>
                  <a:spcPts val="1384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5030726" y="3296711"/>
            <a:ext cx="11243491" cy="2643405"/>
            <a:chOff x="0" y="0"/>
            <a:chExt cx="1719142" cy="40417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719142" cy="404179"/>
            </a:xfrm>
            <a:custGeom>
              <a:avLst/>
              <a:gdLst/>
              <a:ahLst/>
              <a:cxnLst/>
              <a:rect r="r" b="b" t="t" l="l"/>
              <a:pathLst>
                <a:path h="404179" w="1719142">
                  <a:moveTo>
                    <a:pt x="11706" y="0"/>
                  </a:moveTo>
                  <a:lnTo>
                    <a:pt x="1707436" y="0"/>
                  </a:lnTo>
                  <a:cubicBezTo>
                    <a:pt x="1713901" y="0"/>
                    <a:pt x="1719142" y="5241"/>
                    <a:pt x="1719142" y="11706"/>
                  </a:cubicBezTo>
                  <a:lnTo>
                    <a:pt x="1719142" y="392474"/>
                  </a:lnTo>
                  <a:cubicBezTo>
                    <a:pt x="1719142" y="395578"/>
                    <a:pt x="1717909" y="398556"/>
                    <a:pt x="1715713" y="400751"/>
                  </a:cubicBezTo>
                  <a:cubicBezTo>
                    <a:pt x="1713518" y="402946"/>
                    <a:pt x="1710541" y="404179"/>
                    <a:pt x="1707436" y="404179"/>
                  </a:cubicBezTo>
                  <a:lnTo>
                    <a:pt x="11706" y="404179"/>
                  </a:lnTo>
                  <a:cubicBezTo>
                    <a:pt x="8601" y="404179"/>
                    <a:pt x="5624" y="402946"/>
                    <a:pt x="3429" y="400751"/>
                  </a:cubicBezTo>
                  <a:cubicBezTo>
                    <a:pt x="1233" y="398556"/>
                    <a:pt x="0" y="395578"/>
                    <a:pt x="0" y="392474"/>
                  </a:cubicBezTo>
                  <a:lnTo>
                    <a:pt x="0" y="11706"/>
                  </a:lnTo>
                  <a:cubicBezTo>
                    <a:pt x="0" y="8601"/>
                    <a:pt x="1233" y="5624"/>
                    <a:pt x="3429" y="3429"/>
                  </a:cubicBezTo>
                  <a:cubicBezTo>
                    <a:pt x="5624" y="1233"/>
                    <a:pt x="8601" y="0"/>
                    <a:pt x="11706" y="0"/>
                  </a:cubicBezTo>
                  <a:close/>
                </a:path>
              </a:pathLst>
            </a:custGeom>
            <a:solidFill>
              <a:srgbClr val="FAFAFA"/>
            </a:solidFill>
            <a:ln w="28575" cap="sq">
              <a:solidFill>
                <a:srgbClr val="0097B2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57150"/>
              <a:ext cx="1719142" cy="4613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  <a:r>
                <a:rPr lang="en-US" sz="1400">
                  <a:solidFill>
                    <a:srgbClr val="000000"/>
                  </a:solidFill>
                  <a:latin typeface="Telegraf"/>
                  <a:ea typeface="Telegraf"/>
                  <a:cs typeface="Telegraf"/>
                  <a:sym typeface="Telegraf"/>
                </a:rPr>
                <a:t>l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5809240" y="3544775"/>
            <a:ext cx="10464977" cy="19853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82"/>
              </a:lnSpc>
              <a:spcBef>
                <a:spcPct val="0"/>
              </a:spcBef>
            </a:pPr>
            <a:r>
              <a:rPr lang="en-US" b="true" sz="5558">
                <a:solidFill>
                  <a:srgbClr val="329A87"/>
                </a:solidFill>
                <a:latin typeface="Telegraf Bold"/>
                <a:ea typeface="Telegraf Bold"/>
                <a:cs typeface="Telegraf Bold"/>
                <a:sym typeface="Telegraf Bold"/>
              </a:rPr>
              <a:t>Analyse comparative des deux méthodes de prévisions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4067426" y="3633090"/>
            <a:ext cx="1926599" cy="1926599"/>
          </a:xfrm>
          <a:custGeom>
            <a:avLst/>
            <a:gdLst/>
            <a:ahLst/>
            <a:cxnLst/>
            <a:rect r="r" b="b" t="t" l="l"/>
            <a:pathLst>
              <a:path h="1926599" w="1926599">
                <a:moveTo>
                  <a:pt x="0" y="0"/>
                </a:moveTo>
                <a:lnTo>
                  <a:pt x="1926600" y="0"/>
                </a:lnTo>
                <a:lnTo>
                  <a:pt x="1926600" y="1926599"/>
                </a:lnTo>
                <a:lnTo>
                  <a:pt x="0" y="192659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6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3" id="23"/>
          <p:cNvGrpSpPr/>
          <p:nvPr/>
        </p:nvGrpSpPr>
        <p:grpSpPr>
          <a:xfrm rot="0">
            <a:off x="4252211" y="3817875"/>
            <a:ext cx="1557029" cy="1557029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97B2"/>
            </a:solidFill>
            <a:ln cap="sq">
              <a:noFill/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4357484" y="3784937"/>
            <a:ext cx="1346483" cy="13943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785"/>
              </a:lnSpc>
              <a:spcBef>
                <a:spcPct val="0"/>
              </a:spcBef>
            </a:pPr>
            <a:r>
              <a:rPr lang="en-US" b="true" sz="7703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9</a:t>
            </a:r>
          </a:p>
        </p:txBody>
      </p:sp>
    </p:spTree>
  </p:cSld>
  <p:clrMapOvr>
    <a:masterClrMapping/>
  </p:clrMapOvr>
  <p:transition spd="slow">
    <p:cover dir="l"/>
  </p:transition>
</p:sld>
</file>

<file path=ppt/slides/slide4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956123" y="591911"/>
            <a:ext cx="12375754" cy="1610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42"/>
              </a:lnSpc>
              <a:spcBef>
                <a:spcPct val="0"/>
              </a:spcBef>
            </a:pPr>
            <a:r>
              <a:rPr lang="en-US" b="true" sz="4458">
                <a:solidFill>
                  <a:srgbClr val="329A87"/>
                </a:solidFill>
                <a:latin typeface="Telegraf Bold"/>
                <a:ea typeface="Telegraf Bold"/>
                <a:cs typeface="Telegraf Bold"/>
                <a:sym typeface="Telegraf Bold"/>
              </a:rPr>
              <a:t>Comparaison des prévisions basée sur les critères RMSE et MAE.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2516511" y="7505912"/>
            <a:ext cx="13254978" cy="2393317"/>
            <a:chOff x="0" y="0"/>
            <a:chExt cx="17673304" cy="3191089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-33774"/>
              <a:ext cx="17673304" cy="84624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232"/>
                </a:lnSpc>
              </a:pPr>
              <a:r>
                <a:rPr lang="en-US" b="true" sz="4024">
                  <a:solidFill>
                    <a:srgbClr val="024854"/>
                  </a:solidFill>
                  <a:latin typeface="Barlow Semi-Bold"/>
                  <a:ea typeface="Barlow Semi-Bold"/>
                  <a:cs typeface="Barlow Semi-Bold"/>
                  <a:sym typeface="Barlow Semi-Bold"/>
                </a:rPr>
                <a:t>Conclusion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1173150"/>
              <a:ext cx="17673304" cy="18298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599"/>
                </a:lnSpc>
              </a:pPr>
              <a:r>
                <a:rPr lang="en-US" sz="3999" spc="15">
                  <a:solidFill>
                    <a:srgbClr val="E41D25"/>
                  </a:solidFill>
                  <a:latin typeface="Barlow"/>
                  <a:ea typeface="Barlow"/>
                  <a:cs typeface="Barlow"/>
                  <a:sym typeface="Barlow"/>
                </a:rPr>
                <a:t>Le lissage exponentiel est plus performant, avec des RMSE et MAE plus faibles</a:t>
              </a:r>
            </a:p>
          </p:txBody>
        </p:sp>
      </p:grpSp>
      <p:graphicFrame>
        <p:nvGraphicFramePr>
          <p:cNvPr name="Object 6" id="6"/>
          <p:cNvGraphicFramePr/>
          <p:nvPr/>
        </p:nvGraphicFramePr>
        <p:xfrm>
          <a:off x="3471724" y="2977010"/>
          <a:ext cx="9196898" cy="2564753"/>
        </p:xfrm>
        <a:graphic>
          <a:graphicData uri="http://schemas.openxmlformats.org/presentationml/2006/ole">
            <p:oleObj imgW="11036300" imgH="43942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</p:spTree>
  </p:cSld>
  <p:clrMapOvr>
    <a:masterClrMapping/>
  </p:clrMapOvr>
  <p:transition spd="slow">
    <p:push dir="l"/>
  </p:transition>
</p:sld>
</file>

<file path=ppt/slides/slide4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1471508">
            <a:off x="7442248" y="-3517885"/>
            <a:ext cx="2160993" cy="11665743"/>
            <a:chOff x="0" y="0"/>
            <a:chExt cx="597206" cy="322391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97206" cy="3223913"/>
            </a:xfrm>
            <a:custGeom>
              <a:avLst/>
              <a:gdLst/>
              <a:ahLst/>
              <a:cxnLst/>
              <a:rect r="r" b="b" t="t" l="l"/>
              <a:pathLst>
                <a:path h="3223913" w="597206">
                  <a:moveTo>
                    <a:pt x="0" y="0"/>
                  </a:moveTo>
                  <a:lnTo>
                    <a:pt x="597206" y="0"/>
                  </a:lnTo>
                  <a:lnTo>
                    <a:pt x="597206" y="3223913"/>
                  </a:lnTo>
                  <a:lnTo>
                    <a:pt x="0" y="3223913"/>
                  </a:lnTo>
                  <a:close/>
                </a:path>
              </a:pathLst>
            </a:custGeom>
            <a:solidFill>
              <a:srgbClr val="D5DADA">
                <a:alpha val="23922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97206" cy="3262013"/>
            </a:xfrm>
            <a:prstGeom prst="rect">
              <a:avLst/>
            </a:prstGeom>
          </p:spPr>
          <p:txBody>
            <a:bodyPr anchor="ctr" rtlCol="false" tIns="35873" lIns="35873" bIns="35873" rIns="35873"/>
            <a:lstStyle/>
            <a:p>
              <a:pPr algn="ctr">
                <a:lnSpc>
                  <a:spcPts val="1384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1471508">
            <a:off x="7842796" y="1744300"/>
            <a:ext cx="2160993" cy="11212989"/>
            <a:chOff x="0" y="0"/>
            <a:chExt cx="597206" cy="309879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97206" cy="3098791"/>
            </a:xfrm>
            <a:custGeom>
              <a:avLst/>
              <a:gdLst/>
              <a:ahLst/>
              <a:cxnLst/>
              <a:rect r="r" b="b" t="t" l="l"/>
              <a:pathLst>
                <a:path h="3098791" w="597206">
                  <a:moveTo>
                    <a:pt x="0" y="0"/>
                  </a:moveTo>
                  <a:lnTo>
                    <a:pt x="597206" y="0"/>
                  </a:lnTo>
                  <a:lnTo>
                    <a:pt x="597206" y="3098791"/>
                  </a:lnTo>
                  <a:lnTo>
                    <a:pt x="0" y="3098791"/>
                  </a:lnTo>
                  <a:close/>
                </a:path>
              </a:pathLst>
            </a:custGeom>
            <a:solidFill>
              <a:srgbClr val="D5DADA">
                <a:alpha val="23922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97206" cy="3136892"/>
            </a:xfrm>
            <a:prstGeom prst="rect">
              <a:avLst/>
            </a:prstGeom>
          </p:spPr>
          <p:txBody>
            <a:bodyPr anchor="ctr" rtlCol="false" tIns="35873" lIns="35873" bIns="35873" rIns="35873"/>
            <a:lstStyle/>
            <a:p>
              <a:pPr algn="ctr">
                <a:lnSpc>
                  <a:spcPts val="1384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015140" y="5027944"/>
            <a:ext cx="10518155" cy="10518113"/>
            <a:chOff x="0" y="0"/>
            <a:chExt cx="6350000" cy="634997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350000" cy="6349975"/>
            </a:xfrm>
            <a:custGeom>
              <a:avLst/>
              <a:gdLst/>
              <a:ahLst/>
              <a:cxnLst/>
              <a:rect r="r" b="b" t="t" l="l"/>
              <a:pathLst>
                <a:path h="6349975" w="6350000">
                  <a:moveTo>
                    <a:pt x="6350000" y="3175025"/>
                  </a:moveTo>
                  <a:cubicBezTo>
                    <a:pt x="6350000" y="4928451"/>
                    <a:pt x="4928476" y="6349975"/>
                    <a:pt x="3175000" y="6349975"/>
                  </a:cubicBezTo>
                  <a:cubicBezTo>
                    <a:pt x="1421498" y="6349975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2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2"/>
              <a:stretch>
                <a:fillRect l="-25471" t="0" r="-25471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800842" y="5813625"/>
            <a:ext cx="8946750" cy="8946750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0477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35873" lIns="35873" bIns="35873" rIns="35873"/>
            <a:lstStyle/>
            <a:p>
              <a:pPr algn="ctr">
                <a:lnSpc>
                  <a:spcPts val="1384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-4524129" y="-3792316"/>
            <a:ext cx="10518155" cy="10518113"/>
            <a:chOff x="0" y="0"/>
            <a:chExt cx="14024206" cy="14024150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14024206" cy="14024150"/>
              <a:chOff x="0" y="0"/>
              <a:chExt cx="6350000" cy="6349975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6350000" cy="6349975"/>
              </a:xfrm>
              <a:custGeom>
                <a:avLst/>
                <a:gdLst/>
                <a:ahLst/>
                <a:cxnLst/>
                <a:rect r="r" b="b" t="t" l="l"/>
                <a:pathLst>
                  <a:path h="6349975" w="6350000">
                    <a:moveTo>
                      <a:pt x="6350000" y="3175025"/>
                    </a:moveTo>
                    <a:cubicBezTo>
                      <a:pt x="6350000" y="4928451"/>
                      <a:pt x="4928476" y="6349975"/>
                      <a:pt x="3175000" y="6349975"/>
                    </a:cubicBezTo>
                    <a:cubicBezTo>
                      <a:pt x="1421498" y="6349975"/>
                      <a:pt x="0" y="4928451"/>
                      <a:pt x="0" y="3175025"/>
                    </a:cubicBezTo>
                    <a:cubicBezTo>
                      <a:pt x="0" y="1421511"/>
                      <a:pt x="1421498" y="0"/>
                      <a:pt x="3175000" y="0"/>
                    </a:cubicBezTo>
                    <a:cubicBezTo>
                      <a:pt x="4928502" y="0"/>
                      <a:pt x="6350000" y="1421511"/>
                      <a:pt x="6350000" y="3175025"/>
                    </a:cubicBezTo>
                    <a:close/>
                  </a:path>
                </a:pathLst>
              </a:custGeom>
              <a:blipFill>
                <a:blip r:embed="rId3"/>
                <a:stretch>
                  <a:fillRect l="-50942" t="0" r="0" b="0"/>
                </a:stretch>
              </a:blipFill>
            </p:spPr>
          </p:sp>
        </p:grpSp>
        <p:grpSp>
          <p:nvGrpSpPr>
            <p:cNvPr name="Group 16" id="16"/>
            <p:cNvGrpSpPr/>
            <p:nvPr/>
          </p:nvGrpSpPr>
          <p:grpSpPr>
            <a:xfrm rot="0">
              <a:off x="1047603" y="1047575"/>
              <a:ext cx="11929000" cy="11929000"/>
              <a:chOff x="0" y="0"/>
              <a:chExt cx="812800" cy="8128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04775" cap="sq">
                <a:solidFill>
                  <a:srgbClr val="8DE8E8"/>
                </a:solidFill>
                <a:prstDash val="solid"/>
                <a:miter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35873" lIns="35873" bIns="35873" rIns="35873"/>
              <a:lstStyle/>
              <a:p>
                <a:pPr algn="ctr">
                  <a:lnSpc>
                    <a:spcPts val="1384"/>
                  </a:lnSpc>
                </a:pPr>
              </a:p>
            </p:txBody>
          </p:sp>
        </p:grpSp>
      </p:grpSp>
      <p:grpSp>
        <p:nvGrpSpPr>
          <p:cNvPr name="Group 19" id="19"/>
          <p:cNvGrpSpPr/>
          <p:nvPr/>
        </p:nvGrpSpPr>
        <p:grpSpPr>
          <a:xfrm rot="0">
            <a:off x="4872773" y="3729254"/>
            <a:ext cx="8278119" cy="1734271"/>
            <a:chOff x="0" y="0"/>
            <a:chExt cx="1265733" cy="26517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265733" cy="265172"/>
            </a:xfrm>
            <a:custGeom>
              <a:avLst/>
              <a:gdLst/>
              <a:ahLst/>
              <a:cxnLst/>
              <a:rect r="r" b="b" t="t" l="l"/>
              <a:pathLst>
                <a:path h="265172" w="1265733">
                  <a:moveTo>
                    <a:pt x="15899" y="0"/>
                  </a:moveTo>
                  <a:lnTo>
                    <a:pt x="1249834" y="0"/>
                  </a:lnTo>
                  <a:cubicBezTo>
                    <a:pt x="1254051" y="0"/>
                    <a:pt x="1258095" y="1675"/>
                    <a:pt x="1261077" y="4657"/>
                  </a:cubicBezTo>
                  <a:cubicBezTo>
                    <a:pt x="1264058" y="7638"/>
                    <a:pt x="1265733" y="11682"/>
                    <a:pt x="1265733" y="15899"/>
                  </a:cubicBezTo>
                  <a:lnTo>
                    <a:pt x="1265733" y="249273"/>
                  </a:lnTo>
                  <a:cubicBezTo>
                    <a:pt x="1265733" y="253490"/>
                    <a:pt x="1264058" y="257534"/>
                    <a:pt x="1261077" y="260515"/>
                  </a:cubicBezTo>
                  <a:cubicBezTo>
                    <a:pt x="1258095" y="263497"/>
                    <a:pt x="1254051" y="265172"/>
                    <a:pt x="1249834" y="265172"/>
                  </a:cubicBezTo>
                  <a:lnTo>
                    <a:pt x="15899" y="265172"/>
                  </a:lnTo>
                  <a:cubicBezTo>
                    <a:pt x="11682" y="265172"/>
                    <a:pt x="7638" y="263497"/>
                    <a:pt x="4657" y="260515"/>
                  </a:cubicBezTo>
                  <a:cubicBezTo>
                    <a:pt x="1675" y="257534"/>
                    <a:pt x="0" y="253490"/>
                    <a:pt x="0" y="249273"/>
                  </a:cubicBezTo>
                  <a:lnTo>
                    <a:pt x="0" y="15899"/>
                  </a:lnTo>
                  <a:cubicBezTo>
                    <a:pt x="0" y="11682"/>
                    <a:pt x="1675" y="7638"/>
                    <a:pt x="4657" y="4657"/>
                  </a:cubicBezTo>
                  <a:cubicBezTo>
                    <a:pt x="7638" y="1675"/>
                    <a:pt x="11682" y="0"/>
                    <a:pt x="15899" y="0"/>
                  </a:cubicBezTo>
                  <a:close/>
                </a:path>
              </a:pathLst>
            </a:custGeom>
            <a:solidFill>
              <a:srgbClr val="FAFAFA"/>
            </a:solidFill>
            <a:ln w="28575" cap="sq">
              <a:solidFill>
                <a:srgbClr val="0097B2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57150"/>
              <a:ext cx="1265733" cy="322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5994026" y="3760202"/>
            <a:ext cx="8162131" cy="10030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82"/>
              </a:lnSpc>
              <a:spcBef>
                <a:spcPct val="0"/>
              </a:spcBef>
            </a:pPr>
            <a:r>
              <a:rPr lang="en-US" b="true" sz="5558">
                <a:solidFill>
                  <a:srgbClr val="329A87"/>
                </a:solidFill>
                <a:latin typeface="Telegraf Bold"/>
                <a:ea typeface="Telegraf Bold"/>
                <a:cs typeface="Telegraf Bold"/>
                <a:sym typeface="Telegraf Bold"/>
              </a:rPr>
              <a:t>Conclusion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994026" y="4489057"/>
            <a:ext cx="8162131" cy="782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56"/>
              </a:lnSpc>
              <a:spcBef>
                <a:spcPct val="0"/>
              </a:spcBef>
            </a:pPr>
            <a:r>
              <a:rPr lang="en-US" sz="4326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Synthèse des résultats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4067426" y="3633090"/>
            <a:ext cx="1926599" cy="1926599"/>
          </a:xfrm>
          <a:custGeom>
            <a:avLst/>
            <a:gdLst/>
            <a:ahLst/>
            <a:cxnLst/>
            <a:rect r="r" b="b" t="t" l="l"/>
            <a:pathLst>
              <a:path h="1926599" w="1926599">
                <a:moveTo>
                  <a:pt x="0" y="0"/>
                </a:moveTo>
                <a:lnTo>
                  <a:pt x="1926600" y="0"/>
                </a:lnTo>
                <a:lnTo>
                  <a:pt x="1926600" y="1926599"/>
                </a:lnTo>
                <a:lnTo>
                  <a:pt x="0" y="192659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6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5" id="25"/>
          <p:cNvGrpSpPr/>
          <p:nvPr/>
        </p:nvGrpSpPr>
        <p:grpSpPr>
          <a:xfrm rot="0">
            <a:off x="4252211" y="3817875"/>
            <a:ext cx="1557029" cy="1557029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97B2"/>
            </a:solidFill>
            <a:ln cap="sq">
              <a:noFill/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4357484" y="3784937"/>
            <a:ext cx="1346483" cy="13943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785"/>
              </a:lnSpc>
              <a:spcBef>
                <a:spcPct val="0"/>
              </a:spcBef>
            </a:pPr>
            <a:r>
              <a:rPr lang="en-US" b="true" sz="7703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10</a:t>
            </a:r>
          </a:p>
        </p:txBody>
      </p:sp>
    </p:spTree>
  </p:cSld>
  <p:clrMapOvr>
    <a:masterClrMapping/>
  </p:clrMapOvr>
  <p:transition spd="slow">
    <p:cover dir="l"/>
  </p:transition>
</p:sld>
</file>

<file path=ppt/slides/slide47.xml><?xml version="1.0" encoding="utf-8"?>
<p:sld xmlns:p="http://schemas.openxmlformats.org/presentationml/2006/main" xmlns:a="http://schemas.openxmlformats.org/drawingml/2006/main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1471508">
            <a:off x="7442248" y="-3517885"/>
            <a:ext cx="2160993" cy="11665743"/>
            <a:chOff x="0" y="0"/>
            <a:chExt cx="597206" cy="322391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97206" cy="3223913"/>
            </a:xfrm>
            <a:custGeom>
              <a:avLst/>
              <a:gdLst/>
              <a:ahLst/>
              <a:cxnLst/>
              <a:rect r="r" b="b" t="t" l="l"/>
              <a:pathLst>
                <a:path h="3223913" w="597206">
                  <a:moveTo>
                    <a:pt x="0" y="0"/>
                  </a:moveTo>
                  <a:lnTo>
                    <a:pt x="597206" y="0"/>
                  </a:lnTo>
                  <a:lnTo>
                    <a:pt x="597206" y="3223913"/>
                  </a:lnTo>
                  <a:lnTo>
                    <a:pt x="0" y="3223913"/>
                  </a:lnTo>
                  <a:close/>
                </a:path>
              </a:pathLst>
            </a:custGeom>
            <a:solidFill>
              <a:srgbClr val="F0F9FD">
                <a:alpha val="23922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97206" cy="3262013"/>
            </a:xfrm>
            <a:prstGeom prst="rect">
              <a:avLst/>
            </a:prstGeom>
          </p:spPr>
          <p:txBody>
            <a:bodyPr anchor="ctr" rtlCol="false" tIns="35873" lIns="35873" bIns="35873" rIns="35873"/>
            <a:lstStyle/>
            <a:p>
              <a:pPr algn="ctr">
                <a:lnSpc>
                  <a:spcPts val="1384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1471508">
            <a:off x="7842796" y="1744300"/>
            <a:ext cx="2160993" cy="11212989"/>
            <a:chOff x="0" y="0"/>
            <a:chExt cx="597206" cy="309879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97206" cy="3098791"/>
            </a:xfrm>
            <a:custGeom>
              <a:avLst/>
              <a:gdLst/>
              <a:ahLst/>
              <a:cxnLst/>
              <a:rect r="r" b="b" t="t" l="l"/>
              <a:pathLst>
                <a:path h="3098791" w="597206">
                  <a:moveTo>
                    <a:pt x="0" y="0"/>
                  </a:moveTo>
                  <a:lnTo>
                    <a:pt x="597206" y="0"/>
                  </a:lnTo>
                  <a:lnTo>
                    <a:pt x="597206" y="3098791"/>
                  </a:lnTo>
                  <a:lnTo>
                    <a:pt x="0" y="3098791"/>
                  </a:lnTo>
                  <a:close/>
                </a:path>
              </a:pathLst>
            </a:custGeom>
            <a:solidFill>
              <a:srgbClr val="E2F8F8">
                <a:alpha val="23922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97206" cy="3136892"/>
            </a:xfrm>
            <a:prstGeom prst="rect">
              <a:avLst/>
            </a:prstGeom>
          </p:spPr>
          <p:txBody>
            <a:bodyPr anchor="ctr" rtlCol="false" tIns="35873" lIns="35873" bIns="35873" rIns="35873"/>
            <a:lstStyle/>
            <a:p>
              <a:pPr algn="ctr">
                <a:lnSpc>
                  <a:spcPts val="1384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028700" y="885825"/>
            <a:ext cx="7573238" cy="8565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94"/>
              </a:lnSpc>
              <a:spcBef>
                <a:spcPct val="0"/>
              </a:spcBef>
            </a:pPr>
            <a:r>
              <a:rPr lang="en-US" b="true" sz="4710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Conclusion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1617101"/>
            <a:ext cx="7573238" cy="649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0"/>
              </a:lnSpc>
              <a:spcBef>
                <a:spcPct val="0"/>
              </a:spcBef>
            </a:pPr>
            <a:r>
              <a:rPr lang="en-US" sz="3593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Synthèse des résultats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2856" y="2514738"/>
            <a:ext cx="16266444" cy="1245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24"/>
              </a:lnSpc>
              <a:spcBef>
                <a:spcPct val="0"/>
              </a:spcBef>
            </a:pPr>
            <a:r>
              <a:rPr lang="en-US" b="true" sz="3446">
                <a:solidFill>
                  <a:srgbClr val="024854"/>
                </a:solidFill>
                <a:latin typeface="Telegraf Bold"/>
                <a:ea typeface="Telegraf Bold"/>
                <a:cs typeface="Telegraf Bold"/>
                <a:sym typeface="Telegraf Bold"/>
              </a:rPr>
              <a:t>PIB trimestriel sénégalais (2008–2024) : tendance à la hausse et  saisonnalité marquée à partir de 2014.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6064981"/>
            <a:ext cx="16266444" cy="1245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24"/>
              </a:lnSpc>
              <a:spcBef>
                <a:spcPct val="0"/>
              </a:spcBef>
            </a:pPr>
            <a:r>
              <a:rPr lang="en-US" b="true" sz="3446">
                <a:solidFill>
                  <a:srgbClr val="024854"/>
                </a:solidFill>
                <a:latin typeface="Telegraf Bold"/>
                <a:ea typeface="Telegraf Bold"/>
                <a:cs typeface="Telegraf Bold"/>
                <a:sym typeface="Telegraf Bold"/>
              </a:rPr>
              <a:t>Préférable pour les décideurs économiques dans l’élaboration de politiques publiques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4289860"/>
            <a:ext cx="16266444" cy="1245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24"/>
              </a:lnSpc>
              <a:spcBef>
                <a:spcPct val="0"/>
              </a:spcBef>
            </a:pPr>
            <a:r>
              <a:rPr lang="en-US" b="true" sz="3446">
                <a:solidFill>
                  <a:srgbClr val="024854"/>
                </a:solidFill>
                <a:latin typeface="Telegraf Bold"/>
                <a:ea typeface="Telegraf Bold"/>
                <a:cs typeface="Telegraf Bold"/>
                <a:sym typeface="Telegraf Bold"/>
              </a:rPr>
              <a:t>La méthode de lissage exponentiel améliore la précision des prévisions par rapport à la méthode des MCO, avec RMSE et MAE plus faibles</a:t>
            </a:r>
          </a:p>
        </p:txBody>
      </p:sp>
    </p:spTree>
  </p:cSld>
  <p:clrMapOvr>
    <a:masterClrMapping/>
  </p:clrMapOvr>
  <p:transition spd="slow">
    <p:push dir="l"/>
  </p:transition>
</p:sld>
</file>

<file path=ppt/slides/slide48.xml><?xml version="1.0" encoding="utf-8"?>
<p:sld xmlns:p="http://schemas.openxmlformats.org/presentationml/2006/main" xmlns:a="http://schemas.openxmlformats.org/drawingml/2006/main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1471508">
            <a:off x="7442248" y="-3517885"/>
            <a:ext cx="2160993" cy="11665743"/>
            <a:chOff x="0" y="0"/>
            <a:chExt cx="597206" cy="322391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97206" cy="3223913"/>
            </a:xfrm>
            <a:custGeom>
              <a:avLst/>
              <a:gdLst/>
              <a:ahLst/>
              <a:cxnLst/>
              <a:rect r="r" b="b" t="t" l="l"/>
              <a:pathLst>
                <a:path h="3223913" w="597206">
                  <a:moveTo>
                    <a:pt x="0" y="0"/>
                  </a:moveTo>
                  <a:lnTo>
                    <a:pt x="597206" y="0"/>
                  </a:lnTo>
                  <a:lnTo>
                    <a:pt x="597206" y="3223913"/>
                  </a:lnTo>
                  <a:lnTo>
                    <a:pt x="0" y="3223913"/>
                  </a:lnTo>
                  <a:close/>
                </a:path>
              </a:pathLst>
            </a:custGeom>
            <a:solidFill>
              <a:srgbClr val="8DE8E8">
                <a:alpha val="23922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97206" cy="3262013"/>
            </a:xfrm>
            <a:prstGeom prst="rect">
              <a:avLst/>
            </a:prstGeom>
          </p:spPr>
          <p:txBody>
            <a:bodyPr anchor="ctr" rtlCol="false" tIns="35873" lIns="35873" bIns="35873" rIns="35873"/>
            <a:lstStyle/>
            <a:p>
              <a:pPr algn="ctr">
                <a:lnSpc>
                  <a:spcPts val="1384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1471508">
            <a:off x="7842796" y="1744300"/>
            <a:ext cx="2160993" cy="11212989"/>
            <a:chOff x="0" y="0"/>
            <a:chExt cx="597206" cy="309879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97206" cy="3098791"/>
            </a:xfrm>
            <a:custGeom>
              <a:avLst/>
              <a:gdLst/>
              <a:ahLst/>
              <a:cxnLst/>
              <a:rect r="r" b="b" t="t" l="l"/>
              <a:pathLst>
                <a:path h="3098791" w="597206">
                  <a:moveTo>
                    <a:pt x="0" y="0"/>
                  </a:moveTo>
                  <a:lnTo>
                    <a:pt x="597206" y="0"/>
                  </a:lnTo>
                  <a:lnTo>
                    <a:pt x="597206" y="3098791"/>
                  </a:lnTo>
                  <a:lnTo>
                    <a:pt x="0" y="3098791"/>
                  </a:lnTo>
                  <a:close/>
                </a:path>
              </a:pathLst>
            </a:custGeom>
            <a:solidFill>
              <a:srgbClr val="8DE8E8">
                <a:alpha val="23922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97206" cy="3136892"/>
            </a:xfrm>
            <a:prstGeom prst="rect">
              <a:avLst/>
            </a:prstGeom>
          </p:spPr>
          <p:txBody>
            <a:bodyPr anchor="ctr" rtlCol="false" tIns="35873" lIns="35873" bIns="35873" rIns="35873"/>
            <a:lstStyle/>
            <a:p>
              <a:pPr algn="ctr">
                <a:lnSpc>
                  <a:spcPts val="1384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4278863" y="4261289"/>
            <a:ext cx="9288859" cy="16645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34"/>
              </a:lnSpc>
            </a:pPr>
            <a:r>
              <a:rPr lang="en-US" b="true" sz="6780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Merci de votre attention</a:t>
            </a:r>
          </a:p>
        </p:txBody>
      </p:sp>
      <p:sp>
        <p:nvSpPr>
          <p:cNvPr name="AutoShape 9" id="9"/>
          <p:cNvSpPr/>
          <p:nvPr/>
        </p:nvSpPr>
        <p:spPr>
          <a:xfrm>
            <a:off x="7065521" y="6120961"/>
            <a:ext cx="3715544" cy="0"/>
          </a:xfrm>
          <a:prstGeom prst="line">
            <a:avLst/>
          </a:prstGeom>
          <a:ln cap="flat" w="57150">
            <a:solidFill>
              <a:srgbClr val="0097B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0">
            <a:off x="5613065" y="1291225"/>
            <a:ext cx="5905963" cy="1392427"/>
            <a:chOff x="0" y="0"/>
            <a:chExt cx="7874617" cy="1856570"/>
          </a:xfrm>
        </p:grpSpPr>
        <p:grpSp>
          <p:nvGrpSpPr>
            <p:cNvPr name="Group 11" id="11"/>
            <p:cNvGrpSpPr/>
            <p:nvPr/>
          </p:nvGrpSpPr>
          <p:grpSpPr>
            <a:xfrm rot="1471508">
              <a:off x="225077" y="32097"/>
              <a:ext cx="409715" cy="1173520"/>
              <a:chOff x="0" y="0"/>
              <a:chExt cx="106268" cy="304376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106268" cy="304376"/>
              </a:xfrm>
              <a:custGeom>
                <a:avLst/>
                <a:gdLst/>
                <a:ahLst/>
                <a:cxnLst/>
                <a:rect r="r" b="b" t="t" l="l"/>
                <a:pathLst>
                  <a:path h="304376" w="106268">
                    <a:moveTo>
                      <a:pt x="0" y="0"/>
                    </a:moveTo>
                    <a:lnTo>
                      <a:pt x="106268" y="0"/>
                    </a:lnTo>
                    <a:lnTo>
                      <a:pt x="106268" y="304376"/>
                    </a:lnTo>
                    <a:lnTo>
                      <a:pt x="0" y="304376"/>
                    </a:lnTo>
                    <a:close/>
                  </a:path>
                </a:pathLst>
              </a:custGeom>
              <a:solidFill>
                <a:srgbClr val="0097B2"/>
              </a:soli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57150"/>
                <a:ext cx="106268" cy="36152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6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4" id="14"/>
            <p:cNvGrpSpPr/>
            <p:nvPr/>
          </p:nvGrpSpPr>
          <p:grpSpPr>
            <a:xfrm rot="1471508">
              <a:off x="494755" y="650953"/>
              <a:ext cx="409715" cy="1173520"/>
              <a:chOff x="0" y="0"/>
              <a:chExt cx="106268" cy="304376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106268" cy="304376"/>
              </a:xfrm>
              <a:custGeom>
                <a:avLst/>
                <a:gdLst/>
                <a:ahLst/>
                <a:cxnLst/>
                <a:rect r="r" b="b" t="t" l="l"/>
                <a:pathLst>
                  <a:path h="304376" w="106268">
                    <a:moveTo>
                      <a:pt x="0" y="0"/>
                    </a:moveTo>
                    <a:lnTo>
                      <a:pt x="106268" y="0"/>
                    </a:lnTo>
                    <a:lnTo>
                      <a:pt x="106268" y="304376"/>
                    </a:lnTo>
                    <a:lnTo>
                      <a:pt x="0" y="304376"/>
                    </a:lnTo>
                    <a:close/>
                  </a:path>
                </a:pathLst>
              </a:custGeom>
              <a:solidFill>
                <a:srgbClr val="0097B2"/>
              </a:soli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57150"/>
                <a:ext cx="106268" cy="36152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6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17" id="17"/>
            <p:cNvSpPr txBox="true"/>
            <p:nvPr/>
          </p:nvSpPr>
          <p:spPr>
            <a:xfrm rot="0">
              <a:off x="1664633" y="260962"/>
              <a:ext cx="6209984" cy="8805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299"/>
                </a:lnSpc>
                <a:spcBef>
                  <a:spcPct val="0"/>
                </a:spcBef>
              </a:pPr>
              <a:r>
                <a:rPr lang="en-US" sz="3785" b="true">
                  <a:solidFill>
                    <a:srgbClr val="329A87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Séries temporelles</a:t>
              </a:r>
            </a:p>
          </p:txBody>
        </p:sp>
      </p:grpSp>
    </p:spTree>
  </p:cSld>
  <p:clrMapOvr>
    <a:masterClrMapping/>
  </p:clrMapOvr>
  <p:transition spd="slow">
    <p:cover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DAGr14nmURI</dc:identifier>
  <dcterms:modified xsi:type="dcterms:W3CDTF">2011-08-01T06:04:30Z</dcterms:modified>
  <cp:revision>1</cp:revision>
  <dc:title>Copie de Séries temporelles</dc:title>
</cp:coreProperties>
</file>